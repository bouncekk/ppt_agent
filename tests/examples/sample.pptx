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media/image4.jpg" ContentType="image/jpg"/>
  <Override PartName="/ppt/media/image9.jpg" ContentType="image/jpg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media/image13.jpg" ContentType="image/jpg"/>
  <Override PartName="/ppt/media/image14.jpg" ContentType="image/jpg"/>
  <Override PartName="/ppt/media/image15.jpg" ContentType="image/jpg"/>
  <Override PartName="/ppt/notesSlides/notesSlide9.xml" ContentType="application/vnd.openxmlformats-officedocument.presentationml.notesSlide+xml"/>
  <Override PartName="/ppt/media/image16.jpg" ContentType="image/jpg"/>
  <Override PartName="/ppt/media/image17.jpg" ContentType="image/jpg"/>
  <Override PartName="/ppt/media/image18.jpg" ContentType="image/jpg"/>
  <Override PartName="/ppt/media/image19.jpg" ContentType="image/jpg"/>
  <Override PartName="/ppt/media/image20.jpg" ContentType="image/jpg"/>
  <Override PartName="/ppt/notesSlides/notesSlide10.xml" ContentType="application/vnd.openxmlformats-officedocument.presentationml.notesSlide+xml"/>
  <Override PartName="/ppt/media/image21.jpg" ContentType="image/jpg"/>
  <Override PartName="/ppt/notesSlides/notesSlide11.xml" ContentType="application/vnd.openxmlformats-officedocument.presentationml.notesSlide+xml"/>
  <Override PartName="/ppt/media/image24.jpg" ContentType="image/jpg"/>
  <Override PartName="/ppt/media/image25.jpg" ContentType="image/jpg"/>
  <Override PartName="/ppt/media/image26.jpg" ContentType="image/jpg"/>
  <Override PartName="/ppt/notesSlides/notesSlide12.xml" ContentType="application/vnd.openxmlformats-officedocument.presentationml.notesSlide+xml"/>
  <Override PartName="/ppt/media/image27.jpg" ContentType="image/jpg"/>
  <Override PartName="/ppt/media/image28.jpg" ContentType="image/jpg"/>
  <Override PartName="/ppt/notesSlides/notesSlide13.xml" ContentType="application/vnd.openxmlformats-officedocument.presentationml.notesSlide+xml"/>
  <Override PartName="/ppt/media/image29.jpg" ContentType="image/jpg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media/image30.jpg" ContentType="image/jpg"/>
  <Override PartName="/ppt/media/image31.jpg" ContentType="image/jpg"/>
  <Override PartName="/ppt/media/image32.jpg" ContentType="image/jpg"/>
  <Override PartName="/ppt/media/image33.jpg" ContentType="image/jpg"/>
  <Override PartName="/ppt/notesSlides/notesSlide16.xml" ContentType="application/vnd.openxmlformats-officedocument.presentationml.notesSlide+xml"/>
  <Override PartName="/ppt/media/image34.jpg" ContentType="image/jpg"/>
  <Override PartName="/ppt/media/image35.jpg" ContentType="image/jpg"/>
  <Override PartName="/ppt/media/image36.jpg" ContentType="image/jpg"/>
  <Override PartName="/ppt/media/image37.jpg" ContentType="image/jpg"/>
  <Override PartName="/ppt/media/image38.jpg" ContentType="image/jpg"/>
  <Override PartName="/ppt/notesSlides/notesSlide17.xml" ContentType="application/vnd.openxmlformats-officedocument.presentationml.notesSlide+xml"/>
  <Override PartName="/ppt/media/image39.jpg" ContentType="image/jpg"/>
  <Override PartName="/ppt/notesSlides/notesSlide18.xml" ContentType="application/vnd.openxmlformats-officedocument.presentationml.notesSlide+xml"/>
  <Override PartName="/ppt/media/image40.jpg" ContentType="image/jpg"/>
  <Override PartName="/ppt/notesSlides/notesSlide19.xml" ContentType="application/vnd.openxmlformats-officedocument.presentationml.notesSlide+xml"/>
  <Override PartName="/ppt/media/image41.jpg" ContentType="image/jpg"/>
  <Override PartName="/ppt/media/image42.jpg" ContentType="image/jpg"/>
  <Override PartName="/ppt/media/image43.jpg" ContentType="image/jpg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media/image44.jpg" ContentType="image/jpg"/>
  <Override PartName="/ppt/media/image45.jpg" ContentType="image/jpg"/>
  <Override PartName="/ppt/media/image46.jpg" ContentType="image/jpg"/>
  <Override PartName="/ppt/notesSlides/notesSlide22.xml" ContentType="application/vnd.openxmlformats-officedocument.presentationml.notesSlide+xml"/>
  <Override PartName="/ppt/media/image48.jpg" ContentType="image/jpg"/>
  <Override PartName="/ppt/media/image49.jpg" ContentType="image/jpg"/>
  <Override PartName="/ppt/media/image50.jpg" ContentType="image/jpg"/>
  <Override PartName="/ppt/media/image51.jpg" ContentType="image/jpg"/>
  <Override PartName="/ppt/notesSlides/notesSlide23.xml" ContentType="application/vnd.openxmlformats-officedocument.presentationml.notesSlide+xml"/>
  <Override PartName="/ppt/media/image52.jpg" ContentType="image/jpg"/>
  <Override PartName="/ppt/media/image53.jpg" ContentType="image/jpg"/>
  <Override PartName="/ppt/media/image54.jpg" ContentType="image/jpg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media/image55.jpg" ContentType="image/jpg"/>
  <Override PartName="/ppt/notesSlides/notesSlide27.xml" ContentType="application/vnd.openxmlformats-officedocument.presentationml.notesSlide+xml"/>
  <Override PartName="/ppt/media/image56.jpg" ContentType="image/jpg"/>
  <Override PartName="/ppt/media/image57.jpg" ContentType="image/jpg"/>
  <Override PartName="/ppt/media/image58.jpg" ContentType="image/jpg"/>
  <Override PartName="/ppt/media/image59.jpg" ContentType="image/jpg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media/image61.jpg" ContentType="image/jpg"/>
  <Override PartName="/ppt/media/image62.jpg" ContentType="image/jpg"/>
  <Override PartName="/ppt/media/image63.jpg" ContentType="image/jpg"/>
  <Override PartName="/ppt/media/image64.jpg" ContentType="image/jpg"/>
  <Override PartName="/ppt/notesSlides/notesSlide30.xml" ContentType="application/vnd.openxmlformats-officedocument.presentationml.notesSlide+xml"/>
  <Override PartName="/ppt/media/image65.jpg" ContentType="image/jpg"/>
  <Override PartName="/ppt/media/image66.jpg" ContentType="image/jpg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6" r:id="rId1"/>
  </p:sldMasterIdLst>
  <p:notesMasterIdLst>
    <p:notesMasterId r:id="rId37"/>
  </p:notesMasterIdLst>
  <p:sldIdLst>
    <p:sldId id="288" r:id="rId2"/>
    <p:sldId id="290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91" r:id="rId31"/>
    <p:sldId id="283" r:id="rId32"/>
    <p:sldId id="284" r:id="rId33"/>
    <p:sldId id="285" r:id="rId34"/>
    <p:sldId id="286" r:id="rId35"/>
    <p:sldId id="287" r:id="rId36"/>
  </p:sldIdLst>
  <p:sldSz cx="9144000" cy="6858000" type="screen4x3"/>
  <p:notesSz cx="9144000" cy="6858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1704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64865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224591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38432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960186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538015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270055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443572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412739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551094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086104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458087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357158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554573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293256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892518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945212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097864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9520646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9943402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5490125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1735094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7479422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9551449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7328830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7836557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4445684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8723860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3056192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9110128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0371559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3052496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9306052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1437001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91828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9/9/2024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‹#›</a:t>
            </a:fld>
            <a:endParaRPr lang="en-US" altLang="zh-CN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142999" cy="1122363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9858" y="3"/>
            <a:ext cx="687050" cy="916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246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56546"/>
            <a:ext cx="7886700" cy="1080039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469905"/>
            <a:ext cx="7886700" cy="4722250"/>
          </a:xfrm>
        </p:spPr>
        <p:txBody>
          <a:bodyPr/>
          <a:lstStyle>
            <a:lvl1pPr>
              <a:lnSpc>
                <a:spcPct val="125000"/>
              </a:lnSpc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lnSpc>
                <a:spcPct val="125000"/>
              </a:lnSpc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25000"/>
              </a:lnSpc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ct val="125000"/>
              </a:lnSpc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ct val="125000"/>
              </a:lnSpc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8" name="页脚占位符 4"/>
          <p:cNvSpPr txBox="1">
            <a:spLocks/>
          </p:cNvSpPr>
          <p:nvPr/>
        </p:nvSpPr>
        <p:spPr>
          <a:xfrm>
            <a:off x="4214061" y="6483712"/>
            <a:ext cx="646232" cy="266641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58D74C0-279B-4CA7-B242-86446B2938C3}" type="slidenum">
              <a:rPr lang="zh-CN" altLang="en-US" sz="1350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 sz="1350" dirty="0">
              <a:solidFill>
                <a:prstClr val="black">
                  <a:tint val="75000"/>
                </a:prst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3113925" y="6617032"/>
            <a:ext cx="1100138" cy="0"/>
          </a:xfrm>
          <a:prstGeom prst="line">
            <a:avLst/>
          </a:prstGeom>
          <a:ln>
            <a:solidFill>
              <a:srgbClr val="FF6600"/>
            </a:solidFill>
            <a:tailEnd type="oval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860294" y="6617032"/>
            <a:ext cx="1100138" cy="0"/>
          </a:xfrm>
          <a:prstGeom prst="line">
            <a:avLst/>
          </a:prstGeom>
          <a:ln>
            <a:solidFill>
              <a:srgbClr val="FF6600"/>
            </a:solidFill>
            <a:headEnd type="oval"/>
            <a:tailEnd type="non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117505" y="6466991"/>
            <a:ext cx="1095997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E54884E3-5FEF-4E80-B05D-959E2BC66694}" type="datetime1">
              <a:rPr lang="zh-CN" altLang="en-US" sz="1350" smtClean="0">
                <a:solidFill>
                  <a:srgbClr val="E7E6E6">
                    <a:lumMod val="50000"/>
                  </a:srgbClr>
                </a:solidFill>
              </a:rPr>
              <a:pPr/>
              <a:t>2024/9/9</a:t>
            </a:fld>
            <a:endParaRPr lang="zh-CN" altLang="en-US" sz="1350" dirty="0">
              <a:solidFill>
                <a:srgbClr val="E7E6E6">
                  <a:lumMod val="50000"/>
                </a:srgbClr>
              </a:solidFill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7212" y="6424607"/>
            <a:ext cx="288638" cy="384850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7195850" y="6455450"/>
            <a:ext cx="1991251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zh-CN" altLang="en-US" sz="900" kern="1300" spc="23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华东师范大学数据科学与工程学院</a:t>
            </a:r>
            <a:endParaRPr lang="en-US" altLang="zh-CN" sz="900" kern="1300" spc="23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/>
            <a:r>
              <a:rPr lang="en-US" altLang="zh-CN" sz="6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School of Data Science and Engineering at ECNU</a:t>
            </a:r>
            <a:endParaRPr lang="zh-CN" altLang="en-US" sz="600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734547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6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9/9/2024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057464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9/9/2024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820312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8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1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9/9/2024</a:t>
            </a:fld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733580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9/9/2024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5254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9/9/2024</a:t>
            </a:fld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840384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9/9/2024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07154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9/9/2024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81509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9/9/2024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311161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9/9/2024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976488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022920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9/9/2024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58846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950" b="0" i="0">
                <a:solidFill>
                  <a:srgbClr val="004646"/>
                </a:solidFill>
                <a:latin typeface="微软雅黑"/>
                <a:cs typeface="微软雅黑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9/9/2024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355996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章节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841626"/>
            <a:ext cx="7886700" cy="1325563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lnSpc>
                <a:spcPct val="100000"/>
              </a:lnSpc>
              <a:defRPr sz="6000" baseline="0">
                <a:solidFill>
                  <a:schemeClr val="tx2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3171196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9/9/2024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altLang="zh-CN" smtClean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23211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g"/><Relationship Id="rId3" Type="http://schemas.openxmlformats.org/officeDocument/2006/relationships/image" Target="../media/image4.jp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emf"/><Relationship Id="rId4" Type="http://schemas.openxmlformats.org/officeDocument/2006/relationships/image" Target="../media/image11.e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jpg"/><Relationship Id="rId4" Type="http://schemas.openxmlformats.org/officeDocument/2006/relationships/image" Target="../media/image14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7" Type="http://schemas.openxmlformats.org/officeDocument/2006/relationships/image" Target="../media/image20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jpg"/><Relationship Id="rId5" Type="http://schemas.openxmlformats.org/officeDocument/2006/relationships/image" Target="../media/image18.jpg"/><Relationship Id="rId4" Type="http://schemas.openxmlformats.org/officeDocument/2006/relationships/image" Target="../media/image17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emf"/><Relationship Id="rId4" Type="http://schemas.openxmlformats.org/officeDocument/2006/relationships/image" Target="../media/image22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jpg"/><Relationship Id="rId4" Type="http://schemas.openxmlformats.org/officeDocument/2006/relationships/image" Target="../media/image25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jpg"/><Relationship Id="rId5" Type="http://schemas.openxmlformats.org/officeDocument/2006/relationships/image" Target="../media/image32.jpg"/><Relationship Id="rId4" Type="http://schemas.openxmlformats.org/officeDocument/2006/relationships/image" Target="../media/image31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7" Type="http://schemas.openxmlformats.org/officeDocument/2006/relationships/image" Target="../media/image38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jpg"/><Relationship Id="rId5" Type="http://schemas.openxmlformats.org/officeDocument/2006/relationships/image" Target="../media/image36.jpg"/><Relationship Id="rId4" Type="http://schemas.openxmlformats.org/officeDocument/2006/relationships/image" Target="../media/image35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jpg"/><Relationship Id="rId4" Type="http://schemas.openxmlformats.org/officeDocument/2006/relationships/image" Target="../media/image42.jp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emf"/><Relationship Id="rId5" Type="http://schemas.openxmlformats.org/officeDocument/2006/relationships/image" Target="../media/image46.jpg"/><Relationship Id="rId4" Type="http://schemas.openxmlformats.org/officeDocument/2006/relationships/image" Target="../media/image45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jpg"/><Relationship Id="rId5" Type="http://schemas.openxmlformats.org/officeDocument/2006/relationships/image" Target="../media/image50.jpg"/><Relationship Id="rId4" Type="http://schemas.openxmlformats.org/officeDocument/2006/relationships/image" Target="../media/image49.jp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4.jpg"/><Relationship Id="rId4" Type="http://schemas.openxmlformats.org/officeDocument/2006/relationships/image" Target="../media/image53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jp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jpg"/><Relationship Id="rId5" Type="http://schemas.openxmlformats.org/officeDocument/2006/relationships/image" Target="../media/image58.jpg"/><Relationship Id="rId4" Type="http://schemas.openxmlformats.org/officeDocument/2006/relationships/image" Target="../media/image57.jp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jpg"/><Relationship Id="rId5" Type="http://schemas.openxmlformats.org/officeDocument/2006/relationships/image" Target="../media/image63.jpg"/><Relationship Id="rId4" Type="http://schemas.openxmlformats.org/officeDocument/2006/relationships/image" Target="../media/image62.jp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6.jp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066800" y="76200"/>
            <a:ext cx="6858000" cy="1905000"/>
          </a:xfrm>
        </p:spPr>
        <p:txBody>
          <a:bodyPr/>
          <a:lstStyle/>
          <a:p>
            <a:r>
              <a:rPr kumimoji="1" lang="zh-CN" altLang="en-US" sz="4400" b="1" dirty="0">
                <a:solidFill>
                  <a:srgbClr val="0070C0"/>
                </a:solidFill>
                <a:cs typeface="Verdana" pitchFamily="34" charset="0"/>
              </a:rPr>
              <a:t>机器学习</a:t>
            </a:r>
            <a:endParaRPr lang="zh-CN" altLang="en-US" sz="4400" dirty="0">
              <a:solidFill>
                <a:srgbClr val="0070C0"/>
              </a:solidFill>
            </a:endParaRPr>
          </a:p>
        </p:txBody>
      </p:sp>
      <p:sp>
        <p:nvSpPr>
          <p:cNvPr id="3" name="标题 1"/>
          <p:cNvSpPr txBox="1">
            <a:spLocks/>
          </p:cNvSpPr>
          <p:nvPr/>
        </p:nvSpPr>
        <p:spPr>
          <a:xfrm>
            <a:off x="457777" y="2578388"/>
            <a:ext cx="7886700" cy="162415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 baseline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幼圆" panose="02010509060101010101" pitchFamily="49" charset="-122"/>
                <a:cs typeface="+mj-cs"/>
              </a:defRPr>
            </a:lvl1pPr>
          </a:lstStyle>
          <a:p>
            <a:pPr>
              <a:lnSpc>
                <a:spcPct val="125000"/>
              </a:lnSpc>
            </a:pPr>
            <a:r>
              <a:rPr kumimoji="1" lang="zh-CN" altLang="en-US" sz="32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Verdana" pitchFamily="34" charset="0"/>
              </a:rPr>
              <a:t>董启文</a:t>
            </a:r>
            <a:r>
              <a:rPr kumimoji="1" lang="en-US" altLang="zh-CN" sz="32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Verdana" pitchFamily="34" charset="0"/>
              </a:rPr>
              <a:t>:</a:t>
            </a:r>
          </a:p>
          <a:p>
            <a:pPr algn="l">
              <a:lnSpc>
                <a:spcPct val="125000"/>
              </a:lnSpc>
            </a:pPr>
            <a:r>
              <a:rPr lang="en-US" altLang="zh-CN" sz="24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	E-mail: qwdong@dase.ecnu.edu.cn</a:t>
            </a:r>
          </a:p>
          <a:p>
            <a:pPr algn="l">
              <a:lnSpc>
                <a:spcPct val="125000"/>
              </a:lnSpc>
            </a:pPr>
            <a:r>
              <a:rPr lang="en-US" altLang="zh-CN" sz="24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sz="24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手机：</a:t>
            </a:r>
            <a:r>
              <a:rPr lang="en-US" altLang="zh-CN" sz="24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13817021601</a:t>
            </a:r>
            <a:endParaRPr lang="zh-CN" altLang="en-US" sz="2400" b="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3FE24E3C-EEF8-4657-8B89-D2C3F14909F4}"/>
              </a:ext>
            </a:extLst>
          </p:cNvPr>
          <p:cNvSpPr txBox="1">
            <a:spLocks/>
          </p:cNvSpPr>
          <p:nvPr/>
        </p:nvSpPr>
        <p:spPr>
          <a:xfrm>
            <a:off x="552450" y="4205952"/>
            <a:ext cx="7886700" cy="162415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 baseline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幼圆" panose="02010509060101010101" pitchFamily="49" charset="-122"/>
                <a:cs typeface="+mj-cs"/>
              </a:defRPr>
            </a:lvl1pPr>
          </a:lstStyle>
          <a:p>
            <a:pPr>
              <a:lnSpc>
                <a:spcPct val="125000"/>
              </a:lnSpc>
            </a:pPr>
            <a:r>
              <a:rPr kumimoji="1" lang="zh-CN" altLang="en-US" sz="24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Verdana" pitchFamily="34" charset="0"/>
              </a:rPr>
              <a:t>研究生：胡思劼，</a:t>
            </a:r>
            <a:r>
              <a:rPr kumimoji="1" lang="en-US" altLang="zh-CN" sz="24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Verdana" pitchFamily="34" charset="0"/>
              </a:rPr>
              <a:t>51265903082</a:t>
            </a:r>
          </a:p>
          <a:p>
            <a:pPr>
              <a:lnSpc>
                <a:spcPct val="125000"/>
              </a:lnSpc>
            </a:pPr>
            <a:r>
              <a:rPr lang="zh-CN" altLang="en-US" sz="24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本科：</a:t>
            </a:r>
            <a:endParaRPr lang="en-US" altLang="zh-CN" sz="2400" b="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4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非全：</a:t>
            </a:r>
          </a:p>
        </p:txBody>
      </p:sp>
    </p:spTree>
    <p:extLst>
      <p:ext uri="{BB962C8B-B14F-4D97-AF65-F5344CB8AC3E}">
        <p14:creationId xmlns:p14="http://schemas.microsoft.com/office/powerpoint/2010/main" val="27411580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kumimoji="1" lang="zh-CN" altLang="en-US" sz="2800" dirty="0">
                <a:solidFill>
                  <a:srgbClr val="0070C0"/>
                </a:solidFill>
                <a:cs typeface="Verdana" pitchFamily="34" charset="0"/>
              </a:rPr>
              <a:t> 教材</a:t>
            </a:r>
            <a:r>
              <a:rPr kumimoji="1" lang="en-US" altLang="zh-CN" sz="2800" dirty="0">
                <a:solidFill>
                  <a:srgbClr val="0070C0"/>
                </a:solidFill>
                <a:cs typeface="Verdana" pitchFamily="34" charset="0"/>
              </a:rPr>
              <a:t>:</a:t>
            </a:r>
          </a:p>
          <a:p>
            <a:pPr marL="457200" indent="-457200">
              <a:buAutoNum type="arabicPeriod"/>
            </a:pPr>
            <a:r>
              <a:rPr lang="en-US" altLang="zh-CN" sz="2000" dirty="0">
                <a:solidFill>
                  <a:srgbClr val="0070C0"/>
                </a:solidFill>
              </a:rPr>
              <a:t>“</a:t>
            </a:r>
            <a:r>
              <a:rPr lang="zh-CN" altLang="en-US" sz="2000" dirty="0">
                <a:solidFill>
                  <a:srgbClr val="0070C0"/>
                </a:solidFill>
              </a:rPr>
              <a:t>统计学习方法</a:t>
            </a:r>
            <a:r>
              <a:rPr lang="en-US" altLang="zh-CN" sz="2000" dirty="0">
                <a:solidFill>
                  <a:srgbClr val="0070C0"/>
                </a:solidFill>
              </a:rPr>
              <a:t>”, </a:t>
            </a:r>
            <a:r>
              <a:rPr lang="zh-CN" altLang="en-US" sz="2000" dirty="0">
                <a:solidFill>
                  <a:srgbClr val="0070C0"/>
                </a:solidFill>
              </a:rPr>
              <a:t>李航 著</a:t>
            </a:r>
            <a:r>
              <a:rPr lang="en-US" altLang="zh-CN" sz="2000" dirty="0">
                <a:solidFill>
                  <a:srgbClr val="0070C0"/>
                </a:solidFill>
              </a:rPr>
              <a:t>, </a:t>
            </a:r>
            <a:r>
              <a:rPr lang="zh-CN" altLang="en-US" sz="2000" dirty="0">
                <a:solidFill>
                  <a:srgbClr val="0070C0"/>
                </a:solidFill>
              </a:rPr>
              <a:t>清华大学出版社</a:t>
            </a:r>
            <a:endParaRPr lang="en-US" altLang="zh-CN" sz="2000" dirty="0">
              <a:solidFill>
                <a:srgbClr val="0070C0"/>
              </a:solidFill>
            </a:endParaRP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altLang="zh-CN" sz="2000" dirty="0">
                <a:solidFill>
                  <a:srgbClr val="0070C0"/>
                </a:solidFill>
              </a:rPr>
              <a:t>“</a:t>
            </a:r>
            <a:r>
              <a:rPr lang="zh-CN" altLang="en-US" sz="2000" dirty="0">
                <a:solidFill>
                  <a:srgbClr val="0070C0"/>
                </a:solidFill>
              </a:rPr>
              <a:t>机器学习</a:t>
            </a:r>
            <a:r>
              <a:rPr lang="en-US" altLang="zh-CN" sz="2000" dirty="0">
                <a:solidFill>
                  <a:srgbClr val="0070C0"/>
                </a:solidFill>
              </a:rPr>
              <a:t>”, </a:t>
            </a:r>
            <a:r>
              <a:rPr lang="zh-CN" altLang="en-US" sz="2000" dirty="0">
                <a:solidFill>
                  <a:srgbClr val="0070C0"/>
                </a:solidFill>
              </a:rPr>
              <a:t>周志华 著</a:t>
            </a:r>
            <a:r>
              <a:rPr lang="en-US" altLang="zh-CN" sz="2000" dirty="0">
                <a:solidFill>
                  <a:srgbClr val="0070C0"/>
                </a:solidFill>
              </a:rPr>
              <a:t>, </a:t>
            </a:r>
            <a:r>
              <a:rPr lang="zh-CN" altLang="en-US" sz="2000" dirty="0">
                <a:solidFill>
                  <a:srgbClr val="0070C0"/>
                </a:solidFill>
              </a:rPr>
              <a:t>清华大学出版社</a:t>
            </a:r>
            <a:endParaRPr lang="en-US" altLang="zh-CN" sz="2000" dirty="0">
              <a:solidFill>
                <a:srgbClr val="0070C0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kumimoji="1" lang="zh-CN" altLang="en-US" sz="2800" dirty="0">
                <a:solidFill>
                  <a:srgbClr val="0070C0"/>
                </a:solidFill>
                <a:cs typeface="Verdana" pitchFamily="34" charset="0"/>
              </a:rPr>
              <a:t>考核方式：</a:t>
            </a:r>
            <a:endParaRPr kumimoji="1" lang="en-US" altLang="zh-CN" sz="2800" dirty="0">
              <a:solidFill>
                <a:srgbClr val="0070C0"/>
              </a:solidFill>
              <a:cs typeface="Verdana" pitchFamily="34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kumimoji="1" lang="en-US" altLang="zh-CN" sz="2500" dirty="0">
                <a:solidFill>
                  <a:srgbClr val="0070C0"/>
                </a:solidFill>
                <a:cs typeface="Verdana" pitchFamily="34" charset="0"/>
              </a:rPr>
              <a:t> </a:t>
            </a:r>
            <a:r>
              <a:rPr kumimoji="1" lang="zh-CN" altLang="en-US" sz="2500" dirty="0">
                <a:solidFill>
                  <a:srgbClr val="0070C0"/>
                </a:solidFill>
                <a:cs typeface="Verdana" pitchFamily="34" charset="0"/>
              </a:rPr>
              <a:t>研究生：考查，第一项</a:t>
            </a:r>
            <a:endParaRPr kumimoji="1" lang="en-US" altLang="zh-CN" sz="2500" dirty="0">
              <a:solidFill>
                <a:srgbClr val="0070C0"/>
              </a:solidFill>
              <a:cs typeface="Verdana" pitchFamily="34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kumimoji="1" lang="zh-CN" altLang="en-US" sz="2500" dirty="0">
                <a:solidFill>
                  <a:srgbClr val="0070C0"/>
                </a:solidFill>
                <a:cs typeface="Verdana" pitchFamily="34" charset="0"/>
              </a:rPr>
              <a:t>本科生：考试，第一、二项</a:t>
            </a:r>
            <a:endParaRPr kumimoji="1" lang="en-US" altLang="zh-CN" sz="2500" dirty="0">
              <a:solidFill>
                <a:srgbClr val="0070C0"/>
              </a:solidFill>
              <a:cs typeface="Verdana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kumimoji="1" lang="zh-CN" altLang="en-US" sz="2400" dirty="0">
                <a:solidFill>
                  <a:srgbClr val="0070C0"/>
                </a:solidFill>
                <a:cs typeface="Verdana" pitchFamily="34" charset="0"/>
              </a:rPr>
              <a:t>平时成绩</a:t>
            </a:r>
            <a:r>
              <a:rPr kumimoji="1" lang="en-US" altLang="zh-CN" sz="2400" dirty="0">
                <a:solidFill>
                  <a:srgbClr val="0070C0"/>
                </a:solidFill>
                <a:cs typeface="Verdana" pitchFamily="34" charset="0"/>
              </a:rPr>
              <a:t>: 50%,</a:t>
            </a:r>
          </a:p>
          <a:p>
            <a:pPr marL="514350"/>
            <a:r>
              <a:rPr kumimoji="1" lang="zh-CN" altLang="en-US" sz="1800" dirty="0">
                <a:solidFill>
                  <a:srgbClr val="0070C0"/>
                </a:solidFill>
                <a:cs typeface="Verdana" pitchFamily="34" charset="0"/>
              </a:rPr>
              <a:t>出勤</a:t>
            </a:r>
            <a:r>
              <a:rPr kumimoji="1" lang="en-US" altLang="zh-CN" sz="1800" dirty="0">
                <a:solidFill>
                  <a:srgbClr val="0070C0"/>
                </a:solidFill>
                <a:cs typeface="Verdana" pitchFamily="34" charset="0"/>
              </a:rPr>
              <a:t>:10%</a:t>
            </a:r>
            <a:r>
              <a:rPr kumimoji="1" lang="zh-CN" altLang="en-US" sz="1800" dirty="0">
                <a:solidFill>
                  <a:srgbClr val="0070C0"/>
                </a:solidFill>
                <a:cs typeface="Verdana" pitchFamily="34" charset="0"/>
              </a:rPr>
              <a:t>；</a:t>
            </a:r>
            <a:r>
              <a:rPr kumimoji="1" lang="en-US" altLang="zh-CN" sz="1800" dirty="0" err="1">
                <a:solidFill>
                  <a:srgbClr val="0070C0"/>
                </a:solidFill>
                <a:cs typeface="Verdana" pitchFamily="34" charset="0"/>
              </a:rPr>
              <a:t>HomeWork</a:t>
            </a:r>
            <a:r>
              <a:rPr kumimoji="1" lang="en-US" altLang="zh-CN" sz="1800" dirty="0">
                <a:solidFill>
                  <a:srgbClr val="0070C0"/>
                </a:solidFill>
                <a:cs typeface="Verdana" pitchFamily="34" charset="0"/>
              </a:rPr>
              <a:t>: 20%; Project: 20%</a:t>
            </a:r>
          </a:p>
          <a:p>
            <a:pPr marL="514350" indent="-514350">
              <a:buFont typeface="+mj-lt"/>
              <a:buAutoNum type="arabicPeriod" startAt="2"/>
            </a:pPr>
            <a:r>
              <a:rPr kumimoji="1" lang="zh-CN" altLang="en-US" sz="2400" dirty="0">
                <a:solidFill>
                  <a:srgbClr val="0070C0"/>
                </a:solidFill>
                <a:cs typeface="Verdana" pitchFamily="34" charset="0"/>
              </a:rPr>
              <a:t>期末考试</a:t>
            </a:r>
            <a:r>
              <a:rPr kumimoji="1" lang="en-US" altLang="zh-CN" sz="2400" dirty="0">
                <a:solidFill>
                  <a:srgbClr val="0070C0"/>
                </a:solidFill>
                <a:cs typeface="Verdana" pitchFamily="34" charset="0"/>
              </a:rPr>
              <a:t>: 50%</a:t>
            </a:r>
            <a:endParaRPr lang="zh-CN" altLang="en-US" sz="1800" dirty="0">
              <a:solidFill>
                <a:srgbClr val="0070C0"/>
              </a:solidFill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412268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103936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376928" y="0"/>
            <a:ext cx="4767072" cy="60655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0"/>
            <a:ext cx="9089945" cy="102052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52425"/>
            <a:ext cx="9144000" cy="9017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874520" y="1737360"/>
            <a:ext cx="5349239" cy="246888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2841" y="613398"/>
            <a:ext cx="1294130" cy="6591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950" spc="10" dirty="0">
                <a:solidFill>
                  <a:srgbClr val="004646"/>
                </a:solidFill>
                <a:latin typeface="微软雅黑"/>
                <a:cs typeface="微软雅黑"/>
              </a:rPr>
              <a:t>目</a:t>
            </a:r>
            <a:r>
              <a:rPr sz="4950" dirty="0">
                <a:solidFill>
                  <a:srgbClr val="004646"/>
                </a:solidFill>
                <a:latin typeface="微软雅黑"/>
                <a:cs typeface="微软雅黑"/>
              </a:rPr>
              <a:t>录</a:t>
            </a:r>
            <a:endParaRPr sz="495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02272" y="1546913"/>
            <a:ext cx="3510279" cy="4661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526415" algn="l"/>
              </a:tabLst>
            </a:pPr>
            <a:r>
              <a:rPr sz="2450" dirty="0">
                <a:solidFill>
                  <a:srgbClr val="33BC55"/>
                </a:solidFill>
                <a:latin typeface="Constantia"/>
                <a:cs typeface="Constantia"/>
              </a:rPr>
              <a:t>1.	</a:t>
            </a:r>
            <a:r>
              <a:rPr sz="2600" u="heavy" spc="-20" dirty="0">
                <a:solidFill>
                  <a:srgbClr val="D9BD02"/>
                </a:solidFill>
                <a:latin typeface="宋体"/>
                <a:cs typeface="宋体"/>
              </a:rPr>
              <a:t>统计学</a:t>
            </a:r>
            <a:r>
              <a:rPr sz="2600" u="heavy" spc="-30" dirty="0">
                <a:solidFill>
                  <a:srgbClr val="D9BD02"/>
                </a:solidFill>
                <a:latin typeface="宋体"/>
                <a:cs typeface="宋体"/>
              </a:rPr>
              <a:t>习</a:t>
            </a:r>
            <a:endParaRPr sz="2600" dirty="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  <a:tabLst>
                <a:tab pos="526415" algn="l"/>
              </a:tabLst>
            </a:pPr>
            <a:r>
              <a:rPr sz="2450" spc="-5" dirty="0">
                <a:solidFill>
                  <a:srgbClr val="33BC55"/>
                </a:solidFill>
                <a:latin typeface="Constantia"/>
                <a:cs typeface="Constantia"/>
              </a:rPr>
              <a:t>2</a:t>
            </a:r>
            <a:r>
              <a:rPr sz="2450" dirty="0">
                <a:solidFill>
                  <a:srgbClr val="33BC55"/>
                </a:solidFill>
                <a:latin typeface="Constantia"/>
                <a:cs typeface="Constantia"/>
              </a:rPr>
              <a:t>.	</a:t>
            </a:r>
            <a:r>
              <a:rPr sz="2600" u="heavy" spc="-20" dirty="0">
                <a:solidFill>
                  <a:srgbClr val="D9BD02"/>
                </a:solidFill>
                <a:latin typeface="宋体"/>
                <a:cs typeface="宋体"/>
              </a:rPr>
              <a:t>监督学</a:t>
            </a:r>
            <a:r>
              <a:rPr sz="2600" u="heavy" spc="-30" dirty="0">
                <a:solidFill>
                  <a:srgbClr val="D9BD02"/>
                </a:solidFill>
                <a:latin typeface="宋体"/>
                <a:cs typeface="宋体"/>
              </a:rPr>
              <a:t>习</a:t>
            </a:r>
            <a:endParaRPr sz="2600" dirty="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  <a:tabLst>
                <a:tab pos="526415" algn="l"/>
              </a:tabLst>
            </a:pPr>
            <a:r>
              <a:rPr sz="2450" dirty="0">
                <a:solidFill>
                  <a:srgbClr val="33BC55"/>
                </a:solidFill>
                <a:latin typeface="Constantia"/>
                <a:cs typeface="Constantia"/>
              </a:rPr>
              <a:t>3.	</a:t>
            </a:r>
            <a:r>
              <a:rPr sz="2550" u="heavy" spc="35" dirty="0">
                <a:solidFill>
                  <a:srgbClr val="D9BD02"/>
                </a:solidFill>
                <a:latin typeface="宋体"/>
                <a:cs typeface="宋体"/>
              </a:rPr>
              <a:t>统计学习三要</a:t>
            </a:r>
            <a:r>
              <a:rPr sz="2550" u="heavy" spc="25" dirty="0">
                <a:solidFill>
                  <a:srgbClr val="D9BD02"/>
                </a:solidFill>
                <a:latin typeface="宋体"/>
                <a:cs typeface="宋体"/>
              </a:rPr>
              <a:t>素</a:t>
            </a:r>
            <a:endParaRPr sz="2550" dirty="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680"/>
              </a:spcBef>
              <a:tabLst>
                <a:tab pos="526415" algn="l"/>
              </a:tabLst>
            </a:pPr>
            <a:r>
              <a:rPr sz="2450" dirty="0">
                <a:solidFill>
                  <a:srgbClr val="33BC55"/>
                </a:solidFill>
                <a:latin typeface="Constantia"/>
                <a:cs typeface="Constantia"/>
              </a:rPr>
              <a:t>4.	</a:t>
            </a:r>
            <a:r>
              <a:rPr sz="2550" u="heavy" spc="35" dirty="0">
                <a:solidFill>
                  <a:srgbClr val="D9BD02"/>
                </a:solidFill>
                <a:latin typeface="宋体"/>
                <a:cs typeface="宋体"/>
              </a:rPr>
              <a:t>模型评估与模型选</a:t>
            </a:r>
            <a:r>
              <a:rPr sz="2550" u="heavy" spc="25" dirty="0">
                <a:solidFill>
                  <a:srgbClr val="D9BD02"/>
                </a:solidFill>
                <a:latin typeface="宋体"/>
                <a:cs typeface="宋体"/>
              </a:rPr>
              <a:t>择</a:t>
            </a:r>
            <a:endParaRPr sz="2550" dirty="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  <a:tabLst>
                <a:tab pos="526415" algn="l"/>
              </a:tabLst>
            </a:pPr>
            <a:r>
              <a:rPr sz="2450" dirty="0">
                <a:solidFill>
                  <a:srgbClr val="33BC55"/>
                </a:solidFill>
                <a:latin typeface="Constantia"/>
                <a:cs typeface="Constantia"/>
              </a:rPr>
              <a:t>5.	</a:t>
            </a:r>
            <a:r>
              <a:rPr sz="2600" u="heavy" spc="-20" dirty="0">
                <a:solidFill>
                  <a:srgbClr val="D9BD02"/>
                </a:solidFill>
                <a:latin typeface="宋体"/>
                <a:cs typeface="宋体"/>
              </a:rPr>
              <a:t>正则化与交叉验</a:t>
            </a:r>
            <a:r>
              <a:rPr sz="2600" u="heavy" spc="-30" dirty="0">
                <a:solidFill>
                  <a:srgbClr val="D9BD02"/>
                </a:solidFill>
                <a:latin typeface="宋体"/>
                <a:cs typeface="宋体"/>
              </a:rPr>
              <a:t>证</a:t>
            </a:r>
            <a:endParaRPr sz="2600" dirty="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665"/>
              </a:spcBef>
              <a:tabLst>
                <a:tab pos="609600" algn="l"/>
              </a:tabLst>
            </a:pPr>
            <a:r>
              <a:rPr sz="2450" spc="-5" dirty="0">
                <a:solidFill>
                  <a:srgbClr val="33BC55"/>
                </a:solidFill>
                <a:latin typeface="Constantia"/>
                <a:cs typeface="Constantia"/>
              </a:rPr>
              <a:t>6</a:t>
            </a:r>
            <a:r>
              <a:rPr sz="2450" dirty="0">
                <a:solidFill>
                  <a:srgbClr val="33BC55"/>
                </a:solidFill>
                <a:latin typeface="Constantia"/>
                <a:cs typeface="Constantia"/>
              </a:rPr>
              <a:t>.	</a:t>
            </a:r>
            <a:r>
              <a:rPr sz="2550" u="heavy" spc="35" dirty="0">
                <a:solidFill>
                  <a:srgbClr val="D9BD02"/>
                </a:solidFill>
                <a:latin typeface="宋体"/>
                <a:cs typeface="宋体"/>
              </a:rPr>
              <a:t>泛化能</a:t>
            </a:r>
            <a:r>
              <a:rPr sz="2550" u="heavy" spc="25" dirty="0">
                <a:solidFill>
                  <a:srgbClr val="D9BD02"/>
                </a:solidFill>
                <a:latin typeface="宋体"/>
                <a:cs typeface="宋体"/>
              </a:rPr>
              <a:t>力</a:t>
            </a:r>
            <a:endParaRPr sz="2550" dirty="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635"/>
              </a:spcBef>
              <a:tabLst>
                <a:tab pos="526415" algn="l"/>
              </a:tabLst>
            </a:pPr>
            <a:r>
              <a:rPr sz="2450" dirty="0">
                <a:solidFill>
                  <a:srgbClr val="33BC55"/>
                </a:solidFill>
                <a:latin typeface="Constantia"/>
                <a:cs typeface="Constantia"/>
              </a:rPr>
              <a:t>7.	</a:t>
            </a:r>
            <a:r>
              <a:rPr sz="2600" u="heavy" spc="-20" dirty="0">
                <a:solidFill>
                  <a:srgbClr val="D9BD02"/>
                </a:solidFill>
                <a:latin typeface="宋体"/>
                <a:cs typeface="宋体"/>
              </a:rPr>
              <a:t>生成模型与判别模</a:t>
            </a:r>
            <a:r>
              <a:rPr sz="2600" u="heavy" spc="-30" dirty="0">
                <a:solidFill>
                  <a:srgbClr val="D9BD02"/>
                </a:solidFill>
                <a:latin typeface="宋体"/>
                <a:cs typeface="宋体"/>
              </a:rPr>
              <a:t>型</a:t>
            </a:r>
            <a:endParaRPr sz="2600" dirty="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  <a:tabLst>
                <a:tab pos="526415" algn="l"/>
              </a:tabLst>
            </a:pPr>
            <a:r>
              <a:rPr sz="2450" dirty="0">
                <a:solidFill>
                  <a:srgbClr val="33BC55"/>
                </a:solidFill>
                <a:latin typeface="Constantia"/>
                <a:cs typeface="Constantia"/>
              </a:rPr>
              <a:t>8.	</a:t>
            </a:r>
            <a:r>
              <a:rPr sz="2550" u="heavy" spc="35" dirty="0">
                <a:solidFill>
                  <a:srgbClr val="D9BD02"/>
                </a:solidFill>
                <a:latin typeface="宋体"/>
                <a:cs typeface="宋体"/>
              </a:rPr>
              <a:t>分类问</a:t>
            </a:r>
            <a:r>
              <a:rPr sz="2550" u="heavy" spc="25" dirty="0">
                <a:solidFill>
                  <a:srgbClr val="D9BD02"/>
                </a:solidFill>
                <a:latin typeface="宋体"/>
                <a:cs typeface="宋体"/>
              </a:rPr>
              <a:t>题</a:t>
            </a:r>
            <a:endParaRPr sz="2550" dirty="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  <a:tabLst>
                <a:tab pos="526415" algn="l"/>
              </a:tabLst>
            </a:pPr>
            <a:r>
              <a:rPr sz="2450" dirty="0">
                <a:solidFill>
                  <a:srgbClr val="33BC55"/>
                </a:solidFill>
                <a:latin typeface="Constantia"/>
                <a:cs typeface="Constantia"/>
              </a:rPr>
              <a:t>9.	</a:t>
            </a:r>
            <a:r>
              <a:rPr sz="2600" u="heavy" spc="-20" dirty="0">
                <a:solidFill>
                  <a:srgbClr val="D9BD02"/>
                </a:solidFill>
                <a:latin typeface="宋体"/>
                <a:cs typeface="宋体"/>
              </a:rPr>
              <a:t>标注问</a:t>
            </a:r>
            <a:r>
              <a:rPr sz="2600" u="heavy" spc="-30" dirty="0">
                <a:solidFill>
                  <a:srgbClr val="D9BD02"/>
                </a:solidFill>
                <a:latin typeface="宋体"/>
                <a:cs typeface="宋体"/>
              </a:rPr>
              <a:t>题</a:t>
            </a:r>
            <a:endParaRPr sz="2600" dirty="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  <a:tabLst>
                <a:tab pos="526415" algn="l"/>
              </a:tabLst>
            </a:pPr>
            <a:r>
              <a:rPr sz="2450" dirty="0">
                <a:solidFill>
                  <a:srgbClr val="33BC55"/>
                </a:solidFill>
                <a:latin typeface="Constantia"/>
                <a:cs typeface="Constantia"/>
              </a:rPr>
              <a:t>10.	</a:t>
            </a:r>
            <a:r>
              <a:rPr sz="2550" u="heavy" spc="35" dirty="0">
                <a:solidFill>
                  <a:srgbClr val="D9BD02"/>
                </a:solidFill>
                <a:latin typeface="宋体"/>
                <a:cs typeface="宋体"/>
              </a:rPr>
              <a:t>回归问</a:t>
            </a:r>
            <a:r>
              <a:rPr sz="2550" u="heavy" spc="25" dirty="0">
                <a:solidFill>
                  <a:srgbClr val="D9BD02"/>
                </a:solidFill>
                <a:latin typeface="宋体"/>
                <a:cs typeface="宋体"/>
              </a:rPr>
              <a:t>题</a:t>
            </a:r>
            <a:endParaRPr sz="2550" dirty="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一、统计学</a:t>
            </a:r>
            <a:r>
              <a:rPr dirty="0"/>
              <a:t>习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8600">
              <a:lnSpc>
                <a:spcPct val="100000"/>
              </a:lnSpc>
            </a:pPr>
            <a:r>
              <a:rPr sz="2450" dirty="0">
                <a:solidFill>
                  <a:srgbClr val="33BC55"/>
                </a:solidFill>
                <a:latin typeface="Wingdings"/>
                <a:cs typeface="Wingdings"/>
              </a:rPr>
              <a:t></a:t>
            </a:r>
            <a:r>
              <a:rPr spc="35" dirty="0"/>
              <a:t>统计学习的</a:t>
            </a:r>
            <a:r>
              <a:rPr spc="35" dirty="0">
                <a:solidFill>
                  <a:srgbClr val="FF0000"/>
                </a:solidFill>
              </a:rPr>
              <a:t>对</a:t>
            </a:r>
            <a:r>
              <a:rPr spc="25" dirty="0">
                <a:solidFill>
                  <a:srgbClr val="FF0000"/>
                </a:solidFill>
              </a:rPr>
              <a:t>象</a:t>
            </a:r>
            <a:endParaRPr sz="2450" dirty="0">
              <a:latin typeface="Wingdings"/>
              <a:cs typeface="Wingdings"/>
            </a:endParaRPr>
          </a:p>
          <a:p>
            <a:pPr marL="868680" marR="5080" indent="-247015">
              <a:lnSpc>
                <a:spcPct val="100000"/>
              </a:lnSpc>
              <a:spcBef>
                <a:spcPts val="600"/>
              </a:spcBef>
            </a:pPr>
            <a:r>
              <a:rPr sz="2000" spc="40" dirty="0">
                <a:solidFill>
                  <a:srgbClr val="50742E"/>
                </a:solidFill>
                <a:latin typeface="Wingdings"/>
                <a:cs typeface="Wingdings"/>
              </a:rPr>
              <a:t></a:t>
            </a:r>
            <a:r>
              <a:rPr sz="2400" spc="-5" dirty="0">
                <a:solidFill>
                  <a:srgbClr val="FF0000"/>
                </a:solidFill>
                <a:latin typeface="Constantia"/>
                <a:cs typeface="Constantia"/>
              </a:rPr>
              <a:t>d</a:t>
            </a:r>
            <a:r>
              <a:rPr sz="2400" spc="-15" dirty="0">
                <a:solidFill>
                  <a:srgbClr val="FF0000"/>
                </a:solidFill>
                <a:latin typeface="Constantia"/>
                <a:cs typeface="Constantia"/>
              </a:rPr>
              <a:t>a</a:t>
            </a:r>
            <a:r>
              <a:rPr sz="2400" spc="-5" dirty="0">
                <a:solidFill>
                  <a:srgbClr val="FF0000"/>
                </a:solidFill>
                <a:latin typeface="Constantia"/>
                <a:cs typeface="Constantia"/>
              </a:rPr>
              <a:t>t</a:t>
            </a:r>
            <a:r>
              <a:rPr sz="2400" spc="-15" dirty="0">
                <a:solidFill>
                  <a:srgbClr val="FF0000"/>
                </a:solidFill>
                <a:latin typeface="Constantia"/>
                <a:cs typeface="Constantia"/>
              </a:rPr>
              <a:t>a</a:t>
            </a:r>
            <a:r>
              <a:rPr sz="2400" spc="-65" dirty="0">
                <a:solidFill>
                  <a:srgbClr val="FF0000"/>
                </a:solidFill>
                <a:latin typeface="Constantia"/>
                <a:cs typeface="Constantia"/>
              </a:rPr>
              <a:t> </a:t>
            </a:r>
            <a:r>
              <a:rPr sz="2400" dirty="0">
                <a:solidFill>
                  <a:srgbClr val="FF0000"/>
                </a:solidFill>
              </a:rPr>
              <a:t>：</a:t>
            </a:r>
            <a:r>
              <a:rPr sz="2400" dirty="0"/>
              <a:t>计算机及互联网上的各种数字、文字、图像、视 频、音频数据以及它们的组合。</a:t>
            </a:r>
            <a:endParaRPr sz="2400" dirty="0">
              <a:latin typeface="Constantia"/>
              <a:cs typeface="Constantia"/>
            </a:endParaRPr>
          </a:p>
          <a:p>
            <a:pPr marL="621665">
              <a:lnSpc>
                <a:spcPct val="100000"/>
              </a:lnSpc>
              <a:spcBef>
                <a:spcPts val="575"/>
              </a:spcBef>
            </a:pPr>
            <a:r>
              <a:rPr sz="2050" spc="-25" dirty="0">
                <a:solidFill>
                  <a:srgbClr val="50742E"/>
                </a:solidFill>
                <a:latin typeface="Wingdings"/>
                <a:cs typeface="Wingdings"/>
              </a:rPr>
              <a:t></a:t>
            </a:r>
            <a:r>
              <a:rPr sz="2400" spc="-25" dirty="0"/>
              <a:t>数据的基本假设是同类数据具有一定的统计规律性。</a:t>
            </a:r>
            <a:endParaRPr sz="2400" dirty="0">
              <a:latin typeface="Wingdings"/>
              <a:cs typeface="Wingdings"/>
            </a:endParaRPr>
          </a:p>
          <a:p>
            <a:pPr marL="228600">
              <a:lnSpc>
                <a:spcPct val="100000"/>
              </a:lnSpc>
              <a:spcBef>
                <a:spcPts val="660"/>
              </a:spcBef>
            </a:pPr>
            <a:r>
              <a:rPr sz="2450" dirty="0">
                <a:solidFill>
                  <a:srgbClr val="33BC55"/>
                </a:solidFill>
                <a:latin typeface="Wingdings"/>
                <a:cs typeface="Wingdings"/>
              </a:rPr>
              <a:t></a:t>
            </a:r>
            <a:r>
              <a:rPr spc="35" dirty="0"/>
              <a:t>统计学习的</a:t>
            </a:r>
            <a:r>
              <a:rPr spc="35" dirty="0">
                <a:solidFill>
                  <a:srgbClr val="FF0000"/>
                </a:solidFill>
              </a:rPr>
              <a:t>目</a:t>
            </a:r>
            <a:r>
              <a:rPr spc="25" dirty="0">
                <a:solidFill>
                  <a:srgbClr val="FF0000"/>
                </a:solidFill>
              </a:rPr>
              <a:t>的</a:t>
            </a:r>
            <a:endParaRPr sz="2450" dirty="0">
              <a:latin typeface="Wingdings"/>
              <a:cs typeface="Wingdings"/>
            </a:endParaRPr>
          </a:p>
          <a:p>
            <a:pPr marL="621665">
              <a:lnSpc>
                <a:spcPts val="2790"/>
              </a:lnSpc>
              <a:spcBef>
                <a:spcPts val="595"/>
              </a:spcBef>
            </a:pPr>
            <a:r>
              <a:rPr sz="2050" spc="-25" dirty="0">
                <a:solidFill>
                  <a:srgbClr val="50742E"/>
                </a:solidFill>
                <a:latin typeface="Wingdings"/>
                <a:cs typeface="Wingdings"/>
              </a:rPr>
              <a:t></a:t>
            </a:r>
            <a:r>
              <a:rPr sz="2400" spc="-25" dirty="0"/>
              <a:t>用于对数据（特别是未知数据）进行预测和分析。</a:t>
            </a:r>
            <a:endParaRPr sz="2400" dirty="0">
              <a:latin typeface="Wingdings"/>
              <a:cs typeface="Wingding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统计学</a:t>
            </a:r>
            <a:r>
              <a:rPr dirty="0"/>
              <a:t>习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272" y="1559613"/>
            <a:ext cx="6804659" cy="43110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4147185" algn="ctr">
              <a:lnSpc>
                <a:spcPct val="100000"/>
              </a:lnSpc>
            </a:pPr>
            <a:r>
              <a:rPr sz="2450" dirty="0">
                <a:solidFill>
                  <a:srgbClr val="33BC55"/>
                </a:solidFill>
                <a:latin typeface="Wingdings"/>
                <a:cs typeface="Wingdings"/>
              </a:rPr>
              <a:t></a:t>
            </a:r>
            <a:r>
              <a:rPr sz="2600" spc="-20" dirty="0">
                <a:latin typeface="宋体"/>
                <a:cs typeface="宋体"/>
              </a:rPr>
              <a:t>统计学习的方</a:t>
            </a:r>
            <a:r>
              <a:rPr sz="2600" spc="-30" dirty="0">
                <a:latin typeface="宋体"/>
                <a:cs typeface="宋体"/>
              </a:rPr>
              <a:t>法</a:t>
            </a:r>
            <a:endParaRPr sz="2600">
              <a:latin typeface="宋体"/>
              <a:cs typeface="宋体"/>
            </a:endParaRPr>
          </a:p>
          <a:p>
            <a:pPr marL="405765">
              <a:lnSpc>
                <a:spcPct val="100000"/>
              </a:lnSpc>
              <a:spcBef>
                <a:spcPts val="585"/>
              </a:spcBef>
            </a:pPr>
            <a:r>
              <a:rPr sz="2000" spc="40" dirty="0">
                <a:solidFill>
                  <a:srgbClr val="50742E"/>
                </a:solidFill>
                <a:latin typeface="Wingdings"/>
                <a:cs typeface="Wingdings"/>
              </a:rPr>
              <a:t></a:t>
            </a:r>
            <a:r>
              <a:rPr sz="2400" spc="40" dirty="0">
                <a:latin typeface="宋体"/>
                <a:cs typeface="宋体"/>
              </a:rPr>
              <a:t>分类：</a:t>
            </a:r>
            <a:endParaRPr sz="2400">
              <a:latin typeface="宋体"/>
              <a:cs typeface="宋体"/>
            </a:endParaRPr>
          </a:p>
          <a:p>
            <a:pPr marL="680085">
              <a:lnSpc>
                <a:spcPct val="100000"/>
              </a:lnSpc>
              <a:spcBef>
                <a:spcPts val="515"/>
              </a:spcBef>
            </a:pPr>
            <a:r>
              <a:rPr sz="1450" spc="10" dirty="0">
                <a:solidFill>
                  <a:srgbClr val="258768"/>
                </a:solidFill>
                <a:latin typeface="Wingdings"/>
                <a:cs typeface="Wingdings"/>
              </a:rPr>
              <a:t></a:t>
            </a:r>
            <a:r>
              <a:rPr sz="1450" spc="114" dirty="0">
                <a:solidFill>
                  <a:srgbClr val="258768"/>
                </a:solidFill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Constantia"/>
                <a:cs typeface="Constantia"/>
              </a:rPr>
              <a:t>Supe</a:t>
            </a:r>
            <a:r>
              <a:rPr sz="2100" spc="25" dirty="0">
                <a:latin typeface="Constantia"/>
                <a:cs typeface="Constantia"/>
              </a:rPr>
              <a:t>r</a:t>
            </a:r>
            <a:r>
              <a:rPr sz="2100" spc="-10" dirty="0">
                <a:latin typeface="Constantia"/>
                <a:cs typeface="Constantia"/>
              </a:rPr>
              <a:t>vi</a:t>
            </a:r>
            <a:r>
              <a:rPr sz="2100" spc="-5" dirty="0">
                <a:latin typeface="Constantia"/>
                <a:cs typeface="Constantia"/>
              </a:rPr>
              <a:t>s</a:t>
            </a:r>
            <a:r>
              <a:rPr sz="2100" spc="-15" dirty="0">
                <a:latin typeface="Constantia"/>
                <a:cs typeface="Constantia"/>
              </a:rPr>
              <a:t>ed</a:t>
            </a:r>
            <a:r>
              <a:rPr sz="2100" dirty="0">
                <a:latin typeface="Constantia"/>
                <a:cs typeface="Constantia"/>
              </a:rPr>
              <a:t> </a:t>
            </a:r>
            <a:r>
              <a:rPr sz="2100" spc="-10" dirty="0">
                <a:latin typeface="Constantia"/>
                <a:cs typeface="Constantia"/>
              </a:rPr>
              <a:t>le</a:t>
            </a:r>
            <a:r>
              <a:rPr sz="2100" spc="-5" dirty="0">
                <a:latin typeface="Constantia"/>
                <a:cs typeface="Constantia"/>
              </a:rPr>
              <a:t>a</a:t>
            </a:r>
            <a:r>
              <a:rPr sz="2100" spc="-10" dirty="0">
                <a:latin typeface="Constantia"/>
                <a:cs typeface="Constantia"/>
              </a:rPr>
              <a:t>rning</a:t>
            </a:r>
            <a:endParaRPr sz="2100">
              <a:latin typeface="Constantia"/>
              <a:cs typeface="Constantia"/>
            </a:endParaRPr>
          </a:p>
          <a:p>
            <a:pPr marL="680085">
              <a:lnSpc>
                <a:spcPct val="100000"/>
              </a:lnSpc>
              <a:spcBef>
                <a:spcPts val="550"/>
              </a:spcBef>
            </a:pPr>
            <a:r>
              <a:rPr sz="1450" spc="10" dirty="0">
                <a:solidFill>
                  <a:srgbClr val="258768"/>
                </a:solidFill>
                <a:latin typeface="Wingdings"/>
                <a:cs typeface="Wingdings"/>
              </a:rPr>
              <a:t></a:t>
            </a:r>
            <a:r>
              <a:rPr sz="1450" spc="114" dirty="0">
                <a:solidFill>
                  <a:srgbClr val="258768"/>
                </a:solidFill>
                <a:latin typeface="Times New Roman"/>
                <a:cs typeface="Times New Roman"/>
              </a:rPr>
              <a:t> </a:t>
            </a:r>
            <a:r>
              <a:rPr sz="2050" spc="-25" dirty="0">
                <a:latin typeface="Constantia"/>
                <a:cs typeface="Constantia"/>
              </a:rPr>
              <a:t>U</a:t>
            </a:r>
            <a:r>
              <a:rPr sz="2050" spc="10" dirty="0">
                <a:latin typeface="Constantia"/>
                <a:cs typeface="Constantia"/>
              </a:rPr>
              <a:t>n</a:t>
            </a:r>
            <a:r>
              <a:rPr sz="2050" spc="15" dirty="0">
                <a:latin typeface="Constantia"/>
                <a:cs typeface="Constantia"/>
              </a:rPr>
              <a:t>sup</a:t>
            </a:r>
            <a:r>
              <a:rPr sz="2050" spc="5" dirty="0">
                <a:latin typeface="Constantia"/>
                <a:cs typeface="Constantia"/>
              </a:rPr>
              <a:t>e</a:t>
            </a:r>
            <a:r>
              <a:rPr sz="2050" spc="45" dirty="0">
                <a:latin typeface="Constantia"/>
                <a:cs typeface="Constantia"/>
              </a:rPr>
              <a:t>r</a:t>
            </a:r>
            <a:r>
              <a:rPr sz="2050" spc="15" dirty="0">
                <a:latin typeface="Constantia"/>
                <a:cs typeface="Constantia"/>
              </a:rPr>
              <a:t>v</a:t>
            </a:r>
            <a:r>
              <a:rPr sz="2050" spc="5" dirty="0">
                <a:latin typeface="Constantia"/>
                <a:cs typeface="Constantia"/>
              </a:rPr>
              <a:t>i</a:t>
            </a:r>
            <a:r>
              <a:rPr sz="2050" spc="10" dirty="0">
                <a:latin typeface="Constantia"/>
                <a:cs typeface="Constantia"/>
              </a:rPr>
              <a:t>sed</a:t>
            </a:r>
            <a:r>
              <a:rPr sz="2050" spc="15" dirty="0">
                <a:latin typeface="Constantia"/>
                <a:cs typeface="Constantia"/>
              </a:rPr>
              <a:t> </a:t>
            </a:r>
            <a:r>
              <a:rPr sz="2050" spc="5" dirty="0">
                <a:latin typeface="Constantia"/>
                <a:cs typeface="Constantia"/>
              </a:rPr>
              <a:t>le</a:t>
            </a:r>
            <a:r>
              <a:rPr sz="2050" spc="10" dirty="0">
                <a:latin typeface="Constantia"/>
                <a:cs typeface="Constantia"/>
              </a:rPr>
              <a:t>a</a:t>
            </a:r>
            <a:r>
              <a:rPr sz="2050" spc="5" dirty="0">
                <a:latin typeface="Constantia"/>
                <a:cs typeface="Constantia"/>
              </a:rPr>
              <a:t>rning</a:t>
            </a:r>
            <a:endParaRPr sz="2050">
              <a:latin typeface="Constantia"/>
              <a:cs typeface="Constantia"/>
            </a:endParaRPr>
          </a:p>
          <a:p>
            <a:pPr marL="680085">
              <a:lnSpc>
                <a:spcPct val="100000"/>
              </a:lnSpc>
              <a:spcBef>
                <a:spcPts val="509"/>
              </a:spcBef>
            </a:pPr>
            <a:r>
              <a:rPr sz="1450" spc="10" dirty="0">
                <a:solidFill>
                  <a:srgbClr val="258768"/>
                </a:solidFill>
                <a:latin typeface="Wingdings"/>
                <a:cs typeface="Wingdings"/>
              </a:rPr>
              <a:t></a:t>
            </a:r>
            <a:r>
              <a:rPr sz="1450" spc="114" dirty="0">
                <a:solidFill>
                  <a:srgbClr val="258768"/>
                </a:solidFill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Constantia"/>
                <a:cs typeface="Constantia"/>
              </a:rPr>
              <a:t>Semi-supe</a:t>
            </a:r>
            <a:r>
              <a:rPr sz="2100" spc="25" dirty="0">
                <a:latin typeface="Constantia"/>
                <a:cs typeface="Constantia"/>
              </a:rPr>
              <a:t>r</a:t>
            </a:r>
            <a:r>
              <a:rPr sz="2100" spc="-10" dirty="0">
                <a:latin typeface="Constantia"/>
                <a:cs typeface="Constantia"/>
              </a:rPr>
              <a:t>vi</a:t>
            </a:r>
            <a:r>
              <a:rPr sz="2100" spc="-5" dirty="0">
                <a:latin typeface="Constantia"/>
                <a:cs typeface="Constantia"/>
              </a:rPr>
              <a:t>s</a:t>
            </a:r>
            <a:r>
              <a:rPr sz="2100" spc="-15" dirty="0">
                <a:latin typeface="Constantia"/>
                <a:cs typeface="Constantia"/>
              </a:rPr>
              <a:t>ed</a:t>
            </a:r>
            <a:r>
              <a:rPr sz="2100" dirty="0">
                <a:latin typeface="Constantia"/>
                <a:cs typeface="Constantia"/>
              </a:rPr>
              <a:t> </a:t>
            </a:r>
            <a:r>
              <a:rPr sz="2100" spc="-10" dirty="0">
                <a:latin typeface="Constantia"/>
                <a:cs typeface="Constantia"/>
              </a:rPr>
              <a:t>le</a:t>
            </a:r>
            <a:r>
              <a:rPr sz="2100" spc="-5" dirty="0">
                <a:latin typeface="Constantia"/>
                <a:cs typeface="Constantia"/>
              </a:rPr>
              <a:t>a</a:t>
            </a:r>
            <a:r>
              <a:rPr sz="2100" spc="-10" dirty="0">
                <a:latin typeface="Constantia"/>
                <a:cs typeface="Constantia"/>
              </a:rPr>
              <a:t>rning</a:t>
            </a:r>
            <a:endParaRPr sz="2100">
              <a:latin typeface="Constantia"/>
              <a:cs typeface="Constantia"/>
            </a:endParaRPr>
          </a:p>
          <a:p>
            <a:pPr marL="680085">
              <a:lnSpc>
                <a:spcPct val="100000"/>
              </a:lnSpc>
              <a:spcBef>
                <a:spcPts val="500"/>
              </a:spcBef>
            </a:pPr>
            <a:r>
              <a:rPr sz="1450" spc="10" dirty="0">
                <a:solidFill>
                  <a:srgbClr val="258768"/>
                </a:solidFill>
                <a:latin typeface="Wingdings"/>
                <a:cs typeface="Wingdings"/>
              </a:rPr>
              <a:t></a:t>
            </a:r>
            <a:r>
              <a:rPr sz="1450" spc="114" dirty="0">
                <a:solidFill>
                  <a:srgbClr val="258768"/>
                </a:solidFill>
                <a:latin typeface="Times New Roman"/>
                <a:cs typeface="Times New Roman"/>
              </a:rPr>
              <a:t> </a:t>
            </a:r>
            <a:r>
              <a:rPr sz="2100" spc="-45" dirty="0">
                <a:latin typeface="Constantia"/>
                <a:cs typeface="Constantia"/>
              </a:rPr>
              <a:t>R</a:t>
            </a:r>
            <a:r>
              <a:rPr sz="2100" spc="-10" dirty="0">
                <a:latin typeface="Constantia"/>
                <a:cs typeface="Constantia"/>
              </a:rPr>
              <a:t>ein</a:t>
            </a:r>
            <a:r>
              <a:rPr sz="2100" spc="-30" dirty="0">
                <a:latin typeface="Constantia"/>
                <a:cs typeface="Constantia"/>
              </a:rPr>
              <a:t>f</a:t>
            </a:r>
            <a:r>
              <a:rPr sz="2100" spc="-10" dirty="0">
                <a:latin typeface="Constantia"/>
                <a:cs typeface="Constantia"/>
              </a:rPr>
              <a:t>o</a:t>
            </a:r>
            <a:r>
              <a:rPr sz="2100" spc="-45" dirty="0">
                <a:latin typeface="Constantia"/>
                <a:cs typeface="Constantia"/>
              </a:rPr>
              <a:t>r</a:t>
            </a:r>
            <a:r>
              <a:rPr sz="2100" spc="-50" dirty="0">
                <a:latin typeface="Constantia"/>
                <a:cs typeface="Constantia"/>
              </a:rPr>
              <a:t>c</a:t>
            </a:r>
            <a:r>
              <a:rPr sz="2100" spc="-10" dirty="0">
                <a:latin typeface="Constantia"/>
                <a:cs typeface="Constantia"/>
              </a:rPr>
              <a:t>ement</a:t>
            </a:r>
            <a:r>
              <a:rPr sz="2100" spc="-55" dirty="0">
                <a:latin typeface="Constantia"/>
                <a:cs typeface="Constantia"/>
              </a:rPr>
              <a:t> </a:t>
            </a:r>
            <a:r>
              <a:rPr sz="2100" spc="-10" dirty="0">
                <a:latin typeface="Constantia"/>
                <a:cs typeface="Constantia"/>
              </a:rPr>
              <a:t>le</a:t>
            </a:r>
            <a:r>
              <a:rPr sz="2100" spc="-5" dirty="0">
                <a:latin typeface="Constantia"/>
                <a:cs typeface="Constantia"/>
              </a:rPr>
              <a:t>a</a:t>
            </a:r>
            <a:r>
              <a:rPr sz="2100" spc="-10" dirty="0">
                <a:latin typeface="Constantia"/>
                <a:cs typeface="Constantia"/>
              </a:rPr>
              <a:t>rning</a:t>
            </a:r>
            <a:endParaRPr sz="2100">
              <a:latin typeface="Constantia"/>
              <a:cs typeface="Constantia"/>
            </a:endParaRPr>
          </a:p>
          <a:p>
            <a:pPr marL="405765">
              <a:lnSpc>
                <a:spcPct val="100000"/>
              </a:lnSpc>
              <a:spcBef>
                <a:spcPts val="560"/>
              </a:spcBef>
            </a:pPr>
            <a:r>
              <a:rPr sz="2050" spc="-25" dirty="0">
                <a:solidFill>
                  <a:srgbClr val="50742E"/>
                </a:solidFill>
                <a:latin typeface="Wingdings"/>
                <a:cs typeface="Wingdings"/>
              </a:rPr>
              <a:t></a:t>
            </a:r>
            <a:r>
              <a:rPr sz="2400" spc="-25" dirty="0">
                <a:latin typeface="宋体"/>
                <a:cs typeface="宋体"/>
              </a:rPr>
              <a:t>监督学习：</a:t>
            </a:r>
            <a:endParaRPr sz="2400">
              <a:latin typeface="宋体"/>
              <a:cs typeface="宋体"/>
            </a:endParaRPr>
          </a:p>
          <a:p>
            <a:pPr marL="680085">
              <a:lnSpc>
                <a:spcPct val="100000"/>
              </a:lnSpc>
              <a:spcBef>
                <a:spcPts val="515"/>
              </a:spcBef>
            </a:pPr>
            <a:r>
              <a:rPr sz="1450" spc="10" dirty="0">
                <a:solidFill>
                  <a:srgbClr val="258768"/>
                </a:solidFill>
                <a:latin typeface="Wingdings"/>
                <a:cs typeface="Wingdings"/>
              </a:rPr>
              <a:t></a:t>
            </a:r>
            <a:r>
              <a:rPr sz="1450" spc="114" dirty="0">
                <a:solidFill>
                  <a:srgbClr val="258768"/>
                </a:solidFill>
                <a:latin typeface="Times New Roman"/>
                <a:cs typeface="Times New Roman"/>
              </a:rPr>
              <a:t> </a:t>
            </a:r>
            <a:r>
              <a:rPr sz="2100" spc="-15" dirty="0">
                <a:latin typeface="宋体"/>
                <a:cs typeface="宋体"/>
              </a:rPr>
              <a:t>训练数</a:t>
            </a:r>
            <a:r>
              <a:rPr sz="2100" spc="-25" dirty="0">
                <a:latin typeface="宋体"/>
                <a:cs typeface="宋体"/>
              </a:rPr>
              <a:t>据</a:t>
            </a:r>
            <a:r>
              <a:rPr sz="2100" spc="-515" dirty="0">
                <a:latin typeface="宋体"/>
                <a:cs typeface="宋体"/>
              </a:rPr>
              <a:t> </a:t>
            </a:r>
            <a:r>
              <a:rPr sz="2100" spc="-10" dirty="0">
                <a:latin typeface="Constantia"/>
                <a:cs typeface="Constantia"/>
              </a:rPr>
              <a:t>t</a:t>
            </a:r>
            <a:r>
              <a:rPr sz="2100" spc="-50" dirty="0">
                <a:latin typeface="Constantia"/>
                <a:cs typeface="Constantia"/>
              </a:rPr>
              <a:t>r</a:t>
            </a:r>
            <a:r>
              <a:rPr sz="2100" spc="-5" dirty="0">
                <a:latin typeface="Constantia"/>
                <a:cs typeface="Constantia"/>
              </a:rPr>
              <a:t>a</a:t>
            </a:r>
            <a:r>
              <a:rPr sz="2100" spc="-10" dirty="0">
                <a:latin typeface="Constantia"/>
                <a:cs typeface="Constantia"/>
              </a:rPr>
              <a:t>ining</a:t>
            </a:r>
            <a:r>
              <a:rPr sz="2100" spc="-55" dirty="0">
                <a:latin typeface="Constantia"/>
                <a:cs typeface="Constantia"/>
              </a:rPr>
              <a:t> </a:t>
            </a:r>
            <a:r>
              <a:rPr sz="2100" spc="-10" dirty="0">
                <a:latin typeface="Constantia"/>
                <a:cs typeface="Constantia"/>
              </a:rPr>
              <a:t>data</a:t>
            </a:r>
            <a:endParaRPr sz="2100">
              <a:latin typeface="Constantia"/>
              <a:cs typeface="Constantia"/>
            </a:endParaRPr>
          </a:p>
          <a:p>
            <a:pPr marL="680085">
              <a:lnSpc>
                <a:spcPct val="100000"/>
              </a:lnSpc>
              <a:spcBef>
                <a:spcPts val="550"/>
              </a:spcBef>
              <a:tabLst>
                <a:tab pos="2455545" algn="l"/>
                <a:tab pos="3260090" algn="l"/>
              </a:tabLst>
            </a:pPr>
            <a:r>
              <a:rPr sz="1450" spc="10" dirty="0">
                <a:solidFill>
                  <a:srgbClr val="258768"/>
                </a:solidFill>
                <a:latin typeface="Wingdings"/>
                <a:cs typeface="Wingdings"/>
              </a:rPr>
              <a:t></a:t>
            </a:r>
            <a:r>
              <a:rPr sz="1450" spc="114" dirty="0">
                <a:solidFill>
                  <a:srgbClr val="258768"/>
                </a:solidFill>
                <a:latin typeface="Times New Roman"/>
                <a:cs typeface="Times New Roman"/>
              </a:rPr>
              <a:t> </a:t>
            </a:r>
            <a:r>
              <a:rPr sz="2050" spc="25" dirty="0">
                <a:latin typeface="宋体"/>
                <a:cs typeface="宋体"/>
              </a:rPr>
              <a:t>模</a:t>
            </a:r>
            <a:r>
              <a:rPr sz="2050" spc="20" dirty="0">
                <a:latin typeface="宋体"/>
                <a:cs typeface="宋体"/>
              </a:rPr>
              <a:t>型</a:t>
            </a:r>
            <a:r>
              <a:rPr sz="2050" spc="-490" dirty="0">
                <a:latin typeface="宋体"/>
                <a:cs typeface="宋体"/>
              </a:rPr>
              <a:t> </a:t>
            </a:r>
            <a:r>
              <a:rPr sz="2050" spc="25" dirty="0">
                <a:latin typeface="Constantia"/>
                <a:cs typeface="Constantia"/>
              </a:rPr>
              <a:t>m</a:t>
            </a:r>
            <a:r>
              <a:rPr sz="2050" spc="15" dirty="0">
                <a:latin typeface="Constantia"/>
                <a:cs typeface="Constantia"/>
              </a:rPr>
              <a:t>od</a:t>
            </a:r>
            <a:r>
              <a:rPr sz="2050" spc="5" dirty="0">
                <a:latin typeface="Constantia"/>
                <a:cs typeface="Constantia"/>
              </a:rPr>
              <a:t>el</a:t>
            </a:r>
            <a:r>
              <a:rPr sz="2050" dirty="0">
                <a:latin typeface="Constantia"/>
                <a:cs typeface="Constantia"/>
              </a:rPr>
              <a:t>	</a:t>
            </a:r>
            <a:r>
              <a:rPr sz="2050" spc="5" dirty="0">
                <a:latin typeface="Constantia"/>
                <a:cs typeface="Constantia"/>
              </a:rPr>
              <a:t>-------</a:t>
            </a:r>
            <a:r>
              <a:rPr sz="2050" dirty="0">
                <a:latin typeface="Constantia"/>
                <a:cs typeface="Constantia"/>
              </a:rPr>
              <a:t>	</a:t>
            </a:r>
            <a:r>
              <a:rPr sz="2050" spc="25" dirty="0">
                <a:latin typeface="宋体"/>
                <a:cs typeface="宋体"/>
              </a:rPr>
              <a:t>假设空</a:t>
            </a:r>
            <a:r>
              <a:rPr sz="2050" spc="20" dirty="0">
                <a:latin typeface="宋体"/>
                <a:cs typeface="宋体"/>
              </a:rPr>
              <a:t>间</a:t>
            </a:r>
            <a:r>
              <a:rPr sz="2050" spc="-490" dirty="0">
                <a:latin typeface="宋体"/>
                <a:cs typeface="宋体"/>
              </a:rPr>
              <a:t> </a:t>
            </a:r>
            <a:r>
              <a:rPr sz="2050" spc="-25" dirty="0">
                <a:latin typeface="Constantia"/>
                <a:cs typeface="Constantia"/>
              </a:rPr>
              <a:t>h</a:t>
            </a:r>
            <a:r>
              <a:rPr sz="2050" spc="5" dirty="0">
                <a:latin typeface="Constantia"/>
                <a:cs typeface="Constantia"/>
              </a:rPr>
              <a:t>y</a:t>
            </a:r>
            <a:r>
              <a:rPr sz="2050" spc="15" dirty="0">
                <a:latin typeface="Constantia"/>
                <a:cs typeface="Constantia"/>
              </a:rPr>
              <a:t>po</a:t>
            </a:r>
            <a:r>
              <a:rPr sz="2050" spc="5" dirty="0">
                <a:latin typeface="Constantia"/>
                <a:cs typeface="Constantia"/>
              </a:rPr>
              <a:t>the</a:t>
            </a:r>
            <a:r>
              <a:rPr sz="2050" spc="10" dirty="0">
                <a:latin typeface="Constantia"/>
                <a:cs typeface="Constantia"/>
              </a:rPr>
              <a:t>s</a:t>
            </a:r>
            <a:r>
              <a:rPr sz="2050" spc="5" dirty="0">
                <a:latin typeface="Constantia"/>
                <a:cs typeface="Constantia"/>
              </a:rPr>
              <a:t>is</a:t>
            </a:r>
            <a:endParaRPr sz="2050">
              <a:latin typeface="Constantia"/>
              <a:cs typeface="Constantia"/>
            </a:endParaRPr>
          </a:p>
          <a:p>
            <a:pPr marL="680085">
              <a:lnSpc>
                <a:spcPct val="100000"/>
              </a:lnSpc>
              <a:spcBef>
                <a:spcPts val="560"/>
              </a:spcBef>
            </a:pPr>
            <a:r>
              <a:rPr sz="1450" spc="10" dirty="0">
                <a:solidFill>
                  <a:srgbClr val="258768"/>
                </a:solidFill>
                <a:latin typeface="Wingdings"/>
                <a:cs typeface="Wingdings"/>
              </a:rPr>
              <a:t></a:t>
            </a:r>
            <a:r>
              <a:rPr sz="1450" spc="114" dirty="0">
                <a:solidFill>
                  <a:srgbClr val="258768"/>
                </a:solidFill>
                <a:latin typeface="Times New Roman"/>
                <a:cs typeface="Times New Roman"/>
              </a:rPr>
              <a:t> </a:t>
            </a:r>
            <a:r>
              <a:rPr sz="2050" spc="25" dirty="0">
                <a:latin typeface="宋体"/>
                <a:cs typeface="宋体"/>
              </a:rPr>
              <a:t>评价准</a:t>
            </a:r>
            <a:r>
              <a:rPr sz="2050" spc="20" dirty="0">
                <a:latin typeface="宋体"/>
                <a:cs typeface="宋体"/>
              </a:rPr>
              <a:t>则</a:t>
            </a:r>
            <a:r>
              <a:rPr sz="2050" spc="-490" dirty="0">
                <a:latin typeface="宋体"/>
                <a:cs typeface="宋体"/>
              </a:rPr>
              <a:t> </a:t>
            </a:r>
            <a:r>
              <a:rPr sz="2050" spc="5" dirty="0">
                <a:latin typeface="Constantia"/>
                <a:cs typeface="Constantia"/>
              </a:rPr>
              <a:t>e</a:t>
            </a:r>
            <a:r>
              <a:rPr sz="2050" spc="-10" dirty="0">
                <a:latin typeface="Constantia"/>
                <a:cs typeface="Constantia"/>
              </a:rPr>
              <a:t>v</a:t>
            </a:r>
            <a:r>
              <a:rPr sz="2050" spc="10" dirty="0">
                <a:latin typeface="Constantia"/>
                <a:cs typeface="Constantia"/>
              </a:rPr>
              <a:t>a</a:t>
            </a:r>
            <a:r>
              <a:rPr sz="2050" spc="5" dirty="0">
                <a:latin typeface="Constantia"/>
                <a:cs typeface="Constantia"/>
              </a:rPr>
              <a:t>l</a:t>
            </a:r>
            <a:r>
              <a:rPr sz="2050" spc="15" dirty="0">
                <a:latin typeface="Constantia"/>
                <a:cs typeface="Constantia"/>
              </a:rPr>
              <a:t>ua</a:t>
            </a:r>
            <a:r>
              <a:rPr sz="2050" spc="5" dirty="0">
                <a:latin typeface="Constantia"/>
                <a:cs typeface="Constantia"/>
              </a:rPr>
              <a:t>ti</a:t>
            </a:r>
            <a:r>
              <a:rPr sz="2050" spc="15" dirty="0">
                <a:latin typeface="Constantia"/>
                <a:cs typeface="Constantia"/>
              </a:rPr>
              <a:t>o</a:t>
            </a:r>
            <a:r>
              <a:rPr sz="2050" spc="10" dirty="0">
                <a:latin typeface="Constantia"/>
                <a:cs typeface="Constantia"/>
              </a:rPr>
              <a:t>n</a:t>
            </a:r>
            <a:r>
              <a:rPr sz="2050" dirty="0">
                <a:latin typeface="Constantia"/>
                <a:cs typeface="Constantia"/>
              </a:rPr>
              <a:t> </a:t>
            </a:r>
            <a:r>
              <a:rPr sz="2050" spc="-70" dirty="0">
                <a:latin typeface="Constantia"/>
                <a:cs typeface="Constantia"/>
              </a:rPr>
              <a:t> </a:t>
            </a:r>
            <a:r>
              <a:rPr sz="2050" spc="10" dirty="0">
                <a:latin typeface="Constantia"/>
                <a:cs typeface="Constantia"/>
              </a:rPr>
              <a:t>c</a:t>
            </a:r>
            <a:r>
              <a:rPr sz="2050" spc="5" dirty="0">
                <a:latin typeface="Constantia"/>
                <a:cs typeface="Constantia"/>
              </a:rPr>
              <a:t>ri</a:t>
            </a:r>
            <a:r>
              <a:rPr sz="2050" spc="-30" dirty="0">
                <a:latin typeface="Constantia"/>
                <a:cs typeface="Constantia"/>
              </a:rPr>
              <a:t>t</a:t>
            </a:r>
            <a:r>
              <a:rPr sz="2050" spc="5" dirty="0">
                <a:latin typeface="Constantia"/>
                <a:cs typeface="Constantia"/>
              </a:rPr>
              <a:t>eri</a:t>
            </a:r>
            <a:r>
              <a:rPr sz="2050" spc="15" dirty="0">
                <a:latin typeface="Constantia"/>
                <a:cs typeface="Constantia"/>
              </a:rPr>
              <a:t>o</a:t>
            </a:r>
            <a:r>
              <a:rPr sz="2050" spc="10" dirty="0">
                <a:latin typeface="Constantia"/>
                <a:cs typeface="Constantia"/>
              </a:rPr>
              <a:t>n</a:t>
            </a:r>
            <a:r>
              <a:rPr sz="2050" spc="-25" dirty="0">
                <a:latin typeface="Constantia"/>
                <a:cs typeface="Constantia"/>
              </a:rPr>
              <a:t> </a:t>
            </a:r>
            <a:r>
              <a:rPr sz="2050" spc="5" dirty="0">
                <a:latin typeface="Constantia"/>
                <a:cs typeface="Constantia"/>
              </a:rPr>
              <a:t>--------</a:t>
            </a:r>
            <a:r>
              <a:rPr sz="2050" spc="15" dirty="0">
                <a:latin typeface="Constantia"/>
                <a:cs typeface="Constantia"/>
              </a:rPr>
              <a:t> </a:t>
            </a:r>
            <a:r>
              <a:rPr sz="2050" spc="25" dirty="0">
                <a:latin typeface="宋体"/>
                <a:cs typeface="宋体"/>
              </a:rPr>
              <a:t>策</a:t>
            </a:r>
            <a:r>
              <a:rPr sz="2050" spc="20" dirty="0">
                <a:latin typeface="宋体"/>
                <a:cs typeface="宋体"/>
              </a:rPr>
              <a:t>略</a:t>
            </a:r>
            <a:r>
              <a:rPr sz="2050" spc="-490" dirty="0">
                <a:latin typeface="宋体"/>
                <a:cs typeface="宋体"/>
              </a:rPr>
              <a:t> </a:t>
            </a:r>
            <a:r>
              <a:rPr sz="2050" spc="10" dirty="0">
                <a:latin typeface="Constantia"/>
                <a:cs typeface="Constantia"/>
              </a:rPr>
              <a:t>s</a:t>
            </a:r>
            <a:r>
              <a:rPr sz="2050" spc="5" dirty="0">
                <a:latin typeface="Constantia"/>
                <a:cs typeface="Constantia"/>
              </a:rPr>
              <a:t>t</a:t>
            </a:r>
            <a:r>
              <a:rPr sz="2050" spc="-35" dirty="0">
                <a:latin typeface="Constantia"/>
                <a:cs typeface="Constantia"/>
              </a:rPr>
              <a:t>r</a:t>
            </a:r>
            <a:r>
              <a:rPr sz="2050" spc="10" dirty="0">
                <a:latin typeface="Constantia"/>
                <a:cs typeface="Constantia"/>
              </a:rPr>
              <a:t>a</a:t>
            </a:r>
            <a:r>
              <a:rPr sz="2050" spc="-30" dirty="0">
                <a:latin typeface="Constantia"/>
                <a:cs typeface="Constantia"/>
              </a:rPr>
              <a:t>t</a:t>
            </a:r>
            <a:r>
              <a:rPr sz="2050" spc="5" dirty="0">
                <a:latin typeface="Constantia"/>
                <a:cs typeface="Constantia"/>
              </a:rPr>
              <a:t>e</a:t>
            </a:r>
            <a:r>
              <a:rPr sz="2050" spc="50" dirty="0">
                <a:latin typeface="Constantia"/>
                <a:cs typeface="Constantia"/>
              </a:rPr>
              <a:t>g</a:t>
            </a:r>
            <a:r>
              <a:rPr sz="2050" spc="5" dirty="0">
                <a:latin typeface="Constantia"/>
                <a:cs typeface="Constantia"/>
              </a:rPr>
              <a:t>y</a:t>
            </a:r>
            <a:endParaRPr sz="2050">
              <a:latin typeface="Constantia"/>
              <a:cs typeface="Constantia"/>
            </a:endParaRPr>
          </a:p>
          <a:p>
            <a:pPr marL="680085">
              <a:lnSpc>
                <a:spcPct val="100000"/>
              </a:lnSpc>
              <a:spcBef>
                <a:spcPts val="509"/>
              </a:spcBef>
            </a:pPr>
            <a:r>
              <a:rPr sz="1450" spc="10" dirty="0">
                <a:solidFill>
                  <a:srgbClr val="258768"/>
                </a:solidFill>
                <a:latin typeface="Wingdings"/>
                <a:cs typeface="Wingdings"/>
              </a:rPr>
              <a:t></a:t>
            </a:r>
            <a:r>
              <a:rPr sz="1450" spc="114" dirty="0">
                <a:solidFill>
                  <a:srgbClr val="258768"/>
                </a:solidFill>
                <a:latin typeface="Times New Roman"/>
                <a:cs typeface="Times New Roman"/>
              </a:rPr>
              <a:t> </a:t>
            </a:r>
            <a:r>
              <a:rPr sz="2100" spc="-15" dirty="0">
                <a:latin typeface="宋体"/>
                <a:cs typeface="宋体"/>
              </a:rPr>
              <a:t>算</a:t>
            </a:r>
            <a:r>
              <a:rPr sz="2100" spc="-25" dirty="0">
                <a:latin typeface="宋体"/>
                <a:cs typeface="宋体"/>
              </a:rPr>
              <a:t>法</a:t>
            </a:r>
            <a:r>
              <a:rPr sz="2100" spc="-515" dirty="0">
                <a:latin typeface="宋体"/>
                <a:cs typeface="宋体"/>
              </a:rPr>
              <a:t> </a:t>
            </a:r>
            <a:r>
              <a:rPr sz="2100" spc="-5" dirty="0">
                <a:latin typeface="Constantia"/>
                <a:cs typeface="Constantia"/>
              </a:rPr>
              <a:t>a</a:t>
            </a:r>
            <a:r>
              <a:rPr sz="2100" spc="-10" dirty="0">
                <a:latin typeface="Constantia"/>
                <a:cs typeface="Constantia"/>
              </a:rPr>
              <a:t>l</a:t>
            </a:r>
            <a:r>
              <a:rPr sz="2100" spc="-65" dirty="0">
                <a:latin typeface="Constantia"/>
                <a:cs typeface="Constantia"/>
              </a:rPr>
              <a:t>g</a:t>
            </a:r>
            <a:r>
              <a:rPr sz="2100" spc="-10" dirty="0">
                <a:latin typeface="Constantia"/>
                <a:cs typeface="Constantia"/>
              </a:rPr>
              <a:t>o</a:t>
            </a:r>
            <a:r>
              <a:rPr sz="2100" spc="-15" dirty="0">
                <a:latin typeface="Constantia"/>
                <a:cs typeface="Constantia"/>
              </a:rPr>
              <a:t>rithm</a:t>
            </a:r>
            <a:endParaRPr sz="2100">
              <a:latin typeface="Constantia"/>
              <a:cs typeface="Constant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统计学</a:t>
            </a:r>
            <a:r>
              <a:rPr dirty="0"/>
              <a:t>习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765">
              <a:lnSpc>
                <a:spcPct val="100000"/>
              </a:lnSpc>
            </a:pPr>
            <a:r>
              <a:rPr sz="2000" spc="20" dirty="0">
                <a:solidFill>
                  <a:srgbClr val="50742E"/>
                </a:solidFill>
                <a:latin typeface="Wingdings"/>
                <a:cs typeface="Wingdings"/>
              </a:rPr>
              <a:t></a:t>
            </a:r>
            <a:r>
              <a:rPr sz="2400" spc="20" dirty="0"/>
              <a:t>统计学习的研究：</a:t>
            </a:r>
            <a:endParaRPr sz="2400">
              <a:latin typeface="Wingdings"/>
              <a:cs typeface="Wingdings"/>
            </a:endParaRPr>
          </a:p>
          <a:p>
            <a:pPr marL="680085">
              <a:lnSpc>
                <a:spcPct val="100000"/>
              </a:lnSpc>
              <a:spcBef>
                <a:spcPts val="570"/>
              </a:spcBef>
            </a:pPr>
            <a:r>
              <a:rPr sz="1450" spc="10" dirty="0">
                <a:solidFill>
                  <a:srgbClr val="258768"/>
                </a:solidFill>
                <a:latin typeface="Wingdings"/>
                <a:cs typeface="Wingdings"/>
              </a:rPr>
              <a:t></a:t>
            </a:r>
            <a:r>
              <a:rPr sz="1450" spc="114" dirty="0">
                <a:solidFill>
                  <a:srgbClr val="258768"/>
                </a:solidFill>
                <a:latin typeface="Times New Roman"/>
                <a:cs typeface="Times New Roman"/>
              </a:rPr>
              <a:t> </a:t>
            </a:r>
            <a:r>
              <a:rPr sz="2050" spc="25" dirty="0"/>
              <a:t>统计学习方</a:t>
            </a:r>
            <a:r>
              <a:rPr sz="2050" spc="20" dirty="0"/>
              <a:t>法</a:t>
            </a:r>
            <a:endParaRPr sz="2050">
              <a:latin typeface="Times New Roman"/>
              <a:cs typeface="Times New Roman"/>
            </a:endParaRPr>
          </a:p>
          <a:p>
            <a:pPr marL="680085">
              <a:lnSpc>
                <a:spcPct val="100000"/>
              </a:lnSpc>
              <a:spcBef>
                <a:spcPts val="560"/>
              </a:spcBef>
            </a:pPr>
            <a:r>
              <a:rPr sz="1450" spc="10" dirty="0">
                <a:solidFill>
                  <a:srgbClr val="258768"/>
                </a:solidFill>
                <a:latin typeface="Wingdings"/>
                <a:cs typeface="Wingdings"/>
              </a:rPr>
              <a:t></a:t>
            </a:r>
            <a:r>
              <a:rPr sz="1450" spc="114" dirty="0">
                <a:solidFill>
                  <a:srgbClr val="258768"/>
                </a:solidFill>
                <a:latin typeface="Times New Roman"/>
                <a:cs typeface="Times New Roman"/>
              </a:rPr>
              <a:t> </a:t>
            </a:r>
            <a:r>
              <a:rPr sz="2050" spc="25" dirty="0"/>
              <a:t>统计学习理论（统计学习方法的有效性和效率和基本理论</a:t>
            </a:r>
            <a:r>
              <a:rPr sz="2050" spc="20" dirty="0"/>
              <a:t>）</a:t>
            </a:r>
            <a:endParaRPr sz="2050">
              <a:latin typeface="Times New Roman"/>
              <a:cs typeface="Times New Roman"/>
            </a:endParaRPr>
          </a:p>
          <a:p>
            <a:pPr marL="680085">
              <a:lnSpc>
                <a:spcPts val="2395"/>
              </a:lnSpc>
              <a:spcBef>
                <a:spcPts val="509"/>
              </a:spcBef>
            </a:pPr>
            <a:r>
              <a:rPr sz="1450" spc="10" dirty="0">
                <a:solidFill>
                  <a:srgbClr val="258768"/>
                </a:solidFill>
                <a:latin typeface="Wingdings"/>
                <a:cs typeface="Wingdings"/>
              </a:rPr>
              <a:t></a:t>
            </a:r>
            <a:r>
              <a:rPr sz="1450" spc="114" dirty="0">
                <a:solidFill>
                  <a:srgbClr val="258768"/>
                </a:solidFill>
                <a:latin typeface="Times New Roman"/>
                <a:cs typeface="Times New Roman"/>
              </a:rPr>
              <a:t> </a:t>
            </a:r>
            <a:r>
              <a:rPr sz="2100" spc="-15" dirty="0"/>
              <a:t>统计学习应</a:t>
            </a:r>
            <a:r>
              <a:rPr sz="2100" spc="-25" dirty="0"/>
              <a:t>用</a:t>
            </a:r>
            <a:endParaRPr sz="2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二、监督学</a:t>
            </a:r>
            <a:r>
              <a:rPr dirty="0"/>
              <a:t>习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272" y="1558978"/>
            <a:ext cx="6885305" cy="4590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dirty="0">
                <a:solidFill>
                  <a:srgbClr val="33BC55"/>
                </a:solidFill>
                <a:latin typeface="Wingdings"/>
                <a:cs typeface="Wingdings"/>
              </a:rPr>
              <a:t></a:t>
            </a:r>
            <a:r>
              <a:rPr sz="2550" spc="15" dirty="0">
                <a:latin typeface="Constantia"/>
                <a:cs typeface="Constantia"/>
              </a:rPr>
              <a:t>In</a:t>
            </a:r>
            <a:r>
              <a:rPr sz="2550" spc="10" dirty="0">
                <a:latin typeface="Constantia"/>
                <a:cs typeface="Constantia"/>
              </a:rPr>
              <a:t>s</a:t>
            </a:r>
            <a:r>
              <a:rPr sz="2550" spc="15" dirty="0">
                <a:latin typeface="Constantia"/>
                <a:cs typeface="Constantia"/>
              </a:rPr>
              <a:t>tan</a:t>
            </a:r>
            <a:r>
              <a:rPr sz="2550" spc="-40" dirty="0">
                <a:latin typeface="Constantia"/>
                <a:cs typeface="Constantia"/>
              </a:rPr>
              <a:t>c</a:t>
            </a:r>
            <a:r>
              <a:rPr sz="2550" spc="10" dirty="0">
                <a:latin typeface="Constantia"/>
                <a:cs typeface="Constantia"/>
              </a:rPr>
              <a:t>e</a:t>
            </a:r>
            <a:r>
              <a:rPr sz="2550" spc="35" dirty="0">
                <a:latin typeface="宋体"/>
                <a:cs typeface="宋体"/>
              </a:rPr>
              <a:t>，</a:t>
            </a:r>
            <a:r>
              <a:rPr sz="2550" spc="-15" dirty="0">
                <a:latin typeface="Constantia"/>
                <a:cs typeface="Constantia"/>
              </a:rPr>
              <a:t>f</a:t>
            </a:r>
            <a:r>
              <a:rPr sz="2550" spc="10" dirty="0">
                <a:latin typeface="Constantia"/>
                <a:cs typeface="Constantia"/>
              </a:rPr>
              <a:t>e</a:t>
            </a:r>
            <a:r>
              <a:rPr sz="2550" spc="15" dirty="0">
                <a:latin typeface="Constantia"/>
                <a:cs typeface="Constantia"/>
              </a:rPr>
              <a:t>atu</a:t>
            </a:r>
            <a:r>
              <a:rPr sz="2550" spc="-35" dirty="0">
                <a:latin typeface="Constantia"/>
                <a:cs typeface="Constantia"/>
              </a:rPr>
              <a:t>r</a:t>
            </a:r>
            <a:r>
              <a:rPr sz="2550" spc="10" dirty="0">
                <a:latin typeface="Constantia"/>
                <a:cs typeface="Constantia"/>
              </a:rPr>
              <a:t>e</a:t>
            </a:r>
            <a:r>
              <a:rPr sz="2550" spc="-130" dirty="0">
                <a:latin typeface="Constantia"/>
                <a:cs typeface="Constantia"/>
              </a:rPr>
              <a:t> </a:t>
            </a:r>
            <a:r>
              <a:rPr sz="2550" spc="-50" dirty="0">
                <a:latin typeface="Constantia"/>
                <a:cs typeface="Constantia"/>
              </a:rPr>
              <a:t>v</a:t>
            </a:r>
            <a:r>
              <a:rPr sz="2550" spc="10" dirty="0">
                <a:latin typeface="Constantia"/>
                <a:cs typeface="Constantia"/>
              </a:rPr>
              <a:t>e</a:t>
            </a:r>
            <a:r>
              <a:rPr sz="2550" spc="15" dirty="0">
                <a:latin typeface="Constantia"/>
                <a:cs typeface="Constantia"/>
              </a:rPr>
              <a:t>c</a:t>
            </a:r>
            <a:r>
              <a:rPr sz="2550" spc="-30" dirty="0">
                <a:latin typeface="Constantia"/>
                <a:cs typeface="Constantia"/>
              </a:rPr>
              <a:t>t</a:t>
            </a:r>
            <a:r>
              <a:rPr sz="2550" spc="15" dirty="0">
                <a:latin typeface="Constantia"/>
                <a:cs typeface="Constantia"/>
              </a:rPr>
              <a:t>o</a:t>
            </a:r>
            <a:r>
              <a:rPr sz="2550" spc="5" dirty="0">
                <a:latin typeface="Constantia"/>
                <a:cs typeface="Constantia"/>
              </a:rPr>
              <a:t>r</a:t>
            </a:r>
            <a:r>
              <a:rPr sz="2550" spc="35" dirty="0">
                <a:latin typeface="宋体"/>
                <a:cs typeface="宋体"/>
              </a:rPr>
              <a:t>，</a:t>
            </a:r>
            <a:r>
              <a:rPr sz="2550" spc="-15" dirty="0">
                <a:latin typeface="Constantia"/>
                <a:cs typeface="Constantia"/>
              </a:rPr>
              <a:t>f</a:t>
            </a:r>
            <a:r>
              <a:rPr sz="2550" spc="10" dirty="0">
                <a:latin typeface="Constantia"/>
                <a:cs typeface="Constantia"/>
              </a:rPr>
              <a:t>e</a:t>
            </a:r>
            <a:r>
              <a:rPr sz="2550" spc="15" dirty="0">
                <a:latin typeface="Constantia"/>
                <a:cs typeface="Constantia"/>
              </a:rPr>
              <a:t>atu</a:t>
            </a:r>
            <a:r>
              <a:rPr sz="2550" spc="-35" dirty="0">
                <a:latin typeface="Constantia"/>
                <a:cs typeface="Constantia"/>
              </a:rPr>
              <a:t>r</a:t>
            </a:r>
            <a:r>
              <a:rPr sz="2550" spc="10" dirty="0">
                <a:latin typeface="Constantia"/>
                <a:cs typeface="Constantia"/>
              </a:rPr>
              <a:t>e</a:t>
            </a:r>
            <a:r>
              <a:rPr sz="2550" spc="-105" dirty="0">
                <a:latin typeface="Constantia"/>
                <a:cs typeface="Constantia"/>
              </a:rPr>
              <a:t> </a:t>
            </a:r>
            <a:r>
              <a:rPr sz="2550" spc="10" dirty="0">
                <a:latin typeface="Constantia"/>
                <a:cs typeface="Constantia"/>
              </a:rPr>
              <a:t>s</a:t>
            </a:r>
            <a:r>
              <a:rPr sz="2550" spc="15" dirty="0">
                <a:latin typeface="Constantia"/>
                <a:cs typeface="Constantia"/>
              </a:rPr>
              <a:t>pa</a:t>
            </a:r>
            <a:r>
              <a:rPr sz="2550" spc="-40" dirty="0">
                <a:latin typeface="Constantia"/>
                <a:cs typeface="Constantia"/>
              </a:rPr>
              <a:t>c</a:t>
            </a:r>
            <a:r>
              <a:rPr sz="2550" spc="10" dirty="0">
                <a:latin typeface="Constantia"/>
                <a:cs typeface="Constantia"/>
              </a:rPr>
              <a:t>e</a:t>
            </a:r>
            <a:endParaRPr sz="2550" dirty="0">
              <a:latin typeface="Constantia"/>
              <a:cs typeface="Constantia"/>
            </a:endParaRPr>
          </a:p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sz="2450" dirty="0">
                <a:solidFill>
                  <a:srgbClr val="33BC55"/>
                </a:solidFill>
                <a:latin typeface="Wingdings"/>
                <a:cs typeface="Wingdings"/>
              </a:rPr>
              <a:t></a:t>
            </a:r>
            <a:r>
              <a:rPr sz="2550" spc="35" dirty="0">
                <a:latin typeface="宋体"/>
                <a:cs typeface="宋体"/>
              </a:rPr>
              <a:t>输入实例</a:t>
            </a:r>
            <a:r>
              <a:rPr sz="2550" spc="15" dirty="0">
                <a:latin typeface="Constantia"/>
                <a:cs typeface="Constantia"/>
              </a:rPr>
              <a:t>x</a:t>
            </a:r>
            <a:r>
              <a:rPr sz="2550" spc="35" dirty="0">
                <a:latin typeface="宋体"/>
                <a:cs typeface="宋体"/>
              </a:rPr>
              <a:t>的特征向量</a:t>
            </a:r>
            <a:r>
              <a:rPr sz="2550" spc="25" dirty="0">
                <a:latin typeface="宋体"/>
                <a:cs typeface="宋体"/>
              </a:rPr>
              <a:t>：</a:t>
            </a:r>
            <a:endParaRPr sz="2550" dirty="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7"/>
              </a:spcBef>
            </a:pPr>
            <a:endParaRPr sz="300" dirty="0">
              <a:latin typeface="Times New Roman"/>
              <a:cs typeface="Times New Roman"/>
            </a:endParaRPr>
          </a:p>
          <a:p>
            <a:pPr marL="1864995">
              <a:lnSpc>
                <a:spcPts val="1000"/>
              </a:lnSpc>
            </a:pPr>
            <a:endParaRPr sz="3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2450" dirty="0">
                <a:solidFill>
                  <a:srgbClr val="33BC55"/>
                </a:solidFill>
                <a:latin typeface="Wingdings"/>
                <a:cs typeface="Wingdings"/>
              </a:rPr>
              <a:t></a:t>
            </a:r>
            <a:r>
              <a:rPr sz="2450" spc="-25" dirty="0">
                <a:solidFill>
                  <a:srgbClr val="33BC55"/>
                </a:solidFill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x</a:t>
            </a:r>
            <a:r>
              <a:rPr sz="2475" spc="15" baseline="21885" dirty="0">
                <a:latin typeface="Constantia"/>
                <a:cs typeface="Constantia"/>
              </a:rPr>
              <a:t>(</a:t>
            </a:r>
            <a:r>
              <a:rPr sz="2475" baseline="21885" dirty="0">
                <a:latin typeface="Constantia"/>
                <a:cs typeface="Constantia"/>
              </a:rPr>
              <a:t>i</a:t>
            </a:r>
            <a:r>
              <a:rPr sz="2475" spc="15" baseline="21885" dirty="0">
                <a:latin typeface="Constantia"/>
                <a:cs typeface="Constantia"/>
              </a:rPr>
              <a:t>)</a:t>
            </a:r>
            <a:r>
              <a:rPr sz="2600" spc="-20" dirty="0">
                <a:latin typeface="宋体"/>
                <a:cs typeface="宋体"/>
              </a:rPr>
              <a:t>与</a:t>
            </a:r>
            <a:r>
              <a:rPr sz="2600" spc="-10" dirty="0">
                <a:latin typeface="Constantia"/>
                <a:cs typeface="Constantia"/>
              </a:rPr>
              <a:t>x</a:t>
            </a:r>
            <a:r>
              <a:rPr sz="2475" baseline="-16835" dirty="0">
                <a:latin typeface="Constantia"/>
                <a:cs typeface="Constantia"/>
              </a:rPr>
              <a:t>i </a:t>
            </a:r>
            <a:r>
              <a:rPr sz="2475" spc="-254" baseline="-16835" dirty="0">
                <a:latin typeface="Constantia"/>
                <a:cs typeface="Constantia"/>
              </a:rPr>
              <a:t> </a:t>
            </a:r>
            <a:r>
              <a:rPr sz="2600" spc="-20" dirty="0">
                <a:latin typeface="宋体"/>
                <a:cs typeface="宋体"/>
              </a:rPr>
              <a:t>不同</a:t>
            </a:r>
            <a:r>
              <a:rPr sz="2600" spc="-10" dirty="0">
                <a:latin typeface="Constantia"/>
                <a:cs typeface="Constantia"/>
              </a:rPr>
              <a:t>,</a:t>
            </a:r>
            <a:r>
              <a:rPr sz="2600" spc="-20" dirty="0">
                <a:latin typeface="宋体"/>
                <a:cs typeface="宋体"/>
              </a:rPr>
              <a:t>后者表示多个输入变量中的第</a:t>
            </a:r>
            <a:r>
              <a:rPr sz="2600" spc="-10" dirty="0">
                <a:latin typeface="Constantia"/>
                <a:cs typeface="Constantia"/>
              </a:rPr>
              <a:t>i</a:t>
            </a:r>
            <a:r>
              <a:rPr sz="2600" spc="-30" dirty="0">
                <a:latin typeface="宋体"/>
                <a:cs typeface="宋体"/>
              </a:rPr>
              <a:t>个</a:t>
            </a:r>
            <a:endParaRPr sz="2600" dirty="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26"/>
              </a:spcBef>
            </a:pPr>
            <a:endParaRPr sz="950" dirty="0">
              <a:latin typeface="Times New Roman"/>
              <a:cs typeface="Times New Roman"/>
            </a:endParaRPr>
          </a:p>
          <a:p>
            <a:pPr marL="2282825">
              <a:lnSpc>
                <a:spcPts val="1000"/>
              </a:lnSpc>
            </a:pPr>
            <a:endParaRPr sz="9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50" dirty="0">
                <a:solidFill>
                  <a:srgbClr val="33BC55"/>
                </a:solidFill>
                <a:latin typeface="Wingdings"/>
                <a:cs typeface="Wingdings"/>
              </a:rPr>
              <a:t></a:t>
            </a:r>
            <a:r>
              <a:rPr sz="2600" spc="-20" dirty="0">
                <a:latin typeface="宋体"/>
                <a:cs typeface="宋体"/>
              </a:rPr>
              <a:t>训练集</a:t>
            </a:r>
            <a:r>
              <a:rPr sz="2600" spc="-30" dirty="0">
                <a:latin typeface="宋体"/>
                <a:cs typeface="宋体"/>
              </a:rPr>
              <a:t>：</a:t>
            </a:r>
            <a:endParaRPr sz="2600" dirty="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41"/>
              </a:spcBef>
            </a:pPr>
            <a:endParaRPr sz="400" dirty="0">
              <a:latin typeface="Times New Roman"/>
              <a:cs typeface="Times New Roman"/>
            </a:endParaRPr>
          </a:p>
          <a:p>
            <a:pPr marL="2081530">
              <a:lnSpc>
                <a:spcPts val="1000"/>
              </a:lnSpc>
            </a:pPr>
            <a:endParaRPr sz="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2450" dirty="0">
                <a:solidFill>
                  <a:srgbClr val="33BC55"/>
                </a:solidFill>
                <a:latin typeface="Wingdings"/>
                <a:cs typeface="Wingdings"/>
              </a:rPr>
              <a:t></a:t>
            </a:r>
            <a:r>
              <a:rPr sz="2600" spc="-20" dirty="0">
                <a:latin typeface="宋体"/>
                <a:cs typeface="宋体"/>
              </a:rPr>
              <a:t>输入变量和输出变量</a:t>
            </a:r>
            <a:r>
              <a:rPr sz="2600" spc="-30" dirty="0">
                <a:latin typeface="宋体"/>
                <a:cs typeface="宋体"/>
              </a:rPr>
              <a:t>：</a:t>
            </a:r>
            <a:endParaRPr sz="2600" dirty="0">
              <a:latin typeface="宋体"/>
              <a:cs typeface="宋体"/>
            </a:endParaRPr>
          </a:p>
          <a:p>
            <a:pPr marL="405765">
              <a:lnSpc>
                <a:spcPct val="100000"/>
              </a:lnSpc>
              <a:spcBef>
                <a:spcPts val="585"/>
              </a:spcBef>
            </a:pPr>
            <a:r>
              <a:rPr sz="2050" spc="-25" dirty="0">
                <a:solidFill>
                  <a:srgbClr val="50742E"/>
                </a:solidFill>
                <a:latin typeface="Wingdings"/>
                <a:cs typeface="Wingdings"/>
              </a:rPr>
              <a:t></a:t>
            </a:r>
            <a:r>
              <a:rPr sz="2400" spc="-25" dirty="0">
                <a:latin typeface="宋体"/>
                <a:cs typeface="宋体"/>
              </a:rPr>
              <a:t>分类问题、回归问题、标注问题</a:t>
            </a:r>
            <a:endParaRPr sz="2400" dirty="0">
              <a:latin typeface="宋体"/>
              <a:cs typeface="宋体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2057400"/>
            <a:ext cx="3066525" cy="398667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5600" y="3176882"/>
            <a:ext cx="2588625" cy="408633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0" y="3733800"/>
            <a:ext cx="3813228" cy="40525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监督学</a:t>
            </a:r>
            <a:r>
              <a:rPr dirty="0"/>
              <a:t>习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dirty="0">
                <a:solidFill>
                  <a:srgbClr val="33BC55"/>
                </a:solidFill>
                <a:latin typeface="Wingdings"/>
                <a:cs typeface="Wingdings"/>
              </a:rPr>
              <a:t></a:t>
            </a:r>
            <a:r>
              <a:rPr sz="2600" spc="-20" dirty="0"/>
              <a:t>联合概率分</a:t>
            </a:r>
            <a:r>
              <a:rPr sz="2600" spc="-30" dirty="0"/>
              <a:t>布</a:t>
            </a:r>
            <a:endParaRPr sz="2600">
              <a:latin typeface="Wingdings"/>
              <a:cs typeface="Wingdings"/>
            </a:endParaRPr>
          </a:p>
          <a:p>
            <a:pPr marL="405765">
              <a:lnSpc>
                <a:spcPct val="100000"/>
              </a:lnSpc>
              <a:spcBef>
                <a:spcPts val="585"/>
              </a:spcBef>
            </a:pPr>
            <a:r>
              <a:rPr sz="2000" spc="40" dirty="0">
                <a:solidFill>
                  <a:srgbClr val="50742E"/>
                </a:solidFill>
                <a:latin typeface="Wingdings"/>
                <a:cs typeface="Wingdings"/>
              </a:rPr>
              <a:t></a:t>
            </a:r>
            <a:r>
              <a:rPr sz="2400" spc="40" dirty="0"/>
              <a:t>假设输入与输出的随机变量</a:t>
            </a:r>
            <a:r>
              <a:rPr sz="2400" spc="-5" dirty="0">
                <a:latin typeface="Constantia"/>
                <a:cs typeface="Constantia"/>
              </a:rPr>
              <a:t>X</a:t>
            </a:r>
            <a:r>
              <a:rPr sz="2400" dirty="0"/>
              <a:t>和</a:t>
            </a:r>
            <a:r>
              <a:rPr sz="2400" dirty="0">
                <a:latin typeface="Constantia"/>
                <a:cs typeface="Constantia"/>
              </a:rPr>
              <a:t>Y</a:t>
            </a:r>
            <a:r>
              <a:rPr sz="2400" dirty="0"/>
              <a:t>遵循联合概率分布</a:t>
            </a:r>
            <a:r>
              <a:rPr sz="2400" spc="-15" dirty="0">
                <a:latin typeface="Constantia"/>
                <a:cs typeface="Constantia"/>
              </a:rPr>
              <a:t>P(</a:t>
            </a:r>
            <a:r>
              <a:rPr sz="2400" spc="-5" dirty="0">
                <a:latin typeface="Constantia"/>
                <a:cs typeface="Constantia"/>
              </a:rPr>
              <a:t>X</a:t>
            </a:r>
            <a:r>
              <a:rPr sz="2400" spc="-10" dirty="0">
                <a:latin typeface="Constantia"/>
                <a:cs typeface="Constantia"/>
              </a:rPr>
              <a:t>,</a:t>
            </a:r>
            <a:r>
              <a:rPr sz="2400" dirty="0">
                <a:latin typeface="Constantia"/>
                <a:cs typeface="Constantia"/>
              </a:rPr>
              <a:t>Y</a:t>
            </a:r>
            <a:r>
              <a:rPr sz="2400" spc="-10" dirty="0">
                <a:latin typeface="Constantia"/>
                <a:cs typeface="Constantia"/>
              </a:rPr>
              <a:t>)</a:t>
            </a:r>
            <a:endParaRPr sz="2400">
              <a:latin typeface="Constantia"/>
              <a:cs typeface="Constantia"/>
            </a:endParaRPr>
          </a:p>
          <a:p>
            <a:pPr marL="405765">
              <a:lnSpc>
                <a:spcPct val="100000"/>
              </a:lnSpc>
              <a:spcBef>
                <a:spcPts val="575"/>
              </a:spcBef>
            </a:pPr>
            <a:r>
              <a:rPr sz="2000" spc="20" dirty="0">
                <a:solidFill>
                  <a:srgbClr val="50742E"/>
                </a:solidFill>
                <a:latin typeface="Wingdings"/>
                <a:cs typeface="Wingdings"/>
              </a:rPr>
              <a:t></a:t>
            </a:r>
            <a:r>
              <a:rPr sz="2400" spc="-15" dirty="0">
                <a:latin typeface="Constantia"/>
                <a:cs typeface="Constantia"/>
              </a:rPr>
              <a:t>P(</a:t>
            </a:r>
            <a:r>
              <a:rPr sz="2400" spc="-5" dirty="0">
                <a:latin typeface="Constantia"/>
                <a:cs typeface="Constantia"/>
              </a:rPr>
              <a:t>X</a:t>
            </a:r>
            <a:r>
              <a:rPr sz="2400" spc="-10" dirty="0">
                <a:latin typeface="Constantia"/>
                <a:cs typeface="Constantia"/>
              </a:rPr>
              <a:t>,</a:t>
            </a:r>
            <a:r>
              <a:rPr sz="2400" dirty="0">
                <a:latin typeface="Constantia"/>
                <a:cs typeface="Constantia"/>
              </a:rPr>
              <a:t>Y</a:t>
            </a:r>
            <a:r>
              <a:rPr sz="2400" spc="-10" dirty="0">
                <a:latin typeface="Constantia"/>
                <a:cs typeface="Constantia"/>
              </a:rPr>
              <a:t>)</a:t>
            </a:r>
            <a:r>
              <a:rPr sz="2400" dirty="0"/>
              <a:t>为分布函数或分布密度函数</a:t>
            </a:r>
            <a:endParaRPr sz="2400">
              <a:latin typeface="Constantia"/>
              <a:cs typeface="Constantia"/>
            </a:endParaRPr>
          </a:p>
          <a:p>
            <a:pPr marL="405765">
              <a:lnSpc>
                <a:spcPct val="100000"/>
              </a:lnSpc>
              <a:spcBef>
                <a:spcPts val="575"/>
              </a:spcBef>
            </a:pPr>
            <a:r>
              <a:rPr sz="2050" spc="-25" dirty="0">
                <a:solidFill>
                  <a:srgbClr val="50742E"/>
                </a:solidFill>
                <a:latin typeface="Wingdings"/>
                <a:cs typeface="Wingdings"/>
              </a:rPr>
              <a:t></a:t>
            </a:r>
            <a:r>
              <a:rPr sz="2400" spc="-25" dirty="0"/>
              <a:t>对于学习系统来说，联合概率分布是未知的，</a:t>
            </a:r>
            <a:endParaRPr sz="2400">
              <a:latin typeface="Wingdings"/>
              <a:cs typeface="Wingdings"/>
            </a:endParaRPr>
          </a:p>
          <a:p>
            <a:pPr marL="652780" marR="80645" indent="-247015">
              <a:lnSpc>
                <a:spcPct val="100000"/>
              </a:lnSpc>
              <a:spcBef>
                <a:spcPts val="575"/>
              </a:spcBef>
            </a:pPr>
            <a:r>
              <a:rPr sz="2000" spc="20" dirty="0">
                <a:solidFill>
                  <a:srgbClr val="50742E"/>
                </a:solidFill>
                <a:latin typeface="Wingdings"/>
                <a:cs typeface="Wingdings"/>
              </a:rPr>
              <a:t></a:t>
            </a:r>
            <a:r>
              <a:rPr sz="2400" spc="20" dirty="0"/>
              <a:t>训练数据和测试数据被看作是依联合概率分布</a:t>
            </a:r>
            <a:r>
              <a:rPr sz="2400" spc="-15" dirty="0">
                <a:latin typeface="Constantia"/>
                <a:cs typeface="Constantia"/>
              </a:rPr>
              <a:t>P(</a:t>
            </a:r>
            <a:r>
              <a:rPr sz="2400" spc="-5" dirty="0">
                <a:latin typeface="Constantia"/>
                <a:cs typeface="Constantia"/>
              </a:rPr>
              <a:t>X</a:t>
            </a:r>
            <a:r>
              <a:rPr sz="2400" spc="-10" dirty="0">
                <a:latin typeface="Constantia"/>
                <a:cs typeface="Constantia"/>
              </a:rPr>
              <a:t>,</a:t>
            </a:r>
            <a:r>
              <a:rPr sz="2400" dirty="0">
                <a:latin typeface="Constantia"/>
                <a:cs typeface="Constantia"/>
              </a:rPr>
              <a:t>Y</a:t>
            </a:r>
            <a:r>
              <a:rPr sz="2400" spc="-10" dirty="0">
                <a:latin typeface="Constantia"/>
                <a:cs typeface="Constantia"/>
              </a:rPr>
              <a:t>)</a:t>
            </a:r>
            <a:r>
              <a:rPr sz="2400" dirty="0"/>
              <a:t>独立 同分布产生的。</a:t>
            </a:r>
            <a:endParaRPr sz="2400">
              <a:latin typeface="Constantia"/>
              <a:cs typeface="Constantia"/>
            </a:endParaRPr>
          </a:p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sz="2450" dirty="0">
                <a:solidFill>
                  <a:srgbClr val="33BC55"/>
                </a:solidFill>
                <a:latin typeface="Wingdings"/>
                <a:cs typeface="Wingdings"/>
              </a:rPr>
              <a:t></a:t>
            </a:r>
            <a:r>
              <a:rPr sz="2600" spc="-20" dirty="0"/>
              <a:t>假设空</a:t>
            </a:r>
            <a:r>
              <a:rPr sz="2600" spc="-30" dirty="0"/>
              <a:t>间</a:t>
            </a:r>
            <a:endParaRPr sz="2600">
              <a:latin typeface="Wingdings"/>
              <a:cs typeface="Wingdings"/>
            </a:endParaRPr>
          </a:p>
          <a:p>
            <a:pPr marL="405765">
              <a:lnSpc>
                <a:spcPct val="100000"/>
              </a:lnSpc>
              <a:spcBef>
                <a:spcPts val="585"/>
              </a:spcBef>
            </a:pPr>
            <a:r>
              <a:rPr sz="2000" spc="20" dirty="0">
                <a:solidFill>
                  <a:srgbClr val="50742E"/>
                </a:solidFill>
                <a:latin typeface="Wingdings"/>
                <a:cs typeface="Wingdings"/>
              </a:rPr>
              <a:t></a:t>
            </a:r>
            <a:r>
              <a:rPr sz="2400" spc="20" dirty="0"/>
              <a:t>监督学习目的是学习一个由输入到输出的映射，称为模型</a:t>
            </a:r>
            <a:endParaRPr sz="2400">
              <a:latin typeface="Wingdings"/>
              <a:cs typeface="Wingdings"/>
            </a:endParaRPr>
          </a:p>
          <a:p>
            <a:pPr marL="405765">
              <a:lnSpc>
                <a:spcPct val="100000"/>
              </a:lnSpc>
              <a:spcBef>
                <a:spcPts val="575"/>
              </a:spcBef>
            </a:pPr>
            <a:r>
              <a:rPr sz="2000" spc="20" dirty="0">
                <a:solidFill>
                  <a:srgbClr val="50742E"/>
                </a:solidFill>
                <a:latin typeface="Wingdings"/>
                <a:cs typeface="Wingdings"/>
              </a:rPr>
              <a:t></a:t>
            </a:r>
            <a:r>
              <a:rPr sz="2400" spc="20" dirty="0"/>
              <a:t>模式的集合就是假设空间（</a:t>
            </a:r>
            <a:r>
              <a:rPr sz="2400" spc="-55" dirty="0">
                <a:latin typeface="Constantia"/>
                <a:cs typeface="Constantia"/>
              </a:rPr>
              <a:t>h</a:t>
            </a:r>
            <a:r>
              <a:rPr sz="2400" dirty="0">
                <a:latin typeface="Constantia"/>
                <a:cs typeface="Constantia"/>
              </a:rPr>
              <a:t>y</a:t>
            </a:r>
            <a:r>
              <a:rPr sz="2400" spc="-15" dirty="0">
                <a:latin typeface="Constantia"/>
                <a:cs typeface="Constantia"/>
              </a:rPr>
              <a:t>p</a:t>
            </a:r>
            <a:r>
              <a:rPr sz="2400" spc="-20" dirty="0">
                <a:latin typeface="Constantia"/>
                <a:cs typeface="Constantia"/>
              </a:rPr>
              <a:t>o</a:t>
            </a:r>
            <a:r>
              <a:rPr sz="2400" spc="-5" dirty="0">
                <a:latin typeface="Constantia"/>
                <a:cs typeface="Constantia"/>
              </a:rPr>
              <a:t>t</a:t>
            </a:r>
            <a:r>
              <a:rPr sz="2400" spc="-15" dirty="0">
                <a:latin typeface="Constantia"/>
                <a:cs typeface="Constantia"/>
              </a:rPr>
              <a:t>h</a:t>
            </a:r>
            <a:r>
              <a:rPr sz="2400" dirty="0">
                <a:latin typeface="Constantia"/>
                <a:cs typeface="Constantia"/>
              </a:rPr>
              <a:t>e</a:t>
            </a:r>
            <a:r>
              <a:rPr sz="2400" spc="-10" dirty="0">
                <a:latin typeface="Constantia"/>
                <a:cs typeface="Constantia"/>
              </a:rPr>
              <a:t>s</a:t>
            </a:r>
            <a:r>
              <a:rPr sz="2400" dirty="0">
                <a:latin typeface="Constantia"/>
                <a:cs typeface="Constantia"/>
              </a:rPr>
              <a:t>i</a:t>
            </a:r>
            <a:r>
              <a:rPr sz="2400" spc="-10" dirty="0">
                <a:latin typeface="Constantia"/>
                <a:cs typeface="Constantia"/>
              </a:rPr>
              <a:t>s</a:t>
            </a:r>
            <a:r>
              <a:rPr sz="2400" spc="-105" dirty="0">
                <a:latin typeface="Constantia"/>
                <a:cs typeface="Constantia"/>
              </a:rPr>
              <a:t> </a:t>
            </a:r>
            <a:r>
              <a:rPr sz="2400" spc="-15" dirty="0">
                <a:latin typeface="Constantia"/>
                <a:cs typeface="Constantia"/>
              </a:rPr>
              <a:t>spa</a:t>
            </a:r>
            <a:r>
              <a:rPr sz="2400" spc="-55" dirty="0">
                <a:latin typeface="Constantia"/>
                <a:cs typeface="Constantia"/>
              </a:rPr>
              <a:t>c</a:t>
            </a:r>
            <a:r>
              <a:rPr sz="2400" dirty="0">
                <a:latin typeface="Constantia"/>
                <a:cs typeface="Constantia"/>
              </a:rPr>
              <a:t>e</a:t>
            </a:r>
            <a:r>
              <a:rPr sz="2400" dirty="0"/>
              <a:t>）</a:t>
            </a:r>
            <a:endParaRPr sz="2400">
              <a:latin typeface="Constantia"/>
              <a:cs typeface="Constantia"/>
            </a:endParaRPr>
          </a:p>
          <a:p>
            <a:pPr marL="405765">
              <a:lnSpc>
                <a:spcPct val="100000"/>
              </a:lnSpc>
              <a:spcBef>
                <a:spcPts val="575"/>
              </a:spcBef>
            </a:pPr>
            <a:r>
              <a:rPr sz="2000" spc="40" dirty="0">
                <a:solidFill>
                  <a:srgbClr val="50742E"/>
                </a:solidFill>
                <a:latin typeface="Wingdings"/>
                <a:cs typeface="Wingdings"/>
              </a:rPr>
              <a:t></a:t>
            </a:r>
            <a:r>
              <a:rPr sz="2400" spc="40" dirty="0"/>
              <a:t>概率模型</a:t>
            </a:r>
            <a:r>
              <a:rPr sz="2400" spc="-10" dirty="0">
                <a:latin typeface="Constantia"/>
                <a:cs typeface="Constantia"/>
              </a:rPr>
              <a:t>:</a:t>
            </a:r>
            <a:r>
              <a:rPr sz="2400" spc="-10" dirty="0"/>
              <a:t>条件概率分布</a:t>
            </a:r>
            <a:r>
              <a:rPr sz="2400" spc="-15" dirty="0">
                <a:latin typeface="Constantia"/>
                <a:cs typeface="Constantia"/>
              </a:rPr>
              <a:t>P(Y</a:t>
            </a:r>
            <a:r>
              <a:rPr sz="2400" spc="-10" dirty="0">
                <a:latin typeface="Constantia"/>
                <a:cs typeface="Constantia"/>
              </a:rPr>
              <a:t>|</a:t>
            </a:r>
            <a:r>
              <a:rPr sz="2400" spc="-5" dirty="0">
                <a:latin typeface="Constantia"/>
                <a:cs typeface="Constantia"/>
              </a:rPr>
              <a:t>X</a:t>
            </a:r>
            <a:r>
              <a:rPr sz="2400" spc="-10" dirty="0">
                <a:latin typeface="Constantia"/>
                <a:cs typeface="Constantia"/>
              </a:rPr>
              <a:t>),</a:t>
            </a:r>
            <a:r>
              <a:rPr sz="2400" dirty="0">
                <a:latin typeface="Constantia"/>
                <a:cs typeface="Constantia"/>
              </a:rPr>
              <a:t> </a:t>
            </a:r>
            <a:r>
              <a:rPr sz="2400" dirty="0"/>
              <a:t>决策函数：</a:t>
            </a:r>
            <a:r>
              <a:rPr sz="2400" dirty="0">
                <a:latin typeface="Constantia"/>
                <a:cs typeface="Constantia"/>
              </a:rPr>
              <a:t>Y</a:t>
            </a:r>
            <a:r>
              <a:rPr sz="2400" spc="-10" dirty="0">
                <a:latin typeface="Constantia"/>
                <a:cs typeface="Constantia"/>
              </a:rPr>
              <a:t>=f(</a:t>
            </a:r>
            <a:r>
              <a:rPr sz="2400" spc="-5" dirty="0">
                <a:latin typeface="Constantia"/>
                <a:cs typeface="Constantia"/>
              </a:rPr>
              <a:t>X</a:t>
            </a:r>
            <a:r>
              <a:rPr sz="2400" spc="-10" dirty="0">
                <a:latin typeface="Constantia"/>
                <a:cs typeface="Constantia"/>
              </a:rPr>
              <a:t>)</a:t>
            </a:r>
            <a:endParaRPr sz="2400">
              <a:latin typeface="Constantia"/>
              <a:cs typeface="Constant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2841" y="626098"/>
            <a:ext cx="2564130" cy="6337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950" spc="10" dirty="0">
                <a:solidFill>
                  <a:srgbClr val="004646"/>
                </a:solidFill>
                <a:latin typeface="微软雅黑"/>
                <a:cs typeface="微软雅黑"/>
              </a:rPr>
              <a:t>监督学</a:t>
            </a:r>
            <a:r>
              <a:rPr sz="4950" dirty="0">
                <a:solidFill>
                  <a:srgbClr val="004646"/>
                </a:solidFill>
                <a:latin typeface="微软雅黑"/>
                <a:cs typeface="微软雅黑"/>
              </a:rPr>
              <a:t>习</a:t>
            </a:r>
            <a:endParaRPr sz="495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6245" y="1559613"/>
            <a:ext cx="2319020" cy="342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070"/>
              </a:lnSpc>
            </a:pPr>
            <a:r>
              <a:rPr sz="2450" dirty="0">
                <a:solidFill>
                  <a:srgbClr val="33BC55"/>
                </a:solidFill>
                <a:latin typeface="Wingdings"/>
                <a:cs typeface="Wingdings"/>
              </a:rPr>
              <a:t></a:t>
            </a:r>
            <a:r>
              <a:rPr sz="2600" spc="-20" dirty="0">
                <a:latin typeface="宋体"/>
                <a:cs typeface="宋体"/>
              </a:rPr>
              <a:t>问题的形式</a:t>
            </a:r>
            <a:r>
              <a:rPr sz="2600" spc="-30" dirty="0">
                <a:latin typeface="宋体"/>
                <a:cs typeface="宋体"/>
              </a:rPr>
              <a:t>化</a:t>
            </a:r>
            <a:endParaRPr sz="26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999488" y="1990344"/>
            <a:ext cx="5306568" cy="309676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916935" y="5391911"/>
            <a:ext cx="4032504" cy="70104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005327" y="6166103"/>
            <a:ext cx="1926336" cy="51206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三、统计学习三要</a:t>
            </a:r>
            <a:r>
              <a:rPr dirty="0"/>
              <a:t>素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272" y="2021893"/>
            <a:ext cx="3115945" cy="39395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dirty="0">
                <a:solidFill>
                  <a:srgbClr val="33BC55"/>
                </a:solidFill>
                <a:latin typeface="Wingdings"/>
                <a:cs typeface="Wingdings"/>
              </a:rPr>
              <a:t></a:t>
            </a:r>
            <a:r>
              <a:rPr sz="2600" spc="-20" dirty="0" err="1">
                <a:latin typeface="宋体"/>
                <a:cs typeface="宋体"/>
              </a:rPr>
              <a:t>模型</a:t>
            </a:r>
            <a:r>
              <a:rPr sz="2600" spc="-30" dirty="0">
                <a:latin typeface="宋体"/>
                <a:cs typeface="宋体"/>
              </a:rPr>
              <a:t>：</a:t>
            </a:r>
            <a:r>
              <a:rPr lang="zh-CN" altLang="en-US" sz="2600" spc="-30" dirty="0">
                <a:latin typeface="宋体"/>
                <a:cs typeface="宋体"/>
              </a:rPr>
              <a:t>假设空间</a:t>
            </a:r>
            <a:endParaRPr sz="2600" dirty="0">
              <a:latin typeface="宋体"/>
              <a:cs typeface="宋体"/>
            </a:endParaRPr>
          </a:p>
          <a:p>
            <a:pPr marL="405765">
              <a:lnSpc>
                <a:spcPct val="100000"/>
              </a:lnSpc>
              <a:spcBef>
                <a:spcPts val="585"/>
              </a:spcBef>
            </a:pPr>
            <a:r>
              <a:rPr sz="2000" spc="20" dirty="0">
                <a:solidFill>
                  <a:srgbClr val="50742E"/>
                </a:solidFill>
                <a:latin typeface="Wingdings"/>
                <a:cs typeface="Wingdings"/>
              </a:rPr>
              <a:t></a:t>
            </a:r>
            <a:r>
              <a:rPr sz="2400" spc="20" dirty="0">
                <a:latin typeface="宋体"/>
                <a:cs typeface="宋体"/>
              </a:rPr>
              <a:t>决策函数的集合：</a:t>
            </a:r>
            <a:endParaRPr sz="2400" dirty="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500" dirty="0">
              <a:latin typeface="Times New Roman"/>
              <a:cs typeface="Times New Roman"/>
            </a:endParaRPr>
          </a:p>
          <a:p>
            <a:pPr marL="405765">
              <a:lnSpc>
                <a:spcPct val="100000"/>
              </a:lnSpc>
            </a:pPr>
            <a:r>
              <a:rPr sz="2000" spc="40" dirty="0">
                <a:solidFill>
                  <a:srgbClr val="50742E"/>
                </a:solidFill>
                <a:latin typeface="Wingdings"/>
                <a:cs typeface="Wingdings"/>
              </a:rPr>
              <a:t></a:t>
            </a:r>
            <a:r>
              <a:rPr sz="2400" spc="40" dirty="0">
                <a:latin typeface="宋体"/>
                <a:cs typeface="宋体"/>
              </a:rPr>
              <a:t>参数空间</a:t>
            </a:r>
            <a:endParaRPr sz="2400" dirty="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500" dirty="0">
              <a:latin typeface="Times New Roman"/>
              <a:cs typeface="Times New Roman"/>
            </a:endParaRPr>
          </a:p>
          <a:p>
            <a:pPr marL="405765">
              <a:lnSpc>
                <a:spcPct val="100000"/>
              </a:lnSpc>
            </a:pPr>
            <a:r>
              <a:rPr sz="2050" spc="-25" dirty="0">
                <a:solidFill>
                  <a:srgbClr val="50742E"/>
                </a:solidFill>
                <a:latin typeface="Wingdings"/>
                <a:cs typeface="Wingdings"/>
              </a:rPr>
              <a:t></a:t>
            </a:r>
            <a:r>
              <a:rPr sz="2400" spc="-25" dirty="0">
                <a:latin typeface="宋体"/>
                <a:cs typeface="宋体"/>
              </a:rPr>
              <a:t>条件概率的集合：</a:t>
            </a:r>
            <a:endParaRPr sz="2400" dirty="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500" dirty="0">
              <a:latin typeface="Times New Roman"/>
              <a:cs typeface="Times New Roman"/>
            </a:endParaRPr>
          </a:p>
          <a:p>
            <a:pPr marL="405765">
              <a:lnSpc>
                <a:spcPct val="100000"/>
              </a:lnSpc>
            </a:pPr>
            <a:r>
              <a:rPr sz="2000" spc="20" dirty="0">
                <a:solidFill>
                  <a:srgbClr val="50742E"/>
                </a:solidFill>
                <a:latin typeface="Wingdings"/>
                <a:cs typeface="Wingdings"/>
              </a:rPr>
              <a:t></a:t>
            </a:r>
            <a:r>
              <a:rPr sz="2400" spc="20" dirty="0">
                <a:latin typeface="宋体"/>
                <a:cs typeface="宋体"/>
              </a:rPr>
              <a:t>参数空间</a:t>
            </a:r>
            <a:endParaRPr sz="2400" dirty="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770632" y="1664207"/>
            <a:ext cx="3264408" cy="35966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523488" y="2636520"/>
            <a:ext cx="2200656" cy="34442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217162" y="3519161"/>
            <a:ext cx="3349751" cy="46329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742945" y="4520674"/>
            <a:ext cx="2292095" cy="43281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246709" y="5491706"/>
            <a:ext cx="3389376" cy="43281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统计学习三要</a:t>
            </a:r>
            <a:r>
              <a:rPr dirty="0"/>
              <a:t>素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272" y="1559612"/>
            <a:ext cx="6227128" cy="38446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dirty="0">
                <a:solidFill>
                  <a:srgbClr val="33BC55"/>
                </a:solidFill>
                <a:latin typeface="Wingdings"/>
                <a:cs typeface="Wingdings"/>
              </a:rPr>
              <a:t></a:t>
            </a:r>
            <a:r>
              <a:rPr sz="2600" spc="-20" dirty="0" err="1">
                <a:latin typeface="宋体"/>
                <a:cs typeface="宋体"/>
              </a:rPr>
              <a:t>策</a:t>
            </a:r>
            <a:r>
              <a:rPr sz="2600" spc="-30" dirty="0" err="1">
                <a:latin typeface="宋体"/>
                <a:cs typeface="宋体"/>
              </a:rPr>
              <a:t>略</a:t>
            </a:r>
            <a:r>
              <a:rPr lang="zh-CN" altLang="en-US" sz="2600" spc="-30">
                <a:latin typeface="宋体"/>
                <a:cs typeface="宋体"/>
              </a:rPr>
              <a:t>：损失函数</a:t>
            </a:r>
            <a:endParaRPr sz="2600" dirty="0">
              <a:latin typeface="宋体"/>
              <a:cs typeface="宋体"/>
            </a:endParaRPr>
          </a:p>
          <a:p>
            <a:pPr marL="405765">
              <a:lnSpc>
                <a:spcPct val="100000"/>
              </a:lnSpc>
              <a:spcBef>
                <a:spcPts val="585"/>
              </a:spcBef>
            </a:pPr>
            <a:r>
              <a:rPr sz="2000" spc="40" dirty="0">
                <a:solidFill>
                  <a:srgbClr val="50742E"/>
                </a:solidFill>
                <a:latin typeface="Wingdings"/>
                <a:cs typeface="Wingdings"/>
              </a:rPr>
              <a:t></a:t>
            </a:r>
            <a:r>
              <a:rPr sz="2400" spc="40" dirty="0">
                <a:latin typeface="宋体"/>
                <a:cs typeface="宋体"/>
              </a:rPr>
              <a:t>损失函数：一次预测的好坏</a:t>
            </a:r>
            <a:endParaRPr sz="2400" dirty="0">
              <a:latin typeface="宋体"/>
              <a:cs typeface="宋体"/>
            </a:endParaRPr>
          </a:p>
          <a:p>
            <a:pPr marL="405765">
              <a:lnSpc>
                <a:spcPct val="100000"/>
              </a:lnSpc>
              <a:spcBef>
                <a:spcPts val="575"/>
              </a:spcBef>
            </a:pPr>
            <a:r>
              <a:rPr sz="2000" spc="20" dirty="0">
                <a:solidFill>
                  <a:srgbClr val="50742E"/>
                </a:solidFill>
                <a:latin typeface="Wingdings"/>
                <a:cs typeface="Wingdings"/>
              </a:rPr>
              <a:t></a:t>
            </a:r>
            <a:r>
              <a:rPr sz="2400" spc="20" dirty="0" err="1">
                <a:latin typeface="宋体"/>
                <a:cs typeface="宋体"/>
              </a:rPr>
              <a:t>风险函数：平均意义下模型预测的坏</a:t>
            </a:r>
            <a:endParaRPr sz="2400" dirty="0">
              <a:latin typeface="宋体"/>
              <a:cs typeface="宋体"/>
            </a:endParaRPr>
          </a:p>
          <a:p>
            <a:pPr marL="405765">
              <a:lnSpc>
                <a:spcPct val="100000"/>
              </a:lnSpc>
              <a:spcBef>
                <a:spcPts val="575"/>
              </a:spcBef>
            </a:pPr>
            <a:r>
              <a:rPr sz="2050" spc="-25" dirty="0">
                <a:solidFill>
                  <a:srgbClr val="50742E"/>
                </a:solidFill>
                <a:latin typeface="Wingdings"/>
                <a:cs typeface="Wingdings"/>
              </a:rPr>
              <a:t></a:t>
            </a:r>
            <a:r>
              <a:rPr sz="2400" spc="-15" dirty="0">
                <a:latin typeface="Constantia"/>
                <a:cs typeface="Constantia"/>
              </a:rPr>
              <a:t>0-</a:t>
            </a:r>
            <a:r>
              <a:rPr sz="2400" spc="-10" dirty="0">
                <a:latin typeface="Constantia"/>
                <a:cs typeface="Constantia"/>
              </a:rPr>
              <a:t>1</a:t>
            </a:r>
            <a:r>
              <a:rPr sz="2400" spc="-10" dirty="0">
                <a:latin typeface="宋体"/>
                <a:cs typeface="宋体"/>
              </a:rPr>
              <a:t>损失函数</a:t>
            </a:r>
            <a:r>
              <a:rPr sz="2400" spc="-600" dirty="0">
                <a:latin typeface="宋体"/>
                <a:cs typeface="宋体"/>
              </a:rPr>
              <a:t> </a:t>
            </a:r>
            <a:r>
              <a:rPr sz="2400" spc="-15" dirty="0">
                <a:latin typeface="Constantia"/>
                <a:cs typeface="Constantia"/>
              </a:rPr>
              <a:t>0</a:t>
            </a:r>
            <a:r>
              <a:rPr sz="2400" dirty="0">
                <a:latin typeface="Constantia"/>
                <a:cs typeface="Constantia"/>
              </a:rPr>
              <a:t>-</a:t>
            </a:r>
            <a:r>
              <a:rPr sz="2400" spc="-10" dirty="0">
                <a:latin typeface="Constantia"/>
                <a:cs typeface="Constantia"/>
              </a:rPr>
              <a:t>1</a:t>
            </a:r>
            <a:r>
              <a:rPr sz="2400" spc="-5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l</a:t>
            </a:r>
            <a:r>
              <a:rPr sz="2400" spc="-20" dirty="0">
                <a:latin typeface="Constantia"/>
                <a:cs typeface="Constantia"/>
              </a:rPr>
              <a:t>o</a:t>
            </a:r>
            <a:r>
              <a:rPr sz="2400" spc="-10" dirty="0">
                <a:latin typeface="Constantia"/>
                <a:cs typeface="Constantia"/>
              </a:rPr>
              <a:t>ss</a:t>
            </a:r>
            <a:r>
              <a:rPr sz="2400" spc="-70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f</a:t>
            </a:r>
            <a:r>
              <a:rPr sz="2400" spc="-5" dirty="0">
                <a:latin typeface="Constantia"/>
                <a:cs typeface="Constantia"/>
              </a:rPr>
              <a:t>unct</a:t>
            </a:r>
            <a:r>
              <a:rPr sz="2400" dirty="0">
                <a:latin typeface="Constantia"/>
                <a:cs typeface="Constantia"/>
              </a:rPr>
              <a:t>i</a:t>
            </a:r>
            <a:r>
              <a:rPr sz="2400" spc="-20" dirty="0">
                <a:latin typeface="Constantia"/>
                <a:cs typeface="Constantia"/>
              </a:rPr>
              <a:t>o</a:t>
            </a:r>
            <a:r>
              <a:rPr sz="2400" dirty="0">
                <a:latin typeface="Constantia"/>
                <a:cs typeface="Constantia"/>
              </a:rPr>
              <a:t>n</a:t>
            </a: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850" dirty="0">
              <a:latin typeface="Times New Roman"/>
              <a:cs typeface="Times New Roman"/>
            </a:endParaRPr>
          </a:p>
          <a:p>
            <a:pPr marL="2008505">
              <a:lnSpc>
                <a:spcPts val="1000"/>
              </a:lnSpc>
            </a:pPr>
            <a:endParaRPr sz="850" dirty="0">
              <a:latin typeface="Times New Roman"/>
              <a:cs typeface="Times New Roman"/>
            </a:endParaRPr>
          </a:p>
          <a:p>
            <a:pPr marL="405765">
              <a:lnSpc>
                <a:spcPct val="100000"/>
              </a:lnSpc>
              <a:spcBef>
                <a:spcPts val="509"/>
              </a:spcBef>
            </a:pPr>
            <a:endParaRPr lang="en-US" sz="2000" spc="40" dirty="0">
              <a:solidFill>
                <a:srgbClr val="50742E"/>
              </a:solidFill>
              <a:latin typeface="Wingdings"/>
              <a:cs typeface="Wingdings"/>
            </a:endParaRPr>
          </a:p>
          <a:p>
            <a:pPr marL="405765">
              <a:lnSpc>
                <a:spcPct val="100000"/>
              </a:lnSpc>
              <a:spcBef>
                <a:spcPts val="509"/>
              </a:spcBef>
            </a:pPr>
            <a:r>
              <a:rPr sz="2000" spc="40" dirty="0">
                <a:solidFill>
                  <a:srgbClr val="50742E"/>
                </a:solidFill>
                <a:latin typeface="Wingdings"/>
                <a:cs typeface="Wingdings"/>
              </a:rPr>
              <a:t></a:t>
            </a:r>
            <a:r>
              <a:rPr sz="2400" spc="40" dirty="0" err="1">
                <a:latin typeface="宋体"/>
                <a:cs typeface="宋体"/>
              </a:rPr>
              <a:t>平方损失函数</a:t>
            </a:r>
            <a:r>
              <a:rPr sz="2400" spc="-600" dirty="0">
                <a:latin typeface="宋体"/>
                <a:cs typeface="宋体"/>
              </a:rPr>
              <a:t> </a:t>
            </a:r>
            <a:r>
              <a:rPr sz="2400" dirty="0">
                <a:latin typeface="Constantia"/>
                <a:cs typeface="Constantia"/>
              </a:rPr>
              <a:t>q</a:t>
            </a:r>
            <a:r>
              <a:rPr sz="2400" spc="-5" dirty="0">
                <a:latin typeface="Constantia"/>
                <a:cs typeface="Constantia"/>
              </a:rPr>
              <a:t>u</a:t>
            </a:r>
            <a:r>
              <a:rPr sz="2400" spc="-15" dirty="0">
                <a:latin typeface="Constantia"/>
                <a:cs typeface="Constantia"/>
              </a:rPr>
              <a:t>a</a:t>
            </a:r>
            <a:r>
              <a:rPr sz="2400" spc="-5" dirty="0">
                <a:latin typeface="Constantia"/>
                <a:cs typeface="Constantia"/>
              </a:rPr>
              <a:t>d</a:t>
            </a:r>
            <a:r>
              <a:rPr sz="2400" spc="-45" dirty="0">
                <a:latin typeface="Constantia"/>
                <a:cs typeface="Constantia"/>
              </a:rPr>
              <a:t>r</a:t>
            </a:r>
            <a:r>
              <a:rPr sz="2400" spc="-15" dirty="0">
                <a:latin typeface="Constantia"/>
                <a:cs typeface="Constantia"/>
              </a:rPr>
              <a:t>a</a:t>
            </a:r>
            <a:r>
              <a:rPr sz="2400" spc="-5" dirty="0">
                <a:latin typeface="Constantia"/>
                <a:cs typeface="Constantia"/>
              </a:rPr>
              <a:t>t</a:t>
            </a:r>
            <a:r>
              <a:rPr sz="2400" dirty="0">
                <a:latin typeface="Constantia"/>
                <a:cs typeface="Constantia"/>
              </a:rPr>
              <a:t>ic</a:t>
            </a:r>
            <a:r>
              <a:rPr sz="2400" spc="-65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l</a:t>
            </a:r>
            <a:r>
              <a:rPr sz="2400" spc="-20" dirty="0">
                <a:latin typeface="Constantia"/>
                <a:cs typeface="Constantia"/>
              </a:rPr>
              <a:t>o</a:t>
            </a:r>
            <a:r>
              <a:rPr sz="2400" spc="-10" dirty="0">
                <a:latin typeface="Constantia"/>
                <a:cs typeface="Constantia"/>
              </a:rPr>
              <a:t>ss</a:t>
            </a:r>
            <a:r>
              <a:rPr sz="2400" spc="-70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f</a:t>
            </a:r>
            <a:r>
              <a:rPr sz="2400" spc="-5" dirty="0">
                <a:latin typeface="Constantia"/>
                <a:cs typeface="Constantia"/>
              </a:rPr>
              <a:t>unct</a:t>
            </a:r>
            <a:r>
              <a:rPr sz="2400" dirty="0">
                <a:latin typeface="Constantia"/>
                <a:cs typeface="Constantia"/>
              </a:rPr>
              <a:t>i</a:t>
            </a:r>
            <a:r>
              <a:rPr sz="2400" spc="-20" dirty="0">
                <a:latin typeface="Constantia"/>
                <a:cs typeface="Constantia"/>
              </a:rPr>
              <a:t>o</a:t>
            </a:r>
            <a:r>
              <a:rPr sz="2400" dirty="0">
                <a:latin typeface="Constantia"/>
                <a:cs typeface="Constantia"/>
              </a:rPr>
              <a:t>n</a:t>
            </a:r>
          </a:p>
          <a:p>
            <a:pPr>
              <a:lnSpc>
                <a:spcPct val="100000"/>
              </a:lnSpc>
            </a:pPr>
            <a:endParaRPr sz="1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6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1938020">
              <a:lnSpc>
                <a:spcPts val="1000"/>
              </a:lnSpc>
            </a:pPr>
            <a:endParaRPr sz="1200" dirty="0">
              <a:latin typeface="Times New Roman"/>
              <a:cs typeface="Times New Roman"/>
            </a:endParaRPr>
          </a:p>
          <a:p>
            <a:pPr marL="405765">
              <a:lnSpc>
                <a:spcPct val="100000"/>
              </a:lnSpc>
              <a:spcBef>
                <a:spcPts val="1505"/>
              </a:spcBef>
            </a:pPr>
            <a:r>
              <a:rPr sz="2050" spc="-25" dirty="0">
                <a:solidFill>
                  <a:srgbClr val="50742E"/>
                </a:solidFill>
                <a:latin typeface="Wingdings"/>
                <a:cs typeface="Wingdings"/>
              </a:rPr>
              <a:t></a:t>
            </a:r>
            <a:r>
              <a:rPr sz="2400" spc="-25" dirty="0">
                <a:latin typeface="宋体"/>
                <a:cs typeface="宋体"/>
              </a:rPr>
              <a:t>绝对损失函数</a:t>
            </a:r>
            <a:r>
              <a:rPr sz="2400" spc="-600" dirty="0">
                <a:latin typeface="宋体"/>
                <a:cs typeface="宋体"/>
              </a:rPr>
              <a:t> </a:t>
            </a:r>
            <a:r>
              <a:rPr sz="2400" spc="-15" dirty="0">
                <a:latin typeface="Constantia"/>
                <a:cs typeface="Constantia"/>
              </a:rPr>
              <a:t>a</a:t>
            </a:r>
            <a:r>
              <a:rPr sz="2400" spc="-5" dirty="0">
                <a:latin typeface="Constantia"/>
                <a:cs typeface="Constantia"/>
              </a:rPr>
              <a:t>b</a:t>
            </a:r>
            <a:r>
              <a:rPr sz="2400" spc="-10" dirty="0">
                <a:latin typeface="Constantia"/>
                <a:cs typeface="Constantia"/>
              </a:rPr>
              <a:t>s</a:t>
            </a:r>
            <a:r>
              <a:rPr sz="2400" spc="-20" dirty="0">
                <a:latin typeface="Constantia"/>
                <a:cs typeface="Constantia"/>
              </a:rPr>
              <a:t>o</a:t>
            </a:r>
            <a:r>
              <a:rPr sz="2400" spc="-10" dirty="0">
                <a:latin typeface="Constantia"/>
                <a:cs typeface="Constantia"/>
              </a:rPr>
              <a:t>l</a:t>
            </a:r>
            <a:r>
              <a:rPr sz="2400" spc="-5" dirty="0">
                <a:latin typeface="Constantia"/>
                <a:cs typeface="Constantia"/>
              </a:rPr>
              <a:t>u</a:t>
            </a:r>
            <a:r>
              <a:rPr sz="2400" spc="-45" dirty="0">
                <a:latin typeface="Constantia"/>
                <a:cs typeface="Constantia"/>
              </a:rPr>
              <a:t>t</a:t>
            </a:r>
            <a:r>
              <a:rPr sz="2400" dirty="0">
                <a:latin typeface="Constantia"/>
                <a:cs typeface="Constantia"/>
              </a:rPr>
              <a:t>e</a:t>
            </a:r>
            <a:r>
              <a:rPr sz="2400" spc="-65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l</a:t>
            </a:r>
            <a:r>
              <a:rPr sz="2400" spc="-20" dirty="0">
                <a:latin typeface="Constantia"/>
                <a:cs typeface="Constantia"/>
              </a:rPr>
              <a:t>o</a:t>
            </a:r>
            <a:r>
              <a:rPr sz="2400" spc="-10" dirty="0">
                <a:latin typeface="Constantia"/>
                <a:cs typeface="Constantia"/>
              </a:rPr>
              <a:t>ss</a:t>
            </a:r>
            <a:r>
              <a:rPr sz="2400" spc="-70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f</a:t>
            </a:r>
            <a:r>
              <a:rPr sz="2400" spc="-5" dirty="0">
                <a:latin typeface="Constantia"/>
                <a:cs typeface="Constantia"/>
              </a:rPr>
              <a:t>unct</a:t>
            </a:r>
            <a:r>
              <a:rPr sz="2400" dirty="0">
                <a:latin typeface="Constantia"/>
                <a:cs typeface="Constantia"/>
              </a:rPr>
              <a:t>i</a:t>
            </a:r>
            <a:r>
              <a:rPr sz="2400" spc="-20" dirty="0">
                <a:latin typeface="Constantia"/>
                <a:cs typeface="Constantia"/>
              </a:rPr>
              <a:t>o</a:t>
            </a:r>
            <a:r>
              <a:rPr sz="2400" dirty="0">
                <a:latin typeface="Constantia"/>
                <a:cs typeface="Constantia"/>
              </a:rPr>
              <a:t>n</a:t>
            </a:r>
          </a:p>
        </p:txBody>
      </p:sp>
      <p:sp>
        <p:nvSpPr>
          <p:cNvPr id="4" name="object 4"/>
          <p:cNvSpPr/>
          <p:nvPr/>
        </p:nvSpPr>
        <p:spPr>
          <a:xfrm>
            <a:off x="2362200" y="5486400"/>
            <a:ext cx="3215640" cy="5029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8873" y="3276600"/>
            <a:ext cx="2588625" cy="598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38873" y="4572000"/>
            <a:ext cx="2708100" cy="33886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统计学习三要</a:t>
            </a:r>
            <a:r>
              <a:rPr dirty="0"/>
              <a:t>素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272" y="1559613"/>
            <a:ext cx="8070215" cy="40575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dirty="0">
                <a:solidFill>
                  <a:srgbClr val="33BC55"/>
                </a:solidFill>
                <a:latin typeface="Wingdings"/>
                <a:cs typeface="Wingdings"/>
              </a:rPr>
              <a:t></a:t>
            </a:r>
            <a:r>
              <a:rPr sz="2600" spc="-20" dirty="0">
                <a:latin typeface="宋体"/>
                <a:cs typeface="宋体"/>
              </a:rPr>
              <a:t>策</a:t>
            </a:r>
            <a:r>
              <a:rPr sz="2600" spc="-30" dirty="0">
                <a:latin typeface="宋体"/>
                <a:cs typeface="宋体"/>
              </a:rPr>
              <a:t>略</a:t>
            </a:r>
            <a:endParaRPr sz="2600" dirty="0">
              <a:latin typeface="宋体"/>
              <a:cs typeface="宋体"/>
            </a:endParaRPr>
          </a:p>
          <a:p>
            <a:pPr marL="652780" marR="5080" indent="-247015">
              <a:lnSpc>
                <a:spcPct val="100000"/>
              </a:lnSpc>
              <a:spcBef>
                <a:spcPts val="585"/>
              </a:spcBef>
            </a:pPr>
            <a:r>
              <a:rPr sz="2000" spc="40" dirty="0">
                <a:solidFill>
                  <a:srgbClr val="50742E"/>
                </a:solidFill>
                <a:latin typeface="Wingdings"/>
                <a:cs typeface="Wingdings"/>
              </a:rPr>
              <a:t></a:t>
            </a:r>
            <a:r>
              <a:rPr sz="2400" spc="40" dirty="0">
                <a:latin typeface="宋体"/>
                <a:cs typeface="宋体"/>
              </a:rPr>
              <a:t>对数损失函数</a:t>
            </a:r>
            <a:r>
              <a:rPr sz="2400" spc="-600" dirty="0">
                <a:latin typeface="宋体"/>
                <a:cs typeface="宋体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l</a:t>
            </a:r>
            <a:r>
              <a:rPr sz="2400" spc="-20" dirty="0">
                <a:latin typeface="Constantia"/>
                <a:cs typeface="Constantia"/>
              </a:rPr>
              <a:t>o</a:t>
            </a:r>
            <a:r>
              <a:rPr sz="2400" spc="-15" dirty="0">
                <a:latin typeface="Constantia"/>
                <a:cs typeface="Constantia"/>
              </a:rPr>
              <a:t>ga</a:t>
            </a:r>
            <a:r>
              <a:rPr sz="2400" dirty="0">
                <a:latin typeface="Constantia"/>
                <a:cs typeface="Constantia"/>
              </a:rPr>
              <a:t>ri</a:t>
            </a:r>
            <a:r>
              <a:rPr sz="2400" spc="-5" dirty="0">
                <a:latin typeface="Constantia"/>
                <a:cs typeface="Constantia"/>
              </a:rPr>
              <a:t>t</a:t>
            </a:r>
            <a:r>
              <a:rPr sz="2400" spc="-15" dirty="0">
                <a:latin typeface="Constantia"/>
                <a:cs typeface="Constantia"/>
              </a:rPr>
              <a:t>h</a:t>
            </a:r>
            <a:r>
              <a:rPr sz="2400" dirty="0">
                <a:latin typeface="Constantia"/>
                <a:cs typeface="Constantia"/>
              </a:rPr>
              <a:t>mic</a:t>
            </a:r>
            <a:r>
              <a:rPr sz="2400" spc="-65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l</a:t>
            </a:r>
            <a:r>
              <a:rPr sz="2400" spc="-20" dirty="0">
                <a:latin typeface="Constantia"/>
                <a:cs typeface="Constantia"/>
              </a:rPr>
              <a:t>o</a:t>
            </a:r>
            <a:r>
              <a:rPr sz="2400" spc="-10" dirty="0">
                <a:latin typeface="Constantia"/>
                <a:cs typeface="Constantia"/>
              </a:rPr>
              <a:t>ss</a:t>
            </a:r>
            <a:r>
              <a:rPr sz="2400" spc="-70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f</a:t>
            </a:r>
            <a:r>
              <a:rPr sz="2400" spc="-5" dirty="0">
                <a:latin typeface="Constantia"/>
                <a:cs typeface="Constantia"/>
              </a:rPr>
              <a:t>unct</a:t>
            </a:r>
            <a:r>
              <a:rPr sz="2400" dirty="0">
                <a:latin typeface="Constantia"/>
                <a:cs typeface="Constantia"/>
              </a:rPr>
              <a:t>i</a:t>
            </a:r>
            <a:r>
              <a:rPr sz="2400" spc="-20" dirty="0">
                <a:latin typeface="Constantia"/>
                <a:cs typeface="Constantia"/>
              </a:rPr>
              <a:t>o</a:t>
            </a:r>
            <a:r>
              <a:rPr sz="2400" dirty="0">
                <a:latin typeface="Constantia"/>
                <a:cs typeface="Constantia"/>
              </a:rPr>
              <a:t>n</a:t>
            </a:r>
            <a:r>
              <a:rPr sz="2400" spc="-45" dirty="0">
                <a:latin typeface="Constantia"/>
                <a:cs typeface="Constantia"/>
              </a:rPr>
              <a:t> </a:t>
            </a:r>
            <a:r>
              <a:rPr sz="2400" dirty="0">
                <a:latin typeface="宋体"/>
                <a:cs typeface="宋体"/>
              </a:rPr>
              <a:t>或对数似然损失 函数</a:t>
            </a:r>
            <a:r>
              <a:rPr sz="2400" spc="-600" dirty="0">
                <a:latin typeface="宋体"/>
                <a:cs typeface="宋体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l</a:t>
            </a:r>
            <a:r>
              <a:rPr sz="2400" spc="-20" dirty="0">
                <a:latin typeface="Constantia"/>
                <a:cs typeface="Constantia"/>
              </a:rPr>
              <a:t>o</a:t>
            </a:r>
            <a:r>
              <a:rPr sz="2400" spc="-40" dirty="0">
                <a:latin typeface="Constantia"/>
                <a:cs typeface="Constantia"/>
              </a:rPr>
              <a:t>g</a:t>
            </a:r>
            <a:r>
              <a:rPr sz="2400" spc="-10" dirty="0">
                <a:latin typeface="Constantia"/>
                <a:cs typeface="Constantia"/>
              </a:rPr>
              <a:t>l</a:t>
            </a:r>
            <a:r>
              <a:rPr sz="2400" dirty="0">
                <a:latin typeface="Constantia"/>
                <a:cs typeface="Constantia"/>
              </a:rPr>
              <a:t>i</a:t>
            </a:r>
            <a:r>
              <a:rPr sz="2400" spc="-70" dirty="0">
                <a:latin typeface="Constantia"/>
                <a:cs typeface="Constantia"/>
              </a:rPr>
              <a:t>k</a:t>
            </a:r>
            <a:r>
              <a:rPr sz="2400" dirty="0">
                <a:latin typeface="Constantia"/>
                <a:cs typeface="Constantia"/>
              </a:rPr>
              <a:t>e</a:t>
            </a:r>
            <a:r>
              <a:rPr sz="2400" spc="-10" dirty="0">
                <a:latin typeface="Constantia"/>
                <a:cs typeface="Constantia"/>
              </a:rPr>
              <a:t>l</a:t>
            </a:r>
            <a:r>
              <a:rPr sz="2400" dirty="0">
                <a:latin typeface="Constantia"/>
                <a:cs typeface="Constantia"/>
              </a:rPr>
              <a:t>i</a:t>
            </a:r>
            <a:r>
              <a:rPr sz="2400" spc="-15" dirty="0">
                <a:latin typeface="Constantia"/>
                <a:cs typeface="Constantia"/>
              </a:rPr>
              <a:t>h</a:t>
            </a:r>
            <a:r>
              <a:rPr sz="2400" spc="-20" dirty="0">
                <a:latin typeface="Constantia"/>
                <a:cs typeface="Constantia"/>
              </a:rPr>
              <a:t>oo</a:t>
            </a:r>
            <a:r>
              <a:rPr sz="2400" dirty="0">
                <a:latin typeface="Constantia"/>
                <a:cs typeface="Constantia"/>
              </a:rPr>
              <a:t>d</a:t>
            </a:r>
            <a:r>
              <a:rPr sz="2400" spc="-5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l</a:t>
            </a:r>
            <a:r>
              <a:rPr sz="2400" spc="-20" dirty="0">
                <a:latin typeface="Constantia"/>
                <a:cs typeface="Constantia"/>
              </a:rPr>
              <a:t>o</a:t>
            </a:r>
            <a:r>
              <a:rPr sz="2400" spc="-10" dirty="0">
                <a:latin typeface="Constantia"/>
                <a:cs typeface="Constantia"/>
              </a:rPr>
              <a:t>ss</a:t>
            </a:r>
            <a:r>
              <a:rPr sz="2400" spc="-70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f</a:t>
            </a:r>
            <a:r>
              <a:rPr sz="2400" spc="-5" dirty="0">
                <a:latin typeface="Constantia"/>
                <a:cs typeface="Constantia"/>
              </a:rPr>
              <a:t>unct</a:t>
            </a:r>
            <a:r>
              <a:rPr sz="2400" dirty="0">
                <a:latin typeface="Constantia"/>
                <a:cs typeface="Constantia"/>
              </a:rPr>
              <a:t>i</a:t>
            </a:r>
            <a:r>
              <a:rPr sz="2400" spc="-20" dirty="0">
                <a:latin typeface="Constantia"/>
                <a:cs typeface="Constantia"/>
              </a:rPr>
              <a:t>o</a:t>
            </a:r>
            <a:r>
              <a:rPr sz="2400" dirty="0">
                <a:latin typeface="Constantia"/>
                <a:cs typeface="Constantia"/>
              </a:rPr>
              <a:t>n</a:t>
            </a: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500" dirty="0">
              <a:latin typeface="Times New Roman"/>
              <a:cs typeface="Times New Roman"/>
            </a:endParaRPr>
          </a:p>
          <a:p>
            <a:pPr marL="405765">
              <a:lnSpc>
                <a:spcPct val="100000"/>
              </a:lnSpc>
            </a:pPr>
            <a:r>
              <a:rPr sz="2000" spc="20" dirty="0">
                <a:solidFill>
                  <a:srgbClr val="50742E"/>
                </a:solidFill>
                <a:latin typeface="Wingdings"/>
                <a:cs typeface="Wingdings"/>
              </a:rPr>
              <a:t></a:t>
            </a:r>
            <a:r>
              <a:rPr sz="2400" spc="20" dirty="0">
                <a:latin typeface="宋体"/>
                <a:cs typeface="宋体"/>
              </a:rPr>
              <a:t>损失函数的期望</a:t>
            </a:r>
            <a:endParaRPr sz="2400" dirty="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500" dirty="0">
              <a:latin typeface="Times New Roman"/>
              <a:cs typeface="Times New Roman"/>
            </a:endParaRPr>
          </a:p>
          <a:p>
            <a:pPr marL="405765">
              <a:lnSpc>
                <a:spcPct val="100000"/>
              </a:lnSpc>
            </a:pPr>
            <a:r>
              <a:rPr sz="2000" spc="40" dirty="0">
                <a:solidFill>
                  <a:srgbClr val="50742E"/>
                </a:solidFill>
                <a:latin typeface="Wingdings"/>
                <a:cs typeface="Wingdings"/>
              </a:rPr>
              <a:t></a:t>
            </a:r>
            <a:r>
              <a:rPr sz="2400" spc="40" dirty="0">
                <a:latin typeface="宋体"/>
                <a:cs typeface="宋体"/>
              </a:rPr>
              <a:t>风险函数</a:t>
            </a:r>
            <a:r>
              <a:rPr sz="2400" spc="-600" dirty="0">
                <a:latin typeface="宋体"/>
                <a:cs typeface="宋体"/>
              </a:rPr>
              <a:t> </a:t>
            </a:r>
            <a:r>
              <a:rPr sz="2400" dirty="0">
                <a:latin typeface="Constantia"/>
                <a:cs typeface="Constantia"/>
              </a:rPr>
              <a:t>ri</a:t>
            </a:r>
            <a:r>
              <a:rPr sz="2400" spc="-15" dirty="0">
                <a:latin typeface="Constantia"/>
                <a:cs typeface="Constantia"/>
              </a:rPr>
              <a:t>sk</a:t>
            </a:r>
            <a:r>
              <a:rPr sz="2400" spc="-40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f</a:t>
            </a:r>
            <a:r>
              <a:rPr sz="2400" spc="-5" dirty="0">
                <a:latin typeface="Constantia"/>
                <a:cs typeface="Constantia"/>
              </a:rPr>
              <a:t>unct</a:t>
            </a:r>
            <a:r>
              <a:rPr sz="2400" dirty="0">
                <a:latin typeface="Constantia"/>
                <a:cs typeface="Constantia"/>
              </a:rPr>
              <a:t>i</a:t>
            </a:r>
            <a:r>
              <a:rPr sz="2400" spc="-20" dirty="0">
                <a:latin typeface="Constantia"/>
                <a:cs typeface="Constantia"/>
              </a:rPr>
              <a:t>o</a:t>
            </a:r>
            <a:r>
              <a:rPr sz="2400" dirty="0">
                <a:latin typeface="Constantia"/>
                <a:cs typeface="Constantia"/>
              </a:rPr>
              <a:t>n</a:t>
            </a:r>
            <a:r>
              <a:rPr sz="2400" spc="-45" dirty="0">
                <a:latin typeface="Constantia"/>
                <a:cs typeface="Constantia"/>
              </a:rPr>
              <a:t> </a:t>
            </a:r>
            <a:r>
              <a:rPr sz="2400" dirty="0">
                <a:latin typeface="宋体"/>
                <a:cs typeface="宋体"/>
              </a:rPr>
              <a:t>期望损失</a:t>
            </a:r>
            <a:r>
              <a:rPr sz="2400" spc="-600" dirty="0">
                <a:latin typeface="宋体"/>
                <a:cs typeface="宋体"/>
              </a:rPr>
              <a:t> </a:t>
            </a:r>
            <a:r>
              <a:rPr sz="2400" dirty="0">
                <a:latin typeface="Constantia"/>
                <a:cs typeface="Constantia"/>
              </a:rPr>
              <a:t>e</a:t>
            </a:r>
            <a:r>
              <a:rPr sz="2400" spc="-25" dirty="0">
                <a:latin typeface="Constantia"/>
                <a:cs typeface="Constantia"/>
              </a:rPr>
              <a:t>x</a:t>
            </a:r>
            <a:r>
              <a:rPr sz="2400" spc="-15" dirty="0">
                <a:latin typeface="Constantia"/>
                <a:cs typeface="Constantia"/>
              </a:rPr>
              <a:t>p</a:t>
            </a:r>
            <a:r>
              <a:rPr sz="2400" dirty="0">
                <a:latin typeface="Constantia"/>
                <a:cs typeface="Constantia"/>
              </a:rPr>
              <a:t>e</a:t>
            </a:r>
            <a:r>
              <a:rPr sz="2400" spc="-5" dirty="0">
                <a:latin typeface="Constantia"/>
                <a:cs typeface="Constantia"/>
              </a:rPr>
              <a:t>c</a:t>
            </a:r>
            <a:r>
              <a:rPr sz="2400" spc="-45" dirty="0">
                <a:latin typeface="Constantia"/>
                <a:cs typeface="Constantia"/>
              </a:rPr>
              <a:t>t</a:t>
            </a:r>
            <a:r>
              <a:rPr sz="2400" dirty="0">
                <a:latin typeface="Constantia"/>
                <a:cs typeface="Constantia"/>
              </a:rPr>
              <a:t>ed</a:t>
            </a:r>
            <a:r>
              <a:rPr sz="2400" spc="-5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l</a:t>
            </a:r>
            <a:r>
              <a:rPr sz="2400" spc="-20" dirty="0">
                <a:latin typeface="Constantia"/>
                <a:cs typeface="Constantia"/>
              </a:rPr>
              <a:t>o</a:t>
            </a:r>
            <a:r>
              <a:rPr sz="2400" spc="-10" dirty="0">
                <a:latin typeface="Constantia"/>
                <a:cs typeface="Constantia"/>
              </a:rPr>
              <a:t>ss</a:t>
            </a:r>
            <a:endParaRPr sz="2400" dirty="0">
              <a:latin typeface="Constantia"/>
              <a:cs typeface="Constantia"/>
            </a:endParaRPr>
          </a:p>
          <a:p>
            <a:pPr marL="405765">
              <a:lnSpc>
                <a:spcPct val="100000"/>
              </a:lnSpc>
              <a:spcBef>
                <a:spcPts val="575"/>
              </a:spcBef>
            </a:pPr>
            <a:r>
              <a:rPr sz="2050" spc="-25" dirty="0">
                <a:solidFill>
                  <a:srgbClr val="50742E"/>
                </a:solidFill>
                <a:latin typeface="Wingdings"/>
                <a:cs typeface="Wingdings"/>
              </a:rPr>
              <a:t></a:t>
            </a:r>
            <a:r>
              <a:rPr sz="2400" spc="-25" dirty="0">
                <a:latin typeface="宋体"/>
                <a:cs typeface="宋体"/>
              </a:rPr>
              <a:t>由</a:t>
            </a:r>
            <a:r>
              <a:rPr sz="2400" spc="-15" dirty="0">
                <a:latin typeface="Constantia"/>
                <a:cs typeface="Constantia"/>
              </a:rPr>
              <a:t>P(x</a:t>
            </a:r>
            <a:r>
              <a:rPr sz="2400" spc="-10" dirty="0">
                <a:latin typeface="Constantia"/>
                <a:cs typeface="Constantia"/>
              </a:rPr>
              <a:t>,y)</a:t>
            </a:r>
            <a:r>
              <a:rPr sz="2400" spc="-10" dirty="0" err="1">
                <a:latin typeface="宋体"/>
                <a:cs typeface="宋体"/>
              </a:rPr>
              <a:t>可以直接求出</a:t>
            </a:r>
            <a:r>
              <a:rPr sz="2400" spc="-15" dirty="0" err="1">
                <a:latin typeface="Constantia"/>
                <a:cs typeface="Constantia"/>
              </a:rPr>
              <a:t>P</a:t>
            </a:r>
            <a:r>
              <a:rPr sz="2400" spc="-15" dirty="0">
                <a:latin typeface="Constantia"/>
                <a:cs typeface="Constantia"/>
              </a:rPr>
              <a:t>(</a:t>
            </a:r>
            <a:r>
              <a:rPr lang="en-US" sz="2400" spc="-15" dirty="0" err="1">
                <a:latin typeface="Constantia"/>
                <a:cs typeface="Constantia"/>
              </a:rPr>
              <a:t>y</a:t>
            </a:r>
            <a:r>
              <a:rPr sz="2400" spc="-10" dirty="0" err="1">
                <a:latin typeface="Constantia"/>
                <a:cs typeface="Constantia"/>
              </a:rPr>
              <a:t>|</a:t>
            </a:r>
            <a:r>
              <a:rPr lang="en-US" sz="2400" spc="-10" dirty="0" err="1">
                <a:latin typeface="Constantia"/>
                <a:cs typeface="Constantia"/>
              </a:rPr>
              <a:t>x</a:t>
            </a:r>
            <a:r>
              <a:rPr sz="2400" spc="-10" dirty="0">
                <a:latin typeface="Constantia"/>
                <a:cs typeface="Constantia"/>
              </a:rPr>
              <a:t>),</a:t>
            </a:r>
            <a:r>
              <a:rPr sz="2400" spc="-10" dirty="0">
                <a:latin typeface="宋体"/>
                <a:cs typeface="宋体"/>
              </a:rPr>
              <a:t>但不知道，</a:t>
            </a:r>
            <a:endParaRPr sz="2400" dirty="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27"/>
              </a:spcBef>
            </a:pPr>
            <a:endParaRPr sz="200" dirty="0">
              <a:latin typeface="Times New Roman"/>
              <a:cs typeface="Times New Roman"/>
            </a:endParaRPr>
          </a:p>
          <a:p>
            <a:pPr marL="1986914">
              <a:lnSpc>
                <a:spcPts val="1000"/>
              </a:lnSpc>
            </a:pPr>
            <a:endParaRPr sz="200" dirty="0">
              <a:latin typeface="Times New Roman"/>
              <a:cs typeface="Times New Roman"/>
            </a:endParaRPr>
          </a:p>
          <a:p>
            <a:pPr marL="405765">
              <a:lnSpc>
                <a:spcPct val="100000"/>
              </a:lnSpc>
              <a:spcBef>
                <a:spcPts val="370"/>
              </a:spcBef>
            </a:pPr>
            <a:r>
              <a:rPr sz="2050" spc="-25" dirty="0">
                <a:solidFill>
                  <a:srgbClr val="50742E"/>
                </a:solidFill>
                <a:latin typeface="Wingdings"/>
                <a:cs typeface="Wingdings"/>
              </a:rPr>
              <a:t></a:t>
            </a:r>
            <a:r>
              <a:rPr sz="2400" spc="-25" dirty="0">
                <a:latin typeface="宋体"/>
                <a:cs typeface="宋体"/>
              </a:rPr>
              <a:t>经验风险</a:t>
            </a:r>
            <a:r>
              <a:rPr sz="2400" spc="-600" dirty="0">
                <a:latin typeface="宋体"/>
                <a:cs typeface="宋体"/>
              </a:rPr>
              <a:t> </a:t>
            </a:r>
            <a:r>
              <a:rPr sz="2400" dirty="0">
                <a:latin typeface="Constantia"/>
                <a:cs typeface="Constantia"/>
              </a:rPr>
              <a:t>em</a:t>
            </a:r>
            <a:r>
              <a:rPr sz="2400" spc="-15" dirty="0">
                <a:latin typeface="Constantia"/>
                <a:cs typeface="Constantia"/>
              </a:rPr>
              <a:t>p</a:t>
            </a:r>
            <a:r>
              <a:rPr sz="2400" dirty="0">
                <a:latin typeface="Constantia"/>
                <a:cs typeface="Constantia"/>
              </a:rPr>
              <a:t>iri</a:t>
            </a:r>
            <a:r>
              <a:rPr sz="2400" spc="-5" dirty="0">
                <a:latin typeface="Constantia"/>
                <a:cs typeface="Constantia"/>
              </a:rPr>
              <a:t>c</a:t>
            </a:r>
            <a:r>
              <a:rPr sz="2400" spc="-10" dirty="0">
                <a:latin typeface="Constantia"/>
                <a:cs typeface="Constantia"/>
              </a:rPr>
              <a:t>al</a:t>
            </a:r>
            <a:r>
              <a:rPr sz="2400" spc="-40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ri</a:t>
            </a:r>
            <a:r>
              <a:rPr sz="2400" spc="-15" dirty="0">
                <a:latin typeface="Constantia"/>
                <a:cs typeface="Constantia"/>
              </a:rPr>
              <a:t>sk</a:t>
            </a:r>
            <a:r>
              <a:rPr sz="2400" spc="-25" dirty="0">
                <a:latin typeface="Constantia"/>
                <a:cs typeface="Constantia"/>
              </a:rPr>
              <a:t> </a:t>
            </a:r>
            <a:r>
              <a:rPr sz="2400" dirty="0">
                <a:latin typeface="宋体"/>
                <a:cs typeface="宋体"/>
              </a:rPr>
              <a:t>，经验损失</a:t>
            </a:r>
            <a:r>
              <a:rPr sz="2400" spc="-600" dirty="0">
                <a:latin typeface="宋体"/>
                <a:cs typeface="宋体"/>
              </a:rPr>
              <a:t> </a:t>
            </a:r>
            <a:r>
              <a:rPr sz="2400" dirty="0">
                <a:latin typeface="Constantia"/>
                <a:cs typeface="Constantia"/>
              </a:rPr>
              <a:t>em</a:t>
            </a:r>
            <a:r>
              <a:rPr sz="2400" spc="-15" dirty="0">
                <a:latin typeface="Constantia"/>
                <a:cs typeface="Constantia"/>
              </a:rPr>
              <a:t>p</a:t>
            </a:r>
            <a:r>
              <a:rPr sz="2400" dirty="0">
                <a:latin typeface="Constantia"/>
                <a:cs typeface="Constantia"/>
              </a:rPr>
              <a:t>iri</a:t>
            </a:r>
            <a:r>
              <a:rPr sz="2400" spc="-5" dirty="0">
                <a:latin typeface="Constantia"/>
                <a:cs typeface="Constantia"/>
              </a:rPr>
              <a:t>c</a:t>
            </a:r>
            <a:r>
              <a:rPr sz="2400" spc="-10" dirty="0">
                <a:latin typeface="Constantia"/>
                <a:cs typeface="Constantia"/>
              </a:rPr>
              <a:t>al</a:t>
            </a:r>
            <a:r>
              <a:rPr sz="2400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l</a:t>
            </a:r>
            <a:r>
              <a:rPr sz="2400" spc="-20" dirty="0">
                <a:latin typeface="Constantia"/>
                <a:cs typeface="Constantia"/>
              </a:rPr>
              <a:t>o</a:t>
            </a:r>
            <a:r>
              <a:rPr sz="2400" spc="-10" dirty="0">
                <a:latin typeface="Constantia"/>
                <a:cs typeface="Constantia"/>
              </a:rPr>
              <a:t>ss</a:t>
            </a:r>
            <a:endParaRPr sz="2400" dirty="0">
              <a:latin typeface="Constantia"/>
              <a:cs typeface="Constant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89632" y="2779776"/>
            <a:ext cx="4114800" cy="48463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642872" y="3633216"/>
            <a:ext cx="6406896" cy="55778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667000" y="5644221"/>
            <a:ext cx="3102864" cy="69799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统计学习三要</a:t>
            </a:r>
            <a:r>
              <a:rPr dirty="0"/>
              <a:t>素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272" y="1559613"/>
            <a:ext cx="6281420" cy="777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dirty="0">
                <a:solidFill>
                  <a:srgbClr val="33BC55"/>
                </a:solidFill>
                <a:latin typeface="Wingdings"/>
                <a:cs typeface="Wingdings"/>
              </a:rPr>
              <a:t></a:t>
            </a:r>
            <a:r>
              <a:rPr sz="2600" spc="-20" dirty="0">
                <a:latin typeface="宋体"/>
                <a:cs typeface="宋体"/>
              </a:rPr>
              <a:t>策略：经验风险最小化与结构风险最小</a:t>
            </a:r>
            <a:r>
              <a:rPr sz="2600" spc="-30" dirty="0">
                <a:latin typeface="宋体"/>
                <a:cs typeface="宋体"/>
              </a:rPr>
              <a:t>化</a:t>
            </a:r>
            <a:endParaRPr sz="2600">
              <a:latin typeface="宋体"/>
              <a:cs typeface="宋体"/>
            </a:endParaRPr>
          </a:p>
          <a:p>
            <a:pPr marL="405765">
              <a:lnSpc>
                <a:spcPts val="2790"/>
              </a:lnSpc>
              <a:spcBef>
                <a:spcPts val="585"/>
              </a:spcBef>
            </a:pPr>
            <a:r>
              <a:rPr sz="2000" spc="40" dirty="0">
                <a:solidFill>
                  <a:srgbClr val="50742E"/>
                </a:solidFill>
                <a:latin typeface="Wingdings"/>
                <a:cs typeface="Wingdings"/>
              </a:rPr>
              <a:t></a:t>
            </a:r>
            <a:r>
              <a:rPr sz="2400" spc="40" dirty="0">
                <a:latin typeface="宋体"/>
                <a:cs typeface="宋体"/>
              </a:rPr>
              <a:t>经验风险最小化最优模型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95337" y="3329139"/>
            <a:ext cx="7635875" cy="1899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9715" marR="41275" indent="-247015" algn="just">
              <a:lnSpc>
                <a:spcPct val="100000"/>
              </a:lnSpc>
            </a:pPr>
            <a:r>
              <a:rPr sz="2000" spc="20" dirty="0">
                <a:solidFill>
                  <a:srgbClr val="50742E"/>
                </a:solidFill>
                <a:latin typeface="Wingdings"/>
                <a:cs typeface="Wingdings"/>
              </a:rPr>
              <a:t></a:t>
            </a:r>
            <a:r>
              <a:rPr sz="2400" spc="20" dirty="0">
                <a:latin typeface="宋体"/>
                <a:cs typeface="宋体"/>
              </a:rPr>
              <a:t>当样本容量很小时，经验风险最小化学习的效果未必很 好，会产生“过拟合</a:t>
            </a:r>
            <a:r>
              <a:rPr sz="2400" spc="-60" dirty="0">
                <a:latin typeface="Constantia"/>
                <a:cs typeface="Constantia"/>
              </a:rPr>
              <a:t>o</a:t>
            </a:r>
            <a:r>
              <a:rPr sz="2400" spc="-75" dirty="0">
                <a:latin typeface="Constantia"/>
                <a:cs typeface="Constantia"/>
              </a:rPr>
              <a:t>v</a:t>
            </a:r>
            <a:r>
              <a:rPr sz="2400" dirty="0">
                <a:latin typeface="Constantia"/>
                <a:cs typeface="Constantia"/>
              </a:rPr>
              <a:t>er-</a:t>
            </a:r>
            <a:r>
              <a:rPr sz="2400" spc="45" dirty="0">
                <a:latin typeface="Constantia"/>
                <a:cs typeface="Constantia"/>
              </a:rPr>
              <a:t>f</a:t>
            </a:r>
            <a:r>
              <a:rPr sz="2400" dirty="0">
                <a:latin typeface="Constantia"/>
                <a:cs typeface="Constantia"/>
              </a:rPr>
              <a:t>i</a:t>
            </a:r>
            <a:r>
              <a:rPr sz="2400" spc="-45" dirty="0">
                <a:latin typeface="Constantia"/>
                <a:cs typeface="Constantia"/>
              </a:rPr>
              <a:t>t</a:t>
            </a:r>
            <a:r>
              <a:rPr sz="2400" spc="-5" dirty="0">
                <a:latin typeface="Constantia"/>
                <a:cs typeface="Constantia"/>
              </a:rPr>
              <a:t>t</a:t>
            </a:r>
            <a:r>
              <a:rPr sz="2400" dirty="0">
                <a:latin typeface="Constantia"/>
                <a:cs typeface="Constantia"/>
              </a:rPr>
              <a:t>i</a:t>
            </a:r>
            <a:r>
              <a:rPr sz="2400" spc="-5" dirty="0">
                <a:latin typeface="Constantia"/>
                <a:cs typeface="Constantia"/>
              </a:rPr>
              <a:t>n</a:t>
            </a:r>
            <a:r>
              <a:rPr sz="2400" spc="-15" dirty="0">
                <a:latin typeface="Constantia"/>
                <a:cs typeface="Constantia"/>
              </a:rPr>
              <a:t>g</a:t>
            </a:r>
            <a:r>
              <a:rPr sz="2400" dirty="0">
                <a:latin typeface="宋体"/>
                <a:cs typeface="宋体"/>
              </a:rPr>
              <a:t>”</a:t>
            </a:r>
            <a:endParaRPr sz="2400">
              <a:latin typeface="宋体"/>
              <a:cs typeface="宋体"/>
            </a:endParaRPr>
          </a:p>
          <a:p>
            <a:pPr marL="259715" marR="5080" indent="-247015" algn="just">
              <a:lnSpc>
                <a:spcPct val="100000"/>
              </a:lnSpc>
              <a:spcBef>
                <a:spcPts val="575"/>
              </a:spcBef>
            </a:pPr>
            <a:r>
              <a:rPr sz="2000" spc="40" dirty="0">
                <a:solidFill>
                  <a:srgbClr val="50742E"/>
                </a:solidFill>
                <a:latin typeface="Wingdings"/>
                <a:cs typeface="Wingdings"/>
              </a:rPr>
              <a:t></a:t>
            </a:r>
            <a:r>
              <a:rPr sz="2400" spc="40" dirty="0">
                <a:latin typeface="宋体"/>
                <a:cs typeface="宋体"/>
              </a:rPr>
              <a:t>结构风险最小化</a:t>
            </a:r>
            <a:r>
              <a:rPr sz="2400" spc="-600" dirty="0">
                <a:latin typeface="宋体"/>
                <a:cs typeface="宋体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s</a:t>
            </a:r>
            <a:r>
              <a:rPr sz="2400" spc="-5" dirty="0">
                <a:latin typeface="Constantia"/>
                <a:cs typeface="Constantia"/>
              </a:rPr>
              <a:t>t</a:t>
            </a:r>
            <a:r>
              <a:rPr sz="2400" dirty="0">
                <a:latin typeface="Constantia"/>
                <a:cs typeface="Constantia"/>
              </a:rPr>
              <a:t>r</a:t>
            </a:r>
            <a:r>
              <a:rPr sz="2400" spc="-5" dirty="0">
                <a:latin typeface="Constantia"/>
                <a:cs typeface="Constantia"/>
              </a:rPr>
              <a:t>uctu</a:t>
            </a:r>
            <a:r>
              <a:rPr sz="2400" spc="-40" dirty="0">
                <a:latin typeface="Constantia"/>
                <a:cs typeface="Constantia"/>
              </a:rPr>
              <a:t>r</a:t>
            </a:r>
            <a:r>
              <a:rPr sz="2400" dirty="0">
                <a:latin typeface="Constantia"/>
                <a:cs typeface="Constantia"/>
              </a:rPr>
              <a:t>e</a:t>
            </a:r>
            <a:r>
              <a:rPr sz="2400" spc="-105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ri</a:t>
            </a:r>
            <a:r>
              <a:rPr sz="2400" spc="-15" dirty="0">
                <a:latin typeface="Constantia"/>
                <a:cs typeface="Constantia"/>
              </a:rPr>
              <a:t>sk</a:t>
            </a:r>
            <a:r>
              <a:rPr sz="2400" spc="-25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mi</a:t>
            </a:r>
            <a:r>
              <a:rPr sz="2400" spc="-5" dirty="0">
                <a:latin typeface="Constantia"/>
                <a:cs typeface="Constantia"/>
              </a:rPr>
              <a:t>n</a:t>
            </a:r>
            <a:r>
              <a:rPr sz="2400" dirty="0">
                <a:latin typeface="Constantia"/>
                <a:cs typeface="Constantia"/>
              </a:rPr>
              <a:t>imi</a:t>
            </a:r>
            <a:r>
              <a:rPr sz="2400" spc="-15" dirty="0">
                <a:latin typeface="Constantia"/>
                <a:cs typeface="Constantia"/>
              </a:rPr>
              <a:t>za</a:t>
            </a:r>
            <a:r>
              <a:rPr sz="2400" spc="-5" dirty="0">
                <a:latin typeface="Constantia"/>
                <a:cs typeface="Constantia"/>
              </a:rPr>
              <a:t>t</a:t>
            </a:r>
            <a:r>
              <a:rPr sz="2400" dirty="0">
                <a:latin typeface="Constantia"/>
                <a:cs typeface="Constantia"/>
              </a:rPr>
              <a:t>i</a:t>
            </a:r>
            <a:r>
              <a:rPr sz="2400" spc="-20" dirty="0">
                <a:latin typeface="Constantia"/>
                <a:cs typeface="Constantia"/>
              </a:rPr>
              <a:t>o</a:t>
            </a:r>
            <a:r>
              <a:rPr sz="2400" spc="-5" dirty="0">
                <a:latin typeface="Constantia"/>
                <a:cs typeface="Constantia"/>
              </a:rPr>
              <a:t>n</a:t>
            </a:r>
            <a:r>
              <a:rPr sz="2400" dirty="0">
                <a:latin typeface="宋体"/>
                <a:cs typeface="宋体"/>
              </a:rPr>
              <a:t>，为防止过 拟合提出的策略，等价于正则化（</a:t>
            </a:r>
            <a:r>
              <a:rPr sz="2400" spc="-40" dirty="0">
                <a:latin typeface="Constantia"/>
                <a:cs typeface="Constantia"/>
              </a:rPr>
              <a:t>r</a:t>
            </a:r>
            <a:r>
              <a:rPr sz="2400" dirty="0">
                <a:latin typeface="Constantia"/>
                <a:cs typeface="Constantia"/>
              </a:rPr>
              <a:t>e</a:t>
            </a:r>
            <a:r>
              <a:rPr sz="2400" spc="-15" dirty="0">
                <a:latin typeface="Constantia"/>
                <a:cs typeface="Constantia"/>
              </a:rPr>
              <a:t>g</a:t>
            </a:r>
            <a:r>
              <a:rPr sz="2400" spc="-5" dirty="0">
                <a:latin typeface="Constantia"/>
                <a:cs typeface="Constantia"/>
              </a:rPr>
              <a:t>u</a:t>
            </a:r>
            <a:r>
              <a:rPr sz="2400" spc="-10" dirty="0">
                <a:latin typeface="Constantia"/>
                <a:cs typeface="Constantia"/>
              </a:rPr>
              <a:t>la</a:t>
            </a:r>
            <a:r>
              <a:rPr sz="2400" dirty="0">
                <a:latin typeface="Constantia"/>
                <a:cs typeface="Constantia"/>
              </a:rPr>
              <a:t>ri</a:t>
            </a:r>
            <a:r>
              <a:rPr sz="2400" spc="-15" dirty="0">
                <a:latin typeface="Constantia"/>
                <a:cs typeface="Constantia"/>
              </a:rPr>
              <a:t>za</a:t>
            </a:r>
            <a:r>
              <a:rPr sz="2400" spc="-5" dirty="0">
                <a:latin typeface="Constantia"/>
                <a:cs typeface="Constantia"/>
              </a:rPr>
              <a:t>t</a:t>
            </a:r>
            <a:r>
              <a:rPr sz="2400" dirty="0">
                <a:latin typeface="Constantia"/>
                <a:cs typeface="Constantia"/>
              </a:rPr>
              <a:t>i</a:t>
            </a:r>
            <a:r>
              <a:rPr sz="2400" spc="-20" dirty="0">
                <a:latin typeface="Constantia"/>
                <a:cs typeface="Constantia"/>
              </a:rPr>
              <a:t>o</a:t>
            </a:r>
            <a:r>
              <a:rPr sz="2400" spc="-5" dirty="0">
                <a:latin typeface="Constantia"/>
                <a:cs typeface="Constantia"/>
              </a:rPr>
              <a:t>n</a:t>
            </a:r>
            <a:r>
              <a:rPr sz="2400" dirty="0">
                <a:latin typeface="宋体"/>
                <a:cs typeface="宋体"/>
              </a:rPr>
              <a:t>），加 入正则化项</a:t>
            </a:r>
            <a:r>
              <a:rPr sz="2400" spc="-40" dirty="0">
                <a:latin typeface="Constantia"/>
                <a:cs typeface="Constantia"/>
              </a:rPr>
              <a:t>r</a:t>
            </a:r>
            <a:r>
              <a:rPr sz="2400" dirty="0">
                <a:latin typeface="Constantia"/>
                <a:cs typeface="Constantia"/>
              </a:rPr>
              <a:t>e</a:t>
            </a:r>
            <a:r>
              <a:rPr sz="2400" spc="-15" dirty="0">
                <a:latin typeface="Constantia"/>
                <a:cs typeface="Constantia"/>
              </a:rPr>
              <a:t>g</a:t>
            </a:r>
            <a:r>
              <a:rPr sz="2400" spc="-5" dirty="0">
                <a:latin typeface="Constantia"/>
                <a:cs typeface="Constantia"/>
              </a:rPr>
              <a:t>u</a:t>
            </a:r>
            <a:r>
              <a:rPr sz="2400" spc="-10" dirty="0">
                <a:latin typeface="Constantia"/>
                <a:cs typeface="Constantia"/>
              </a:rPr>
              <a:t>la</a:t>
            </a:r>
            <a:r>
              <a:rPr sz="2400" dirty="0">
                <a:latin typeface="Constantia"/>
                <a:cs typeface="Constantia"/>
              </a:rPr>
              <a:t>ri</a:t>
            </a:r>
            <a:r>
              <a:rPr sz="2400" spc="-35" dirty="0">
                <a:latin typeface="Constantia"/>
                <a:cs typeface="Constantia"/>
              </a:rPr>
              <a:t>z</a:t>
            </a:r>
            <a:r>
              <a:rPr sz="2400" dirty="0">
                <a:latin typeface="Constantia"/>
                <a:cs typeface="Constantia"/>
              </a:rPr>
              <a:t>er</a:t>
            </a:r>
            <a:r>
              <a:rPr sz="2400" dirty="0">
                <a:latin typeface="宋体"/>
                <a:cs typeface="宋体"/>
              </a:rPr>
              <a:t>，或罚项</a:t>
            </a:r>
            <a:r>
              <a:rPr sz="2400" spc="-600" dirty="0">
                <a:latin typeface="宋体"/>
                <a:cs typeface="宋体"/>
              </a:rPr>
              <a:t> </a:t>
            </a:r>
            <a:r>
              <a:rPr sz="2400" spc="-15" dirty="0">
                <a:latin typeface="Constantia"/>
                <a:cs typeface="Constantia"/>
              </a:rPr>
              <a:t>p</a:t>
            </a:r>
            <a:r>
              <a:rPr sz="2400" dirty="0">
                <a:latin typeface="Constantia"/>
                <a:cs typeface="Constantia"/>
              </a:rPr>
              <a:t>e</a:t>
            </a:r>
            <a:r>
              <a:rPr sz="2400" spc="-5" dirty="0">
                <a:latin typeface="Constantia"/>
                <a:cs typeface="Constantia"/>
              </a:rPr>
              <a:t>n</a:t>
            </a:r>
            <a:r>
              <a:rPr sz="2400" spc="-10" dirty="0">
                <a:latin typeface="Constantia"/>
                <a:cs typeface="Constantia"/>
              </a:rPr>
              <a:t>al</a:t>
            </a:r>
            <a:r>
              <a:rPr sz="2400" spc="-5" dirty="0">
                <a:latin typeface="Constantia"/>
                <a:cs typeface="Constantia"/>
              </a:rPr>
              <a:t>t</a:t>
            </a:r>
            <a:r>
              <a:rPr sz="2400" dirty="0">
                <a:latin typeface="Constantia"/>
                <a:cs typeface="Constantia"/>
              </a:rPr>
              <a:t>y</a:t>
            </a:r>
            <a:r>
              <a:rPr sz="2400" spc="-90" dirty="0">
                <a:latin typeface="Constantia"/>
                <a:cs typeface="Constantia"/>
              </a:rPr>
              <a:t> </a:t>
            </a:r>
            <a:r>
              <a:rPr sz="2400" spc="-45" dirty="0">
                <a:latin typeface="Constantia"/>
                <a:cs typeface="Constantia"/>
              </a:rPr>
              <a:t>t</a:t>
            </a:r>
            <a:r>
              <a:rPr sz="2400" dirty="0">
                <a:latin typeface="Constantia"/>
                <a:cs typeface="Constantia"/>
              </a:rPr>
              <a:t>erm</a:t>
            </a:r>
            <a:r>
              <a:rPr sz="2400" dirty="0">
                <a:latin typeface="宋体"/>
                <a:cs typeface="宋体"/>
              </a:rPr>
              <a:t>：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843783" y="2420111"/>
            <a:ext cx="2731008" cy="71932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593848" y="5516879"/>
            <a:ext cx="3922776" cy="69189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2841" y="626098"/>
            <a:ext cx="4469130" cy="6337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950" spc="10" dirty="0">
                <a:solidFill>
                  <a:srgbClr val="004646"/>
                </a:solidFill>
                <a:latin typeface="微软雅黑"/>
                <a:cs typeface="微软雅黑"/>
              </a:rPr>
              <a:t>统计学习三要</a:t>
            </a:r>
            <a:r>
              <a:rPr sz="4950" dirty="0">
                <a:solidFill>
                  <a:srgbClr val="004646"/>
                </a:solidFill>
                <a:latin typeface="微软雅黑"/>
                <a:cs typeface="微软雅黑"/>
              </a:rPr>
              <a:t>素</a:t>
            </a:r>
            <a:endParaRPr sz="495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95337" y="1556219"/>
            <a:ext cx="4856480" cy="311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790"/>
              </a:lnSpc>
            </a:pPr>
            <a:r>
              <a:rPr sz="2000" spc="20" dirty="0">
                <a:solidFill>
                  <a:srgbClr val="50742E"/>
                </a:solidFill>
                <a:latin typeface="Wingdings"/>
                <a:cs typeface="Wingdings"/>
              </a:rPr>
              <a:t></a:t>
            </a:r>
            <a:r>
              <a:rPr sz="2400" spc="20" dirty="0">
                <a:latin typeface="宋体"/>
                <a:cs typeface="宋体"/>
              </a:rPr>
              <a:t>求最优模型就是求解</a:t>
            </a:r>
            <a:r>
              <a:rPr sz="2400" spc="20" dirty="0">
                <a:solidFill>
                  <a:srgbClr val="FF0000"/>
                </a:solidFill>
                <a:latin typeface="宋体"/>
                <a:cs typeface="宋体"/>
              </a:rPr>
              <a:t>最优化问题：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124455" y="2203704"/>
            <a:ext cx="3742944" cy="7528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统计学习三要</a:t>
            </a:r>
            <a:r>
              <a:rPr dirty="0"/>
              <a:t>素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272" y="1559613"/>
            <a:ext cx="7078345" cy="12160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dirty="0">
                <a:solidFill>
                  <a:srgbClr val="33BC55"/>
                </a:solidFill>
                <a:latin typeface="Wingdings"/>
                <a:cs typeface="Wingdings"/>
              </a:rPr>
              <a:t></a:t>
            </a:r>
            <a:r>
              <a:rPr sz="2600" spc="-20" dirty="0">
                <a:latin typeface="宋体"/>
                <a:cs typeface="宋体"/>
              </a:rPr>
              <a:t>算法</a:t>
            </a:r>
            <a:r>
              <a:rPr sz="2600" spc="-30" dirty="0">
                <a:solidFill>
                  <a:srgbClr val="380F80"/>
                </a:solidFill>
                <a:latin typeface="宋体"/>
                <a:cs typeface="宋体"/>
              </a:rPr>
              <a:t>：</a:t>
            </a:r>
            <a:endParaRPr sz="2600">
              <a:latin typeface="宋体"/>
              <a:cs typeface="宋体"/>
            </a:endParaRPr>
          </a:p>
          <a:p>
            <a:pPr marL="405765">
              <a:lnSpc>
                <a:spcPct val="100000"/>
              </a:lnSpc>
              <a:spcBef>
                <a:spcPts val="585"/>
              </a:spcBef>
            </a:pPr>
            <a:r>
              <a:rPr sz="2000" spc="40" dirty="0">
                <a:solidFill>
                  <a:srgbClr val="50742E"/>
                </a:solidFill>
                <a:latin typeface="Wingdings"/>
                <a:cs typeface="Wingdings"/>
              </a:rPr>
              <a:t></a:t>
            </a:r>
            <a:r>
              <a:rPr sz="2400" spc="40" dirty="0">
                <a:solidFill>
                  <a:srgbClr val="380F80"/>
                </a:solidFill>
                <a:latin typeface="宋体"/>
                <a:cs typeface="宋体"/>
              </a:rPr>
              <a:t>如果最优化问题有显式的解析式，算法比较简单</a:t>
            </a:r>
            <a:endParaRPr sz="2400">
              <a:latin typeface="宋体"/>
              <a:cs typeface="宋体"/>
            </a:endParaRPr>
          </a:p>
          <a:p>
            <a:pPr marL="405765">
              <a:lnSpc>
                <a:spcPts val="2790"/>
              </a:lnSpc>
              <a:spcBef>
                <a:spcPts val="575"/>
              </a:spcBef>
            </a:pPr>
            <a:r>
              <a:rPr sz="2000" spc="20" dirty="0">
                <a:solidFill>
                  <a:srgbClr val="50742E"/>
                </a:solidFill>
                <a:latin typeface="Wingdings"/>
                <a:cs typeface="Wingdings"/>
              </a:rPr>
              <a:t></a:t>
            </a:r>
            <a:r>
              <a:rPr sz="2400" spc="20" dirty="0">
                <a:solidFill>
                  <a:srgbClr val="380F80"/>
                </a:solidFill>
                <a:latin typeface="宋体"/>
                <a:cs typeface="宋体"/>
              </a:rPr>
              <a:t>但通常解析式不存在，就需要数值计算的方法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650" y="152400"/>
            <a:ext cx="7886700" cy="10800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四、模型评估与模型选</a:t>
            </a:r>
            <a:r>
              <a:rPr dirty="0"/>
              <a:t>择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272" y="1178613"/>
            <a:ext cx="5290820" cy="342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070"/>
              </a:lnSpc>
            </a:pPr>
            <a:r>
              <a:rPr sz="2450" dirty="0">
                <a:solidFill>
                  <a:srgbClr val="33BC55"/>
                </a:solidFill>
                <a:latin typeface="Wingdings"/>
                <a:cs typeface="Wingdings"/>
              </a:rPr>
              <a:t></a:t>
            </a:r>
            <a:r>
              <a:rPr sz="2600" spc="-20" dirty="0">
                <a:latin typeface="宋体"/>
                <a:cs typeface="宋体"/>
              </a:rPr>
              <a:t>训练误差，训练数据集的平均损</a:t>
            </a:r>
            <a:r>
              <a:rPr sz="2600" spc="-30" dirty="0">
                <a:latin typeface="宋体"/>
                <a:cs typeface="宋体"/>
              </a:rPr>
              <a:t>失</a:t>
            </a:r>
            <a:endParaRPr sz="2600" dirty="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2272" y="2590853"/>
            <a:ext cx="5290820" cy="368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dirty="0">
                <a:solidFill>
                  <a:srgbClr val="33BC55"/>
                </a:solidFill>
                <a:latin typeface="Wingdings"/>
                <a:cs typeface="Wingdings"/>
              </a:rPr>
              <a:t></a:t>
            </a:r>
            <a:r>
              <a:rPr sz="2550" spc="35" dirty="0">
                <a:latin typeface="宋体"/>
                <a:cs typeface="宋体"/>
              </a:rPr>
              <a:t>测试误差，测试数据集的平均损</a:t>
            </a:r>
            <a:r>
              <a:rPr sz="2550" spc="25" dirty="0">
                <a:latin typeface="宋体"/>
                <a:cs typeface="宋体"/>
              </a:rPr>
              <a:t>失</a:t>
            </a:r>
            <a:endParaRPr sz="2550" dirty="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2272" y="4015158"/>
            <a:ext cx="3792854" cy="390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dirty="0">
                <a:solidFill>
                  <a:srgbClr val="33BC55"/>
                </a:solidFill>
                <a:latin typeface="Wingdings"/>
                <a:cs typeface="Wingdings"/>
              </a:rPr>
              <a:t></a:t>
            </a:r>
            <a:r>
              <a:rPr sz="2600" spc="-20" dirty="0">
                <a:latin typeface="宋体"/>
                <a:cs typeface="宋体"/>
              </a:rPr>
              <a:t>损失函数是</a:t>
            </a:r>
            <a:r>
              <a:rPr sz="2600" spc="-10" dirty="0">
                <a:latin typeface="Constantia"/>
                <a:cs typeface="Constantia"/>
              </a:rPr>
              <a:t>0-1</a:t>
            </a:r>
            <a:r>
              <a:rPr sz="2600" spc="5" dirty="0">
                <a:latin typeface="Constantia"/>
                <a:cs typeface="Constantia"/>
              </a:rPr>
              <a:t> </a:t>
            </a:r>
            <a:r>
              <a:rPr sz="2600" spc="-20" dirty="0">
                <a:latin typeface="宋体"/>
                <a:cs typeface="宋体"/>
              </a:rPr>
              <a:t>损失时</a:t>
            </a:r>
            <a:r>
              <a:rPr sz="2600" spc="-30" dirty="0">
                <a:latin typeface="宋体"/>
                <a:cs typeface="宋体"/>
              </a:rPr>
              <a:t>：</a:t>
            </a:r>
            <a:endParaRPr sz="26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2272" y="5440733"/>
            <a:ext cx="3639820" cy="368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dirty="0">
                <a:solidFill>
                  <a:srgbClr val="33BC55"/>
                </a:solidFill>
                <a:latin typeface="Wingdings"/>
                <a:cs typeface="Wingdings"/>
              </a:rPr>
              <a:t></a:t>
            </a:r>
            <a:r>
              <a:rPr sz="2550" spc="35" dirty="0">
                <a:latin typeface="宋体"/>
                <a:cs typeface="宋体"/>
              </a:rPr>
              <a:t>测试数据集的准确率</a:t>
            </a:r>
            <a:r>
              <a:rPr sz="2550" spc="25" dirty="0">
                <a:latin typeface="宋体"/>
                <a:cs typeface="宋体"/>
              </a:rPr>
              <a:t>：</a:t>
            </a:r>
            <a:endParaRPr sz="255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194560" y="1679448"/>
            <a:ext cx="3383279" cy="7528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194560" y="3078479"/>
            <a:ext cx="3145536" cy="83515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215895" y="4486655"/>
            <a:ext cx="3078480" cy="77419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047682" y="5774821"/>
            <a:ext cx="2953512" cy="75590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模型评估与模型选</a:t>
            </a:r>
            <a:r>
              <a:rPr dirty="0"/>
              <a:t>择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272" y="1559613"/>
            <a:ext cx="3309620" cy="817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dirty="0">
                <a:solidFill>
                  <a:srgbClr val="33BC55"/>
                </a:solidFill>
                <a:latin typeface="Wingdings"/>
                <a:cs typeface="Wingdings"/>
              </a:rPr>
              <a:t></a:t>
            </a:r>
            <a:r>
              <a:rPr sz="2600" spc="-20" dirty="0">
                <a:latin typeface="宋体"/>
                <a:cs typeface="宋体"/>
              </a:rPr>
              <a:t>过拟合与模型选</a:t>
            </a:r>
            <a:r>
              <a:rPr sz="2600" spc="-30" dirty="0">
                <a:latin typeface="宋体"/>
                <a:cs typeface="宋体"/>
              </a:rPr>
              <a:t>择</a:t>
            </a:r>
            <a:endParaRPr sz="2600">
              <a:latin typeface="宋体"/>
              <a:cs typeface="宋体"/>
            </a:endParaRPr>
          </a:p>
          <a:p>
            <a:pPr marL="12700">
              <a:lnSpc>
                <a:spcPts val="3070"/>
              </a:lnSpc>
              <a:spcBef>
                <a:spcPts val="620"/>
              </a:spcBef>
            </a:pPr>
            <a:r>
              <a:rPr sz="2450" dirty="0">
                <a:solidFill>
                  <a:srgbClr val="33BC55"/>
                </a:solidFill>
                <a:latin typeface="Wingdings"/>
                <a:cs typeface="Wingdings"/>
              </a:rPr>
              <a:t></a:t>
            </a:r>
            <a:r>
              <a:rPr sz="2600" spc="-20" dirty="0">
                <a:latin typeface="宋体"/>
                <a:cs typeface="宋体"/>
              </a:rPr>
              <a:t>假设给定训练数据</a:t>
            </a:r>
            <a:r>
              <a:rPr sz="2600" spc="-30" dirty="0">
                <a:latin typeface="宋体"/>
                <a:cs typeface="宋体"/>
              </a:rPr>
              <a:t>集</a:t>
            </a:r>
            <a:endParaRPr sz="26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2272" y="3446833"/>
            <a:ext cx="2649220" cy="368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dirty="0">
                <a:solidFill>
                  <a:srgbClr val="33BC55"/>
                </a:solidFill>
                <a:latin typeface="Wingdings"/>
                <a:cs typeface="Wingdings"/>
              </a:rPr>
              <a:t></a:t>
            </a:r>
            <a:r>
              <a:rPr sz="2600" spc="-20" dirty="0">
                <a:latin typeface="宋体"/>
                <a:cs typeface="宋体"/>
              </a:rPr>
              <a:t>经验风险最小</a:t>
            </a:r>
            <a:r>
              <a:rPr sz="2600" spc="-30" dirty="0">
                <a:latin typeface="宋体"/>
                <a:cs typeface="宋体"/>
              </a:rPr>
              <a:t>：</a:t>
            </a:r>
            <a:endParaRPr sz="26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922776" y="1917192"/>
            <a:ext cx="4047744" cy="5029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95983" y="2447544"/>
            <a:ext cx="5980175" cy="85343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25423" y="3883152"/>
            <a:ext cx="3404616" cy="79248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959096" y="3773423"/>
            <a:ext cx="3166872" cy="90220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587751" y="4858511"/>
            <a:ext cx="3596640" cy="149961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模型评估与模型选</a:t>
            </a:r>
            <a:r>
              <a:rPr dirty="0"/>
              <a:t>择</a:t>
            </a:r>
          </a:p>
        </p:txBody>
      </p:sp>
      <p:sp>
        <p:nvSpPr>
          <p:cNvPr id="3" name="object 3"/>
          <p:cNvSpPr/>
          <p:nvPr/>
        </p:nvSpPr>
        <p:spPr>
          <a:xfrm>
            <a:off x="829055" y="1673351"/>
            <a:ext cx="7488935" cy="505358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模型评估与模型选</a:t>
            </a:r>
            <a:r>
              <a:rPr dirty="0"/>
              <a:t>择</a:t>
            </a:r>
          </a:p>
        </p:txBody>
      </p:sp>
      <p:sp>
        <p:nvSpPr>
          <p:cNvPr id="3" name="object 3"/>
          <p:cNvSpPr/>
          <p:nvPr/>
        </p:nvSpPr>
        <p:spPr>
          <a:xfrm>
            <a:off x="1042416" y="1917192"/>
            <a:ext cx="6839711" cy="410870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五、正则化与交叉验</a:t>
            </a:r>
            <a:r>
              <a:rPr dirty="0"/>
              <a:t>证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272" y="1559613"/>
            <a:ext cx="2979420" cy="342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070"/>
              </a:lnSpc>
            </a:pPr>
            <a:r>
              <a:rPr sz="2450" dirty="0">
                <a:solidFill>
                  <a:srgbClr val="33BC55"/>
                </a:solidFill>
                <a:latin typeface="Wingdings"/>
                <a:cs typeface="Wingdings"/>
              </a:rPr>
              <a:t></a:t>
            </a:r>
            <a:r>
              <a:rPr sz="2600" spc="-20" dirty="0">
                <a:latin typeface="宋体"/>
                <a:cs typeface="宋体"/>
              </a:rPr>
              <a:t>正则化一般形式</a:t>
            </a:r>
            <a:r>
              <a:rPr sz="2600" spc="-30" dirty="0">
                <a:latin typeface="宋体"/>
                <a:cs typeface="宋体"/>
              </a:rPr>
              <a:t>：</a:t>
            </a:r>
            <a:endParaRPr sz="26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2272" y="2971853"/>
            <a:ext cx="2319020" cy="368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dirty="0">
                <a:solidFill>
                  <a:srgbClr val="33BC55"/>
                </a:solidFill>
                <a:latin typeface="Wingdings"/>
                <a:cs typeface="Wingdings"/>
              </a:rPr>
              <a:t></a:t>
            </a:r>
            <a:r>
              <a:rPr sz="2550" spc="35" dirty="0">
                <a:latin typeface="宋体"/>
                <a:cs typeface="宋体"/>
              </a:rPr>
              <a:t>回归问题中</a:t>
            </a:r>
            <a:r>
              <a:rPr sz="2550" spc="25" dirty="0">
                <a:latin typeface="宋体"/>
                <a:cs typeface="宋体"/>
              </a:rPr>
              <a:t>：</a:t>
            </a:r>
            <a:endParaRPr sz="255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981200" y="2036064"/>
            <a:ext cx="4026408" cy="79247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953767" y="3429000"/>
            <a:ext cx="4824983" cy="77723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036064" y="4453128"/>
            <a:ext cx="4742688" cy="83515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正则化与交叉验</a:t>
            </a:r>
            <a:r>
              <a:rPr dirty="0"/>
              <a:t>证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272" y="1559613"/>
            <a:ext cx="5370830" cy="8463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dirty="0">
                <a:solidFill>
                  <a:srgbClr val="33BC55"/>
                </a:solidFill>
                <a:latin typeface="Wingdings"/>
                <a:cs typeface="Wingdings"/>
              </a:rPr>
              <a:t></a:t>
            </a:r>
            <a:r>
              <a:rPr sz="2600" spc="-20" dirty="0" err="1">
                <a:latin typeface="宋体"/>
                <a:cs typeface="宋体"/>
              </a:rPr>
              <a:t>交叉验证</a:t>
            </a:r>
            <a:r>
              <a:rPr lang="en-US" sz="2600" spc="-2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Cross</a:t>
            </a:r>
            <a:r>
              <a:rPr lang="en-US" sz="2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Validation</a:t>
            </a:r>
            <a:r>
              <a:rPr sz="2600" spc="-30" dirty="0">
                <a:latin typeface="宋体"/>
                <a:cs typeface="宋体"/>
              </a:rPr>
              <a:t>：</a:t>
            </a:r>
            <a:endParaRPr sz="2600" dirty="0">
              <a:latin typeface="宋体"/>
              <a:cs typeface="宋体"/>
            </a:endParaRPr>
          </a:p>
          <a:p>
            <a:pPr marL="405765">
              <a:lnSpc>
                <a:spcPct val="100000"/>
              </a:lnSpc>
              <a:spcBef>
                <a:spcPts val="585"/>
              </a:spcBef>
            </a:pPr>
            <a:r>
              <a:rPr sz="2000" spc="40" dirty="0">
                <a:solidFill>
                  <a:srgbClr val="50742E"/>
                </a:solidFill>
                <a:latin typeface="Wingdings"/>
                <a:cs typeface="Wingdings"/>
              </a:rPr>
              <a:t></a:t>
            </a:r>
            <a:r>
              <a:rPr sz="2400" spc="40" dirty="0">
                <a:latin typeface="宋体"/>
                <a:cs typeface="宋体"/>
              </a:rPr>
              <a:t>训练集</a:t>
            </a:r>
            <a:r>
              <a:rPr sz="2400" spc="-600" dirty="0">
                <a:latin typeface="宋体"/>
                <a:cs typeface="宋体"/>
              </a:rPr>
              <a:t> </a:t>
            </a:r>
            <a:r>
              <a:rPr sz="2400" spc="-5" dirty="0">
                <a:latin typeface="Constantia"/>
                <a:cs typeface="Constantia"/>
              </a:rPr>
              <a:t>t</a:t>
            </a:r>
            <a:r>
              <a:rPr sz="2400" spc="-45" dirty="0">
                <a:latin typeface="Constantia"/>
                <a:cs typeface="Constantia"/>
              </a:rPr>
              <a:t>r</a:t>
            </a:r>
            <a:r>
              <a:rPr sz="2400" spc="-15" dirty="0">
                <a:latin typeface="Constantia"/>
                <a:cs typeface="Constantia"/>
              </a:rPr>
              <a:t>a</a:t>
            </a:r>
            <a:r>
              <a:rPr sz="2400" dirty="0">
                <a:latin typeface="Constantia"/>
                <a:cs typeface="Constantia"/>
              </a:rPr>
              <a:t>i</a:t>
            </a:r>
            <a:r>
              <a:rPr sz="2400" spc="-5" dirty="0">
                <a:latin typeface="Constantia"/>
                <a:cs typeface="Constantia"/>
              </a:rPr>
              <a:t>n</a:t>
            </a:r>
            <a:r>
              <a:rPr sz="2400" dirty="0">
                <a:latin typeface="Constantia"/>
                <a:cs typeface="Constantia"/>
              </a:rPr>
              <a:t>i</a:t>
            </a:r>
            <a:r>
              <a:rPr sz="2400" spc="-5" dirty="0">
                <a:latin typeface="Constantia"/>
                <a:cs typeface="Constantia"/>
              </a:rPr>
              <a:t>n</a:t>
            </a:r>
            <a:r>
              <a:rPr sz="2400" spc="-15" dirty="0">
                <a:latin typeface="Constantia"/>
                <a:cs typeface="Constantia"/>
              </a:rPr>
              <a:t>g</a:t>
            </a:r>
            <a:r>
              <a:rPr sz="2400" spc="-50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s</a:t>
            </a:r>
            <a:r>
              <a:rPr sz="2400" dirty="0">
                <a:latin typeface="Constantia"/>
                <a:cs typeface="Constantia"/>
              </a:rPr>
              <a:t>e</a:t>
            </a:r>
            <a:r>
              <a:rPr sz="2400" spc="-5" dirty="0">
                <a:latin typeface="Constantia"/>
                <a:cs typeface="Constantia"/>
              </a:rPr>
              <a:t>t</a:t>
            </a:r>
            <a:r>
              <a:rPr sz="2400" dirty="0">
                <a:latin typeface="宋体"/>
                <a:cs typeface="宋体"/>
              </a:rPr>
              <a:t>：</a:t>
            </a:r>
            <a:r>
              <a:rPr sz="2400" spc="-600" dirty="0">
                <a:latin typeface="宋体"/>
                <a:cs typeface="宋体"/>
              </a:rPr>
              <a:t> </a:t>
            </a:r>
            <a:r>
              <a:rPr sz="2400" dirty="0">
                <a:latin typeface="宋体"/>
                <a:cs typeface="宋体"/>
              </a:rPr>
              <a:t>用于训练模型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95337" y="2451569"/>
            <a:ext cx="3337560" cy="363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20" dirty="0">
                <a:solidFill>
                  <a:srgbClr val="50742E"/>
                </a:solidFill>
                <a:latin typeface="Wingdings"/>
                <a:cs typeface="Wingdings"/>
              </a:rPr>
              <a:t></a:t>
            </a:r>
            <a:r>
              <a:rPr sz="2400" spc="20" dirty="0">
                <a:latin typeface="宋体"/>
                <a:cs typeface="宋体"/>
              </a:rPr>
              <a:t>验证集</a:t>
            </a:r>
            <a:r>
              <a:rPr sz="2400" spc="-600" dirty="0">
                <a:latin typeface="宋体"/>
                <a:cs typeface="宋体"/>
              </a:rPr>
              <a:t> </a:t>
            </a:r>
            <a:r>
              <a:rPr sz="2400" spc="-40" dirty="0">
                <a:latin typeface="Constantia"/>
                <a:cs typeface="Constantia"/>
              </a:rPr>
              <a:t>v</a:t>
            </a:r>
            <a:r>
              <a:rPr sz="2400" spc="-10" dirty="0">
                <a:latin typeface="Constantia"/>
                <a:cs typeface="Constantia"/>
              </a:rPr>
              <a:t>al</a:t>
            </a:r>
            <a:r>
              <a:rPr sz="2400" dirty="0">
                <a:latin typeface="Constantia"/>
                <a:cs typeface="Constantia"/>
              </a:rPr>
              <a:t>i</a:t>
            </a:r>
            <a:r>
              <a:rPr sz="2400" spc="-5" dirty="0">
                <a:latin typeface="Constantia"/>
                <a:cs typeface="Constantia"/>
              </a:rPr>
              <a:t>d</a:t>
            </a:r>
            <a:r>
              <a:rPr sz="2400" spc="-15" dirty="0">
                <a:latin typeface="Constantia"/>
                <a:cs typeface="Constantia"/>
              </a:rPr>
              <a:t>a</a:t>
            </a:r>
            <a:r>
              <a:rPr sz="2400" spc="-5" dirty="0">
                <a:latin typeface="Constantia"/>
                <a:cs typeface="Constantia"/>
              </a:rPr>
              <a:t>t</a:t>
            </a:r>
            <a:r>
              <a:rPr sz="2400" dirty="0">
                <a:latin typeface="Constantia"/>
                <a:cs typeface="Constantia"/>
              </a:rPr>
              <a:t>i</a:t>
            </a:r>
            <a:r>
              <a:rPr sz="2400" spc="-20" dirty="0">
                <a:latin typeface="Constantia"/>
                <a:cs typeface="Constantia"/>
              </a:rPr>
              <a:t>o</a:t>
            </a:r>
            <a:r>
              <a:rPr sz="2400" dirty="0">
                <a:latin typeface="Constantia"/>
                <a:cs typeface="Constantia"/>
              </a:rPr>
              <a:t>n</a:t>
            </a:r>
            <a:r>
              <a:rPr sz="2400" spc="-95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s</a:t>
            </a:r>
            <a:r>
              <a:rPr sz="2400" dirty="0">
                <a:latin typeface="Constantia"/>
                <a:cs typeface="Constantia"/>
              </a:rPr>
              <a:t>e</a:t>
            </a:r>
            <a:r>
              <a:rPr sz="2400" spc="-5" dirty="0">
                <a:latin typeface="Constantia"/>
                <a:cs typeface="Constantia"/>
              </a:rPr>
              <a:t>t</a:t>
            </a:r>
            <a:r>
              <a:rPr sz="2400" dirty="0">
                <a:latin typeface="宋体"/>
                <a:cs typeface="宋体"/>
              </a:rPr>
              <a:t>：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36097" y="2451569"/>
            <a:ext cx="185420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40"/>
              </a:lnSpc>
            </a:pPr>
            <a:r>
              <a:rPr sz="2400" dirty="0">
                <a:latin typeface="宋体"/>
                <a:cs typeface="宋体"/>
              </a:rPr>
              <a:t>用于模型选择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95337" y="2890354"/>
            <a:ext cx="6459855" cy="22082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337945" algn="l"/>
                <a:tab pos="1955164" algn="l"/>
                <a:tab pos="2788920" algn="l"/>
              </a:tabLst>
            </a:pPr>
            <a:r>
              <a:rPr sz="2050" spc="-25" dirty="0">
                <a:solidFill>
                  <a:srgbClr val="50742E"/>
                </a:solidFill>
                <a:latin typeface="Wingdings"/>
                <a:cs typeface="Wingdings"/>
              </a:rPr>
              <a:t></a:t>
            </a:r>
            <a:r>
              <a:rPr sz="2400" spc="-25" dirty="0">
                <a:latin typeface="宋体"/>
                <a:cs typeface="宋体"/>
              </a:rPr>
              <a:t>测试集	</a:t>
            </a:r>
            <a:r>
              <a:rPr sz="2400" spc="-45" dirty="0">
                <a:latin typeface="Constantia"/>
                <a:cs typeface="Constantia"/>
              </a:rPr>
              <a:t>t</a:t>
            </a:r>
            <a:r>
              <a:rPr sz="2400" dirty="0">
                <a:latin typeface="Constantia"/>
                <a:cs typeface="Constantia"/>
              </a:rPr>
              <a:t>e</a:t>
            </a:r>
            <a:r>
              <a:rPr sz="2400" spc="-10" dirty="0">
                <a:latin typeface="Constantia"/>
                <a:cs typeface="Constantia"/>
              </a:rPr>
              <a:t>s</a:t>
            </a:r>
            <a:r>
              <a:rPr sz="2400" dirty="0">
                <a:latin typeface="Constantia"/>
                <a:cs typeface="Constantia"/>
              </a:rPr>
              <a:t>t	</a:t>
            </a:r>
            <a:r>
              <a:rPr sz="2400" spc="-10" dirty="0">
                <a:latin typeface="Constantia"/>
                <a:cs typeface="Constantia"/>
              </a:rPr>
              <a:t>s</a:t>
            </a:r>
            <a:r>
              <a:rPr sz="2400" dirty="0">
                <a:latin typeface="Constantia"/>
                <a:cs typeface="Constantia"/>
              </a:rPr>
              <a:t>e</a:t>
            </a:r>
            <a:r>
              <a:rPr sz="2400" spc="-5" dirty="0">
                <a:latin typeface="Constantia"/>
                <a:cs typeface="Constantia"/>
              </a:rPr>
              <a:t>t</a:t>
            </a:r>
            <a:r>
              <a:rPr sz="2400" dirty="0">
                <a:latin typeface="宋体"/>
                <a:cs typeface="宋体"/>
              </a:rPr>
              <a:t>：	用于最终对学习方法的评估</a:t>
            </a:r>
          </a:p>
          <a:p>
            <a:pPr>
              <a:lnSpc>
                <a:spcPct val="100000"/>
              </a:lnSpc>
              <a:spcBef>
                <a:spcPts val="2"/>
              </a:spcBef>
            </a:pPr>
            <a:endParaRPr sz="37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50" spc="-25" dirty="0">
                <a:solidFill>
                  <a:srgbClr val="50742E"/>
                </a:solidFill>
                <a:latin typeface="Wingdings"/>
                <a:cs typeface="Wingdings"/>
              </a:rPr>
              <a:t></a:t>
            </a:r>
            <a:r>
              <a:rPr sz="2400" spc="-25" dirty="0">
                <a:latin typeface="宋体"/>
                <a:cs typeface="宋体"/>
              </a:rPr>
              <a:t>简单交叉验证</a:t>
            </a:r>
            <a:endParaRPr sz="2400" dirty="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050" spc="-25" dirty="0">
                <a:solidFill>
                  <a:srgbClr val="50742E"/>
                </a:solidFill>
                <a:latin typeface="Wingdings"/>
                <a:cs typeface="Wingdings"/>
              </a:rPr>
              <a:t></a:t>
            </a:r>
            <a:r>
              <a:rPr sz="2400" spc="-15" dirty="0" err="1">
                <a:latin typeface="Constantia"/>
                <a:cs typeface="Constantia"/>
              </a:rPr>
              <a:t>S</a:t>
            </a:r>
            <a:r>
              <a:rPr sz="2400" spc="-15" dirty="0" err="1">
                <a:latin typeface="宋体"/>
                <a:cs typeface="宋体"/>
              </a:rPr>
              <a:t>折交叉验证</a:t>
            </a:r>
            <a:r>
              <a:rPr lang="en-US" sz="2400" spc="-15" dirty="0">
                <a:latin typeface="宋体"/>
                <a:cs typeface="宋体"/>
              </a:rPr>
              <a:t> </a:t>
            </a:r>
            <a:r>
              <a:rPr lang="en-US" altLang="zh-CN"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S-Fold Cross Validation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000" spc="20" dirty="0">
                <a:solidFill>
                  <a:srgbClr val="50742E"/>
                </a:solidFill>
                <a:latin typeface="Wingdings"/>
                <a:cs typeface="Wingdings"/>
              </a:rPr>
              <a:t></a:t>
            </a:r>
            <a:r>
              <a:rPr sz="2400" spc="20" dirty="0">
                <a:latin typeface="宋体"/>
                <a:cs typeface="宋体"/>
              </a:rPr>
              <a:t>留一交叉验证</a:t>
            </a:r>
            <a:endParaRPr sz="2400" dirty="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1228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450" spc="10" dirty="0"/>
              <a:t>六、泛化能</a:t>
            </a:r>
            <a:r>
              <a:rPr sz="4450" dirty="0"/>
              <a:t>力</a:t>
            </a:r>
            <a:r>
              <a:rPr sz="4450" spc="-295" dirty="0"/>
              <a:t> </a:t>
            </a:r>
            <a:r>
              <a:rPr sz="4450" spc="-35" dirty="0">
                <a:latin typeface="Calibri"/>
                <a:cs typeface="Calibri"/>
              </a:rPr>
              <a:t>g</a:t>
            </a:r>
            <a:r>
              <a:rPr sz="4450" spc="5" dirty="0">
                <a:latin typeface="Calibri"/>
                <a:cs typeface="Calibri"/>
              </a:rPr>
              <a:t>ene</a:t>
            </a:r>
            <a:r>
              <a:rPr sz="4450" spc="-90" dirty="0">
                <a:latin typeface="Calibri"/>
                <a:cs typeface="Calibri"/>
              </a:rPr>
              <a:t>r</a:t>
            </a:r>
            <a:r>
              <a:rPr sz="4450" dirty="0">
                <a:latin typeface="Calibri"/>
                <a:cs typeface="Calibri"/>
              </a:rPr>
              <a:t>a</a:t>
            </a:r>
            <a:r>
              <a:rPr sz="4450" spc="5" dirty="0">
                <a:latin typeface="Calibri"/>
                <a:cs typeface="Calibri"/>
              </a:rPr>
              <a:t>li</a:t>
            </a:r>
            <a:r>
              <a:rPr sz="4450" spc="-70" dirty="0">
                <a:latin typeface="Calibri"/>
                <a:cs typeface="Calibri"/>
              </a:rPr>
              <a:t>z</a:t>
            </a:r>
            <a:r>
              <a:rPr sz="4450" spc="-45" dirty="0">
                <a:latin typeface="Calibri"/>
                <a:cs typeface="Calibri"/>
              </a:rPr>
              <a:t>a</a:t>
            </a:r>
            <a:r>
              <a:rPr sz="4450" spc="5" dirty="0">
                <a:latin typeface="Calibri"/>
                <a:cs typeface="Calibri"/>
              </a:rPr>
              <a:t>tio</a:t>
            </a:r>
            <a:r>
              <a:rPr sz="4450" dirty="0">
                <a:latin typeface="Calibri"/>
                <a:cs typeface="Calibri"/>
              </a:rPr>
              <a:t>n</a:t>
            </a:r>
            <a:r>
              <a:rPr sz="4450" spc="15" dirty="0">
                <a:latin typeface="Calibri"/>
                <a:cs typeface="Calibri"/>
              </a:rPr>
              <a:t> </a:t>
            </a:r>
            <a:r>
              <a:rPr sz="4450" dirty="0">
                <a:latin typeface="Calibri"/>
                <a:cs typeface="Calibri"/>
              </a:rPr>
              <a:t>a</a:t>
            </a:r>
            <a:r>
              <a:rPr sz="4450" spc="5" dirty="0">
                <a:latin typeface="Calibri"/>
                <a:cs typeface="Calibri"/>
              </a:rPr>
              <a:t>bilit</a:t>
            </a:r>
            <a:r>
              <a:rPr sz="4450" dirty="0">
                <a:latin typeface="Calibri"/>
                <a:cs typeface="Calibri"/>
              </a:rPr>
              <a:t>y</a:t>
            </a:r>
            <a:endParaRPr sz="445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02272" y="1525958"/>
            <a:ext cx="7127875" cy="24866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914775" algn="l"/>
              </a:tabLst>
            </a:pPr>
            <a:r>
              <a:rPr sz="2450" dirty="0">
                <a:solidFill>
                  <a:srgbClr val="33BC55"/>
                </a:solidFill>
                <a:latin typeface="Wingdings"/>
                <a:cs typeface="Wingdings"/>
              </a:rPr>
              <a:t></a:t>
            </a:r>
            <a:r>
              <a:rPr sz="2550" spc="35" dirty="0">
                <a:latin typeface="宋体"/>
                <a:cs typeface="宋体"/>
              </a:rPr>
              <a:t>泛化误</a:t>
            </a:r>
            <a:r>
              <a:rPr sz="2550" spc="25" dirty="0">
                <a:latin typeface="宋体"/>
                <a:cs typeface="宋体"/>
              </a:rPr>
              <a:t>差</a:t>
            </a:r>
            <a:r>
              <a:rPr sz="2550" spc="-610" dirty="0">
                <a:latin typeface="宋体"/>
                <a:cs typeface="宋体"/>
              </a:rPr>
              <a:t> </a:t>
            </a:r>
            <a:r>
              <a:rPr sz="2550" spc="-50" dirty="0">
                <a:latin typeface="Constantia"/>
                <a:cs typeface="Constantia"/>
              </a:rPr>
              <a:t>g</a:t>
            </a:r>
            <a:r>
              <a:rPr sz="2550" spc="10" dirty="0">
                <a:latin typeface="Constantia"/>
                <a:cs typeface="Constantia"/>
              </a:rPr>
              <a:t>e</a:t>
            </a:r>
            <a:r>
              <a:rPr sz="2550" spc="15" dirty="0">
                <a:latin typeface="Constantia"/>
                <a:cs typeface="Constantia"/>
              </a:rPr>
              <a:t>n</a:t>
            </a:r>
            <a:r>
              <a:rPr sz="2550" spc="10" dirty="0">
                <a:latin typeface="Constantia"/>
                <a:cs typeface="Constantia"/>
              </a:rPr>
              <a:t>e</a:t>
            </a:r>
            <a:r>
              <a:rPr sz="2550" spc="-40" dirty="0">
                <a:latin typeface="Constantia"/>
                <a:cs typeface="Constantia"/>
              </a:rPr>
              <a:t>r</a:t>
            </a:r>
            <a:r>
              <a:rPr sz="2550" spc="15" dirty="0">
                <a:latin typeface="Constantia"/>
                <a:cs typeface="Constantia"/>
              </a:rPr>
              <a:t>a</a:t>
            </a:r>
            <a:r>
              <a:rPr sz="2550" spc="5" dirty="0">
                <a:latin typeface="Constantia"/>
                <a:cs typeface="Constantia"/>
              </a:rPr>
              <a:t>li</a:t>
            </a:r>
            <a:r>
              <a:rPr sz="2550" spc="15" dirty="0">
                <a:latin typeface="Constantia"/>
                <a:cs typeface="Constantia"/>
              </a:rPr>
              <a:t>zat</a:t>
            </a:r>
            <a:r>
              <a:rPr sz="2550" spc="5" dirty="0">
                <a:latin typeface="Constantia"/>
                <a:cs typeface="Constantia"/>
              </a:rPr>
              <a:t>i</a:t>
            </a:r>
            <a:r>
              <a:rPr sz="2550" spc="15" dirty="0">
                <a:latin typeface="Constantia"/>
                <a:cs typeface="Constantia"/>
              </a:rPr>
              <a:t>o</a:t>
            </a:r>
            <a:r>
              <a:rPr sz="2550" spc="10" dirty="0">
                <a:latin typeface="Constantia"/>
                <a:cs typeface="Constantia"/>
              </a:rPr>
              <a:t>n</a:t>
            </a:r>
            <a:r>
              <a:rPr sz="2550" dirty="0">
                <a:latin typeface="Constantia"/>
                <a:cs typeface="Constantia"/>
              </a:rPr>
              <a:t>	</a:t>
            </a:r>
            <a:r>
              <a:rPr sz="2550" spc="10" dirty="0">
                <a:latin typeface="Constantia"/>
                <a:cs typeface="Constantia"/>
              </a:rPr>
              <a:t>er</a:t>
            </a:r>
            <a:r>
              <a:rPr sz="2550" spc="-35" dirty="0">
                <a:latin typeface="Constantia"/>
                <a:cs typeface="Constantia"/>
              </a:rPr>
              <a:t>r</a:t>
            </a:r>
            <a:r>
              <a:rPr sz="2550" spc="15" dirty="0">
                <a:latin typeface="Constantia"/>
                <a:cs typeface="Constantia"/>
              </a:rPr>
              <a:t>o</a:t>
            </a:r>
            <a:r>
              <a:rPr sz="2550" spc="5" dirty="0">
                <a:latin typeface="Constantia"/>
                <a:cs typeface="Constantia"/>
              </a:rPr>
              <a:t>r</a:t>
            </a:r>
            <a:endParaRPr sz="2550" dirty="0">
              <a:latin typeface="Constantia"/>
              <a:cs typeface="Constantia"/>
            </a:endParaRPr>
          </a:p>
          <a:p>
            <a:pPr>
              <a:lnSpc>
                <a:spcPct val="100000"/>
              </a:lnSpc>
            </a:pPr>
            <a:endParaRPr sz="1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1"/>
              </a:spcBef>
            </a:pPr>
            <a:endParaRPr sz="650" dirty="0">
              <a:latin typeface="Times New Roman"/>
              <a:cs typeface="Times New Roman"/>
            </a:endParaRPr>
          </a:p>
          <a:p>
            <a:pPr marL="899160">
              <a:lnSpc>
                <a:spcPts val="1000"/>
              </a:lnSpc>
            </a:pPr>
            <a:endParaRPr sz="6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85"/>
              </a:spcBef>
            </a:pPr>
            <a:r>
              <a:rPr sz="2450" dirty="0">
                <a:solidFill>
                  <a:srgbClr val="33BC55"/>
                </a:solidFill>
                <a:latin typeface="Wingdings"/>
                <a:cs typeface="Wingdings"/>
              </a:rPr>
              <a:t></a:t>
            </a:r>
            <a:r>
              <a:rPr sz="2600" spc="-20" dirty="0">
                <a:latin typeface="宋体"/>
                <a:cs typeface="宋体"/>
              </a:rPr>
              <a:t>泛化误差上</a:t>
            </a:r>
            <a:r>
              <a:rPr sz="2600" spc="-30" dirty="0">
                <a:latin typeface="宋体"/>
                <a:cs typeface="宋体"/>
              </a:rPr>
              <a:t>界</a:t>
            </a:r>
            <a:endParaRPr sz="2600" dirty="0">
              <a:latin typeface="宋体"/>
              <a:cs typeface="宋体"/>
            </a:endParaRPr>
          </a:p>
          <a:p>
            <a:pPr marL="405765">
              <a:lnSpc>
                <a:spcPct val="100000"/>
              </a:lnSpc>
              <a:spcBef>
                <a:spcPts val="290"/>
              </a:spcBef>
            </a:pPr>
            <a:r>
              <a:rPr sz="2050" spc="-25" dirty="0">
                <a:solidFill>
                  <a:srgbClr val="50742E"/>
                </a:solidFill>
                <a:latin typeface="Wingdings"/>
                <a:cs typeface="Wingdings"/>
              </a:rPr>
              <a:t></a:t>
            </a:r>
            <a:r>
              <a:rPr sz="2400" spc="-25" dirty="0">
                <a:latin typeface="宋体"/>
                <a:cs typeface="宋体"/>
              </a:rPr>
              <a:t>比较学习方法的泛化能力</a:t>
            </a:r>
            <a:r>
              <a:rPr sz="2400" spc="-25" dirty="0">
                <a:latin typeface="Constantia"/>
                <a:cs typeface="Constantia"/>
              </a:rPr>
              <a:t>------</a:t>
            </a:r>
            <a:r>
              <a:rPr sz="2400" spc="-25" dirty="0">
                <a:latin typeface="宋体"/>
                <a:cs typeface="宋体"/>
              </a:rPr>
              <a:t>比较泛化误差上界</a:t>
            </a:r>
            <a:endParaRPr sz="2400" dirty="0">
              <a:latin typeface="宋体"/>
              <a:cs typeface="宋体"/>
            </a:endParaRPr>
          </a:p>
          <a:p>
            <a:pPr marL="405765">
              <a:lnSpc>
                <a:spcPct val="100000"/>
              </a:lnSpc>
              <a:spcBef>
                <a:spcPts val="284"/>
              </a:spcBef>
            </a:pPr>
            <a:r>
              <a:rPr sz="2050" spc="-25" dirty="0">
                <a:solidFill>
                  <a:srgbClr val="50742E"/>
                </a:solidFill>
                <a:latin typeface="Wingdings"/>
                <a:cs typeface="Wingdings"/>
              </a:rPr>
              <a:t></a:t>
            </a:r>
            <a:r>
              <a:rPr sz="2400" spc="-25" dirty="0">
                <a:latin typeface="宋体"/>
                <a:cs typeface="宋体"/>
              </a:rPr>
              <a:t>性质：样本容量增加，泛化误差趋于</a:t>
            </a:r>
            <a:r>
              <a:rPr sz="2400" spc="-15" dirty="0">
                <a:latin typeface="Constantia"/>
                <a:cs typeface="Constantia"/>
              </a:rPr>
              <a:t>0</a:t>
            </a:r>
            <a:endParaRPr sz="2400" dirty="0">
              <a:latin typeface="Constantia"/>
              <a:cs typeface="Constant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95337" y="3785898"/>
            <a:ext cx="284480" cy="284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40" dirty="0">
                <a:solidFill>
                  <a:srgbClr val="50742E"/>
                </a:solidFill>
                <a:latin typeface="Wingdings"/>
                <a:cs typeface="Wingdings"/>
              </a:rPr>
              <a:t></a:t>
            </a:r>
            <a:endParaRPr sz="2000" dirty="0">
              <a:latin typeface="Wingdings"/>
              <a:cs typeface="Wingding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92617" y="3733800"/>
            <a:ext cx="467360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40"/>
              </a:lnSpc>
            </a:pPr>
            <a:r>
              <a:rPr sz="2400" dirty="0">
                <a:latin typeface="宋体"/>
                <a:cs typeface="宋体"/>
              </a:rPr>
              <a:t>假设空间容量越大，</a:t>
            </a:r>
            <a:r>
              <a:rPr sz="2400" spc="-600" dirty="0">
                <a:latin typeface="宋体"/>
                <a:cs typeface="宋体"/>
              </a:rPr>
              <a:t> </a:t>
            </a:r>
            <a:r>
              <a:rPr sz="2400" dirty="0">
                <a:latin typeface="宋体"/>
                <a:cs typeface="宋体"/>
              </a:rPr>
              <a:t>泛化误差越大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02272" y="4577299"/>
            <a:ext cx="3309620" cy="1238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dirty="0">
                <a:solidFill>
                  <a:srgbClr val="33BC55"/>
                </a:solidFill>
                <a:latin typeface="Wingdings"/>
                <a:cs typeface="Wingdings"/>
              </a:rPr>
              <a:t></a:t>
            </a:r>
            <a:r>
              <a:rPr sz="2600" spc="-20" dirty="0">
                <a:latin typeface="宋体"/>
                <a:cs typeface="宋体"/>
              </a:rPr>
              <a:t>二分类问</a:t>
            </a:r>
            <a:r>
              <a:rPr sz="2600" spc="-30" dirty="0">
                <a:latin typeface="宋体"/>
                <a:cs typeface="宋体"/>
              </a:rPr>
              <a:t>题</a:t>
            </a:r>
            <a:endParaRPr sz="26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32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50" dirty="0">
                <a:solidFill>
                  <a:srgbClr val="33BC55"/>
                </a:solidFill>
                <a:latin typeface="Wingdings"/>
                <a:cs typeface="Wingdings"/>
              </a:rPr>
              <a:t></a:t>
            </a:r>
            <a:r>
              <a:rPr sz="2550" spc="35" dirty="0">
                <a:latin typeface="宋体"/>
                <a:cs typeface="宋体"/>
              </a:rPr>
              <a:t>期望风险和经验风</a:t>
            </a:r>
            <a:r>
              <a:rPr sz="2550" spc="25" dirty="0">
                <a:latin typeface="宋体"/>
                <a:cs typeface="宋体"/>
              </a:rPr>
              <a:t>险</a:t>
            </a:r>
            <a:endParaRPr sz="255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916935" y="4623474"/>
            <a:ext cx="2807208" cy="49072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834895" y="5992025"/>
            <a:ext cx="2590800" cy="37185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074920" y="5806440"/>
            <a:ext cx="2663952" cy="74676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36446" y="1997539"/>
            <a:ext cx="4659526" cy="398667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泛化能</a:t>
            </a:r>
            <a:r>
              <a:rPr dirty="0"/>
              <a:t>力</a:t>
            </a:r>
            <a:r>
              <a:rPr spc="-330" dirty="0"/>
              <a:t> </a:t>
            </a:r>
            <a:r>
              <a:rPr spc="-40" dirty="0">
                <a:latin typeface="Calibri"/>
                <a:cs typeface="Calibri"/>
              </a:rPr>
              <a:t>g</a:t>
            </a:r>
            <a:r>
              <a:rPr spc="10" dirty="0">
                <a:latin typeface="Calibri"/>
                <a:cs typeface="Calibri"/>
              </a:rPr>
              <a:t>e</a:t>
            </a:r>
            <a:r>
              <a:rPr spc="5" dirty="0">
                <a:latin typeface="Calibri"/>
                <a:cs typeface="Calibri"/>
              </a:rPr>
              <a:t>n</a:t>
            </a:r>
            <a:r>
              <a:rPr spc="10" dirty="0">
                <a:latin typeface="Calibri"/>
                <a:cs typeface="Calibri"/>
              </a:rPr>
              <a:t>e</a:t>
            </a:r>
            <a:r>
              <a:rPr spc="-100" dirty="0">
                <a:latin typeface="Calibri"/>
                <a:cs typeface="Calibri"/>
              </a:rPr>
              <a:t>r</a:t>
            </a:r>
            <a:r>
              <a:rPr dirty="0">
                <a:latin typeface="Calibri"/>
                <a:cs typeface="Calibri"/>
              </a:rPr>
              <a:t>ali</a:t>
            </a:r>
            <a:r>
              <a:rPr spc="-85" dirty="0">
                <a:latin typeface="Calibri"/>
                <a:cs typeface="Calibri"/>
              </a:rPr>
              <a:t>z</a:t>
            </a:r>
            <a:r>
              <a:rPr spc="-50" dirty="0">
                <a:latin typeface="Calibri"/>
                <a:cs typeface="Calibri"/>
              </a:rPr>
              <a:t>a</a:t>
            </a:r>
            <a:r>
              <a:rPr spc="5" dirty="0">
                <a:latin typeface="Calibri"/>
                <a:cs typeface="Calibri"/>
              </a:rPr>
              <a:t>t</a:t>
            </a:r>
            <a:r>
              <a:rPr dirty="0">
                <a:latin typeface="Calibri"/>
                <a:cs typeface="Calibri"/>
              </a:rPr>
              <a:t>i</a:t>
            </a:r>
            <a:r>
              <a:rPr spc="5" dirty="0">
                <a:latin typeface="Calibri"/>
                <a:cs typeface="Calibri"/>
              </a:rPr>
              <a:t>o</a:t>
            </a:r>
            <a:r>
              <a:rPr dirty="0">
                <a:latin typeface="Calibri"/>
                <a:cs typeface="Calibri"/>
              </a:rPr>
              <a:t>n</a:t>
            </a:r>
            <a:r>
              <a:rPr spc="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</a:t>
            </a:r>
            <a:r>
              <a:rPr spc="5" dirty="0">
                <a:latin typeface="Calibri"/>
                <a:cs typeface="Calibri"/>
              </a:rPr>
              <a:t>b</a:t>
            </a:r>
            <a:r>
              <a:rPr dirty="0">
                <a:latin typeface="Calibri"/>
                <a:cs typeface="Calibri"/>
              </a:rPr>
              <a:t>ili</a:t>
            </a:r>
            <a:r>
              <a:rPr spc="5" dirty="0">
                <a:latin typeface="Calibri"/>
                <a:cs typeface="Calibri"/>
              </a:rPr>
              <a:t>t</a:t>
            </a:r>
            <a:r>
              <a:rPr dirty="0">
                <a:latin typeface="Calibri"/>
                <a:cs typeface="Calibri"/>
              </a:rPr>
              <a:t>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272" y="1559613"/>
            <a:ext cx="8262620" cy="2255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dirty="0">
                <a:solidFill>
                  <a:srgbClr val="33BC55"/>
                </a:solidFill>
                <a:latin typeface="Wingdings"/>
                <a:cs typeface="Wingdings"/>
              </a:rPr>
              <a:t></a:t>
            </a:r>
            <a:r>
              <a:rPr sz="2600" spc="-20" dirty="0">
                <a:latin typeface="宋体"/>
                <a:cs typeface="宋体"/>
              </a:rPr>
              <a:t>经验风险最小化函数</a:t>
            </a:r>
            <a:r>
              <a:rPr sz="2600" spc="-30" dirty="0">
                <a:latin typeface="宋体"/>
                <a:cs typeface="宋体"/>
              </a:rPr>
              <a:t>：</a:t>
            </a:r>
            <a:endParaRPr sz="2600" dirty="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3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50" dirty="0">
                <a:solidFill>
                  <a:srgbClr val="33BC55"/>
                </a:solidFill>
                <a:latin typeface="Wingdings"/>
                <a:cs typeface="Wingdings"/>
              </a:rPr>
              <a:t></a:t>
            </a:r>
            <a:r>
              <a:rPr sz="2550" spc="35" dirty="0">
                <a:latin typeface="宋体"/>
                <a:cs typeface="宋体"/>
              </a:rPr>
              <a:t>泛化能力</a:t>
            </a:r>
            <a:r>
              <a:rPr sz="2550" spc="25" dirty="0">
                <a:latin typeface="宋体"/>
                <a:cs typeface="宋体"/>
              </a:rPr>
              <a:t>：</a:t>
            </a:r>
            <a:endParaRPr sz="2550" dirty="0">
              <a:latin typeface="宋体"/>
              <a:cs typeface="宋体"/>
            </a:endParaRPr>
          </a:p>
          <a:p>
            <a:pPr marL="2139315">
              <a:lnSpc>
                <a:spcPts val="1000"/>
              </a:lnSpc>
            </a:pPr>
            <a:endParaRPr sz="2550" dirty="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sz="2450" dirty="0">
                <a:solidFill>
                  <a:srgbClr val="33BC55"/>
                </a:solidFill>
                <a:latin typeface="Wingdings"/>
                <a:cs typeface="Wingdings"/>
              </a:rPr>
              <a:t></a:t>
            </a:r>
            <a:r>
              <a:rPr sz="2600" spc="-20" dirty="0">
                <a:latin typeface="宋体"/>
                <a:cs typeface="宋体"/>
              </a:rPr>
              <a:t>定理：泛化误差上界，二分类问题，当假设空间是有</a:t>
            </a:r>
            <a:r>
              <a:rPr sz="2600" spc="-30" dirty="0">
                <a:latin typeface="宋体"/>
                <a:cs typeface="宋体"/>
              </a:rPr>
              <a:t>限</a:t>
            </a:r>
            <a:endParaRPr sz="2600" dirty="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6592" y="3842438"/>
            <a:ext cx="2005330" cy="3543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015"/>
              </a:lnSpc>
            </a:pPr>
            <a:r>
              <a:rPr sz="2550" spc="35" dirty="0">
                <a:latin typeface="宋体"/>
                <a:cs typeface="宋体"/>
              </a:rPr>
              <a:t>个函数的结</a:t>
            </a:r>
            <a:r>
              <a:rPr sz="2550" spc="25" dirty="0">
                <a:latin typeface="宋体"/>
                <a:cs typeface="宋体"/>
              </a:rPr>
              <a:t>合</a:t>
            </a:r>
            <a:endParaRPr sz="255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20602" y="3842438"/>
            <a:ext cx="3841750" cy="390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50" spc="35" dirty="0">
                <a:latin typeface="宋体"/>
                <a:cs typeface="宋体"/>
              </a:rPr>
              <a:t>，对任意一个函数</a:t>
            </a:r>
            <a:r>
              <a:rPr sz="2550" spc="5" dirty="0">
                <a:latin typeface="Constantia"/>
                <a:cs typeface="Constantia"/>
              </a:rPr>
              <a:t>f</a:t>
            </a:r>
            <a:r>
              <a:rPr sz="2550" spc="25" dirty="0">
                <a:latin typeface="宋体"/>
                <a:cs typeface="宋体"/>
              </a:rPr>
              <a:t>，</a:t>
            </a:r>
            <a:r>
              <a:rPr sz="2550" spc="-610" dirty="0">
                <a:latin typeface="宋体"/>
                <a:cs typeface="宋体"/>
              </a:rPr>
              <a:t> </a:t>
            </a:r>
            <a:r>
              <a:rPr sz="2550" spc="35" dirty="0">
                <a:latin typeface="宋体"/>
                <a:cs typeface="宋体"/>
              </a:rPr>
              <a:t>至</a:t>
            </a:r>
            <a:r>
              <a:rPr sz="2550" spc="25" dirty="0">
                <a:latin typeface="宋体"/>
                <a:cs typeface="宋体"/>
              </a:rPr>
              <a:t>少</a:t>
            </a:r>
            <a:endParaRPr sz="255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76592" y="4238678"/>
            <a:ext cx="4392295" cy="390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50" spc="35" dirty="0">
                <a:latin typeface="宋体"/>
                <a:cs typeface="宋体"/>
              </a:rPr>
              <a:t>以概率</a:t>
            </a:r>
            <a:r>
              <a:rPr sz="2550" spc="10" dirty="0">
                <a:latin typeface="Constantia"/>
                <a:cs typeface="Constantia"/>
              </a:rPr>
              <a:t>1-</a:t>
            </a:r>
            <a:r>
              <a:rPr sz="2550" spc="15" dirty="0">
                <a:latin typeface="Arial"/>
                <a:cs typeface="Arial"/>
              </a:rPr>
              <a:t>δ</a:t>
            </a:r>
            <a:r>
              <a:rPr sz="2550" spc="35" dirty="0">
                <a:latin typeface="宋体"/>
                <a:cs typeface="宋体"/>
              </a:rPr>
              <a:t>，以下不等式成立</a:t>
            </a:r>
            <a:r>
              <a:rPr sz="2550" spc="25" dirty="0">
                <a:latin typeface="宋体"/>
                <a:cs typeface="宋体"/>
              </a:rPr>
              <a:t>：</a:t>
            </a:r>
            <a:endParaRPr sz="255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615183" y="2011679"/>
            <a:ext cx="2462784" cy="57607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773679" y="3901440"/>
            <a:ext cx="1965960" cy="35966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773679" y="4800600"/>
            <a:ext cx="3063240" cy="47243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289048" y="5516879"/>
            <a:ext cx="4075176" cy="95707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七、生成模型与判别模</a:t>
            </a:r>
            <a:r>
              <a:rPr dirty="0"/>
              <a:t>型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39" y="1559613"/>
            <a:ext cx="8444230" cy="31483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dirty="0">
                <a:solidFill>
                  <a:srgbClr val="33BC55"/>
                </a:solidFill>
                <a:latin typeface="Wingdings"/>
                <a:cs typeface="Wingdings"/>
              </a:rPr>
              <a:t></a:t>
            </a:r>
            <a:r>
              <a:rPr sz="2600" spc="-20" dirty="0">
                <a:latin typeface="宋体"/>
                <a:cs typeface="宋体"/>
              </a:rPr>
              <a:t>监督学习的目的就是学习一个模型</a:t>
            </a:r>
            <a:r>
              <a:rPr sz="2600" spc="-30" dirty="0">
                <a:latin typeface="宋体"/>
                <a:cs typeface="宋体"/>
              </a:rPr>
              <a:t>：</a:t>
            </a:r>
            <a:endParaRPr sz="26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sz="2450" dirty="0">
                <a:solidFill>
                  <a:srgbClr val="33BC55"/>
                </a:solidFill>
                <a:latin typeface="Wingdings"/>
                <a:cs typeface="Wingdings"/>
              </a:rPr>
              <a:t></a:t>
            </a:r>
            <a:r>
              <a:rPr sz="2600" spc="-20" dirty="0">
                <a:latin typeface="宋体"/>
                <a:cs typeface="宋体"/>
              </a:rPr>
              <a:t>决策函数</a:t>
            </a:r>
            <a:r>
              <a:rPr sz="2600" spc="-30" dirty="0">
                <a:latin typeface="宋体"/>
                <a:cs typeface="宋体"/>
              </a:rPr>
              <a:t>：</a:t>
            </a:r>
            <a:endParaRPr sz="26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3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50" dirty="0">
                <a:solidFill>
                  <a:srgbClr val="33BC55"/>
                </a:solidFill>
                <a:latin typeface="Wingdings"/>
                <a:cs typeface="Wingdings"/>
              </a:rPr>
              <a:t></a:t>
            </a:r>
            <a:r>
              <a:rPr sz="2550" spc="35" dirty="0">
                <a:latin typeface="宋体"/>
                <a:cs typeface="宋体"/>
              </a:rPr>
              <a:t>条件概率分布</a:t>
            </a:r>
            <a:r>
              <a:rPr sz="2550" spc="25" dirty="0">
                <a:latin typeface="宋体"/>
                <a:cs typeface="宋体"/>
              </a:rPr>
              <a:t>：</a:t>
            </a:r>
            <a:endParaRPr sz="255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36"/>
              </a:spcBef>
            </a:pPr>
            <a:endParaRPr sz="3800">
              <a:latin typeface="Times New Roman"/>
              <a:cs typeface="Times New Roman"/>
            </a:endParaRPr>
          </a:p>
          <a:p>
            <a:pPr marL="287020" marR="5080" indent="-274320">
              <a:lnSpc>
                <a:spcPct val="100299"/>
              </a:lnSpc>
            </a:pPr>
            <a:r>
              <a:rPr sz="2450" dirty="0">
                <a:solidFill>
                  <a:srgbClr val="33BC55"/>
                </a:solidFill>
                <a:latin typeface="Wingdings"/>
                <a:cs typeface="Wingdings"/>
              </a:rPr>
              <a:t></a:t>
            </a:r>
            <a:r>
              <a:rPr sz="2550" spc="35" dirty="0">
                <a:latin typeface="宋体"/>
                <a:cs typeface="宋体"/>
              </a:rPr>
              <a:t>生成方法</a:t>
            </a:r>
            <a:r>
              <a:rPr sz="2550" spc="20" dirty="0">
                <a:latin typeface="Constantia"/>
                <a:cs typeface="Constantia"/>
              </a:rPr>
              <a:t>G</a:t>
            </a:r>
            <a:r>
              <a:rPr sz="2550" spc="10" dirty="0">
                <a:latin typeface="Constantia"/>
                <a:cs typeface="Constantia"/>
              </a:rPr>
              <a:t>e</a:t>
            </a:r>
            <a:r>
              <a:rPr sz="2550" spc="15" dirty="0">
                <a:latin typeface="Constantia"/>
                <a:cs typeface="Constantia"/>
              </a:rPr>
              <a:t>n</a:t>
            </a:r>
            <a:r>
              <a:rPr sz="2550" spc="10" dirty="0">
                <a:latin typeface="Constantia"/>
                <a:cs typeface="Constantia"/>
              </a:rPr>
              <a:t>e</a:t>
            </a:r>
            <a:r>
              <a:rPr sz="2550" spc="-40" dirty="0">
                <a:latin typeface="Constantia"/>
                <a:cs typeface="Constantia"/>
              </a:rPr>
              <a:t>r</a:t>
            </a:r>
            <a:r>
              <a:rPr sz="2550" spc="15" dirty="0">
                <a:latin typeface="Constantia"/>
                <a:cs typeface="Constantia"/>
              </a:rPr>
              <a:t>at</a:t>
            </a:r>
            <a:r>
              <a:rPr sz="2550" spc="-25" dirty="0">
                <a:latin typeface="Constantia"/>
                <a:cs typeface="Constantia"/>
              </a:rPr>
              <a:t>i</a:t>
            </a:r>
            <a:r>
              <a:rPr sz="2550" spc="-50" dirty="0">
                <a:latin typeface="Constantia"/>
                <a:cs typeface="Constantia"/>
              </a:rPr>
              <a:t>v</a:t>
            </a:r>
            <a:r>
              <a:rPr sz="2550" spc="10" dirty="0">
                <a:latin typeface="Constantia"/>
                <a:cs typeface="Constantia"/>
              </a:rPr>
              <a:t>e</a:t>
            </a:r>
            <a:r>
              <a:rPr sz="2550" spc="-114" dirty="0">
                <a:latin typeface="Constantia"/>
                <a:cs typeface="Constantia"/>
              </a:rPr>
              <a:t> </a:t>
            </a:r>
            <a:r>
              <a:rPr sz="2550" spc="15" dirty="0">
                <a:latin typeface="Constantia"/>
                <a:cs typeface="Constantia"/>
              </a:rPr>
              <a:t>app</a:t>
            </a:r>
            <a:r>
              <a:rPr sz="2550" spc="-35" dirty="0">
                <a:latin typeface="Constantia"/>
                <a:cs typeface="Constantia"/>
              </a:rPr>
              <a:t>r</a:t>
            </a:r>
            <a:r>
              <a:rPr sz="2550" spc="15" dirty="0">
                <a:latin typeface="Constantia"/>
                <a:cs typeface="Constantia"/>
              </a:rPr>
              <a:t>oac</a:t>
            </a:r>
            <a:r>
              <a:rPr sz="2550" spc="10" dirty="0">
                <a:latin typeface="Constantia"/>
                <a:cs typeface="Constantia"/>
              </a:rPr>
              <a:t>h</a:t>
            </a:r>
            <a:r>
              <a:rPr sz="2550" spc="-20" dirty="0">
                <a:latin typeface="Constantia"/>
                <a:cs typeface="Constantia"/>
              </a:rPr>
              <a:t> </a:t>
            </a:r>
            <a:r>
              <a:rPr sz="2550" spc="35" dirty="0">
                <a:latin typeface="宋体"/>
                <a:cs typeface="宋体"/>
              </a:rPr>
              <a:t>对应生成模型：</a:t>
            </a:r>
            <a:r>
              <a:rPr sz="2550" spc="-50" dirty="0">
                <a:latin typeface="Constantia"/>
                <a:cs typeface="Constantia"/>
              </a:rPr>
              <a:t>g</a:t>
            </a:r>
            <a:r>
              <a:rPr sz="2550" spc="10" dirty="0">
                <a:latin typeface="Constantia"/>
                <a:cs typeface="Constantia"/>
              </a:rPr>
              <a:t>e</a:t>
            </a:r>
            <a:r>
              <a:rPr sz="2550" spc="15" dirty="0">
                <a:latin typeface="Constantia"/>
                <a:cs typeface="Constantia"/>
              </a:rPr>
              <a:t>n</a:t>
            </a:r>
            <a:r>
              <a:rPr sz="2550" spc="10" dirty="0">
                <a:latin typeface="Constantia"/>
                <a:cs typeface="Constantia"/>
              </a:rPr>
              <a:t>e</a:t>
            </a:r>
            <a:r>
              <a:rPr sz="2550" spc="-40" dirty="0">
                <a:latin typeface="Constantia"/>
                <a:cs typeface="Constantia"/>
              </a:rPr>
              <a:t>r</a:t>
            </a:r>
            <a:r>
              <a:rPr sz="2550" spc="15" dirty="0">
                <a:latin typeface="Constantia"/>
                <a:cs typeface="Constantia"/>
              </a:rPr>
              <a:t>at</a:t>
            </a:r>
            <a:r>
              <a:rPr sz="2550" spc="-25" dirty="0">
                <a:latin typeface="Constantia"/>
                <a:cs typeface="Constantia"/>
              </a:rPr>
              <a:t>i</a:t>
            </a:r>
            <a:r>
              <a:rPr sz="2550" spc="-50" dirty="0">
                <a:latin typeface="Constantia"/>
                <a:cs typeface="Constantia"/>
              </a:rPr>
              <a:t>v</a:t>
            </a:r>
            <a:r>
              <a:rPr sz="2550" spc="10" dirty="0">
                <a:latin typeface="Constantia"/>
                <a:cs typeface="Constantia"/>
              </a:rPr>
              <a:t>e</a:t>
            </a:r>
            <a:r>
              <a:rPr sz="2550" spc="5" dirty="0">
                <a:latin typeface="Constantia"/>
                <a:cs typeface="Constantia"/>
              </a:rPr>
              <a:t> </a:t>
            </a:r>
            <a:r>
              <a:rPr sz="2600" spc="-15" dirty="0">
                <a:latin typeface="Constantia"/>
                <a:cs typeface="Constantia"/>
              </a:rPr>
              <a:t>mod</a:t>
            </a:r>
            <a:r>
              <a:rPr sz="2600" spc="-10" dirty="0">
                <a:latin typeface="Constantia"/>
                <a:cs typeface="Constantia"/>
              </a:rPr>
              <a:t>el</a:t>
            </a:r>
            <a:r>
              <a:rPr sz="2600" spc="-30" dirty="0">
                <a:latin typeface="宋体"/>
                <a:cs typeface="宋体"/>
              </a:rPr>
              <a:t>，</a:t>
            </a:r>
            <a:endParaRPr sz="26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739" y="5742993"/>
            <a:ext cx="4960620" cy="368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dirty="0">
                <a:solidFill>
                  <a:srgbClr val="33BC55"/>
                </a:solidFill>
                <a:latin typeface="Wingdings"/>
                <a:cs typeface="Wingdings"/>
              </a:rPr>
              <a:t></a:t>
            </a:r>
            <a:r>
              <a:rPr sz="2550" spc="35" dirty="0">
                <a:latin typeface="宋体"/>
                <a:cs typeface="宋体"/>
              </a:rPr>
              <a:t>朴素贝叶斯法和隐马尔科夫模</a:t>
            </a:r>
            <a:r>
              <a:rPr sz="2550" spc="25" dirty="0">
                <a:latin typeface="宋体"/>
                <a:cs typeface="宋体"/>
              </a:rPr>
              <a:t>型</a:t>
            </a:r>
            <a:endParaRPr sz="255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700527" y="2203704"/>
            <a:ext cx="1459991" cy="43281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764535" y="3212592"/>
            <a:ext cx="1395984" cy="46024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514600" y="4654296"/>
            <a:ext cx="2706624" cy="86258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生成模型与判别模</a:t>
            </a:r>
            <a:r>
              <a:rPr dirty="0"/>
              <a:t>型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39" y="1558978"/>
            <a:ext cx="8165465" cy="12363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dirty="0">
                <a:solidFill>
                  <a:srgbClr val="33BC55"/>
                </a:solidFill>
                <a:latin typeface="Wingdings"/>
                <a:cs typeface="Wingdings"/>
              </a:rPr>
              <a:t></a:t>
            </a:r>
            <a:r>
              <a:rPr sz="2550" spc="35" dirty="0">
                <a:latin typeface="宋体"/>
                <a:cs typeface="宋体"/>
              </a:rPr>
              <a:t>判别方法由数据直接学习决策函数</a:t>
            </a:r>
            <a:r>
              <a:rPr sz="2550" spc="5" dirty="0">
                <a:latin typeface="Constantia"/>
                <a:cs typeface="Constantia"/>
              </a:rPr>
              <a:t>f</a:t>
            </a:r>
            <a:r>
              <a:rPr sz="2550" spc="15" dirty="0">
                <a:latin typeface="Constantia"/>
                <a:cs typeface="Constantia"/>
              </a:rPr>
              <a:t>(X)</a:t>
            </a:r>
            <a:r>
              <a:rPr sz="2550" spc="35" dirty="0">
                <a:latin typeface="宋体"/>
                <a:cs typeface="宋体"/>
              </a:rPr>
              <a:t>或条件概率分</a:t>
            </a:r>
            <a:r>
              <a:rPr sz="2550" spc="25" dirty="0">
                <a:latin typeface="宋体"/>
                <a:cs typeface="宋体"/>
              </a:rPr>
              <a:t>布</a:t>
            </a:r>
            <a:endParaRPr sz="2550">
              <a:latin typeface="宋体"/>
              <a:cs typeface="宋体"/>
            </a:endParaRPr>
          </a:p>
          <a:p>
            <a:pPr marL="287020">
              <a:lnSpc>
                <a:spcPct val="100000"/>
              </a:lnSpc>
              <a:spcBef>
                <a:spcPts val="10"/>
              </a:spcBef>
            </a:pPr>
            <a:r>
              <a:rPr sz="2600" spc="-10" dirty="0">
                <a:latin typeface="Constantia"/>
                <a:cs typeface="Constantia"/>
              </a:rPr>
              <a:t>P(</a:t>
            </a:r>
            <a:r>
              <a:rPr sz="2600" spc="-20" dirty="0">
                <a:latin typeface="Constantia"/>
                <a:cs typeface="Constantia"/>
              </a:rPr>
              <a:t>Y</a:t>
            </a:r>
            <a:r>
              <a:rPr sz="2600" spc="-10" dirty="0">
                <a:latin typeface="Constantia"/>
                <a:cs typeface="Constantia"/>
              </a:rPr>
              <a:t>|X)</a:t>
            </a:r>
            <a:r>
              <a:rPr sz="2600" spc="-20" dirty="0">
                <a:latin typeface="宋体"/>
                <a:cs typeface="宋体"/>
              </a:rPr>
              <a:t>作为预测的模型，即判别模</a:t>
            </a:r>
            <a:r>
              <a:rPr sz="2600" spc="-30" dirty="0">
                <a:latin typeface="宋体"/>
                <a:cs typeface="宋体"/>
              </a:rPr>
              <a:t>型</a:t>
            </a:r>
            <a:endParaRPr sz="26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2450" dirty="0">
                <a:solidFill>
                  <a:srgbClr val="33BC55"/>
                </a:solidFill>
                <a:latin typeface="Wingdings"/>
                <a:cs typeface="Wingdings"/>
              </a:rPr>
              <a:t></a:t>
            </a:r>
            <a:r>
              <a:rPr sz="2550" spc="25" dirty="0">
                <a:latin typeface="Constantia"/>
                <a:cs typeface="Constantia"/>
              </a:rPr>
              <a:t>D</a:t>
            </a:r>
            <a:r>
              <a:rPr sz="2550" spc="5" dirty="0">
                <a:latin typeface="Constantia"/>
                <a:cs typeface="Constantia"/>
              </a:rPr>
              <a:t>is</a:t>
            </a:r>
            <a:r>
              <a:rPr sz="2550" spc="15" dirty="0">
                <a:latin typeface="Constantia"/>
                <a:cs typeface="Constantia"/>
              </a:rPr>
              <a:t>c</a:t>
            </a:r>
            <a:r>
              <a:rPr sz="2550" spc="5" dirty="0">
                <a:latin typeface="Constantia"/>
                <a:cs typeface="Constantia"/>
              </a:rPr>
              <a:t>ri</a:t>
            </a:r>
            <a:r>
              <a:rPr sz="2550" spc="25" dirty="0">
                <a:latin typeface="Constantia"/>
                <a:cs typeface="Constantia"/>
              </a:rPr>
              <a:t>m</a:t>
            </a:r>
            <a:r>
              <a:rPr sz="2550" spc="5" dirty="0">
                <a:latin typeface="Constantia"/>
                <a:cs typeface="Constantia"/>
              </a:rPr>
              <a:t>i</a:t>
            </a:r>
            <a:r>
              <a:rPr sz="2550" spc="15" dirty="0">
                <a:latin typeface="Constantia"/>
                <a:cs typeface="Constantia"/>
              </a:rPr>
              <a:t>nat</a:t>
            </a:r>
            <a:r>
              <a:rPr sz="2550" spc="-25" dirty="0">
                <a:latin typeface="Constantia"/>
                <a:cs typeface="Constantia"/>
              </a:rPr>
              <a:t>i</a:t>
            </a:r>
            <a:r>
              <a:rPr sz="2550" spc="-50" dirty="0">
                <a:latin typeface="Constantia"/>
                <a:cs typeface="Constantia"/>
              </a:rPr>
              <a:t>v</a:t>
            </a:r>
            <a:r>
              <a:rPr sz="2550" spc="10" dirty="0">
                <a:latin typeface="Constantia"/>
                <a:cs typeface="Constantia"/>
              </a:rPr>
              <a:t>e</a:t>
            </a:r>
            <a:r>
              <a:rPr sz="2550" spc="-114" dirty="0">
                <a:latin typeface="Constantia"/>
                <a:cs typeface="Constantia"/>
              </a:rPr>
              <a:t> </a:t>
            </a:r>
            <a:r>
              <a:rPr sz="2550" spc="15" dirty="0">
                <a:latin typeface="Constantia"/>
                <a:cs typeface="Constantia"/>
              </a:rPr>
              <a:t>app</a:t>
            </a:r>
            <a:r>
              <a:rPr sz="2550" spc="-35" dirty="0">
                <a:latin typeface="Constantia"/>
                <a:cs typeface="Constantia"/>
              </a:rPr>
              <a:t>r</a:t>
            </a:r>
            <a:r>
              <a:rPr sz="2550" spc="15" dirty="0">
                <a:latin typeface="Constantia"/>
                <a:cs typeface="Constantia"/>
              </a:rPr>
              <a:t>oach</a:t>
            </a:r>
            <a:r>
              <a:rPr sz="2550" spc="35" dirty="0">
                <a:latin typeface="宋体"/>
                <a:cs typeface="宋体"/>
              </a:rPr>
              <a:t>对应</a:t>
            </a:r>
            <a:r>
              <a:rPr sz="2550" spc="15" dirty="0">
                <a:latin typeface="Constantia"/>
                <a:cs typeface="Constantia"/>
              </a:rPr>
              <a:t>d</a:t>
            </a:r>
            <a:r>
              <a:rPr sz="2550" spc="5" dirty="0">
                <a:latin typeface="Constantia"/>
                <a:cs typeface="Constantia"/>
              </a:rPr>
              <a:t>is</a:t>
            </a:r>
            <a:r>
              <a:rPr sz="2550" spc="15" dirty="0">
                <a:latin typeface="Constantia"/>
                <a:cs typeface="Constantia"/>
              </a:rPr>
              <a:t>c</a:t>
            </a:r>
            <a:r>
              <a:rPr sz="2550" spc="5" dirty="0">
                <a:latin typeface="Constantia"/>
                <a:cs typeface="Constantia"/>
              </a:rPr>
              <a:t>ri</a:t>
            </a:r>
            <a:r>
              <a:rPr sz="2550" spc="25" dirty="0">
                <a:latin typeface="Constantia"/>
                <a:cs typeface="Constantia"/>
              </a:rPr>
              <a:t>m</a:t>
            </a:r>
            <a:r>
              <a:rPr sz="2550" spc="5" dirty="0">
                <a:latin typeface="Constantia"/>
                <a:cs typeface="Constantia"/>
              </a:rPr>
              <a:t>i</a:t>
            </a:r>
            <a:r>
              <a:rPr sz="2550" spc="15" dirty="0">
                <a:latin typeface="Constantia"/>
                <a:cs typeface="Constantia"/>
              </a:rPr>
              <a:t>nat</a:t>
            </a:r>
            <a:r>
              <a:rPr sz="2550" spc="-25" dirty="0">
                <a:latin typeface="Constantia"/>
                <a:cs typeface="Constantia"/>
              </a:rPr>
              <a:t>i</a:t>
            </a:r>
            <a:r>
              <a:rPr sz="2550" spc="-50" dirty="0">
                <a:latin typeface="Constantia"/>
                <a:cs typeface="Constantia"/>
              </a:rPr>
              <a:t>v</a:t>
            </a:r>
            <a:r>
              <a:rPr sz="2550" spc="10" dirty="0">
                <a:latin typeface="Constantia"/>
                <a:cs typeface="Constantia"/>
              </a:rPr>
              <a:t>e</a:t>
            </a:r>
            <a:r>
              <a:rPr sz="2550" spc="-50" dirty="0">
                <a:latin typeface="Constantia"/>
                <a:cs typeface="Constantia"/>
              </a:rPr>
              <a:t> </a:t>
            </a:r>
            <a:r>
              <a:rPr sz="2550" spc="20" dirty="0">
                <a:latin typeface="Constantia"/>
                <a:cs typeface="Constantia"/>
              </a:rPr>
              <a:t>mod</a:t>
            </a:r>
            <a:r>
              <a:rPr sz="2550" spc="5" dirty="0">
                <a:latin typeface="Constantia"/>
                <a:cs typeface="Constantia"/>
              </a:rPr>
              <a:t>el</a:t>
            </a:r>
            <a:endParaRPr sz="2550">
              <a:latin typeface="Constantia"/>
              <a:cs typeface="Constant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739" y="4317418"/>
            <a:ext cx="8517890" cy="7512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7020" marR="5080" indent="-274320">
              <a:lnSpc>
                <a:spcPct val="100000"/>
              </a:lnSpc>
            </a:pPr>
            <a:r>
              <a:rPr sz="2450" dirty="0">
                <a:solidFill>
                  <a:srgbClr val="33BC55"/>
                </a:solidFill>
                <a:latin typeface="Wingdings"/>
                <a:cs typeface="Wingdings"/>
              </a:rPr>
              <a:t></a:t>
            </a:r>
            <a:r>
              <a:rPr sz="2600" spc="-15" dirty="0">
                <a:latin typeface="Constantia"/>
                <a:cs typeface="Constantia"/>
              </a:rPr>
              <a:t>K</a:t>
            </a:r>
            <a:r>
              <a:rPr sz="2600" spc="-20" dirty="0">
                <a:latin typeface="宋体"/>
                <a:cs typeface="宋体"/>
              </a:rPr>
              <a:t>近邻法、感知机、决策树、</a:t>
            </a:r>
            <a:r>
              <a:rPr sz="2600" spc="-10" dirty="0">
                <a:latin typeface="Constantia"/>
                <a:cs typeface="Constantia"/>
              </a:rPr>
              <a:t>logis</a:t>
            </a:r>
            <a:r>
              <a:rPr sz="2600" spc="-5" dirty="0">
                <a:latin typeface="Constantia"/>
                <a:cs typeface="Constantia"/>
              </a:rPr>
              <a:t>t</a:t>
            </a:r>
            <a:r>
              <a:rPr sz="2600" spc="-10" dirty="0">
                <a:latin typeface="Constantia"/>
                <a:cs typeface="Constantia"/>
              </a:rPr>
              <a:t>ic</a:t>
            </a:r>
            <a:r>
              <a:rPr sz="2600" spc="-20" dirty="0">
                <a:latin typeface="宋体"/>
                <a:cs typeface="宋体"/>
              </a:rPr>
              <a:t>回归模型、最大熵</a:t>
            </a:r>
            <a:r>
              <a:rPr sz="2600" spc="-30" dirty="0">
                <a:latin typeface="宋体"/>
                <a:cs typeface="宋体"/>
              </a:rPr>
              <a:t>模</a:t>
            </a:r>
            <a:r>
              <a:rPr sz="2600" spc="-15" dirty="0">
                <a:latin typeface="宋体"/>
                <a:cs typeface="宋体"/>
              </a:rPr>
              <a:t> </a:t>
            </a:r>
            <a:r>
              <a:rPr sz="2600" spc="-20" dirty="0">
                <a:latin typeface="宋体"/>
                <a:cs typeface="宋体"/>
              </a:rPr>
              <a:t>型、支持向量机、提升方法和条件随机场</a:t>
            </a:r>
            <a:r>
              <a:rPr sz="2600" spc="-30" dirty="0">
                <a:latin typeface="宋体"/>
                <a:cs typeface="宋体"/>
              </a:rPr>
              <a:t>。</a:t>
            </a:r>
            <a:endParaRPr sz="26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782823" y="2996183"/>
            <a:ext cx="1459991" cy="43281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703576" y="3718559"/>
            <a:ext cx="1395984" cy="46024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生成模型与判别模</a:t>
            </a:r>
            <a:r>
              <a:rPr dirty="0"/>
              <a:t>型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39" y="1559613"/>
            <a:ext cx="8703310" cy="35086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dirty="0">
                <a:solidFill>
                  <a:srgbClr val="33BC55"/>
                </a:solidFill>
                <a:latin typeface="Wingdings"/>
                <a:cs typeface="Wingdings"/>
              </a:rPr>
              <a:t></a:t>
            </a:r>
            <a:r>
              <a:rPr sz="2600" spc="-20" dirty="0">
                <a:latin typeface="宋体"/>
                <a:cs typeface="宋体"/>
              </a:rPr>
              <a:t>各自优缺点</a:t>
            </a:r>
            <a:r>
              <a:rPr sz="2600" spc="-30" dirty="0">
                <a:latin typeface="宋体"/>
                <a:cs typeface="宋体"/>
              </a:rPr>
              <a:t>：</a:t>
            </a:r>
            <a:endParaRPr sz="2600" dirty="0">
              <a:latin typeface="宋体"/>
              <a:cs typeface="宋体"/>
            </a:endParaRPr>
          </a:p>
          <a:p>
            <a:pPr marL="652780" marR="5080" indent="-247015">
              <a:lnSpc>
                <a:spcPct val="100000"/>
              </a:lnSpc>
              <a:spcBef>
                <a:spcPts val="585"/>
              </a:spcBef>
            </a:pPr>
            <a:r>
              <a:rPr sz="2000" spc="40" dirty="0">
                <a:solidFill>
                  <a:srgbClr val="50742E"/>
                </a:solidFill>
                <a:latin typeface="Wingdings"/>
                <a:cs typeface="Wingdings"/>
              </a:rPr>
              <a:t></a:t>
            </a:r>
            <a:r>
              <a:rPr sz="2400" spc="40" dirty="0">
                <a:latin typeface="宋体"/>
                <a:cs typeface="宋体"/>
              </a:rPr>
              <a:t>生成方法：可还原出联合概率分布</a:t>
            </a:r>
            <a:r>
              <a:rPr sz="2400" spc="-15" dirty="0">
                <a:latin typeface="Constantia"/>
                <a:cs typeface="Constantia"/>
              </a:rPr>
              <a:t>P(</a:t>
            </a:r>
            <a:r>
              <a:rPr sz="2400" spc="-5" dirty="0">
                <a:latin typeface="Constantia"/>
                <a:cs typeface="Constantia"/>
              </a:rPr>
              <a:t>X</a:t>
            </a:r>
            <a:r>
              <a:rPr sz="2400" spc="-10" dirty="0">
                <a:latin typeface="Constantia"/>
                <a:cs typeface="Constantia"/>
              </a:rPr>
              <a:t>,</a:t>
            </a:r>
            <a:r>
              <a:rPr sz="2400" dirty="0">
                <a:latin typeface="Constantia"/>
                <a:cs typeface="Constantia"/>
              </a:rPr>
              <a:t>Y</a:t>
            </a:r>
            <a:r>
              <a:rPr sz="2400" spc="-10" dirty="0">
                <a:latin typeface="Constantia"/>
                <a:cs typeface="Constantia"/>
              </a:rPr>
              <a:t>),</a:t>
            </a:r>
            <a:r>
              <a:rPr sz="2400" dirty="0">
                <a:latin typeface="Constantia"/>
                <a:cs typeface="Constantia"/>
              </a:rPr>
              <a:t> </a:t>
            </a:r>
            <a:r>
              <a:rPr sz="2400" dirty="0">
                <a:latin typeface="宋体"/>
                <a:cs typeface="宋体"/>
              </a:rPr>
              <a:t>而判别方法不能。 生成方法的收敛速度更快，当样本容量增加的时候，学到的 </a:t>
            </a:r>
            <a:r>
              <a:rPr sz="2400" dirty="0" err="1">
                <a:latin typeface="宋体"/>
                <a:cs typeface="宋体"/>
              </a:rPr>
              <a:t>模型可以更快地收敛于真实模型；当存在隐变量时，仍可以使用生成方法，而判别方法则不能用</a:t>
            </a:r>
            <a:r>
              <a:rPr sz="2400" dirty="0">
                <a:latin typeface="宋体"/>
                <a:cs typeface="宋体"/>
              </a:rPr>
              <a:t>。</a:t>
            </a:r>
          </a:p>
          <a:p>
            <a:pPr marL="652780" marR="111125" indent="-247015">
              <a:lnSpc>
                <a:spcPct val="100000"/>
              </a:lnSpc>
              <a:spcBef>
                <a:spcPts val="575"/>
              </a:spcBef>
            </a:pPr>
            <a:r>
              <a:rPr sz="2000" spc="20" dirty="0">
                <a:solidFill>
                  <a:srgbClr val="50742E"/>
                </a:solidFill>
                <a:latin typeface="Wingdings"/>
                <a:cs typeface="Wingdings"/>
              </a:rPr>
              <a:t></a:t>
            </a:r>
            <a:r>
              <a:rPr sz="2400" spc="20" dirty="0">
                <a:latin typeface="宋体"/>
                <a:cs typeface="宋体"/>
              </a:rPr>
              <a:t>判别方法：直接学习到条件概率或决策函数，直接进行预 测，往往学习的准确率更高；由于直接学习</a:t>
            </a:r>
            <a:r>
              <a:rPr sz="2400" spc="20" dirty="0">
                <a:latin typeface="Constantia"/>
                <a:cs typeface="Constantia"/>
              </a:rPr>
              <a:t>Y</a:t>
            </a:r>
            <a:r>
              <a:rPr sz="2400" spc="-10" dirty="0">
                <a:latin typeface="Constantia"/>
                <a:cs typeface="Constantia"/>
              </a:rPr>
              <a:t>=f(</a:t>
            </a:r>
            <a:r>
              <a:rPr sz="2400" spc="-5" dirty="0">
                <a:latin typeface="Constantia"/>
                <a:cs typeface="Constantia"/>
              </a:rPr>
              <a:t>X</a:t>
            </a:r>
            <a:r>
              <a:rPr sz="2400" spc="-10" dirty="0">
                <a:latin typeface="Constantia"/>
                <a:cs typeface="Constantia"/>
              </a:rPr>
              <a:t>)</a:t>
            </a:r>
            <a:r>
              <a:rPr sz="2400" dirty="0">
                <a:latin typeface="宋体"/>
                <a:cs typeface="宋体"/>
              </a:rPr>
              <a:t>或</a:t>
            </a:r>
            <a:r>
              <a:rPr sz="2400" spc="-15" dirty="0">
                <a:latin typeface="Constantia"/>
                <a:cs typeface="Constantia"/>
              </a:rPr>
              <a:t>P(</a:t>
            </a:r>
            <a:r>
              <a:rPr sz="2400" dirty="0">
                <a:latin typeface="Constantia"/>
                <a:cs typeface="Constantia"/>
              </a:rPr>
              <a:t>Y</a:t>
            </a:r>
            <a:r>
              <a:rPr sz="2400" spc="-10" dirty="0">
                <a:latin typeface="Constantia"/>
                <a:cs typeface="Constantia"/>
              </a:rPr>
              <a:t>|</a:t>
            </a:r>
            <a:r>
              <a:rPr sz="2400" spc="-5" dirty="0">
                <a:latin typeface="Constantia"/>
                <a:cs typeface="Constantia"/>
              </a:rPr>
              <a:t>X</a:t>
            </a:r>
            <a:r>
              <a:rPr sz="2400" spc="-10" dirty="0">
                <a:latin typeface="Constantia"/>
                <a:cs typeface="Constantia"/>
              </a:rPr>
              <a:t>), </a:t>
            </a:r>
            <a:r>
              <a:rPr sz="2400" dirty="0" err="1">
                <a:latin typeface="宋体"/>
                <a:cs typeface="宋体"/>
              </a:rPr>
              <a:t>可对数据进行各种程度上的抽象、定义特征并使用特征，因此可以简化学习过程</a:t>
            </a:r>
            <a:r>
              <a:rPr sz="2400" dirty="0">
                <a:latin typeface="宋体"/>
                <a:cs typeface="宋体"/>
              </a:rPr>
              <a:t>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八、分类问</a:t>
            </a:r>
            <a:r>
              <a:rPr dirty="0"/>
              <a:t>题</a:t>
            </a:r>
          </a:p>
        </p:txBody>
      </p:sp>
      <p:sp>
        <p:nvSpPr>
          <p:cNvPr id="3" name="object 3"/>
          <p:cNvSpPr/>
          <p:nvPr/>
        </p:nvSpPr>
        <p:spPr>
          <a:xfrm>
            <a:off x="1548383" y="1990344"/>
            <a:ext cx="6065520" cy="374294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650" y="62961"/>
            <a:ext cx="7886700" cy="10800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分类问</a:t>
            </a:r>
            <a:r>
              <a:rPr dirty="0"/>
              <a:t>题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272" y="1226867"/>
            <a:ext cx="4703128" cy="46166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dirty="0">
                <a:solidFill>
                  <a:srgbClr val="33BC55"/>
                </a:solidFill>
                <a:latin typeface="Wingdings"/>
                <a:cs typeface="Wingdings"/>
              </a:rPr>
              <a:t></a:t>
            </a:r>
            <a:r>
              <a:rPr sz="2600" spc="-20" dirty="0">
                <a:latin typeface="宋体"/>
                <a:cs typeface="宋体"/>
              </a:rPr>
              <a:t>二分类评价指</a:t>
            </a:r>
            <a:r>
              <a:rPr sz="2600" spc="-30" dirty="0">
                <a:latin typeface="宋体"/>
                <a:cs typeface="宋体"/>
              </a:rPr>
              <a:t>标</a:t>
            </a:r>
            <a:endParaRPr sz="2600" dirty="0">
              <a:latin typeface="宋体"/>
              <a:cs typeface="宋体"/>
            </a:endParaRPr>
          </a:p>
          <a:p>
            <a:pPr marL="405765">
              <a:lnSpc>
                <a:spcPct val="100000"/>
              </a:lnSpc>
              <a:spcBef>
                <a:spcPts val="585"/>
              </a:spcBef>
              <a:tabLst>
                <a:tab pos="1326515" algn="l"/>
              </a:tabLst>
            </a:pPr>
            <a:r>
              <a:rPr sz="2000" spc="40" dirty="0">
                <a:solidFill>
                  <a:srgbClr val="50742E"/>
                </a:solidFill>
                <a:latin typeface="Wingdings"/>
                <a:cs typeface="Wingdings"/>
              </a:rPr>
              <a:t></a:t>
            </a:r>
            <a:r>
              <a:rPr sz="2400" spc="-5" dirty="0">
                <a:latin typeface="Constantia"/>
                <a:cs typeface="Constantia"/>
              </a:rPr>
              <a:t>T</a:t>
            </a:r>
            <a:r>
              <a:rPr sz="2400" spc="-15" dirty="0">
                <a:latin typeface="Constantia"/>
                <a:cs typeface="Constantia"/>
              </a:rPr>
              <a:t>P</a:t>
            </a:r>
            <a:r>
              <a:rPr sz="2400" dirty="0">
                <a:latin typeface="Constantia"/>
                <a:cs typeface="Constantia"/>
              </a:rPr>
              <a:t>	</a:t>
            </a:r>
            <a:r>
              <a:rPr sz="2400" spc="-5" dirty="0">
                <a:latin typeface="Constantia"/>
                <a:cs typeface="Constantia"/>
              </a:rPr>
              <a:t>t</a:t>
            </a:r>
            <a:r>
              <a:rPr sz="2400" dirty="0">
                <a:latin typeface="Constantia"/>
                <a:cs typeface="Constantia"/>
              </a:rPr>
              <a:t>r</a:t>
            </a:r>
            <a:r>
              <a:rPr sz="2400" spc="-5" dirty="0">
                <a:latin typeface="Constantia"/>
                <a:cs typeface="Constantia"/>
              </a:rPr>
              <a:t>u</a:t>
            </a:r>
            <a:r>
              <a:rPr sz="2400" dirty="0">
                <a:latin typeface="Constantia"/>
                <a:cs typeface="Constantia"/>
              </a:rPr>
              <a:t>e</a:t>
            </a:r>
            <a:r>
              <a:rPr sz="2400" spc="-105" dirty="0">
                <a:latin typeface="Constantia"/>
                <a:cs typeface="Constantia"/>
              </a:rPr>
              <a:t> </a:t>
            </a:r>
            <a:r>
              <a:rPr sz="2400" spc="-15" dirty="0">
                <a:latin typeface="Constantia"/>
                <a:cs typeface="Constantia"/>
              </a:rPr>
              <a:t>p</a:t>
            </a:r>
            <a:r>
              <a:rPr sz="2400" spc="-20" dirty="0">
                <a:latin typeface="Constantia"/>
                <a:cs typeface="Constantia"/>
              </a:rPr>
              <a:t>o</a:t>
            </a:r>
            <a:r>
              <a:rPr sz="2400" spc="-10" dirty="0">
                <a:latin typeface="Constantia"/>
                <a:cs typeface="Constantia"/>
              </a:rPr>
              <a:t>s</a:t>
            </a:r>
            <a:r>
              <a:rPr sz="2400" dirty="0">
                <a:latin typeface="Constantia"/>
                <a:cs typeface="Constantia"/>
              </a:rPr>
              <a:t>i</a:t>
            </a:r>
            <a:r>
              <a:rPr sz="2400" spc="-5" dirty="0">
                <a:latin typeface="Constantia"/>
                <a:cs typeface="Constantia"/>
              </a:rPr>
              <a:t>t</a:t>
            </a:r>
            <a:r>
              <a:rPr sz="2400" spc="-25" dirty="0">
                <a:latin typeface="Constantia"/>
                <a:cs typeface="Constantia"/>
              </a:rPr>
              <a:t>i</a:t>
            </a:r>
            <a:r>
              <a:rPr sz="2400" spc="-75" dirty="0">
                <a:latin typeface="Constantia"/>
                <a:cs typeface="Constantia"/>
              </a:rPr>
              <a:t>v</a:t>
            </a:r>
            <a:r>
              <a:rPr sz="2400" dirty="0">
                <a:latin typeface="Constantia"/>
                <a:cs typeface="Constantia"/>
              </a:rPr>
              <a:t>e</a:t>
            </a:r>
          </a:p>
          <a:p>
            <a:pPr marL="405765">
              <a:lnSpc>
                <a:spcPct val="100000"/>
              </a:lnSpc>
              <a:spcBef>
                <a:spcPts val="575"/>
              </a:spcBef>
              <a:tabLst>
                <a:tab pos="1283970" algn="l"/>
              </a:tabLst>
            </a:pPr>
            <a:r>
              <a:rPr sz="2000" spc="20" dirty="0">
                <a:solidFill>
                  <a:srgbClr val="50742E"/>
                </a:solidFill>
                <a:latin typeface="Wingdings"/>
                <a:cs typeface="Wingdings"/>
              </a:rPr>
              <a:t></a:t>
            </a:r>
            <a:r>
              <a:rPr sz="2400" spc="20" dirty="0">
                <a:latin typeface="Constantia"/>
                <a:cs typeface="Constantia"/>
              </a:rPr>
              <a:t>FN	</a:t>
            </a:r>
            <a:r>
              <a:rPr sz="2400" spc="-10" dirty="0">
                <a:latin typeface="Constantia"/>
                <a:cs typeface="Constantia"/>
              </a:rPr>
              <a:t>false</a:t>
            </a:r>
            <a:r>
              <a:rPr sz="2400" spc="-65" dirty="0">
                <a:latin typeface="Constantia"/>
                <a:cs typeface="Constantia"/>
              </a:rPr>
              <a:t> </a:t>
            </a:r>
            <a:r>
              <a:rPr sz="2400" spc="-5" dirty="0">
                <a:latin typeface="Constantia"/>
                <a:cs typeface="Constantia"/>
              </a:rPr>
              <a:t>n</a:t>
            </a:r>
            <a:r>
              <a:rPr sz="2400" dirty="0">
                <a:latin typeface="Constantia"/>
                <a:cs typeface="Constantia"/>
              </a:rPr>
              <a:t>e</a:t>
            </a:r>
            <a:r>
              <a:rPr sz="2400" spc="-15" dirty="0">
                <a:latin typeface="Constantia"/>
                <a:cs typeface="Constantia"/>
              </a:rPr>
              <a:t>ga</a:t>
            </a:r>
            <a:r>
              <a:rPr sz="2400" spc="-5" dirty="0">
                <a:latin typeface="Constantia"/>
                <a:cs typeface="Constantia"/>
              </a:rPr>
              <a:t>t</a:t>
            </a:r>
            <a:r>
              <a:rPr sz="2400" spc="-25" dirty="0">
                <a:latin typeface="Constantia"/>
                <a:cs typeface="Constantia"/>
              </a:rPr>
              <a:t>i</a:t>
            </a:r>
            <a:r>
              <a:rPr sz="2400" spc="-75" dirty="0">
                <a:latin typeface="Constantia"/>
                <a:cs typeface="Constantia"/>
              </a:rPr>
              <a:t>v</a:t>
            </a:r>
            <a:r>
              <a:rPr sz="2400" dirty="0">
                <a:latin typeface="Constantia"/>
                <a:cs typeface="Constantia"/>
              </a:rPr>
              <a:t>e</a:t>
            </a:r>
          </a:p>
          <a:p>
            <a:pPr marL="405765">
              <a:lnSpc>
                <a:spcPct val="100000"/>
              </a:lnSpc>
              <a:spcBef>
                <a:spcPts val="575"/>
              </a:spcBef>
              <a:tabLst>
                <a:tab pos="1305560" algn="l"/>
              </a:tabLst>
            </a:pPr>
            <a:r>
              <a:rPr sz="2050" spc="-25" dirty="0">
                <a:solidFill>
                  <a:srgbClr val="50742E"/>
                </a:solidFill>
                <a:latin typeface="Wingdings"/>
                <a:cs typeface="Wingdings"/>
              </a:rPr>
              <a:t></a:t>
            </a:r>
            <a:r>
              <a:rPr sz="2400" spc="-25" dirty="0">
                <a:latin typeface="Constantia"/>
                <a:cs typeface="Constantia"/>
              </a:rPr>
              <a:t>F</a:t>
            </a:r>
            <a:r>
              <a:rPr sz="2400" spc="-15" dirty="0">
                <a:latin typeface="Constantia"/>
                <a:cs typeface="Constantia"/>
              </a:rPr>
              <a:t>P	</a:t>
            </a:r>
            <a:r>
              <a:rPr sz="2400" spc="-10" dirty="0">
                <a:latin typeface="Constantia"/>
                <a:cs typeface="Constantia"/>
              </a:rPr>
              <a:t>false</a:t>
            </a:r>
            <a:r>
              <a:rPr sz="2400" spc="-105" dirty="0">
                <a:latin typeface="Constantia"/>
                <a:cs typeface="Constantia"/>
              </a:rPr>
              <a:t> </a:t>
            </a:r>
            <a:r>
              <a:rPr sz="2400" spc="-15" dirty="0">
                <a:latin typeface="Constantia"/>
                <a:cs typeface="Constantia"/>
              </a:rPr>
              <a:t>p</a:t>
            </a:r>
            <a:r>
              <a:rPr sz="2400" spc="-20" dirty="0">
                <a:latin typeface="Constantia"/>
                <a:cs typeface="Constantia"/>
              </a:rPr>
              <a:t>o</a:t>
            </a:r>
            <a:r>
              <a:rPr sz="2400" spc="-10" dirty="0">
                <a:latin typeface="Constantia"/>
                <a:cs typeface="Constantia"/>
              </a:rPr>
              <a:t>s</a:t>
            </a:r>
            <a:r>
              <a:rPr sz="2400" dirty="0">
                <a:latin typeface="Constantia"/>
                <a:cs typeface="Constantia"/>
              </a:rPr>
              <a:t>i</a:t>
            </a:r>
            <a:r>
              <a:rPr sz="2400" spc="-5" dirty="0">
                <a:latin typeface="Constantia"/>
                <a:cs typeface="Constantia"/>
              </a:rPr>
              <a:t>t</a:t>
            </a:r>
            <a:r>
              <a:rPr sz="2400" spc="-25" dirty="0">
                <a:latin typeface="Constantia"/>
                <a:cs typeface="Constantia"/>
              </a:rPr>
              <a:t>i</a:t>
            </a:r>
            <a:r>
              <a:rPr sz="2400" spc="-75" dirty="0">
                <a:latin typeface="Constantia"/>
                <a:cs typeface="Constantia"/>
              </a:rPr>
              <a:t>v</a:t>
            </a:r>
            <a:r>
              <a:rPr sz="2400" dirty="0">
                <a:latin typeface="Constantia"/>
                <a:cs typeface="Constantia"/>
              </a:rPr>
              <a:t>e</a:t>
            </a:r>
          </a:p>
          <a:p>
            <a:pPr marL="405765">
              <a:lnSpc>
                <a:spcPct val="100000"/>
              </a:lnSpc>
              <a:spcBef>
                <a:spcPts val="575"/>
              </a:spcBef>
              <a:tabLst>
                <a:tab pos="1304925" algn="l"/>
                <a:tab pos="1993264" algn="l"/>
              </a:tabLst>
            </a:pPr>
            <a:r>
              <a:rPr sz="2000" spc="20" dirty="0">
                <a:solidFill>
                  <a:srgbClr val="50742E"/>
                </a:solidFill>
                <a:latin typeface="Wingdings"/>
                <a:cs typeface="Wingdings"/>
              </a:rPr>
              <a:t></a:t>
            </a:r>
            <a:r>
              <a:rPr sz="2400" spc="-5" dirty="0">
                <a:latin typeface="Constantia"/>
                <a:cs typeface="Constantia"/>
              </a:rPr>
              <a:t>T</a:t>
            </a:r>
            <a:r>
              <a:rPr sz="2400" dirty="0">
                <a:latin typeface="Constantia"/>
                <a:cs typeface="Constantia"/>
              </a:rPr>
              <a:t>N	</a:t>
            </a:r>
            <a:r>
              <a:rPr sz="2400" spc="-5" dirty="0">
                <a:latin typeface="Constantia"/>
                <a:cs typeface="Constantia"/>
              </a:rPr>
              <a:t>t</a:t>
            </a:r>
            <a:r>
              <a:rPr sz="2400" dirty="0">
                <a:latin typeface="Constantia"/>
                <a:cs typeface="Constantia"/>
              </a:rPr>
              <a:t>r</a:t>
            </a:r>
            <a:r>
              <a:rPr sz="2400" spc="-5" dirty="0">
                <a:latin typeface="Constantia"/>
                <a:cs typeface="Constantia"/>
              </a:rPr>
              <a:t>u</a:t>
            </a:r>
            <a:r>
              <a:rPr sz="2400" dirty="0">
                <a:latin typeface="Constantia"/>
                <a:cs typeface="Constantia"/>
              </a:rPr>
              <a:t>e	</a:t>
            </a:r>
            <a:r>
              <a:rPr sz="2400" spc="-5" dirty="0">
                <a:latin typeface="Constantia"/>
                <a:cs typeface="Constantia"/>
              </a:rPr>
              <a:t>n</a:t>
            </a:r>
            <a:r>
              <a:rPr sz="2400" dirty="0">
                <a:latin typeface="Constantia"/>
                <a:cs typeface="Constantia"/>
              </a:rPr>
              <a:t>e</a:t>
            </a:r>
            <a:r>
              <a:rPr sz="2400" spc="-15" dirty="0">
                <a:latin typeface="Constantia"/>
                <a:cs typeface="Constantia"/>
              </a:rPr>
              <a:t>ga</a:t>
            </a:r>
            <a:r>
              <a:rPr sz="2400" spc="-5" dirty="0">
                <a:latin typeface="Constantia"/>
                <a:cs typeface="Constantia"/>
              </a:rPr>
              <a:t>t</a:t>
            </a:r>
            <a:r>
              <a:rPr sz="2400" spc="-25" dirty="0">
                <a:latin typeface="Constantia"/>
                <a:cs typeface="Constantia"/>
              </a:rPr>
              <a:t>i</a:t>
            </a:r>
            <a:r>
              <a:rPr sz="2400" spc="-75" dirty="0">
                <a:latin typeface="Constantia"/>
                <a:cs typeface="Constantia"/>
              </a:rPr>
              <a:t>v</a:t>
            </a:r>
            <a:r>
              <a:rPr sz="2400" dirty="0">
                <a:latin typeface="Constantia"/>
                <a:cs typeface="Constantia"/>
              </a:rPr>
              <a:t>e</a:t>
            </a:r>
          </a:p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sz="2450" dirty="0">
                <a:solidFill>
                  <a:srgbClr val="33BC55"/>
                </a:solidFill>
                <a:latin typeface="Wingdings"/>
                <a:cs typeface="Wingdings"/>
              </a:rPr>
              <a:t></a:t>
            </a:r>
            <a:r>
              <a:rPr sz="2600" spc="-20" dirty="0" err="1">
                <a:latin typeface="宋体"/>
                <a:cs typeface="宋体"/>
              </a:rPr>
              <a:t>精确</a:t>
            </a:r>
            <a:r>
              <a:rPr sz="2600" spc="-30" dirty="0" err="1">
                <a:latin typeface="宋体"/>
                <a:cs typeface="宋体"/>
              </a:rPr>
              <a:t>率</a:t>
            </a:r>
            <a:r>
              <a:rPr lang="zh-CN" altLang="en-US" sz="2600" spc="-30" dirty="0">
                <a:latin typeface="宋体"/>
                <a:cs typeface="宋体"/>
              </a:rPr>
              <a:t>：精度，</a:t>
            </a:r>
            <a:r>
              <a:rPr lang="en-US" altLang="zh-CN" sz="26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</a:t>
            </a:r>
            <a:endParaRPr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7"/>
              </a:spcBef>
            </a:pPr>
            <a:endParaRPr sz="37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50" dirty="0">
                <a:solidFill>
                  <a:srgbClr val="33BC55"/>
                </a:solidFill>
                <a:latin typeface="Wingdings"/>
                <a:cs typeface="Wingdings"/>
              </a:rPr>
              <a:t></a:t>
            </a:r>
            <a:r>
              <a:rPr sz="2600" spc="-20" dirty="0" err="1">
                <a:latin typeface="宋体"/>
                <a:cs typeface="宋体"/>
              </a:rPr>
              <a:t>召回</a:t>
            </a:r>
            <a:r>
              <a:rPr sz="2600" spc="-30" dirty="0" err="1">
                <a:latin typeface="宋体"/>
                <a:cs typeface="宋体"/>
              </a:rPr>
              <a:t>率</a:t>
            </a:r>
            <a:r>
              <a:rPr lang="en-US" sz="2600" spc="-30" dirty="0">
                <a:latin typeface="宋体"/>
                <a:cs typeface="宋体"/>
              </a:rPr>
              <a:t>: </a:t>
            </a:r>
            <a:r>
              <a:rPr lang="en-US" sz="26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</a:t>
            </a:r>
            <a:endParaRPr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50" dirty="0">
                <a:solidFill>
                  <a:srgbClr val="33BC55"/>
                </a:solidFill>
                <a:latin typeface="Wingdings"/>
                <a:cs typeface="Wingdings"/>
              </a:rPr>
              <a:t></a:t>
            </a:r>
            <a:r>
              <a:rPr sz="2550" spc="10" dirty="0">
                <a:latin typeface="Constantia"/>
                <a:cs typeface="Constantia"/>
              </a:rPr>
              <a:t>F1</a:t>
            </a:r>
            <a:r>
              <a:rPr sz="2550" spc="25" dirty="0">
                <a:latin typeface="宋体"/>
                <a:cs typeface="宋体"/>
              </a:rPr>
              <a:t>值</a:t>
            </a:r>
            <a:endParaRPr sz="2550" dirty="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500248" y="3872382"/>
            <a:ext cx="1801367" cy="85039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261110" y="4738324"/>
            <a:ext cx="1789176" cy="79857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834895" y="5687054"/>
            <a:ext cx="1438656" cy="79248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977640" y="5671813"/>
            <a:ext cx="3029712" cy="79248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文本框 7"/>
          <p:cNvSpPr txBox="1"/>
          <p:nvPr/>
        </p:nvSpPr>
        <p:spPr>
          <a:xfrm>
            <a:off x="6270171" y="3570480"/>
            <a:ext cx="21853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准确率如何定义？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4267200" y="1905000"/>
            <a:ext cx="396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第二个字母：预测为正例</a:t>
            </a:r>
            <a:r>
              <a:rPr lang="en-US" altLang="zh-CN" dirty="0"/>
              <a:t>P</a:t>
            </a:r>
            <a:r>
              <a:rPr lang="zh-CN" altLang="en-US" dirty="0"/>
              <a:t>还是反例</a:t>
            </a:r>
            <a:r>
              <a:rPr lang="en-US" altLang="zh-CN" dirty="0"/>
              <a:t>N</a:t>
            </a:r>
          </a:p>
          <a:p>
            <a:r>
              <a:rPr lang="zh-CN" altLang="en-US" dirty="0"/>
              <a:t>第一个字母：此预测结果是正确</a:t>
            </a:r>
            <a:r>
              <a:rPr lang="en-US" altLang="zh-CN" dirty="0"/>
              <a:t>T</a:t>
            </a:r>
            <a:r>
              <a:rPr lang="zh-CN" altLang="en-US" dirty="0"/>
              <a:t>还是错误</a:t>
            </a:r>
            <a:r>
              <a:rPr lang="en-US" altLang="zh-CN" dirty="0"/>
              <a:t>F</a:t>
            </a:r>
            <a:endParaRPr lang="zh-CN" alt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650" y="62961"/>
            <a:ext cx="7886700" cy="10800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分类问</a:t>
            </a:r>
            <a:r>
              <a:rPr dirty="0"/>
              <a:t>题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28650" y="968419"/>
            <a:ext cx="7217728" cy="15081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altLang="zh-CN" sz="2400" spc="-20" dirty="0">
                <a:latin typeface="微软雅黑" panose="020B0503020204020204" pitchFamily="34" charset="-122"/>
                <a:ea typeface="微软雅黑" panose="020B0503020204020204" pitchFamily="34" charset="-122"/>
                <a:cs typeface="宋体"/>
              </a:rPr>
              <a:t>ROC:(receiver operating characteristic curve)</a:t>
            </a:r>
          </a:p>
          <a:p>
            <a:pPr marL="12700">
              <a:lnSpc>
                <a:spcPct val="100000"/>
              </a:lnSpc>
            </a:pPr>
            <a:r>
              <a:rPr lang="zh-CN" altLang="en-US" sz="2400" spc="-20" dirty="0">
                <a:latin typeface="宋体"/>
                <a:cs typeface="宋体"/>
              </a:rPr>
              <a:t>受试者工作特征曲线</a:t>
            </a:r>
            <a:endParaRPr lang="en-US" altLang="zh-CN" sz="2400" spc="-20" dirty="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</a:pPr>
            <a:r>
              <a:rPr lang="en-US" altLang="zh-CN" sz="2400" spc="-20" dirty="0">
                <a:latin typeface="微软雅黑" panose="020B0503020204020204" pitchFamily="34" charset="-122"/>
                <a:ea typeface="微软雅黑" panose="020B0503020204020204" pitchFamily="34" charset="-122"/>
                <a:cs typeface="宋体"/>
              </a:rPr>
              <a:t>AUC: Area Under the Curve</a:t>
            </a:r>
          </a:p>
          <a:p>
            <a:pPr marL="12700">
              <a:lnSpc>
                <a:spcPct val="100000"/>
              </a:lnSpc>
            </a:pPr>
            <a:r>
              <a:rPr lang="en-US" altLang="zh-CN" sz="2600" spc="-20" dirty="0">
                <a:latin typeface="宋体"/>
                <a:cs typeface="宋体"/>
              </a:rPr>
              <a:t> 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8468" y="2743199"/>
            <a:ext cx="3771900" cy="3312349"/>
          </a:xfrm>
          <a:prstGeom prst="rect">
            <a:avLst/>
          </a:prstGeom>
        </p:spPr>
      </p:pic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3635193"/>
              </p:ext>
            </p:extLst>
          </p:nvPr>
        </p:nvGraphicFramePr>
        <p:xfrm>
          <a:off x="472612" y="2301942"/>
          <a:ext cx="2971800" cy="4194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9572">
                <a:tc>
                  <a:txBody>
                    <a:bodyPr/>
                    <a:lstStyle/>
                    <a:p>
                      <a:r>
                        <a:rPr lang="en-US" altLang="zh-CN" dirty="0"/>
                        <a:t>#Sample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类别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预测值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572"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0.9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572">
                <a:tc>
                  <a:txBody>
                    <a:bodyPr/>
                    <a:lstStyle/>
                    <a:p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572">
                <a:tc>
                  <a:txBody>
                    <a:bodyPr/>
                    <a:lstStyle/>
                    <a:p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0.7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572">
                <a:tc>
                  <a:txBody>
                    <a:bodyPr/>
                    <a:lstStyle/>
                    <a:p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0.6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572">
                <a:tc>
                  <a:txBody>
                    <a:bodyPr/>
                    <a:lstStyle/>
                    <a:p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0.55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572">
                <a:tc>
                  <a:txBody>
                    <a:bodyPr/>
                    <a:lstStyle/>
                    <a:p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0.54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9572">
                <a:tc>
                  <a:txBody>
                    <a:bodyPr/>
                    <a:lstStyle/>
                    <a:p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0.53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9572">
                <a:tc>
                  <a:txBody>
                    <a:bodyPr/>
                    <a:lstStyle/>
                    <a:p>
                      <a:r>
                        <a:rPr lang="en-US" altLang="zh-CN" dirty="0"/>
                        <a:t>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0.52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9572">
                <a:tc>
                  <a:txBody>
                    <a:bodyPr/>
                    <a:lstStyle/>
                    <a:p>
                      <a:r>
                        <a:rPr lang="en-US" altLang="zh-CN" dirty="0"/>
                        <a:t>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0.51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9572">
                <a:tc>
                  <a:txBody>
                    <a:bodyPr/>
                    <a:lstStyle/>
                    <a:p>
                      <a:r>
                        <a:rPr lang="en-US" altLang="zh-CN" dirty="0"/>
                        <a:t>10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0.505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9572">
                <a:tc>
                  <a:txBody>
                    <a:bodyPr/>
                    <a:lstStyle/>
                    <a:p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3" name="object 3"/>
          <p:cNvSpPr txBox="1"/>
          <p:nvPr/>
        </p:nvSpPr>
        <p:spPr>
          <a:xfrm>
            <a:off x="5410200" y="1433170"/>
            <a:ext cx="3380264" cy="11387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zh-CN" altLang="en-US" sz="2400" spc="-2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/>
              </a:rPr>
              <a:t>二分类</a:t>
            </a:r>
            <a:endParaRPr lang="en-US" altLang="zh-CN" sz="2400" spc="-2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宋体"/>
            </a:endParaRPr>
          </a:p>
          <a:p>
            <a:pPr marL="12700">
              <a:lnSpc>
                <a:spcPct val="100000"/>
              </a:lnSpc>
            </a:pPr>
            <a:r>
              <a:rPr lang="zh-CN" altLang="en-US" sz="2400" spc="-2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/>
              </a:rPr>
              <a:t>实值输出</a:t>
            </a:r>
            <a:endParaRPr lang="en-US" altLang="zh-CN" sz="2400" spc="-2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宋体"/>
            </a:endParaRPr>
          </a:p>
          <a:p>
            <a:pPr marL="12700">
              <a:lnSpc>
                <a:spcPct val="100000"/>
              </a:lnSpc>
            </a:pPr>
            <a:r>
              <a:rPr lang="zh-CN" altLang="en-US" sz="2400" spc="-2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/>
              </a:rPr>
              <a:t>对类别不平衡</a:t>
            </a:r>
            <a:r>
              <a:rPr lang="zh-CN" altLang="en-US" sz="2600" spc="-20" dirty="0">
                <a:solidFill>
                  <a:srgbClr val="FF0000"/>
                </a:solidFill>
                <a:latin typeface="宋体"/>
                <a:cs typeface="宋体"/>
              </a:rPr>
              <a:t>不敏感</a:t>
            </a:r>
            <a:endParaRPr lang="en-US" altLang="zh-CN" sz="2600" spc="-20" dirty="0">
              <a:solidFill>
                <a:srgbClr val="FF0000"/>
              </a:solidFill>
              <a:latin typeface="宋体"/>
              <a:cs typeface="宋体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1143000" y="4399374"/>
            <a:ext cx="3276600" cy="1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/>
        </p:nvCxnSpPr>
        <p:spPr>
          <a:xfrm flipV="1">
            <a:off x="3581400" y="2617844"/>
            <a:ext cx="0" cy="1781530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bject 3"/>
          <p:cNvSpPr txBox="1"/>
          <p:nvPr/>
        </p:nvSpPr>
        <p:spPr>
          <a:xfrm>
            <a:off x="3719944" y="3009866"/>
            <a:ext cx="1108524" cy="7386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altLang="zh-CN" sz="2400" spc="-20" dirty="0">
                <a:latin typeface="微软雅黑" panose="020B0503020204020204" pitchFamily="34" charset="-122"/>
                <a:ea typeface="微软雅黑" panose="020B0503020204020204" pitchFamily="34" charset="-122"/>
                <a:cs typeface="宋体"/>
              </a:rPr>
              <a:t>TP=4</a:t>
            </a:r>
          </a:p>
          <a:p>
            <a:pPr marL="12700">
              <a:lnSpc>
                <a:spcPct val="100000"/>
              </a:lnSpc>
            </a:pPr>
            <a:r>
              <a:rPr lang="en-US" altLang="zh-CN" sz="2400" spc="-20" dirty="0">
                <a:latin typeface="微软雅黑" panose="020B0503020204020204" pitchFamily="34" charset="-122"/>
                <a:ea typeface="微软雅黑" panose="020B0503020204020204" pitchFamily="34" charset="-122"/>
                <a:cs typeface="宋体"/>
              </a:rPr>
              <a:t>FP=1</a:t>
            </a:r>
          </a:p>
        </p:txBody>
      </p:sp>
    </p:spTree>
    <p:extLst>
      <p:ext uri="{BB962C8B-B14F-4D97-AF65-F5344CB8AC3E}">
        <p14:creationId xmlns:p14="http://schemas.microsoft.com/office/powerpoint/2010/main" val="171661471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九、标注问</a:t>
            </a:r>
            <a:r>
              <a:rPr dirty="0"/>
              <a:t>题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272" y="1558978"/>
            <a:ext cx="7306945" cy="46310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dirty="0">
                <a:solidFill>
                  <a:srgbClr val="33BC55"/>
                </a:solidFill>
                <a:latin typeface="Wingdings"/>
                <a:cs typeface="Wingdings"/>
              </a:rPr>
              <a:t></a:t>
            </a:r>
            <a:r>
              <a:rPr sz="2550" spc="35" dirty="0">
                <a:latin typeface="宋体"/>
                <a:cs typeface="宋体"/>
              </a:rPr>
              <a:t>标注：</a:t>
            </a:r>
            <a:r>
              <a:rPr sz="2550" spc="15" dirty="0">
                <a:latin typeface="Constantia"/>
                <a:cs typeface="Constantia"/>
              </a:rPr>
              <a:t>tagg</a:t>
            </a:r>
            <a:r>
              <a:rPr sz="2550" spc="5" dirty="0">
                <a:latin typeface="Constantia"/>
                <a:cs typeface="Constantia"/>
              </a:rPr>
              <a:t>i</a:t>
            </a:r>
            <a:r>
              <a:rPr sz="2550" spc="15" dirty="0">
                <a:latin typeface="Constantia"/>
                <a:cs typeface="Constantia"/>
              </a:rPr>
              <a:t>ng</a:t>
            </a:r>
            <a:r>
              <a:rPr sz="2550" spc="25" dirty="0">
                <a:latin typeface="宋体"/>
                <a:cs typeface="宋体"/>
              </a:rPr>
              <a:t>，</a:t>
            </a:r>
            <a:r>
              <a:rPr sz="2550" spc="-610" dirty="0">
                <a:latin typeface="宋体"/>
                <a:cs typeface="宋体"/>
              </a:rPr>
              <a:t> </a:t>
            </a:r>
            <a:r>
              <a:rPr sz="2550" spc="35" dirty="0">
                <a:latin typeface="宋体"/>
                <a:cs typeface="宋体"/>
              </a:rPr>
              <a:t>结构预测：</a:t>
            </a:r>
            <a:r>
              <a:rPr sz="2550" spc="10" dirty="0">
                <a:latin typeface="Constantia"/>
                <a:cs typeface="Constantia"/>
              </a:rPr>
              <a:t>st</a:t>
            </a:r>
            <a:r>
              <a:rPr sz="2550" spc="5" dirty="0">
                <a:latin typeface="Constantia"/>
                <a:cs typeface="Constantia"/>
              </a:rPr>
              <a:t>r</a:t>
            </a:r>
            <a:r>
              <a:rPr sz="2550" spc="15" dirty="0">
                <a:latin typeface="Constantia"/>
                <a:cs typeface="Constantia"/>
              </a:rPr>
              <a:t>uctu</a:t>
            </a:r>
            <a:r>
              <a:rPr sz="2550" spc="-35" dirty="0">
                <a:latin typeface="Constantia"/>
                <a:cs typeface="Constantia"/>
              </a:rPr>
              <a:t>r</a:t>
            </a:r>
            <a:r>
              <a:rPr sz="2550" spc="10" dirty="0">
                <a:latin typeface="Constantia"/>
                <a:cs typeface="Constantia"/>
              </a:rPr>
              <a:t>e</a:t>
            </a:r>
            <a:r>
              <a:rPr sz="2550" spc="-90" dirty="0">
                <a:latin typeface="Constantia"/>
                <a:cs typeface="Constantia"/>
              </a:rPr>
              <a:t> </a:t>
            </a:r>
            <a:r>
              <a:rPr sz="2550" spc="15" dirty="0">
                <a:latin typeface="Constantia"/>
                <a:cs typeface="Constantia"/>
              </a:rPr>
              <a:t>p</a:t>
            </a:r>
            <a:r>
              <a:rPr sz="2550" spc="-35" dirty="0">
                <a:latin typeface="Constantia"/>
                <a:cs typeface="Constantia"/>
              </a:rPr>
              <a:t>r</a:t>
            </a:r>
            <a:r>
              <a:rPr sz="2550" spc="10" dirty="0">
                <a:latin typeface="Constantia"/>
                <a:cs typeface="Constantia"/>
              </a:rPr>
              <a:t>e</a:t>
            </a:r>
            <a:r>
              <a:rPr sz="2550" spc="15" dirty="0">
                <a:latin typeface="Constantia"/>
                <a:cs typeface="Constantia"/>
              </a:rPr>
              <a:t>d</a:t>
            </a:r>
            <a:r>
              <a:rPr sz="2550" spc="5" dirty="0">
                <a:latin typeface="Constantia"/>
                <a:cs typeface="Constantia"/>
              </a:rPr>
              <a:t>i</a:t>
            </a:r>
            <a:r>
              <a:rPr sz="2550" spc="15" dirty="0">
                <a:latin typeface="Constantia"/>
                <a:cs typeface="Constantia"/>
              </a:rPr>
              <a:t>ct</a:t>
            </a:r>
            <a:r>
              <a:rPr sz="2550" spc="5" dirty="0">
                <a:latin typeface="Constantia"/>
                <a:cs typeface="Constantia"/>
              </a:rPr>
              <a:t>i</a:t>
            </a:r>
            <a:r>
              <a:rPr sz="2550" spc="15" dirty="0">
                <a:latin typeface="Constantia"/>
                <a:cs typeface="Constantia"/>
              </a:rPr>
              <a:t>o</a:t>
            </a:r>
            <a:r>
              <a:rPr sz="2550" spc="10" dirty="0">
                <a:latin typeface="Constantia"/>
                <a:cs typeface="Constantia"/>
              </a:rPr>
              <a:t>n</a:t>
            </a:r>
            <a:endParaRPr sz="2550">
              <a:latin typeface="Constantia"/>
              <a:cs typeface="Constantia"/>
            </a:endParaRPr>
          </a:p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sz="2450" dirty="0">
                <a:solidFill>
                  <a:srgbClr val="33BC55"/>
                </a:solidFill>
                <a:latin typeface="Wingdings"/>
                <a:cs typeface="Wingdings"/>
              </a:rPr>
              <a:t></a:t>
            </a:r>
            <a:r>
              <a:rPr sz="2550" spc="35" dirty="0">
                <a:latin typeface="宋体"/>
                <a:cs typeface="宋体"/>
              </a:rPr>
              <a:t>输入：观测序列</a:t>
            </a:r>
            <a:r>
              <a:rPr sz="2550" spc="25" dirty="0">
                <a:latin typeface="宋体"/>
                <a:cs typeface="宋体"/>
              </a:rPr>
              <a:t>，</a:t>
            </a:r>
            <a:r>
              <a:rPr sz="2550" spc="-610" dirty="0">
                <a:latin typeface="宋体"/>
                <a:cs typeface="宋体"/>
              </a:rPr>
              <a:t> </a:t>
            </a:r>
            <a:r>
              <a:rPr sz="2550" spc="35" dirty="0">
                <a:latin typeface="宋体"/>
                <a:cs typeface="宋体"/>
              </a:rPr>
              <a:t>输出：标记序列或状态序</a:t>
            </a:r>
            <a:r>
              <a:rPr sz="2550" spc="25" dirty="0">
                <a:latin typeface="宋体"/>
                <a:cs typeface="宋体"/>
              </a:rPr>
              <a:t>列</a:t>
            </a:r>
            <a:endParaRPr sz="255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2450" dirty="0">
                <a:solidFill>
                  <a:srgbClr val="33BC55"/>
                </a:solidFill>
                <a:latin typeface="Wingdings"/>
                <a:cs typeface="Wingdings"/>
              </a:rPr>
              <a:t></a:t>
            </a:r>
            <a:r>
              <a:rPr sz="2550" spc="35" dirty="0">
                <a:latin typeface="宋体"/>
                <a:cs typeface="宋体"/>
              </a:rPr>
              <a:t>学习和标注两个过</a:t>
            </a:r>
            <a:r>
              <a:rPr sz="2550" spc="25" dirty="0">
                <a:latin typeface="宋体"/>
                <a:cs typeface="宋体"/>
              </a:rPr>
              <a:t>程</a:t>
            </a:r>
            <a:endParaRPr sz="255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sz="2450" dirty="0">
                <a:solidFill>
                  <a:srgbClr val="33BC55"/>
                </a:solidFill>
                <a:latin typeface="Wingdings"/>
                <a:cs typeface="Wingdings"/>
              </a:rPr>
              <a:t></a:t>
            </a:r>
            <a:r>
              <a:rPr sz="2550" spc="35" dirty="0">
                <a:latin typeface="宋体"/>
                <a:cs typeface="宋体"/>
              </a:rPr>
              <a:t>训练集</a:t>
            </a:r>
            <a:r>
              <a:rPr sz="2550" spc="25" dirty="0">
                <a:latin typeface="宋体"/>
                <a:cs typeface="宋体"/>
              </a:rPr>
              <a:t>：</a:t>
            </a:r>
            <a:endParaRPr sz="255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50" dirty="0">
                <a:solidFill>
                  <a:srgbClr val="33BC55"/>
                </a:solidFill>
                <a:latin typeface="Wingdings"/>
                <a:cs typeface="Wingdings"/>
              </a:rPr>
              <a:t></a:t>
            </a:r>
            <a:r>
              <a:rPr sz="2550" spc="35" dirty="0">
                <a:latin typeface="宋体"/>
                <a:cs typeface="宋体"/>
              </a:rPr>
              <a:t>观测序列</a:t>
            </a:r>
            <a:r>
              <a:rPr sz="2550" spc="25" dirty="0">
                <a:latin typeface="宋体"/>
                <a:cs typeface="宋体"/>
              </a:rPr>
              <a:t>：</a:t>
            </a:r>
            <a:endParaRPr sz="255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50" dirty="0">
                <a:solidFill>
                  <a:srgbClr val="33BC55"/>
                </a:solidFill>
                <a:latin typeface="Wingdings"/>
                <a:cs typeface="Wingdings"/>
              </a:rPr>
              <a:t></a:t>
            </a:r>
            <a:r>
              <a:rPr sz="2550" spc="35" dirty="0">
                <a:latin typeface="宋体"/>
                <a:cs typeface="宋体"/>
              </a:rPr>
              <a:t>输出标记序列</a:t>
            </a:r>
            <a:r>
              <a:rPr sz="2550" spc="25" dirty="0">
                <a:latin typeface="宋体"/>
                <a:cs typeface="宋体"/>
              </a:rPr>
              <a:t>：</a:t>
            </a:r>
            <a:endParaRPr sz="255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50" dirty="0">
                <a:solidFill>
                  <a:srgbClr val="33BC55"/>
                </a:solidFill>
                <a:latin typeface="Wingdings"/>
                <a:cs typeface="Wingdings"/>
              </a:rPr>
              <a:t></a:t>
            </a:r>
            <a:r>
              <a:rPr sz="2550" spc="35" dirty="0">
                <a:latin typeface="宋体"/>
                <a:cs typeface="宋体"/>
              </a:rPr>
              <a:t>模型：条件概率分</a:t>
            </a:r>
            <a:r>
              <a:rPr sz="2550" spc="25" dirty="0">
                <a:latin typeface="宋体"/>
                <a:cs typeface="宋体"/>
              </a:rPr>
              <a:t>布</a:t>
            </a:r>
            <a:endParaRPr sz="255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410967" y="2956560"/>
            <a:ext cx="4794504" cy="47243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493264" y="3861815"/>
            <a:ext cx="4885944" cy="44500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346703" y="4797552"/>
            <a:ext cx="3166872" cy="47853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852671" y="5733288"/>
            <a:ext cx="4974335" cy="50291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650" y="0"/>
            <a:ext cx="7886700" cy="10800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十、回归问</a:t>
            </a:r>
            <a:r>
              <a:rPr dirty="0"/>
              <a:t>题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628650" y="1213359"/>
            <a:ext cx="7886700" cy="47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8600">
              <a:lnSpc>
                <a:spcPct val="100000"/>
              </a:lnSpc>
            </a:pPr>
            <a:r>
              <a:rPr sz="2450" dirty="0">
                <a:solidFill>
                  <a:srgbClr val="33BC55"/>
                </a:solidFill>
                <a:latin typeface="Wingdings"/>
                <a:cs typeface="Wingdings"/>
              </a:rPr>
              <a:t></a:t>
            </a:r>
            <a:r>
              <a:rPr spc="35" dirty="0"/>
              <a:t>回归模型是表示从输入变量到输出变量之间映射的函数</a:t>
            </a:r>
            <a:r>
              <a:rPr spc="5" dirty="0">
                <a:latin typeface="Constantia"/>
                <a:cs typeface="Constantia"/>
              </a:rPr>
              <a:t>.</a:t>
            </a:r>
            <a:endParaRPr sz="2450">
              <a:latin typeface="Constantia"/>
              <a:cs typeface="Constantia"/>
            </a:endParaRPr>
          </a:p>
          <a:p>
            <a:pPr marL="502920">
              <a:lnSpc>
                <a:spcPct val="100000"/>
              </a:lnSpc>
              <a:spcBef>
                <a:spcPts val="65"/>
              </a:spcBef>
            </a:pPr>
            <a:r>
              <a:rPr spc="35" dirty="0"/>
              <a:t>回归问题的学习等价于函数拟合</a:t>
            </a:r>
            <a:r>
              <a:rPr spc="25" dirty="0"/>
              <a:t>。</a:t>
            </a:r>
          </a:p>
          <a:p>
            <a:pPr marL="228600">
              <a:lnSpc>
                <a:spcPct val="100000"/>
              </a:lnSpc>
              <a:spcBef>
                <a:spcPts val="680"/>
              </a:spcBef>
            </a:pPr>
            <a:r>
              <a:rPr sz="2450" dirty="0">
                <a:solidFill>
                  <a:srgbClr val="33BC55"/>
                </a:solidFill>
                <a:latin typeface="Wingdings"/>
                <a:cs typeface="Wingdings"/>
              </a:rPr>
              <a:t></a:t>
            </a:r>
            <a:r>
              <a:rPr spc="35" dirty="0"/>
              <a:t>学习和预测两个阶</a:t>
            </a:r>
            <a:r>
              <a:rPr spc="25" dirty="0"/>
              <a:t>段</a:t>
            </a:r>
            <a:endParaRPr sz="2450">
              <a:latin typeface="Wingdings"/>
              <a:cs typeface="Wingdings"/>
            </a:endParaRPr>
          </a:p>
          <a:p>
            <a:pPr marL="228600">
              <a:lnSpc>
                <a:spcPts val="3070"/>
              </a:lnSpc>
              <a:spcBef>
                <a:spcPts val="630"/>
              </a:spcBef>
            </a:pPr>
            <a:r>
              <a:rPr sz="2450" dirty="0">
                <a:solidFill>
                  <a:srgbClr val="33BC55"/>
                </a:solidFill>
                <a:latin typeface="Wingdings"/>
                <a:cs typeface="Wingdings"/>
              </a:rPr>
              <a:t></a:t>
            </a:r>
            <a:r>
              <a:rPr sz="2600" spc="-20" dirty="0"/>
              <a:t>训练集</a:t>
            </a:r>
            <a:r>
              <a:rPr sz="2600" spc="-30" dirty="0"/>
              <a:t>：</a:t>
            </a:r>
            <a:endParaRPr sz="2600">
              <a:latin typeface="Wingdings"/>
              <a:cs typeface="Wingding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627376" y="2511037"/>
            <a:ext cx="4742687" cy="5029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908048" y="3172454"/>
            <a:ext cx="5687567" cy="330403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650" y="542650"/>
            <a:ext cx="7886700" cy="5078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zh-CN" altLang="en-US" spc="10" dirty="0"/>
              <a:t>标注</a:t>
            </a:r>
            <a:r>
              <a:rPr spc="10" dirty="0" err="1"/>
              <a:t>问</a:t>
            </a:r>
            <a:r>
              <a:rPr dirty="0" err="1"/>
              <a:t>题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402272" y="1559613"/>
            <a:ext cx="7932420" cy="46545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dirty="0">
                <a:solidFill>
                  <a:srgbClr val="33BC55"/>
                </a:solidFill>
                <a:latin typeface="Wingdings"/>
                <a:cs typeface="Wingdings"/>
              </a:rPr>
              <a:t></a:t>
            </a:r>
            <a:r>
              <a:rPr sz="2600" spc="-20" dirty="0">
                <a:latin typeface="宋体"/>
                <a:cs typeface="宋体"/>
              </a:rPr>
              <a:t>例子</a:t>
            </a:r>
            <a:r>
              <a:rPr sz="2600" spc="-30" dirty="0">
                <a:latin typeface="宋体"/>
                <a:cs typeface="宋体"/>
              </a:rPr>
              <a:t>：</a:t>
            </a:r>
            <a:endParaRPr sz="26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sz="2450" dirty="0">
                <a:solidFill>
                  <a:srgbClr val="33BC55"/>
                </a:solidFill>
                <a:latin typeface="Wingdings"/>
                <a:cs typeface="Wingdings"/>
              </a:rPr>
              <a:t></a:t>
            </a:r>
            <a:r>
              <a:rPr sz="2600" spc="-20" dirty="0">
                <a:latin typeface="宋体"/>
                <a:cs typeface="宋体"/>
              </a:rPr>
              <a:t>标记表示名词短语的“开始”、“结束”或“其他</a:t>
            </a:r>
            <a:r>
              <a:rPr sz="2600" spc="-30" dirty="0">
                <a:latin typeface="宋体"/>
                <a:cs typeface="宋体"/>
              </a:rPr>
              <a:t>”</a:t>
            </a:r>
            <a:endParaRPr sz="2600">
              <a:latin typeface="宋体"/>
              <a:cs typeface="宋体"/>
            </a:endParaRPr>
          </a:p>
          <a:p>
            <a:pPr marL="287020">
              <a:lnSpc>
                <a:spcPct val="100000"/>
              </a:lnSpc>
              <a:spcBef>
                <a:spcPts val="45"/>
              </a:spcBef>
            </a:pPr>
            <a:r>
              <a:rPr sz="2550" spc="35" dirty="0">
                <a:latin typeface="宋体"/>
                <a:cs typeface="宋体"/>
              </a:rPr>
              <a:t>（分别以</a:t>
            </a:r>
            <a:r>
              <a:rPr sz="2550" spc="-45" dirty="0">
                <a:latin typeface="Constantia"/>
                <a:cs typeface="Constantia"/>
              </a:rPr>
              <a:t>B</a:t>
            </a:r>
            <a:r>
              <a:rPr sz="2550" spc="5" dirty="0">
                <a:latin typeface="Constantia"/>
                <a:cs typeface="Constantia"/>
              </a:rPr>
              <a:t>,</a:t>
            </a:r>
            <a:r>
              <a:rPr sz="2550" spc="15" dirty="0">
                <a:latin typeface="Constantia"/>
                <a:cs typeface="Constantia"/>
              </a:rPr>
              <a:t> E</a:t>
            </a:r>
            <a:r>
              <a:rPr sz="2550" spc="5" dirty="0">
                <a:latin typeface="Constantia"/>
                <a:cs typeface="Constantia"/>
              </a:rPr>
              <a:t>,</a:t>
            </a:r>
            <a:r>
              <a:rPr sz="2550" spc="15" dirty="0">
                <a:latin typeface="Constantia"/>
                <a:cs typeface="Constantia"/>
              </a:rPr>
              <a:t> </a:t>
            </a:r>
            <a:r>
              <a:rPr sz="2550" spc="25" dirty="0">
                <a:latin typeface="Constantia"/>
                <a:cs typeface="Constantia"/>
              </a:rPr>
              <a:t>O</a:t>
            </a:r>
            <a:r>
              <a:rPr sz="2550" spc="35" dirty="0">
                <a:latin typeface="宋体"/>
                <a:cs typeface="宋体"/>
              </a:rPr>
              <a:t>表示</a:t>
            </a:r>
            <a:r>
              <a:rPr sz="2550" spc="5" dirty="0">
                <a:latin typeface="Constantia"/>
                <a:cs typeface="Constantia"/>
              </a:rPr>
              <a:t>)</a:t>
            </a:r>
            <a:endParaRPr sz="2550">
              <a:latin typeface="Constantia"/>
              <a:cs typeface="Constantia"/>
            </a:endParaRPr>
          </a:p>
          <a:p>
            <a:pPr marL="287020" marR="57785" indent="-274320">
              <a:lnSpc>
                <a:spcPct val="100200"/>
              </a:lnSpc>
              <a:spcBef>
                <a:spcPts val="670"/>
              </a:spcBef>
            </a:pPr>
            <a:r>
              <a:rPr sz="2450" dirty="0">
                <a:solidFill>
                  <a:srgbClr val="33BC55"/>
                </a:solidFill>
                <a:latin typeface="Wingdings"/>
                <a:cs typeface="Wingdings"/>
              </a:rPr>
              <a:t></a:t>
            </a:r>
            <a:r>
              <a:rPr sz="2550" spc="35" dirty="0">
                <a:latin typeface="宋体"/>
                <a:cs typeface="宋体"/>
              </a:rPr>
              <a:t>输入：</a:t>
            </a:r>
            <a:r>
              <a:rPr sz="2550" spc="20" dirty="0">
                <a:latin typeface="Constantia"/>
                <a:cs typeface="Constantia"/>
              </a:rPr>
              <a:t>A</a:t>
            </a:r>
            <a:r>
              <a:rPr sz="2550" spc="5" dirty="0">
                <a:latin typeface="Constantia"/>
                <a:cs typeface="Constantia"/>
              </a:rPr>
              <a:t>t</a:t>
            </a:r>
            <a:r>
              <a:rPr sz="2550" spc="-45" dirty="0">
                <a:latin typeface="Constantia"/>
                <a:cs typeface="Constantia"/>
              </a:rPr>
              <a:t> </a:t>
            </a:r>
            <a:r>
              <a:rPr sz="2550" spc="25" dirty="0">
                <a:latin typeface="Constantia"/>
                <a:cs typeface="Constantia"/>
              </a:rPr>
              <a:t>M</a:t>
            </a:r>
            <a:r>
              <a:rPr sz="2550" spc="5" dirty="0">
                <a:latin typeface="Constantia"/>
                <a:cs typeface="Constantia"/>
              </a:rPr>
              <a:t>i</a:t>
            </a:r>
            <a:r>
              <a:rPr sz="2550" spc="15" dirty="0">
                <a:latin typeface="Constantia"/>
                <a:cs typeface="Constantia"/>
              </a:rPr>
              <a:t>c</a:t>
            </a:r>
            <a:r>
              <a:rPr sz="2550" spc="-35" dirty="0">
                <a:latin typeface="Constantia"/>
                <a:cs typeface="Constantia"/>
              </a:rPr>
              <a:t>r</a:t>
            </a:r>
            <a:r>
              <a:rPr sz="2550" spc="15" dirty="0">
                <a:latin typeface="Constantia"/>
                <a:cs typeface="Constantia"/>
              </a:rPr>
              <a:t>o</a:t>
            </a:r>
            <a:r>
              <a:rPr sz="2550" spc="10" dirty="0">
                <a:latin typeface="Constantia"/>
                <a:cs typeface="Constantia"/>
              </a:rPr>
              <a:t>s</a:t>
            </a:r>
            <a:r>
              <a:rPr sz="2550" spc="15" dirty="0">
                <a:latin typeface="Constantia"/>
                <a:cs typeface="Constantia"/>
              </a:rPr>
              <a:t>o</a:t>
            </a:r>
            <a:r>
              <a:rPr sz="2550" spc="5" dirty="0">
                <a:latin typeface="Constantia"/>
                <a:cs typeface="Constantia"/>
              </a:rPr>
              <a:t>ft</a:t>
            </a:r>
            <a:r>
              <a:rPr sz="2550" spc="-45" dirty="0">
                <a:latin typeface="Constantia"/>
                <a:cs typeface="Constantia"/>
              </a:rPr>
              <a:t> </a:t>
            </a:r>
            <a:r>
              <a:rPr sz="2550" spc="-20" dirty="0">
                <a:latin typeface="Constantia"/>
                <a:cs typeface="Constantia"/>
              </a:rPr>
              <a:t>R</a:t>
            </a:r>
            <a:r>
              <a:rPr sz="2550" spc="10" dirty="0">
                <a:latin typeface="Constantia"/>
                <a:cs typeface="Constantia"/>
              </a:rPr>
              <a:t>ese</a:t>
            </a:r>
            <a:r>
              <a:rPr sz="2550" spc="15" dirty="0">
                <a:latin typeface="Constantia"/>
                <a:cs typeface="Constantia"/>
              </a:rPr>
              <a:t>a</a:t>
            </a:r>
            <a:r>
              <a:rPr sz="2550" spc="-35" dirty="0">
                <a:latin typeface="Constantia"/>
                <a:cs typeface="Constantia"/>
              </a:rPr>
              <a:t>r</a:t>
            </a:r>
            <a:r>
              <a:rPr sz="2550" spc="15" dirty="0">
                <a:latin typeface="Constantia"/>
                <a:cs typeface="Constantia"/>
              </a:rPr>
              <a:t>ch</a:t>
            </a:r>
            <a:r>
              <a:rPr sz="2550" spc="5" dirty="0">
                <a:latin typeface="Constantia"/>
                <a:cs typeface="Constantia"/>
              </a:rPr>
              <a:t>,</a:t>
            </a:r>
            <a:r>
              <a:rPr sz="2550" spc="-50" dirty="0">
                <a:latin typeface="Constantia"/>
                <a:cs typeface="Constantia"/>
              </a:rPr>
              <a:t> </a:t>
            </a:r>
            <a:r>
              <a:rPr sz="2550" spc="-40" dirty="0">
                <a:latin typeface="Constantia"/>
                <a:cs typeface="Constantia"/>
              </a:rPr>
              <a:t>w</a:t>
            </a:r>
            <a:r>
              <a:rPr sz="2550" spc="10" dirty="0">
                <a:latin typeface="Constantia"/>
                <a:cs typeface="Constantia"/>
              </a:rPr>
              <a:t>e</a:t>
            </a:r>
            <a:r>
              <a:rPr sz="2550" spc="-50" dirty="0">
                <a:latin typeface="Constantia"/>
                <a:cs typeface="Constantia"/>
              </a:rPr>
              <a:t> </a:t>
            </a:r>
            <a:r>
              <a:rPr sz="2550" spc="15" dirty="0">
                <a:latin typeface="Constantia"/>
                <a:cs typeface="Constantia"/>
              </a:rPr>
              <a:t>h</a:t>
            </a:r>
            <a:r>
              <a:rPr sz="2550" spc="-50" dirty="0">
                <a:latin typeface="Constantia"/>
                <a:cs typeface="Constantia"/>
              </a:rPr>
              <a:t>av</a:t>
            </a:r>
            <a:r>
              <a:rPr sz="2550" spc="10" dirty="0">
                <a:latin typeface="Constantia"/>
                <a:cs typeface="Constantia"/>
              </a:rPr>
              <a:t>e</a:t>
            </a:r>
            <a:r>
              <a:rPr sz="2550" spc="-114" dirty="0">
                <a:latin typeface="Constantia"/>
                <a:cs typeface="Constantia"/>
              </a:rPr>
              <a:t> </a:t>
            </a:r>
            <a:r>
              <a:rPr sz="2550" spc="15" dirty="0">
                <a:latin typeface="Constantia"/>
                <a:cs typeface="Constantia"/>
              </a:rPr>
              <a:t>a</a:t>
            </a:r>
            <a:r>
              <a:rPr sz="2550" spc="10" dirty="0">
                <a:latin typeface="Constantia"/>
                <a:cs typeface="Constantia"/>
              </a:rPr>
              <a:t>n</a:t>
            </a:r>
            <a:r>
              <a:rPr sz="2550" spc="-20" dirty="0">
                <a:latin typeface="Constantia"/>
                <a:cs typeface="Constantia"/>
              </a:rPr>
              <a:t> </a:t>
            </a:r>
            <a:r>
              <a:rPr sz="2550" spc="5" dirty="0">
                <a:latin typeface="Constantia"/>
                <a:cs typeface="Constantia"/>
              </a:rPr>
              <a:t>i</a:t>
            </a:r>
            <a:r>
              <a:rPr sz="2550" spc="15" dirty="0">
                <a:latin typeface="Constantia"/>
                <a:cs typeface="Constantia"/>
              </a:rPr>
              <a:t>n</a:t>
            </a:r>
            <a:r>
              <a:rPr sz="2550" spc="10" dirty="0">
                <a:latin typeface="Constantia"/>
                <a:cs typeface="Constantia"/>
              </a:rPr>
              <a:t>s</a:t>
            </a:r>
            <a:r>
              <a:rPr sz="2550" spc="15" dirty="0">
                <a:latin typeface="Constantia"/>
                <a:cs typeface="Constantia"/>
              </a:rPr>
              <a:t>at</a:t>
            </a:r>
            <a:r>
              <a:rPr sz="2550" spc="5" dirty="0">
                <a:latin typeface="Constantia"/>
                <a:cs typeface="Constantia"/>
              </a:rPr>
              <a:t>i</a:t>
            </a:r>
            <a:r>
              <a:rPr sz="2550" spc="15" dirty="0">
                <a:latin typeface="Constantia"/>
                <a:cs typeface="Constantia"/>
              </a:rPr>
              <a:t>ab</a:t>
            </a:r>
            <a:r>
              <a:rPr sz="2550" spc="5" dirty="0">
                <a:latin typeface="Constantia"/>
                <a:cs typeface="Constantia"/>
              </a:rPr>
              <a:t>le </a:t>
            </a:r>
            <a:r>
              <a:rPr sz="2600" spc="-10" dirty="0">
                <a:latin typeface="Constantia"/>
                <a:cs typeface="Constantia"/>
              </a:rPr>
              <a:t>curiosi</a:t>
            </a:r>
            <a:r>
              <a:rPr sz="2600" spc="-5" dirty="0">
                <a:latin typeface="Constantia"/>
                <a:cs typeface="Constantia"/>
              </a:rPr>
              <a:t>t</a:t>
            </a:r>
            <a:r>
              <a:rPr sz="2600" spc="-15" dirty="0">
                <a:latin typeface="Constantia"/>
                <a:cs typeface="Constantia"/>
              </a:rPr>
              <a:t>y</a:t>
            </a:r>
            <a:r>
              <a:rPr sz="2600" spc="-125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an</a:t>
            </a:r>
            <a:r>
              <a:rPr sz="2600" spc="-15" dirty="0">
                <a:latin typeface="Constantia"/>
                <a:cs typeface="Constantia"/>
              </a:rPr>
              <a:t>d</a:t>
            </a:r>
            <a:r>
              <a:rPr sz="2600" spc="-25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th</a:t>
            </a:r>
            <a:r>
              <a:rPr sz="2600" spc="-15" dirty="0">
                <a:latin typeface="Constantia"/>
                <a:cs typeface="Constantia"/>
              </a:rPr>
              <a:t>e</a:t>
            </a:r>
            <a:r>
              <a:rPr sz="2600" spc="-125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d</a:t>
            </a:r>
            <a:r>
              <a:rPr sz="2600" spc="-15" dirty="0">
                <a:latin typeface="Constantia"/>
                <a:cs typeface="Constantia"/>
              </a:rPr>
              <a:t>esi</a:t>
            </a:r>
            <a:r>
              <a:rPr sz="2600" spc="-50" dirty="0">
                <a:latin typeface="Constantia"/>
                <a:cs typeface="Constantia"/>
              </a:rPr>
              <a:t>r</a:t>
            </a:r>
            <a:r>
              <a:rPr sz="2600" spc="-15" dirty="0">
                <a:latin typeface="Constantia"/>
                <a:cs typeface="Constantia"/>
              </a:rPr>
              <a:t>e</a:t>
            </a:r>
            <a:r>
              <a:rPr sz="2600" spc="-90" dirty="0">
                <a:latin typeface="Constantia"/>
                <a:cs typeface="Constantia"/>
              </a:rPr>
              <a:t> </a:t>
            </a:r>
            <a:r>
              <a:rPr sz="2600" spc="-45" dirty="0">
                <a:latin typeface="Constantia"/>
                <a:cs typeface="Constantia"/>
              </a:rPr>
              <a:t>t</a:t>
            </a:r>
            <a:r>
              <a:rPr sz="2600" spc="-15" dirty="0">
                <a:latin typeface="Constantia"/>
                <a:cs typeface="Constantia"/>
              </a:rPr>
              <a:t>o</a:t>
            </a:r>
            <a:r>
              <a:rPr sz="2600" spc="-125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c</a:t>
            </a:r>
            <a:r>
              <a:rPr sz="2600" spc="-50" dirty="0">
                <a:latin typeface="Constantia"/>
                <a:cs typeface="Constantia"/>
              </a:rPr>
              <a:t>r</a:t>
            </a:r>
            <a:r>
              <a:rPr sz="2600" spc="-15" dirty="0">
                <a:latin typeface="Constantia"/>
                <a:cs typeface="Constantia"/>
              </a:rPr>
              <a:t>e</a:t>
            </a:r>
            <a:r>
              <a:rPr sz="2600" spc="-10" dirty="0">
                <a:latin typeface="Constantia"/>
                <a:cs typeface="Constantia"/>
              </a:rPr>
              <a:t>a</a:t>
            </a:r>
            <a:r>
              <a:rPr sz="2600" spc="-45" dirty="0">
                <a:latin typeface="Constantia"/>
                <a:cs typeface="Constantia"/>
              </a:rPr>
              <a:t>t</a:t>
            </a:r>
            <a:r>
              <a:rPr sz="2600" spc="-15" dirty="0">
                <a:latin typeface="Constantia"/>
                <a:cs typeface="Constantia"/>
              </a:rPr>
              <a:t>e</a:t>
            </a:r>
            <a:r>
              <a:rPr sz="2600" spc="-60" dirty="0">
                <a:latin typeface="Constantia"/>
                <a:cs typeface="Constantia"/>
              </a:rPr>
              <a:t> </a:t>
            </a:r>
            <a:r>
              <a:rPr sz="2600" spc="-15" dirty="0">
                <a:latin typeface="Constantia"/>
                <a:cs typeface="Constantia"/>
              </a:rPr>
              <a:t>n</a:t>
            </a:r>
            <a:r>
              <a:rPr sz="2600" spc="-20" dirty="0">
                <a:latin typeface="Constantia"/>
                <a:cs typeface="Constantia"/>
              </a:rPr>
              <a:t>ew</a:t>
            </a:r>
            <a:r>
              <a:rPr sz="2600" spc="-75" dirty="0">
                <a:latin typeface="Constantia"/>
                <a:cs typeface="Constantia"/>
              </a:rPr>
              <a:t> </a:t>
            </a:r>
            <a:r>
              <a:rPr sz="2600" spc="-45" dirty="0">
                <a:latin typeface="Constantia"/>
                <a:cs typeface="Constantia"/>
              </a:rPr>
              <a:t>t</a:t>
            </a:r>
            <a:r>
              <a:rPr sz="2600" spc="-15" dirty="0">
                <a:latin typeface="Constantia"/>
                <a:cs typeface="Constantia"/>
              </a:rPr>
              <a:t>e</a:t>
            </a:r>
            <a:r>
              <a:rPr sz="2600" spc="-10" dirty="0">
                <a:latin typeface="Constantia"/>
                <a:cs typeface="Constantia"/>
              </a:rPr>
              <a:t>chnolo</a:t>
            </a:r>
            <a:r>
              <a:rPr sz="2600" spc="40" dirty="0">
                <a:latin typeface="Constantia"/>
                <a:cs typeface="Constantia"/>
              </a:rPr>
              <a:t>g</a:t>
            </a:r>
            <a:r>
              <a:rPr sz="2600" spc="-15" dirty="0">
                <a:latin typeface="Constantia"/>
                <a:cs typeface="Constantia"/>
              </a:rPr>
              <a:t>y</a:t>
            </a:r>
            <a:r>
              <a:rPr sz="2600" spc="-90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that will</a:t>
            </a:r>
            <a:r>
              <a:rPr sz="2600" spc="5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h</a:t>
            </a:r>
            <a:r>
              <a:rPr sz="2600" spc="-15" dirty="0">
                <a:latin typeface="Constantia"/>
                <a:cs typeface="Constantia"/>
              </a:rPr>
              <a:t>elp</a:t>
            </a:r>
            <a:r>
              <a:rPr sz="2600" spc="-125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d</a:t>
            </a:r>
            <a:r>
              <a:rPr sz="2600" spc="-15" dirty="0">
                <a:latin typeface="Constantia"/>
                <a:cs typeface="Constantia"/>
              </a:rPr>
              <a:t>e</a:t>
            </a:r>
            <a:r>
              <a:rPr sz="2600" spc="50" dirty="0">
                <a:latin typeface="Constantia"/>
                <a:cs typeface="Constantia"/>
              </a:rPr>
              <a:t>f</a:t>
            </a:r>
            <a:r>
              <a:rPr sz="2600" spc="-10" dirty="0">
                <a:latin typeface="Constantia"/>
                <a:cs typeface="Constantia"/>
              </a:rPr>
              <a:t>i</a:t>
            </a:r>
            <a:r>
              <a:rPr sz="2600" spc="-15" dirty="0">
                <a:latin typeface="Constantia"/>
                <a:cs typeface="Constantia"/>
              </a:rPr>
              <a:t>ne</a:t>
            </a:r>
            <a:r>
              <a:rPr sz="2600" spc="-90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th</a:t>
            </a:r>
            <a:r>
              <a:rPr sz="2600" spc="-15" dirty="0">
                <a:latin typeface="Constantia"/>
                <a:cs typeface="Constantia"/>
              </a:rPr>
              <a:t>e</a:t>
            </a:r>
            <a:r>
              <a:rPr sz="2600" spc="-125" dirty="0">
                <a:latin typeface="Constantia"/>
                <a:cs typeface="Constantia"/>
              </a:rPr>
              <a:t> </a:t>
            </a:r>
            <a:r>
              <a:rPr sz="2600" spc="-65" dirty="0">
                <a:latin typeface="Constantia"/>
                <a:cs typeface="Constantia"/>
              </a:rPr>
              <a:t>c</a:t>
            </a:r>
            <a:r>
              <a:rPr sz="2600" spc="-10" dirty="0">
                <a:latin typeface="Constantia"/>
                <a:cs typeface="Constantia"/>
              </a:rPr>
              <a:t>omputi</a:t>
            </a:r>
            <a:r>
              <a:rPr sz="2600" spc="-15" dirty="0">
                <a:latin typeface="Constantia"/>
                <a:cs typeface="Constantia"/>
              </a:rPr>
              <a:t>ng</a:t>
            </a:r>
            <a:r>
              <a:rPr sz="2600" spc="-60" dirty="0">
                <a:latin typeface="Constantia"/>
                <a:cs typeface="Constantia"/>
              </a:rPr>
              <a:t> </a:t>
            </a:r>
            <a:r>
              <a:rPr sz="2600" spc="-15" dirty="0">
                <a:latin typeface="Constantia"/>
                <a:cs typeface="Constantia"/>
              </a:rPr>
              <a:t>e</a:t>
            </a:r>
            <a:r>
              <a:rPr sz="2600" spc="-40" dirty="0">
                <a:latin typeface="Constantia"/>
                <a:cs typeface="Constantia"/>
              </a:rPr>
              <a:t>x</a:t>
            </a:r>
            <a:r>
              <a:rPr sz="2600" spc="-10" dirty="0">
                <a:latin typeface="Constantia"/>
                <a:cs typeface="Constantia"/>
              </a:rPr>
              <a:t>p</a:t>
            </a:r>
            <a:r>
              <a:rPr sz="2600" spc="-15" dirty="0">
                <a:latin typeface="Constantia"/>
                <a:cs typeface="Constantia"/>
              </a:rPr>
              <a:t>erien</a:t>
            </a:r>
            <a:r>
              <a:rPr sz="2600" spc="-65" dirty="0">
                <a:latin typeface="Constantia"/>
                <a:cs typeface="Constantia"/>
              </a:rPr>
              <a:t>c</a:t>
            </a:r>
            <a:r>
              <a:rPr sz="2600" spc="-10" dirty="0">
                <a:latin typeface="Constantia"/>
                <a:cs typeface="Constantia"/>
              </a:rPr>
              <a:t>e.</a:t>
            </a:r>
            <a:endParaRPr sz="2600">
              <a:latin typeface="Constantia"/>
              <a:cs typeface="Constantia"/>
            </a:endParaRPr>
          </a:p>
          <a:p>
            <a:pPr>
              <a:lnSpc>
                <a:spcPct val="100000"/>
              </a:lnSpc>
              <a:spcBef>
                <a:spcPts val="29"/>
              </a:spcBef>
            </a:pPr>
            <a:endParaRPr sz="3750">
              <a:latin typeface="Times New Roman"/>
              <a:cs typeface="Times New Roman"/>
            </a:endParaRPr>
          </a:p>
          <a:p>
            <a:pPr marL="287020" marR="69215" indent="-274320">
              <a:lnSpc>
                <a:spcPct val="100600"/>
              </a:lnSpc>
            </a:pPr>
            <a:r>
              <a:rPr sz="2450" dirty="0">
                <a:solidFill>
                  <a:srgbClr val="33BC55"/>
                </a:solidFill>
                <a:latin typeface="Wingdings"/>
                <a:cs typeface="Wingdings"/>
              </a:rPr>
              <a:t></a:t>
            </a:r>
            <a:r>
              <a:rPr sz="2600" spc="-20" dirty="0">
                <a:latin typeface="宋体"/>
                <a:cs typeface="宋体"/>
              </a:rPr>
              <a:t>输出：</a:t>
            </a:r>
            <a:r>
              <a:rPr sz="2600" spc="-10" dirty="0">
                <a:latin typeface="Constantia"/>
                <a:cs typeface="Constantia"/>
              </a:rPr>
              <a:t>At</a:t>
            </a:r>
            <a:r>
              <a:rPr sz="2600" spc="-20" dirty="0">
                <a:latin typeface="Constantia"/>
                <a:cs typeface="Constantia"/>
              </a:rPr>
              <a:t>/O</a:t>
            </a:r>
            <a:r>
              <a:rPr sz="2600" spc="10" dirty="0">
                <a:latin typeface="Constantia"/>
                <a:cs typeface="Constantia"/>
              </a:rPr>
              <a:t> </a:t>
            </a:r>
            <a:r>
              <a:rPr sz="2600" spc="-15" dirty="0">
                <a:latin typeface="Constantia"/>
                <a:cs typeface="Constantia"/>
              </a:rPr>
              <a:t>M</a:t>
            </a:r>
            <a:r>
              <a:rPr sz="2600" spc="-10" dirty="0">
                <a:latin typeface="Constantia"/>
                <a:cs typeface="Constantia"/>
              </a:rPr>
              <a:t>ic</a:t>
            </a:r>
            <a:r>
              <a:rPr sz="2600" spc="-50" dirty="0">
                <a:latin typeface="Constantia"/>
                <a:cs typeface="Constantia"/>
              </a:rPr>
              <a:t>r</a:t>
            </a:r>
            <a:r>
              <a:rPr sz="2600" spc="-10" dirty="0">
                <a:latin typeface="Constantia"/>
                <a:cs typeface="Constantia"/>
              </a:rPr>
              <a:t>o</a:t>
            </a:r>
            <a:r>
              <a:rPr sz="2600" spc="-15" dirty="0">
                <a:latin typeface="Constantia"/>
                <a:cs typeface="Constantia"/>
              </a:rPr>
              <a:t>s</a:t>
            </a:r>
            <a:r>
              <a:rPr sz="2600" spc="-10" dirty="0">
                <a:latin typeface="Constantia"/>
                <a:cs typeface="Constantia"/>
              </a:rPr>
              <a:t>of</a:t>
            </a:r>
            <a:r>
              <a:rPr sz="2600" spc="-5" dirty="0">
                <a:latin typeface="Constantia"/>
                <a:cs typeface="Constantia"/>
              </a:rPr>
              <a:t>t</a:t>
            </a:r>
            <a:r>
              <a:rPr sz="2600" spc="-15" dirty="0">
                <a:latin typeface="Constantia"/>
                <a:cs typeface="Constantia"/>
              </a:rPr>
              <a:t>/B</a:t>
            </a:r>
            <a:r>
              <a:rPr sz="2600" spc="10" dirty="0">
                <a:latin typeface="Constantia"/>
                <a:cs typeface="Constantia"/>
              </a:rPr>
              <a:t> </a:t>
            </a:r>
            <a:r>
              <a:rPr sz="2600" spc="-55" dirty="0">
                <a:latin typeface="Constantia"/>
                <a:cs typeface="Constantia"/>
              </a:rPr>
              <a:t>R</a:t>
            </a:r>
            <a:r>
              <a:rPr sz="2600" spc="-15" dirty="0">
                <a:latin typeface="Constantia"/>
                <a:cs typeface="Constantia"/>
              </a:rPr>
              <a:t>ese</a:t>
            </a:r>
            <a:r>
              <a:rPr sz="2600" spc="-10" dirty="0">
                <a:latin typeface="Constantia"/>
                <a:cs typeface="Constantia"/>
              </a:rPr>
              <a:t>a</a:t>
            </a:r>
            <a:r>
              <a:rPr sz="2600" spc="-50" dirty="0">
                <a:latin typeface="Constantia"/>
                <a:cs typeface="Constantia"/>
              </a:rPr>
              <a:t>r</a:t>
            </a:r>
            <a:r>
              <a:rPr sz="2600" spc="-10" dirty="0">
                <a:latin typeface="Constantia"/>
                <a:cs typeface="Constantia"/>
              </a:rPr>
              <a:t>ch</a:t>
            </a:r>
            <a:r>
              <a:rPr sz="2600" spc="-15" dirty="0">
                <a:latin typeface="Constantia"/>
                <a:cs typeface="Constantia"/>
              </a:rPr>
              <a:t>/E</a:t>
            </a:r>
            <a:r>
              <a:rPr sz="2600" spc="-10" dirty="0">
                <a:latin typeface="Constantia"/>
                <a:cs typeface="Constantia"/>
              </a:rPr>
              <a:t>,</a:t>
            </a:r>
            <a:r>
              <a:rPr sz="2600" spc="-60" dirty="0">
                <a:latin typeface="Constantia"/>
                <a:cs typeface="Constantia"/>
              </a:rPr>
              <a:t> </a:t>
            </a:r>
            <a:r>
              <a:rPr sz="2600" spc="-75" dirty="0">
                <a:latin typeface="Constantia"/>
                <a:cs typeface="Constantia"/>
              </a:rPr>
              <a:t>w</a:t>
            </a:r>
            <a:r>
              <a:rPr sz="2600" spc="-15" dirty="0">
                <a:latin typeface="Constantia"/>
                <a:cs typeface="Constantia"/>
              </a:rPr>
              <a:t>e/O</a:t>
            </a:r>
            <a:r>
              <a:rPr sz="2600" spc="10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h</a:t>
            </a:r>
            <a:r>
              <a:rPr sz="2600" spc="-75" dirty="0">
                <a:latin typeface="Constantia"/>
                <a:cs typeface="Constantia"/>
              </a:rPr>
              <a:t>av</a:t>
            </a:r>
            <a:r>
              <a:rPr sz="2600" spc="-15" dirty="0">
                <a:latin typeface="Constantia"/>
                <a:cs typeface="Constantia"/>
              </a:rPr>
              <a:t>e/O</a:t>
            </a:r>
            <a:r>
              <a:rPr sz="2600" spc="-10" dirty="0">
                <a:latin typeface="Constantia"/>
                <a:cs typeface="Constantia"/>
              </a:rPr>
              <a:t> an</a:t>
            </a:r>
            <a:r>
              <a:rPr sz="2600" spc="-20" dirty="0">
                <a:latin typeface="Constantia"/>
                <a:cs typeface="Constantia"/>
              </a:rPr>
              <a:t>/O</a:t>
            </a:r>
            <a:r>
              <a:rPr sz="2600" spc="10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i</a:t>
            </a:r>
            <a:r>
              <a:rPr sz="2600" spc="-15" dirty="0">
                <a:latin typeface="Constantia"/>
                <a:cs typeface="Constantia"/>
              </a:rPr>
              <a:t>ns</a:t>
            </a:r>
            <a:r>
              <a:rPr sz="2600" spc="-10" dirty="0">
                <a:latin typeface="Constantia"/>
                <a:cs typeface="Constantia"/>
              </a:rPr>
              <a:t>atiab</a:t>
            </a:r>
            <a:r>
              <a:rPr sz="2600" spc="-15" dirty="0">
                <a:latin typeface="Constantia"/>
                <a:cs typeface="Constantia"/>
              </a:rPr>
              <a:t>le/6</a:t>
            </a:r>
            <a:r>
              <a:rPr sz="2600" spc="-60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curiosi</a:t>
            </a:r>
            <a:r>
              <a:rPr sz="2600" spc="-5" dirty="0">
                <a:latin typeface="Constantia"/>
                <a:cs typeface="Constantia"/>
              </a:rPr>
              <a:t>t</a:t>
            </a:r>
            <a:r>
              <a:rPr sz="2600" spc="-15" dirty="0">
                <a:latin typeface="Constantia"/>
                <a:cs typeface="Constantia"/>
              </a:rPr>
              <a:t>y/E</a:t>
            </a:r>
            <a:r>
              <a:rPr sz="2600" spc="-55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and</a:t>
            </a:r>
            <a:r>
              <a:rPr sz="2600" spc="-20" dirty="0">
                <a:latin typeface="Constantia"/>
                <a:cs typeface="Constantia"/>
              </a:rPr>
              <a:t>/O </a:t>
            </a:r>
            <a:r>
              <a:rPr sz="2600" spc="-10" dirty="0">
                <a:latin typeface="Constantia"/>
                <a:cs typeface="Constantia"/>
              </a:rPr>
              <a:t>th</a:t>
            </a:r>
            <a:r>
              <a:rPr sz="2600" spc="-15" dirty="0">
                <a:latin typeface="Constantia"/>
                <a:cs typeface="Constantia"/>
              </a:rPr>
              <a:t>e/O</a:t>
            </a:r>
            <a:r>
              <a:rPr sz="2600" spc="-55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d</a:t>
            </a:r>
            <a:r>
              <a:rPr sz="2600" spc="-15" dirty="0">
                <a:latin typeface="Constantia"/>
                <a:cs typeface="Constantia"/>
              </a:rPr>
              <a:t>esi</a:t>
            </a:r>
            <a:r>
              <a:rPr sz="2600" spc="-50" dirty="0">
                <a:latin typeface="Constantia"/>
                <a:cs typeface="Constantia"/>
              </a:rPr>
              <a:t>r</a:t>
            </a:r>
            <a:r>
              <a:rPr sz="2600" spc="-15" dirty="0">
                <a:latin typeface="Constantia"/>
                <a:cs typeface="Constantia"/>
              </a:rPr>
              <a:t>e/B</a:t>
            </a:r>
            <a:r>
              <a:rPr sz="2600" spc="-20" dirty="0">
                <a:latin typeface="Constantia"/>
                <a:cs typeface="Constantia"/>
              </a:rPr>
              <a:t>E</a:t>
            </a:r>
            <a:r>
              <a:rPr sz="2600" spc="-10" dirty="0">
                <a:latin typeface="Constantia"/>
                <a:cs typeface="Constantia"/>
              </a:rPr>
              <a:t> </a:t>
            </a:r>
            <a:r>
              <a:rPr sz="2550" spc="-30" dirty="0">
                <a:latin typeface="Constantia"/>
                <a:cs typeface="Constantia"/>
              </a:rPr>
              <a:t>t</a:t>
            </a:r>
            <a:r>
              <a:rPr sz="2550" spc="15" dirty="0">
                <a:latin typeface="Constantia"/>
                <a:cs typeface="Constantia"/>
              </a:rPr>
              <a:t>o/O</a:t>
            </a:r>
            <a:r>
              <a:rPr sz="2550" spc="-45" dirty="0">
                <a:latin typeface="Constantia"/>
                <a:cs typeface="Constantia"/>
              </a:rPr>
              <a:t> </a:t>
            </a:r>
            <a:r>
              <a:rPr sz="2550" spc="15" dirty="0">
                <a:latin typeface="Constantia"/>
                <a:cs typeface="Constantia"/>
              </a:rPr>
              <a:t>c</a:t>
            </a:r>
            <a:r>
              <a:rPr sz="2550" spc="-35" dirty="0">
                <a:latin typeface="Constantia"/>
                <a:cs typeface="Constantia"/>
              </a:rPr>
              <a:t>r</a:t>
            </a:r>
            <a:r>
              <a:rPr sz="2550" spc="10" dirty="0">
                <a:latin typeface="Constantia"/>
                <a:cs typeface="Constantia"/>
              </a:rPr>
              <a:t>e</a:t>
            </a:r>
            <a:r>
              <a:rPr sz="2550" spc="15" dirty="0">
                <a:latin typeface="Constantia"/>
                <a:cs typeface="Constantia"/>
              </a:rPr>
              <a:t>a</a:t>
            </a:r>
            <a:r>
              <a:rPr sz="2550" spc="-30" dirty="0">
                <a:latin typeface="Constantia"/>
                <a:cs typeface="Constantia"/>
              </a:rPr>
              <a:t>t</a:t>
            </a:r>
            <a:r>
              <a:rPr sz="2550" spc="10" dirty="0">
                <a:latin typeface="Constantia"/>
                <a:cs typeface="Constantia"/>
              </a:rPr>
              <a:t>e/O</a:t>
            </a:r>
            <a:r>
              <a:rPr sz="2550" spc="20" dirty="0">
                <a:latin typeface="Constantia"/>
                <a:cs typeface="Constantia"/>
              </a:rPr>
              <a:t> </a:t>
            </a:r>
            <a:r>
              <a:rPr sz="2550" spc="15" dirty="0">
                <a:latin typeface="Constantia"/>
                <a:cs typeface="Constantia"/>
              </a:rPr>
              <a:t>n</a:t>
            </a:r>
            <a:r>
              <a:rPr sz="2550" spc="10" dirty="0">
                <a:latin typeface="Constantia"/>
                <a:cs typeface="Constantia"/>
              </a:rPr>
              <a:t>e</a:t>
            </a:r>
            <a:r>
              <a:rPr sz="2550" spc="25" dirty="0">
                <a:latin typeface="Constantia"/>
                <a:cs typeface="Constantia"/>
              </a:rPr>
              <a:t>w</a:t>
            </a:r>
            <a:r>
              <a:rPr sz="2550" spc="10" dirty="0">
                <a:latin typeface="Constantia"/>
                <a:cs typeface="Constantia"/>
              </a:rPr>
              <a:t>/B</a:t>
            </a:r>
            <a:r>
              <a:rPr sz="2550" spc="-10" dirty="0">
                <a:latin typeface="Constantia"/>
                <a:cs typeface="Constantia"/>
              </a:rPr>
              <a:t> </a:t>
            </a:r>
            <a:r>
              <a:rPr sz="2550" spc="-30" dirty="0">
                <a:latin typeface="Constantia"/>
                <a:cs typeface="Constantia"/>
              </a:rPr>
              <a:t>t</a:t>
            </a:r>
            <a:r>
              <a:rPr sz="2550" spc="10" dirty="0">
                <a:latin typeface="Constantia"/>
                <a:cs typeface="Constantia"/>
              </a:rPr>
              <a:t>e</a:t>
            </a:r>
            <a:r>
              <a:rPr sz="2550" spc="15" dirty="0">
                <a:latin typeface="Constantia"/>
                <a:cs typeface="Constantia"/>
              </a:rPr>
              <a:t>chno</a:t>
            </a:r>
            <a:r>
              <a:rPr sz="2550" spc="5" dirty="0">
                <a:latin typeface="Constantia"/>
                <a:cs typeface="Constantia"/>
              </a:rPr>
              <a:t>l</a:t>
            </a:r>
            <a:r>
              <a:rPr sz="2550" spc="15" dirty="0">
                <a:latin typeface="Constantia"/>
                <a:cs typeface="Constantia"/>
              </a:rPr>
              <a:t>o</a:t>
            </a:r>
            <a:r>
              <a:rPr sz="2550" spc="65" dirty="0">
                <a:latin typeface="Constantia"/>
                <a:cs typeface="Constantia"/>
              </a:rPr>
              <a:t>g</a:t>
            </a:r>
            <a:r>
              <a:rPr sz="2550" spc="10" dirty="0">
                <a:latin typeface="Constantia"/>
                <a:cs typeface="Constantia"/>
              </a:rPr>
              <a:t>y/E</a:t>
            </a:r>
            <a:r>
              <a:rPr sz="2550" spc="-10" dirty="0">
                <a:latin typeface="Constantia"/>
                <a:cs typeface="Constantia"/>
              </a:rPr>
              <a:t> </a:t>
            </a:r>
            <a:r>
              <a:rPr sz="2550" spc="15" dirty="0">
                <a:latin typeface="Constantia"/>
                <a:cs typeface="Constantia"/>
              </a:rPr>
              <a:t>that/O</a:t>
            </a:r>
            <a:r>
              <a:rPr sz="2550" spc="-45" dirty="0">
                <a:latin typeface="Constantia"/>
                <a:cs typeface="Constantia"/>
              </a:rPr>
              <a:t> </a:t>
            </a:r>
            <a:r>
              <a:rPr sz="2550" spc="25" dirty="0">
                <a:latin typeface="Constantia"/>
                <a:cs typeface="Constantia"/>
              </a:rPr>
              <a:t>w</a:t>
            </a:r>
            <a:r>
              <a:rPr sz="2550" spc="10" dirty="0">
                <a:latin typeface="Constantia"/>
                <a:cs typeface="Constantia"/>
              </a:rPr>
              <a:t>ill/O</a:t>
            </a:r>
            <a:r>
              <a:rPr sz="2550" spc="5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help</a:t>
            </a:r>
            <a:r>
              <a:rPr sz="2600" spc="-20" dirty="0">
                <a:latin typeface="Constantia"/>
                <a:cs typeface="Constantia"/>
              </a:rPr>
              <a:t>/O</a:t>
            </a:r>
            <a:r>
              <a:rPr sz="2600" spc="-55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d</a:t>
            </a:r>
            <a:r>
              <a:rPr sz="2600" spc="-15" dirty="0">
                <a:latin typeface="Constantia"/>
                <a:cs typeface="Constantia"/>
              </a:rPr>
              <a:t>e</a:t>
            </a:r>
            <a:r>
              <a:rPr sz="2600" spc="50" dirty="0">
                <a:latin typeface="Constantia"/>
                <a:cs typeface="Constantia"/>
              </a:rPr>
              <a:t>f</a:t>
            </a:r>
            <a:r>
              <a:rPr sz="2600" spc="-10" dirty="0">
                <a:latin typeface="Constantia"/>
                <a:cs typeface="Constantia"/>
              </a:rPr>
              <a:t>i</a:t>
            </a:r>
            <a:r>
              <a:rPr sz="2600" spc="-15" dirty="0">
                <a:latin typeface="Constantia"/>
                <a:cs typeface="Constantia"/>
              </a:rPr>
              <a:t>ne/O</a:t>
            </a:r>
            <a:r>
              <a:rPr sz="2600" spc="-20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th</a:t>
            </a:r>
            <a:r>
              <a:rPr sz="2600" spc="-15" dirty="0">
                <a:latin typeface="Constantia"/>
                <a:cs typeface="Constantia"/>
              </a:rPr>
              <a:t>e/O</a:t>
            </a:r>
            <a:r>
              <a:rPr sz="2600" spc="-55" dirty="0">
                <a:latin typeface="Constantia"/>
                <a:cs typeface="Constantia"/>
              </a:rPr>
              <a:t> </a:t>
            </a:r>
            <a:r>
              <a:rPr sz="2600" spc="-65" dirty="0">
                <a:latin typeface="Constantia"/>
                <a:cs typeface="Constantia"/>
              </a:rPr>
              <a:t>c</a:t>
            </a:r>
            <a:r>
              <a:rPr sz="2600" spc="-10" dirty="0">
                <a:latin typeface="Constantia"/>
                <a:cs typeface="Constantia"/>
              </a:rPr>
              <a:t>omputing</a:t>
            </a:r>
            <a:r>
              <a:rPr sz="2600" spc="-15" dirty="0">
                <a:latin typeface="Constantia"/>
                <a:cs typeface="Constantia"/>
              </a:rPr>
              <a:t>/B</a:t>
            </a:r>
            <a:r>
              <a:rPr sz="2600" spc="-55" dirty="0">
                <a:latin typeface="Constantia"/>
                <a:cs typeface="Constantia"/>
              </a:rPr>
              <a:t> </a:t>
            </a:r>
            <a:r>
              <a:rPr sz="2600" spc="-15" dirty="0">
                <a:latin typeface="Constantia"/>
                <a:cs typeface="Constantia"/>
              </a:rPr>
              <a:t>e</a:t>
            </a:r>
            <a:r>
              <a:rPr sz="2600" spc="-40" dirty="0">
                <a:latin typeface="Constantia"/>
                <a:cs typeface="Constantia"/>
              </a:rPr>
              <a:t>x</a:t>
            </a:r>
            <a:r>
              <a:rPr sz="2600" spc="-10" dirty="0">
                <a:latin typeface="Constantia"/>
                <a:cs typeface="Constantia"/>
              </a:rPr>
              <a:t>p</a:t>
            </a:r>
            <a:r>
              <a:rPr sz="2600" spc="-15" dirty="0">
                <a:latin typeface="Constantia"/>
                <a:cs typeface="Constantia"/>
              </a:rPr>
              <a:t>erien</a:t>
            </a:r>
            <a:r>
              <a:rPr sz="2600" spc="-65" dirty="0">
                <a:latin typeface="Constantia"/>
                <a:cs typeface="Constantia"/>
              </a:rPr>
              <a:t>c</a:t>
            </a:r>
            <a:r>
              <a:rPr sz="2600" spc="-15" dirty="0">
                <a:latin typeface="Constantia"/>
                <a:cs typeface="Constantia"/>
              </a:rPr>
              <a:t>e/E</a:t>
            </a:r>
            <a:r>
              <a:rPr sz="2600" spc="-10" dirty="0">
                <a:latin typeface="Constantia"/>
                <a:cs typeface="Constantia"/>
              </a:rPr>
              <a:t>.</a:t>
            </a:r>
            <a:endParaRPr sz="2600">
              <a:latin typeface="Constantia"/>
              <a:cs typeface="Constanti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回归问</a:t>
            </a:r>
            <a:r>
              <a:rPr dirty="0"/>
              <a:t>题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272" y="1559613"/>
            <a:ext cx="8262620" cy="20980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7020" marR="5080" indent="-274320">
              <a:lnSpc>
                <a:spcPct val="100000"/>
              </a:lnSpc>
            </a:pPr>
            <a:r>
              <a:rPr sz="2450" dirty="0">
                <a:solidFill>
                  <a:srgbClr val="33BC55"/>
                </a:solidFill>
                <a:latin typeface="Wingdings"/>
                <a:cs typeface="Wingdings"/>
              </a:rPr>
              <a:t></a:t>
            </a:r>
            <a:r>
              <a:rPr sz="2600" spc="-20" dirty="0">
                <a:latin typeface="宋体"/>
                <a:cs typeface="宋体"/>
              </a:rPr>
              <a:t>回归学习最常用的损失函数是平方损失函数，在此情</a:t>
            </a:r>
            <a:r>
              <a:rPr sz="2600" spc="-30" dirty="0">
                <a:latin typeface="宋体"/>
                <a:cs typeface="宋体"/>
              </a:rPr>
              <a:t>况</a:t>
            </a:r>
            <a:r>
              <a:rPr sz="2600" spc="-15" dirty="0">
                <a:latin typeface="宋体"/>
                <a:cs typeface="宋体"/>
              </a:rPr>
              <a:t> </a:t>
            </a:r>
            <a:r>
              <a:rPr sz="2600" spc="-20" dirty="0">
                <a:latin typeface="宋体"/>
                <a:cs typeface="宋体"/>
              </a:rPr>
              <a:t>下，回归问题可以</a:t>
            </a:r>
            <a:r>
              <a:rPr sz="2600" spc="-30" dirty="0">
                <a:latin typeface="宋体"/>
                <a:cs typeface="宋体"/>
              </a:rPr>
              <a:t>由</a:t>
            </a:r>
            <a:r>
              <a:rPr sz="2600" spc="-635" dirty="0">
                <a:latin typeface="宋体"/>
                <a:cs typeface="宋体"/>
              </a:rPr>
              <a:t> </a:t>
            </a:r>
            <a:r>
              <a:rPr sz="2600" spc="-20" dirty="0">
                <a:latin typeface="宋体"/>
                <a:cs typeface="宋体"/>
              </a:rPr>
              <a:t>著名的最小二乘法</a:t>
            </a:r>
            <a:r>
              <a:rPr sz="2600" spc="-5" dirty="0">
                <a:latin typeface="Constantia"/>
                <a:cs typeface="Constantia"/>
              </a:rPr>
              <a:t>(</a:t>
            </a:r>
            <a:r>
              <a:rPr sz="2600" spc="-10" dirty="0">
                <a:latin typeface="Constantia"/>
                <a:cs typeface="Constantia"/>
              </a:rPr>
              <a:t>least</a:t>
            </a:r>
            <a:r>
              <a:rPr sz="2600" spc="-114" dirty="0">
                <a:latin typeface="Constantia"/>
                <a:cs typeface="Constantia"/>
              </a:rPr>
              <a:t> </a:t>
            </a:r>
            <a:r>
              <a:rPr sz="2600" spc="-15" dirty="0">
                <a:latin typeface="Constantia"/>
                <a:cs typeface="Constantia"/>
              </a:rPr>
              <a:t>s</a:t>
            </a:r>
            <a:r>
              <a:rPr sz="2600" spc="-10" dirty="0">
                <a:latin typeface="Constantia"/>
                <a:cs typeface="Constantia"/>
              </a:rPr>
              <a:t>qua</a:t>
            </a:r>
            <a:r>
              <a:rPr sz="2600" spc="-50" dirty="0">
                <a:latin typeface="Constantia"/>
                <a:cs typeface="Constantia"/>
              </a:rPr>
              <a:t>r</a:t>
            </a:r>
            <a:r>
              <a:rPr sz="2600" spc="-15" dirty="0">
                <a:latin typeface="Constantia"/>
                <a:cs typeface="Constantia"/>
              </a:rPr>
              <a:t>es)</a:t>
            </a:r>
            <a:r>
              <a:rPr sz="2600" spc="-10" dirty="0">
                <a:latin typeface="Constantia"/>
                <a:cs typeface="Constantia"/>
              </a:rPr>
              <a:t> </a:t>
            </a:r>
            <a:r>
              <a:rPr sz="2600" spc="-20" dirty="0">
                <a:latin typeface="宋体"/>
                <a:cs typeface="宋体"/>
              </a:rPr>
              <a:t>求解</a:t>
            </a:r>
            <a:r>
              <a:rPr sz="2600" spc="-30" dirty="0">
                <a:latin typeface="宋体"/>
                <a:cs typeface="宋体"/>
              </a:rPr>
              <a:t>。</a:t>
            </a:r>
            <a:endParaRPr sz="26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3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50" dirty="0">
                <a:solidFill>
                  <a:srgbClr val="33BC55"/>
                </a:solidFill>
                <a:latin typeface="Wingdings"/>
                <a:cs typeface="Wingdings"/>
              </a:rPr>
              <a:t></a:t>
            </a:r>
            <a:r>
              <a:rPr sz="2550" spc="35" dirty="0">
                <a:latin typeface="宋体"/>
                <a:cs typeface="宋体"/>
              </a:rPr>
              <a:t>股价预</a:t>
            </a:r>
            <a:r>
              <a:rPr sz="2550" spc="25" dirty="0">
                <a:latin typeface="宋体"/>
                <a:cs typeface="宋体"/>
              </a:rPr>
              <a:t>测</a:t>
            </a:r>
            <a:endParaRPr sz="255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64941" y="3002840"/>
            <a:ext cx="1636395" cy="635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800" dirty="0">
                <a:solidFill>
                  <a:srgbClr val="FF0000"/>
                </a:solidFill>
                <a:latin typeface="Constantia"/>
                <a:cs typeface="Constantia"/>
              </a:rPr>
              <a:t>Q </a:t>
            </a:r>
            <a:r>
              <a:rPr sz="4800" spc="-35" dirty="0">
                <a:solidFill>
                  <a:srgbClr val="FF0000"/>
                </a:solidFill>
                <a:latin typeface="Constantia"/>
                <a:cs typeface="Constantia"/>
              </a:rPr>
              <a:t>&amp;</a:t>
            </a:r>
            <a:r>
              <a:rPr sz="4800" spc="-70" dirty="0">
                <a:solidFill>
                  <a:srgbClr val="FF0000"/>
                </a:solidFill>
                <a:latin typeface="Constantia"/>
                <a:cs typeface="Constantia"/>
              </a:rPr>
              <a:t> </a:t>
            </a:r>
            <a:r>
              <a:rPr sz="4800" dirty="0">
                <a:solidFill>
                  <a:srgbClr val="FF0000"/>
                </a:solidFill>
                <a:latin typeface="Constantia"/>
                <a:cs typeface="Constantia"/>
              </a:rPr>
              <a:t>A</a:t>
            </a:r>
            <a:endParaRPr sz="4800">
              <a:latin typeface="Constantia"/>
              <a:cs typeface="Constant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董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董.pptx" id="{53DC6C71-A230-4371-BBA6-DDDE53A86B5A}" vid="{FCF426DE-9AD6-4247-BF7F-EC1FF544EEF8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董</Template>
  <TotalTime>731</TotalTime>
  <Words>1071</Words>
  <Application>Microsoft Office PowerPoint</Application>
  <PresentationFormat>全屏显示(4:3)</PresentationFormat>
  <Paragraphs>270</Paragraphs>
  <Slides>35</Slides>
  <Notes>33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44" baseType="lpstr">
      <vt:lpstr>宋体</vt:lpstr>
      <vt:lpstr>微软雅黑</vt:lpstr>
      <vt:lpstr>Arial</vt:lpstr>
      <vt:lpstr>Calibri</vt:lpstr>
      <vt:lpstr>Calibri Light</vt:lpstr>
      <vt:lpstr>Constantia</vt:lpstr>
      <vt:lpstr>Times New Roman</vt:lpstr>
      <vt:lpstr>Wingdings</vt:lpstr>
      <vt:lpstr>董</vt:lpstr>
      <vt:lpstr>机器学习</vt:lpstr>
      <vt:lpstr>PowerPoint 演示文稿</vt:lpstr>
      <vt:lpstr>PowerPoint 演示文稿</vt:lpstr>
      <vt:lpstr>PowerPoint 演示文稿</vt:lpstr>
      <vt:lpstr>一、统计学习</vt:lpstr>
      <vt:lpstr>统计学习</vt:lpstr>
      <vt:lpstr>统计学习</vt:lpstr>
      <vt:lpstr>二、监督学习</vt:lpstr>
      <vt:lpstr>监督学习</vt:lpstr>
      <vt:lpstr>PowerPoint 演示文稿</vt:lpstr>
      <vt:lpstr>三、统计学习三要素</vt:lpstr>
      <vt:lpstr>统计学习三要素</vt:lpstr>
      <vt:lpstr>统计学习三要素</vt:lpstr>
      <vt:lpstr>统计学习三要素</vt:lpstr>
      <vt:lpstr>PowerPoint 演示文稿</vt:lpstr>
      <vt:lpstr>统计学习三要素</vt:lpstr>
      <vt:lpstr>四、模型评估与模型选择</vt:lpstr>
      <vt:lpstr>模型评估与模型选择</vt:lpstr>
      <vt:lpstr>模型评估与模型选择</vt:lpstr>
      <vt:lpstr>模型评估与模型选择</vt:lpstr>
      <vt:lpstr>五、正则化与交叉验证</vt:lpstr>
      <vt:lpstr>正则化与交叉验证</vt:lpstr>
      <vt:lpstr>六、泛化能力 generalization ability</vt:lpstr>
      <vt:lpstr>泛化能力 generalization ability</vt:lpstr>
      <vt:lpstr>七、生成模型与判别模型</vt:lpstr>
      <vt:lpstr>生成模型与判别模型</vt:lpstr>
      <vt:lpstr>生成模型与判别模型</vt:lpstr>
      <vt:lpstr>八、分类问题</vt:lpstr>
      <vt:lpstr>分类问题</vt:lpstr>
      <vt:lpstr>分类问题</vt:lpstr>
      <vt:lpstr>九、标注问题</vt:lpstr>
      <vt:lpstr>十、回归问题</vt:lpstr>
      <vt:lpstr>标注问题</vt:lpstr>
      <vt:lpstr>回归问题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cp:lastModifiedBy>dong qiwen</cp:lastModifiedBy>
  <cp:revision>45</cp:revision>
  <dcterms:created xsi:type="dcterms:W3CDTF">2019-02-12T08:17:56Z</dcterms:created>
  <dcterms:modified xsi:type="dcterms:W3CDTF">2024-09-09T02:09:30Z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2016-08-09T00:00:00Z</vt:filetime>
  </property>
  <property fmtid="{D5CDD505-2E9C-101B-9397-08002B2CF9AE}" pid="3" name="LastSaved">
    <vt:filetime>2019-02-12T00:00:00Z</vt:filetime>
  </property>
</Properties>
</file>