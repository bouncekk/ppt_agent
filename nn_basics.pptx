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6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media/image2.jpg" ContentType="image/jpg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4.xml" ContentType="application/vnd.openxmlformats-officedocument.presentationml.notesSlide+xml"/>
  <Override PartName="/ppt/media/image13.jpg" ContentType="image/jpg"/>
  <Override PartName="/ppt/media/image14.jpg" ContentType="image/jpg"/>
  <Override PartName="/ppt/media/image15.jpg" ContentType="image/jpg"/>
  <Override PartName="/ppt/media/image16.jpg" ContentType="image/jpg"/>
  <Override PartName="/ppt/media/image17.jpg" ContentType="image/jpg"/>
  <Override PartName="/ppt/media/image18.jpg" ContentType="image/jpg"/>
  <Override PartName="/ppt/media/image19.jpg" ContentType="image/jpg"/>
  <Override PartName="/ppt/media/image20.jpg" ContentType="image/jpg"/>
  <Override PartName="/ppt/theme/themeOverride5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notesSlides/notesSlide8.xml" ContentType="application/vnd.openxmlformats-officedocument.presentationml.notesSlide+xml"/>
  <Override PartName="/ppt/media/image42.jpg" ContentType="image/jpg"/>
  <Override PartName="/ppt/media/image43.jpg" ContentType="image/jpg"/>
  <Override PartName="/ppt/media/image44.jpg" ContentType="image/jpg"/>
  <Override PartName="/ppt/media/image45.jpg" ContentType="image/jpg"/>
  <Override PartName="/ppt/notesSlides/notesSlide9.xml" ContentType="application/vnd.openxmlformats-officedocument.presentationml.notesSlide+xml"/>
  <Override PartName="/ppt/media/image46.jpg" ContentType="image/jpg"/>
  <Override PartName="/ppt/media/image47.jpg" ContentType="image/jpg"/>
  <Override PartName="/ppt/media/image48.jpg" ContentType="image/jpg"/>
  <Override PartName="/ppt/media/image49.jpg" ContentType="image/jpg"/>
  <Override PartName="/ppt/media/image50.jpg" ContentType="image/jpg"/>
  <Override PartName="/ppt/media/image51.jpg" ContentType="image/jpg"/>
  <Override PartName="/ppt/media/image52.jpg" ContentType="image/jpg"/>
  <Override PartName="/ppt/media/image53.jpg" ContentType="image/jpg"/>
  <Override PartName="/ppt/media/image54.jpg" ContentType="image/jpg"/>
  <Override PartName="/ppt/media/image55.jpg" ContentType="image/jpg"/>
  <Override PartName="/ppt/media/image56.jpg" ContentType="image/jpg"/>
  <Override PartName="/ppt/media/image57.jpg" ContentType="image/jpg"/>
  <Override PartName="/ppt/media/image58.jpg" ContentType="image/jpg"/>
  <Override PartName="/ppt/media/image59.jpg" ContentType="image/jpg"/>
  <Override PartName="/ppt/media/image60.jpg" ContentType="image/jpg"/>
  <Override PartName="/ppt/media/image61.jpg" ContentType="image/jpg"/>
  <Override PartName="/ppt/media/image64.jpg" ContentType="image/jpg"/>
  <Override PartName="/ppt/media/image65.jpg" ContentType="image/jpg"/>
  <Override PartName="/ppt/media/image66.jpg" ContentType="image/jpg"/>
  <Override PartName="/ppt/media/image67.jpg" ContentType="image/jpg"/>
  <Override PartName="/ppt/media/image68.jpg" ContentType="image/jpg"/>
  <Override PartName="/ppt/media/image69.jpg" ContentType="image/jpg"/>
  <Override PartName="/ppt/media/image70.jpg" ContentType="image/jpg"/>
  <Override PartName="/ppt/media/image74.jpg" ContentType="image/jpg"/>
  <Override PartName="/ppt/theme/themeOverride14.xml" ContentType="application/vnd.openxmlformats-officedocument.themeOverride+xml"/>
  <Override PartName="/ppt/media/image75.jpg" ContentType="image/jpg"/>
  <Override PartName="/ppt/media/image76.jpg" ContentType="image/jpg"/>
  <Override PartName="/ppt/notesSlides/notesSlide10.xml" ContentType="application/vnd.openxmlformats-officedocument.presentationml.notesSlide+xml"/>
  <Override PartName="/ppt/media/image77.jpg" ContentType="image/jpg"/>
  <Override PartName="/ppt/media/image78.jpg" ContentType="image/jpg"/>
  <Override PartName="/ppt/media/image79.jpg" ContentType="image/jpg"/>
  <Override PartName="/ppt/media/image80.jpg" ContentType="image/jpg"/>
  <Override PartName="/ppt/media/image81.jpg" ContentType="image/jpg"/>
  <Override PartName="/ppt/media/image82.jpg" ContentType="image/jpg"/>
  <Override PartName="/ppt/media/image83.jpg" ContentType="image/jpg"/>
  <Override PartName="/ppt/media/image84.jpg" ContentType="image/jpg"/>
  <Override PartName="/ppt/media/image85.jpg" ContentType="image/jpg"/>
  <Override PartName="/ppt/media/image86.jpg" ContentType="image/jpg"/>
  <Override PartName="/ppt/media/image87.jpg" ContentType="image/jpg"/>
  <Override PartName="/ppt/media/image88.jpg" ContentType="image/jpg"/>
  <Override PartName="/ppt/media/image89.jpg" ContentType="image/jpg"/>
  <Override PartName="/ppt/media/image90.jpg" ContentType="image/jpg"/>
  <Override PartName="/ppt/media/image91.jpg" ContentType="image/jpg"/>
  <Override PartName="/ppt/media/image92.jpg" ContentType="image/jpg"/>
  <Override PartName="/ppt/media/image93.jpg" ContentType="image/jpg"/>
  <Override PartName="/ppt/media/image94.jpg" ContentType="image/jpg"/>
  <Override PartName="/ppt/media/image95.jpg" ContentType="image/jpg"/>
  <Override PartName="/ppt/media/image96.jpg" ContentType="image/jp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72" r:id="rId1"/>
    <p:sldMasterId id="2147483684" r:id="rId2"/>
    <p:sldMasterId id="2147483733" r:id="rId3"/>
    <p:sldMasterId id="2147483821" r:id="rId4"/>
    <p:sldMasterId id="2147483833" r:id="rId5"/>
    <p:sldMasterId id="2147483869" r:id="rId6"/>
    <p:sldMasterId id="2147483911" r:id="rId7"/>
  </p:sldMasterIdLst>
  <p:notesMasterIdLst>
    <p:notesMasterId r:id="rId82"/>
  </p:notesMasterIdLst>
  <p:sldIdLst>
    <p:sldId id="256" r:id="rId8"/>
    <p:sldId id="435" r:id="rId9"/>
    <p:sldId id="343" r:id="rId10"/>
    <p:sldId id="345" r:id="rId11"/>
    <p:sldId id="346" r:id="rId12"/>
    <p:sldId id="446" r:id="rId13"/>
    <p:sldId id="447" r:id="rId14"/>
    <p:sldId id="706" r:id="rId15"/>
    <p:sldId id="449" r:id="rId16"/>
    <p:sldId id="450" r:id="rId17"/>
    <p:sldId id="838" r:id="rId18"/>
    <p:sldId id="839" r:id="rId19"/>
    <p:sldId id="452" r:id="rId20"/>
    <p:sldId id="453" r:id="rId21"/>
    <p:sldId id="454" r:id="rId22"/>
    <p:sldId id="455" r:id="rId23"/>
    <p:sldId id="456" r:id="rId24"/>
    <p:sldId id="457" r:id="rId25"/>
    <p:sldId id="458" r:id="rId26"/>
    <p:sldId id="459" r:id="rId27"/>
    <p:sldId id="479" r:id="rId28"/>
    <p:sldId id="641" r:id="rId29"/>
    <p:sldId id="643" r:id="rId30"/>
    <p:sldId id="645" r:id="rId31"/>
    <p:sldId id="646" r:id="rId32"/>
    <p:sldId id="647" r:id="rId33"/>
    <p:sldId id="648" r:id="rId34"/>
    <p:sldId id="649" r:id="rId35"/>
    <p:sldId id="650" r:id="rId36"/>
    <p:sldId id="651" r:id="rId37"/>
    <p:sldId id="652" r:id="rId38"/>
    <p:sldId id="653" r:id="rId39"/>
    <p:sldId id="654" r:id="rId40"/>
    <p:sldId id="655" r:id="rId41"/>
    <p:sldId id="703" r:id="rId42"/>
    <p:sldId id="704" r:id="rId43"/>
    <p:sldId id="815" r:id="rId44"/>
    <p:sldId id="657" r:id="rId45"/>
    <p:sldId id="658" r:id="rId46"/>
    <p:sldId id="506" r:id="rId47"/>
    <p:sldId id="507" r:id="rId48"/>
    <p:sldId id="508" r:id="rId49"/>
    <p:sldId id="509" r:id="rId50"/>
    <p:sldId id="510" r:id="rId51"/>
    <p:sldId id="511" r:id="rId52"/>
    <p:sldId id="515" r:id="rId53"/>
    <p:sldId id="517" r:id="rId54"/>
    <p:sldId id="519" r:id="rId55"/>
    <p:sldId id="709" r:id="rId56"/>
    <p:sldId id="710" r:id="rId57"/>
    <p:sldId id="659" r:id="rId58"/>
    <p:sldId id="660" r:id="rId59"/>
    <p:sldId id="525" r:id="rId60"/>
    <p:sldId id="705" r:id="rId61"/>
    <p:sldId id="834" r:id="rId62"/>
    <p:sldId id="835" r:id="rId63"/>
    <p:sldId id="836" r:id="rId64"/>
    <p:sldId id="816" r:id="rId65"/>
    <p:sldId id="817" r:id="rId66"/>
    <p:sldId id="818" r:id="rId67"/>
    <p:sldId id="819" r:id="rId68"/>
    <p:sldId id="820" r:id="rId69"/>
    <p:sldId id="821" r:id="rId70"/>
    <p:sldId id="822" r:id="rId71"/>
    <p:sldId id="823" r:id="rId72"/>
    <p:sldId id="824" r:id="rId73"/>
    <p:sldId id="825" r:id="rId74"/>
    <p:sldId id="826" r:id="rId75"/>
    <p:sldId id="827" r:id="rId76"/>
    <p:sldId id="828" r:id="rId77"/>
    <p:sldId id="829" r:id="rId78"/>
    <p:sldId id="830" r:id="rId79"/>
    <p:sldId id="831" r:id="rId80"/>
    <p:sldId id="832" r:id="rId8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0" autoAdjust="0"/>
    <p:restoredTop sz="75316" autoAdjust="0"/>
  </p:normalViewPr>
  <p:slideViewPr>
    <p:cSldViewPr snapToGrid="0">
      <p:cViewPr varScale="1">
        <p:scale>
          <a:sx n="50" d="100"/>
          <a:sy n="50" d="100"/>
        </p:scale>
        <p:origin x="1648" y="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76956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24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63" Type="http://schemas.openxmlformats.org/officeDocument/2006/relationships/slide" Target="slides/slide56.xml"/><Relationship Id="rId68" Type="http://schemas.openxmlformats.org/officeDocument/2006/relationships/slide" Target="slides/slide61.xml"/><Relationship Id="rId84" Type="http://schemas.openxmlformats.org/officeDocument/2006/relationships/viewProps" Target="viewProps.xml"/><Relationship Id="rId16" Type="http://schemas.openxmlformats.org/officeDocument/2006/relationships/slide" Target="slides/slide9.xml"/><Relationship Id="rId11" Type="http://schemas.openxmlformats.org/officeDocument/2006/relationships/slide" Target="slides/slide4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53" Type="http://schemas.openxmlformats.org/officeDocument/2006/relationships/slide" Target="slides/slide46.xml"/><Relationship Id="rId58" Type="http://schemas.openxmlformats.org/officeDocument/2006/relationships/slide" Target="slides/slide51.xml"/><Relationship Id="rId74" Type="http://schemas.openxmlformats.org/officeDocument/2006/relationships/slide" Target="slides/slide67.xml"/><Relationship Id="rId79" Type="http://schemas.openxmlformats.org/officeDocument/2006/relationships/slide" Target="slides/slide72.xml"/><Relationship Id="rId5" Type="http://schemas.openxmlformats.org/officeDocument/2006/relationships/slideMaster" Target="slideMasters/slideMaster5.xml"/><Relationship Id="rId19" Type="http://schemas.openxmlformats.org/officeDocument/2006/relationships/slide" Target="slides/slide1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slide" Target="slides/slide49.xml"/><Relationship Id="rId64" Type="http://schemas.openxmlformats.org/officeDocument/2006/relationships/slide" Target="slides/slide57.xml"/><Relationship Id="rId69" Type="http://schemas.openxmlformats.org/officeDocument/2006/relationships/slide" Target="slides/slide62.xml"/><Relationship Id="rId77" Type="http://schemas.openxmlformats.org/officeDocument/2006/relationships/slide" Target="slides/slide70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72" Type="http://schemas.openxmlformats.org/officeDocument/2006/relationships/slide" Target="slides/slide65.xml"/><Relationship Id="rId80" Type="http://schemas.openxmlformats.org/officeDocument/2006/relationships/slide" Target="slides/slide73.xml"/><Relationship Id="rId85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slide" Target="slides/slide52.xml"/><Relationship Id="rId67" Type="http://schemas.openxmlformats.org/officeDocument/2006/relationships/slide" Target="slides/slide60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openxmlformats.org/officeDocument/2006/relationships/slide" Target="slides/slide55.xml"/><Relationship Id="rId70" Type="http://schemas.openxmlformats.org/officeDocument/2006/relationships/slide" Target="slides/slide63.xml"/><Relationship Id="rId75" Type="http://schemas.openxmlformats.org/officeDocument/2006/relationships/slide" Target="slides/slide68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slide" Target="slides/slide50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slide" Target="slides/slide53.xml"/><Relationship Id="rId65" Type="http://schemas.openxmlformats.org/officeDocument/2006/relationships/slide" Target="slides/slide58.xml"/><Relationship Id="rId73" Type="http://schemas.openxmlformats.org/officeDocument/2006/relationships/slide" Target="slides/slide66.xml"/><Relationship Id="rId78" Type="http://schemas.openxmlformats.org/officeDocument/2006/relationships/slide" Target="slides/slide71.xml"/><Relationship Id="rId81" Type="http://schemas.openxmlformats.org/officeDocument/2006/relationships/slide" Target="slides/slide74.xml"/><Relationship Id="rId86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9" Type="http://schemas.openxmlformats.org/officeDocument/2006/relationships/slide" Target="slides/slide32.xml"/><Relationship Id="rId34" Type="http://schemas.openxmlformats.org/officeDocument/2006/relationships/slide" Target="slides/slide27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76" Type="http://schemas.openxmlformats.org/officeDocument/2006/relationships/slide" Target="slides/slide69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4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24" Type="http://schemas.openxmlformats.org/officeDocument/2006/relationships/slide" Target="slides/slide17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66" Type="http://schemas.openxmlformats.org/officeDocument/2006/relationships/slide" Target="slides/slide59.xml"/><Relationship Id="rId61" Type="http://schemas.openxmlformats.org/officeDocument/2006/relationships/slide" Target="slides/slide54.xml"/><Relationship Id="rId8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D37736-4DC9-4C05-99A7-856CCC231FA5}" type="datetimeFigureOut">
              <a:rPr lang="en-US" smtClean="0"/>
              <a:pPr/>
              <a:t>4/2/2024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BAD559-58E6-437A-A7FE-2E6C4DB0F6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695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QWfmCyLEQ8U&amp;list=PL16j5WbGpaM0_Tj8CRmurZ8Kk1gEBc7fg&amp;index=4" TargetMode="External"/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BAD559-58E6-437A-A7FE-2E6C4DB0F6C1}" type="slidenum">
              <a:rPr lang="en-US" smtClean="0"/>
              <a:pPr/>
              <a:t>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7769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BAD559-58E6-437A-A7FE-2E6C4DB0F6C1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5754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FFFF1-8662-394F-907E-7BF21FC6F649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5011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BAD559-58E6-437A-A7FE-2E6C4DB0F6C1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2580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EC01E2-A5DA-4CED-AB94-E8AA331F7020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96187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Wikipedia: </a:t>
            </a:r>
            <a:r>
              <a:rPr lang="en-US" sz="1100" dirty="0"/>
              <a:t>At the majority of synapses</a:t>
            </a:r>
            <a:r>
              <a:rPr lang="zh-CN" altLang="en-US" sz="1100" dirty="0"/>
              <a:t>（突触）</a:t>
            </a:r>
            <a:r>
              <a:rPr lang="en-US" sz="1100" dirty="0"/>
              <a:t>, signals are sent from the axon</a:t>
            </a:r>
            <a:r>
              <a:rPr lang="zh-CN" altLang="en-US" sz="1100" dirty="0"/>
              <a:t>（轴突，神经细胞长的凸起，将信号传递给其他细胞）</a:t>
            </a:r>
            <a:r>
              <a:rPr lang="en-US" sz="1100" dirty="0"/>
              <a:t> of one neuron to a dendrite</a:t>
            </a:r>
            <a:r>
              <a:rPr lang="zh-CN" altLang="en-US" sz="1100" dirty="0"/>
              <a:t>（树突）</a:t>
            </a:r>
            <a:r>
              <a:rPr lang="en-US" sz="1100" dirty="0"/>
              <a:t> of another... All neurons are electrically excitable, maintaining voltage gradients across their membranes… If the voltage changes by a large enough amount, an all-or-none electrochemical pulse called an action potential</a:t>
            </a:r>
            <a:r>
              <a:rPr lang="zh-CN" altLang="en-US" sz="1100" dirty="0"/>
              <a:t>（动作电位）</a:t>
            </a:r>
            <a:r>
              <a:rPr lang="en-US" sz="1100" dirty="0"/>
              <a:t> is generated, which travels rapidly along the cell's axon, and activates synaptic connections with other cells when it arrives.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3B36A2-D391-4BB6-B1CB-0A6BDE1DFADD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32891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BAD559-58E6-437A-A7FE-2E6C4DB0F6C1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653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BAD559-58E6-437A-A7FE-2E6C4DB0F6C1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663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BAD559-58E6-437A-A7FE-2E6C4DB0F6C1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0665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hlinkClick r:id="rId3"/>
              </a:rPr>
              <a:t>https://www.youtube.com/watch?v=QWfmCyLEQ8U&amp;list=PL16j5WbGpaM0_Tj8CRmurZ8Kk1gEBc7fg&amp;index=4</a:t>
            </a:r>
            <a:r>
              <a:rPr lang="en-US" sz="1200" dirty="0"/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BAD559-58E6-437A-A7FE-2E6C4DB0F6C1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5163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FA052-4A74-8C49-A3BD-6F5752BC767F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2024/4/2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5548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9B585-5CBA-AE42-B40F-E485F8318685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2024/4/2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4408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0F1D6-39E5-C546-9F93-8C7E4BC993E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2024/4/2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6336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12A1B-1EF6-8541-8877-2576E29E9AF1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2024/4/2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6155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56778-87E6-AC4C-B69B-4D3F2364034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2024/4/2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288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A9EC8-8B44-CF4A-9478-8387AF158BC6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2024/4/2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7379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1C33E-0B3D-8845-B1E1-EC15C2CBFEA7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2024/4/2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3631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161ED-F1B1-0A49-B612-532444EC531F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2024/4/2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1710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63F4E-B59F-6442-B34F-D3D160707F97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2024/4/2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7016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1917A-D38D-984D-B552-B8376E46FA4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2024/4/2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3913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7638-48DD-5643-B110-94141313C73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2024/4/2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74459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DED653-1191-D745-8C1F-3F66E63A20E7}" type="datetime1">
              <a:rPr lang="zh-CN" altLang="en-US" smtClean="0">
                <a:solidFill>
                  <a:srgbClr val="000000"/>
                </a:solidFill>
              </a:rPr>
              <a:t>2024/4/2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BB9BE1-CC02-4630-A187-1FA3D78B1A24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2068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88BC7C-BA23-0C48-9C40-9F2ADFDFBD36}" type="datetime1">
              <a:rPr lang="zh-CN" altLang="en-US" smtClean="0">
                <a:solidFill>
                  <a:srgbClr val="000000"/>
                </a:solidFill>
              </a:rPr>
              <a:t>2024/4/2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4C1639-4E2F-4550-BAEE-C5BDC1CB80DD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72526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E4062A-EFFB-2948-B5A6-63F95352155D}" type="datetime1">
              <a:rPr lang="zh-CN" altLang="en-US" smtClean="0">
                <a:solidFill>
                  <a:srgbClr val="000000"/>
                </a:solidFill>
              </a:rPr>
              <a:t>2024/4/2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B1FF34-FEDA-430E-8462-E7A209AF306F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78939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914400"/>
            <a:ext cx="38100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14400"/>
            <a:ext cx="38100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17006D-4E36-DF43-AC4C-8EB5D9F8DAD7}" type="datetime1">
              <a:rPr lang="zh-CN" altLang="en-US" smtClean="0">
                <a:solidFill>
                  <a:srgbClr val="000000"/>
                </a:solidFill>
              </a:rPr>
              <a:t>2024/4/2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19BF50-AC92-44AF-92A4-620F182E35C2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57790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F6D3AA-3391-894E-BA9A-1E108C56BC91}" type="datetime1">
              <a:rPr lang="zh-CN" altLang="en-US" smtClean="0">
                <a:solidFill>
                  <a:srgbClr val="000000"/>
                </a:solidFill>
              </a:rPr>
              <a:t>2024/4/2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E26E91-021D-4B32-926D-DC16A89D51C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87810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059754-3251-B04A-97DF-7E70C5C2B3DF}" type="datetime1">
              <a:rPr lang="zh-CN" altLang="en-US" smtClean="0">
                <a:solidFill>
                  <a:srgbClr val="000000"/>
                </a:solidFill>
              </a:rPr>
              <a:t>2024/4/2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756749-8CA8-49DA-A68F-85171B0F5274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52749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B690AE-26E7-1E4B-9B11-27F181EBFF37}" type="datetime1">
              <a:rPr lang="zh-CN" altLang="en-US" smtClean="0">
                <a:solidFill>
                  <a:srgbClr val="000000"/>
                </a:solidFill>
              </a:rPr>
              <a:t>2024/4/2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36D7BB-2806-4694-9201-C1DF6EA7CF15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98956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93C14F-5C3B-754E-8610-F38DC2ECC2B3}" type="datetime1">
              <a:rPr lang="zh-CN" altLang="en-US" smtClean="0">
                <a:solidFill>
                  <a:srgbClr val="000000"/>
                </a:solidFill>
              </a:rPr>
              <a:t>2024/4/2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AD4D2A-A0A1-4AB1-BF3F-4E3C9BF55984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20645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D5D8CE-15CD-A345-BA9F-7FDC58B70B0E}" type="datetime1">
              <a:rPr lang="zh-CN" altLang="en-US" smtClean="0">
                <a:solidFill>
                  <a:srgbClr val="000000"/>
                </a:solidFill>
              </a:rPr>
              <a:t>2024/4/2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8DC858-3513-47BE-8939-E01A91F098A2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17368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1F5E43-42AD-5A48-ABF9-F1A098132EA4}" type="datetime1">
              <a:rPr lang="zh-CN" altLang="en-US" smtClean="0">
                <a:solidFill>
                  <a:srgbClr val="000000"/>
                </a:solidFill>
              </a:rPr>
              <a:t>2024/4/2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DD7741-022D-4361-BD74-799334698C23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59812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76200"/>
            <a:ext cx="194310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76200"/>
            <a:ext cx="567690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ACB2D0-0B47-454E-A791-4E9C3EC135F5}" type="datetime1">
              <a:rPr lang="zh-CN" altLang="en-US" smtClean="0">
                <a:solidFill>
                  <a:srgbClr val="000000"/>
                </a:solidFill>
              </a:rPr>
              <a:t>2024/4/2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8C337E-79AB-43D3-B7D5-9A8EDE49DF7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4368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8A0CCB-349F-2F47-BFE8-F0623D67ED08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2024/4/2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FABB6CA-A44E-BD4C-97BE-7C56F97268A0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2024/4/2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5960A-25A7-5A40-81A0-2FEFFB99723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2024/4/2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914400"/>
            <a:ext cx="38100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14400"/>
            <a:ext cx="38100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C63E53-9D51-AD46-95B1-A6A74DCA1361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2024/4/2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2336A36-5517-2740-B1CF-ACACB92B4A03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2024/4/2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46652BE-33FF-4749-A81F-C37D8EBB070F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2024/4/2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73473DD-E1AA-8A4D-9FA6-741BA24C1423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2024/4/2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1B64F3B-7F5E-6E43-AD72-743CE66302C1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2024/4/2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D08CCD1-27C2-A545-ACD6-4D20E863888B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2024/4/2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2E4127-6B69-1D43-865B-FA1E072F2F26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2024/4/2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76200"/>
            <a:ext cx="194310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76200"/>
            <a:ext cx="567690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1712BB-468F-4F4F-9623-3C4073DB8903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2024/4/2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94A58D3-9B6A-A544-AEFB-7739C3AAA30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2024/4/2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294354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D4AD538-3648-1D41-BB88-5E972763717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2024/4/2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965180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4B9D483-ED29-4B4D-9957-7DC479CAAECB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2024/4/2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349984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914400"/>
            <a:ext cx="38100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14400"/>
            <a:ext cx="38100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8522DAE-29B8-A544-95ED-53A2242E530A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2024/4/2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47552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74445A-DBBE-F943-B546-7DE118329F5B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2024/4/2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435103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29BD9D3-01BF-D54A-B79B-E9D7D5C465D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2024/4/2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881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F252DA6-67F5-554F-878E-AB7253D2BE16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2024/4/2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242165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BD22E4-3D0B-104C-AF74-1226818FF707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2024/4/2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06276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6F2BE3F-9FBC-3E4D-A474-834B32261565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2024/4/2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393482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26835C-D8AA-AB46-8D30-B83FDF7CA0B8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2024/4/2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668316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76200"/>
            <a:ext cx="194310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76200"/>
            <a:ext cx="567690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D7AA8B-D319-904A-80D4-19CBB86664D8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2024/4/2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460072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C0DB2CA-D00B-6E48-A3D2-2D1A9C5606FE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2024/4/2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856561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7EA329-CBAE-8E4D-A8C4-46042572560E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2024/4/2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516266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713AF0A-3183-2D41-A7A6-4E1672265FB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2024/4/2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997528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914400"/>
            <a:ext cx="38100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14400"/>
            <a:ext cx="38100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C71F56B-5D69-8F44-8A33-E199A787E27D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2024/4/2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847505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DB96C9E-44CD-9C42-84FE-7CF833D0D130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2024/4/2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427715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7C5EE85-995D-5741-AE73-5F2E77F23A6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2024/4/2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681953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82E965-135D-214D-A42E-9865BC4CEE5B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2024/4/2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306594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8F9D2EA-4EBF-4A4E-A82E-B130D3B8CE10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2024/4/2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595895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CDA84D-F15D-3E45-A32D-97A48D8EFD91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2024/4/2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592041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8A4960-CA6A-134F-8401-004B4D04117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2024/4/2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235250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76200"/>
            <a:ext cx="194310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76200"/>
            <a:ext cx="567690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B56A46-95CF-6B45-9FA5-B92D54EF4F9E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2024/4/2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441978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1"/>
            <a:ext cx="7772400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1"/>
            <a:ext cx="6400800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120"/>
              </a:lnSpc>
            </a:pPr>
            <a:endParaRPr lang="en-US" spc="-5" dirty="0">
              <a:solidFill>
                <a:prstClr val="white"/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920"/>
              </a:lnSpc>
            </a:pPr>
            <a:fld id="{6D55CF12-7F81-784C-A65B-E6E38BE4E325}" type="datetime1">
              <a:rPr lang="zh-CN" altLang="en-US" spc="-5" smtClean="0">
                <a:solidFill>
                  <a:prstClr val="white"/>
                </a:solidFill>
              </a:rPr>
              <a:t>2024/4/2</a:t>
            </a:fld>
            <a:endParaRPr lang="nn-NO" spc="-5" dirty="0">
              <a:solidFill>
                <a:prstClr val="white"/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188295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120"/>
              </a:lnSpc>
            </a:pPr>
            <a:endParaRPr lang="en-US" spc="-5" dirty="0">
              <a:solidFill>
                <a:prstClr val="white"/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920"/>
              </a:lnSpc>
            </a:pPr>
            <a:fld id="{376A9902-2A20-FB47-BA2C-08F70C21996B}" type="datetime1">
              <a:rPr lang="zh-CN" altLang="en-US" spc="-5" smtClean="0">
                <a:solidFill>
                  <a:prstClr val="white"/>
                </a:solidFill>
              </a:rPr>
              <a:t>2024/4/2</a:t>
            </a:fld>
            <a:endParaRPr lang="nn-NO" spc="-5" dirty="0">
              <a:solidFill>
                <a:prstClr val="white"/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579023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751666" y="1176740"/>
            <a:ext cx="310260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120"/>
              </a:lnSpc>
            </a:pPr>
            <a:endParaRPr lang="en-US" spc="-5" dirty="0">
              <a:solidFill>
                <a:prstClr val="white"/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920"/>
              </a:lnSpc>
            </a:pPr>
            <a:fld id="{9F32C29C-7442-CF44-8BE5-ECE428468B4E}" type="datetime1">
              <a:rPr lang="zh-CN" altLang="en-US" spc="-5" smtClean="0">
                <a:solidFill>
                  <a:prstClr val="white"/>
                </a:solidFill>
              </a:rPr>
              <a:t>2024/4/2</a:t>
            </a:fld>
            <a:endParaRPr lang="nn-NO" spc="-5" dirty="0">
              <a:solidFill>
                <a:prstClr val="white"/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771740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120"/>
              </a:lnSpc>
            </a:pPr>
            <a:endParaRPr lang="en-US" spc="-5" dirty="0">
              <a:solidFill>
                <a:prstClr val="white"/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920"/>
              </a:lnSpc>
            </a:pPr>
            <a:fld id="{F0E7C7CD-8B7C-814C-8B81-119308585623}" type="datetime1">
              <a:rPr lang="zh-CN" altLang="en-US" spc="-5" smtClean="0">
                <a:solidFill>
                  <a:prstClr val="white"/>
                </a:solidFill>
              </a:rPr>
              <a:t>2024/4/2</a:t>
            </a:fld>
            <a:endParaRPr lang="nn-NO" spc="-5" dirty="0">
              <a:solidFill>
                <a:prstClr val="white"/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197504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120"/>
              </a:lnSpc>
            </a:pPr>
            <a:endParaRPr lang="en-US" spc="-5" dirty="0">
              <a:solidFill>
                <a:prstClr val="white"/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920"/>
              </a:lnSpc>
            </a:pPr>
            <a:fld id="{EE707A65-D651-8D49-A9A9-B9AC96404179}" type="datetime1">
              <a:rPr lang="zh-CN" altLang="en-US" spc="-5" smtClean="0">
                <a:solidFill>
                  <a:prstClr val="white"/>
                </a:solidFill>
              </a:rPr>
              <a:t>2024/4/2</a:t>
            </a:fld>
            <a:endParaRPr lang="nn-NO" spc="-5" dirty="0">
              <a:solidFill>
                <a:prstClr val="white"/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943959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1"/>
            <a:ext cx="777240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1"/>
            <a:ext cx="64008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120"/>
              </a:lnSpc>
            </a:pPr>
            <a:endParaRPr lang="en-US"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920"/>
              </a:lnSpc>
            </a:pPr>
            <a:fld id="{E42EEF59-1910-F54B-B004-761D6039E114}" type="datetime1">
              <a:rPr lang="zh-CN" altLang="en-US" spc="-5" smtClean="0"/>
              <a:t>2024/4/2</a:t>
            </a:fld>
            <a:endParaRPr lang="nn-NO"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0353430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120"/>
              </a:lnSpc>
            </a:pPr>
            <a:endParaRPr lang="en-US"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920"/>
              </a:lnSpc>
            </a:pPr>
            <a:fld id="{5EE80D80-083A-2044-9A2F-ED6EB08EA4DA}" type="datetime1">
              <a:rPr lang="zh-CN" altLang="en-US" spc="-5" smtClean="0"/>
              <a:t>2024/4/2</a:t>
            </a:fld>
            <a:endParaRPr lang="nn-NO"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718648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120"/>
              </a:lnSpc>
            </a:pPr>
            <a:endParaRPr lang="en-US" spc="-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920"/>
              </a:lnSpc>
            </a:pPr>
            <a:fld id="{4D20EC72-147E-174D-B95C-E23D6302E9DD}" type="datetime1">
              <a:rPr lang="zh-CN" altLang="en-US" spc="-5" smtClean="0"/>
              <a:t>2024/4/2</a:t>
            </a:fld>
            <a:endParaRPr lang="nn-NO" spc="-5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1973912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120"/>
              </a:lnSpc>
            </a:pPr>
            <a:endParaRPr lang="en-US" spc="-5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920"/>
              </a:lnSpc>
            </a:pPr>
            <a:fld id="{C78C62BE-4D84-EF49-8915-141D8AD4C0BE}" type="datetime1">
              <a:rPr lang="zh-CN" altLang="en-US" spc="-5" smtClean="0"/>
              <a:t>2024/4/2</a:t>
            </a:fld>
            <a:endParaRPr lang="nn-NO" spc="-5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6244403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120"/>
              </a:lnSpc>
            </a:pPr>
            <a:endParaRPr lang="en-US" spc="-5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920"/>
              </a:lnSpc>
            </a:pPr>
            <a:fld id="{2C002675-A534-7E4E-AC8A-33A39BBB9D5C}" type="datetime1">
              <a:rPr lang="zh-CN" altLang="en-US" spc="-5" smtClean="0"/>
              <a:t>2024/4/2</a:t>
            </a:fld>
            <a:endParaRPr lang="nn-NO" spc="-5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4319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theme" Target="../theme/theme6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3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6" Type="http://schemas.openxmlformats.org/officeDocument/2006/relationships/theme" Target="../theme/theme7.xml"/><Relationship Id="rId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6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DF02C5-EF2C-CC43-965F-138FC947B7DF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2024/4/2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7495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76200"/>
            <a:ext cx="7772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914400"/>
            <a:ext cx="77724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Times New Roman" pitchFamily="18" charset="0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2F7CF26A-C4EC-C348-9AFF-94785462ECE1}" type="datetime1">
              <a:rPr lang="zh-CN" altLang="en-US" smtClean="0">
                <a:solidFill>
                  <a:srgbClr val="000000"/>
                </a:solidFill>
                <a:cs typeface="Arial" charset="0"/>
              </a:rPr>
              <a:t>2024/4/2</a:t>
            </a:fld>
            <a:endParaRPr lang="en-US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Times New Roman" pitchFamily="18" charset="0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itchFamily="18" charset="0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9D615FC6-65EA-469E-A2AC-6B14F4DC4664}" type="slidenum">
              <a:rPr lang="en-US">
                <a:solidFill>
                  <a:srgbClr val="000000"/>
                </a:solidFill>
                <a:cs typeface="Arial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9223" name="Line 7"/>
          <p:cNvSpPr>
            <a:spLocks noChangeShapeType="1"/>
          </p:cNvSpPr>
          <p:nvPr/>
        </p:nvSpPr>
        <p:spPr bwMode="auto">
          <a:xfrm>
            <a:off x="685800" y="838200"/>
            <a:ext cx="7772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 b="1">
              <a:solidFill>
                <a:srgbClr val="000000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1148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76200"/>
            <a:ext cx="7772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914400"/>
            <a:ext cx="77724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Times New Roman" pitchFamily="18" charset="0"/>
              </a:defRPr>
            </a:lvl1pPr>
          </a:lstStyle>
          <a:p>
            <a:fld id="{EFE7BCA7-DDAE-2746-AFD6-6CDED5622478}" type="datetime1">
              <a:rPr lang="zh-CN" altLang="en-US" smtClean="0"/>
              <a:t>2024/4/2</a:t>
            </a:fld>
            <a:endParaRPr lang="en-US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itchFamily="18" charset="0"/>
              </a:defRPr>
            </a:lvl1pPr>
          </a:lstStyle>
          <a:p>
            <a:fld id="{C4388728-ECF9-405A-8F50-53431964C9F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223" name="Line 7"/>
          <p:cNvSpPr>
            <a:spLocks noChangeShapeType="1"/>
          </p:cNvSpPr>
          <p:nvPr/>
        </p:nvSpPr>
        <p:spPr bwMode="auto">
          <a:xfrm>
            <a:off x="685800" y="838200"/>
            <a:ext cx="7772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76200"/>
            <a:ext cx="7772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914400"/>
            <a:ext cx="77724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Times New Roman" pitchFamily="18" charset="0"/>
              </a:defRPr>
            </a:lvl1pPr>
          </a:lstStyle>
          <a:p>
            <a:fld id="{6E09D463-2FFD-AB4D-8152-D4CE23D8FCF9}" type="datetime1">
              <a:rPr lang="zh-CN" altLang="en-US" smtClean="0">
                <a:solidFill>
                  <a:srgbClr val="000000"/>
                </a:solidFill>
              </a:rPr>
              <a:t>2024/4/2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Times New Roman" pitchFamily="18" charset="0"/>
              </a:defRPr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itchFamily="18" charset="0"/>
              </a:defRPr>
            </a:lvl1pPr>
          </a:lstStyle>
          <a:p>
            <a:fld id="{C4388728-ECF9-405A-8F50-53431964C9F8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223" name="Line 7"/>
          <p:cNvSpPr>
            <a:spLocks noChangeShapeType="1"/>
          </p:cNvSpPr>
          <p:nvPr/>
        </p:nvSpPr>
        <p:spPr bwMode="auto">
          <a:xfrm>
            <a:off x="685800" y="838200"/>
            <a:ext cx="7772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2444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7" r:id="rId6"/>
    <p:sldLayoutId id="2147483828" r:id="rId7"/>
    <p:sldLayoutId id="2147483829" r:id="rId8"/>
    <p:sldLayoutId id="2147483830" r:id="rId9"/>
    <p:sldLayoutId id="2147483831" r:id="rId10"/>
    <p:sldLayoutId id="2147483832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76200"/>
            <a:ext cx="7772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914400"/>
            <a:ext cx="77724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Times New Roman" pitchFamily="18" charset="0"/>
              </a:defRPr>
            </a:lvl1pPr>
          </a:lstStyle>
          <a:p>
            <a:fld id="{32330993-FEFA-5446-A0B0-929D89F17408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2024/4/2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Times New Roman" pitchFamily="18" charset="0"/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itchFamily="18" charset="0"/>
              </a:defRPr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223" name="Line 7"/>
          <p:cNvSpPr>
            <a:spLocks noChangeShapeType="1"/>
          </p:cNvSpPr>
          <p:nvPr/>
        </p:nvSpPr>
        <p:spPr bwMode="auto">
          <a:xfrm>
            <a:off x="685800" y="838200"/>
            <a:ext cx="7772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5329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4649" y="113444"/>
            <a:ext cx="8934700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96780" y="2262723"/>
            <a:ext cx="5550441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608913" y="6305350"/>
            <a:ext cx="1423034" cy="269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120"/>
              </a:lnSpc>
            </a:pPr>
            <a:endParaRPr lang="en-US" spc="-5" dirty="0">
              <a:solidFill>
                <a:prstClr val="white"/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45224" y="6308472"/>
            <a:ext cx="4697730" cy="2436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920"/>
              </a:lnSpc>
            </a:pPr>
            <a:fld id="{573E26C4-C4B0-A046-987A-A5AD3781C850}" type="datetime1">
              <a:rPr lang="zh-CN" altLang="en-US" spc="-5" smtClean="0">
                <a:solidFill>
                  <a:prstClr val="white"/>
                </a:solidFill>
              </a:rPr>
              <a:t>2024/4/2</a:t>
            </a:fld>
            <a:endParaRPr lang="nn-NO" spc="-5" dirty="0">
              <a:solidFill>
                <a:prstClr val="white"/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1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5852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  <p:sldLayoutId id="2147483871" r:id="rId2"/>
    <p:sldLayoutId id="2147483872" r:id="rId3"/>
    <p:sldLayoutId id="2147483873" r:id="rId4"/>
    <p:sldLayoutId id="2147483874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3925" y="230776"/>
            <a:ext cx="8756151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65798" y="1293671"/>
            <a:ext cx="761240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608913" y="6305350"/>
            <a:ext cx="1423034" cy="269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120"/>
              </a:lnSpc>
            </a:pPr>
            <a:endParaRPr lang="en-US"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45224" y="6308472"/>
            <a:ext cx="4697730" cy="2436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920"/>
              </a:lnSpc>
            </a:pPr>
            <a:fld id="{A3E5EF11-0E31-7748-95E8-2B5FF74DBC11}" type="datetime1">
              <a:rPr lang="zh-CN" altLang="en-US" spc="-5" smtClean="0"/>
              <a:t>2024/4/2</a:t>
            </a:fld>
            <a:endParaRPr lang="nn-NO"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1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93923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2" r:id="rId1"/>
    <p:sldLayoutId id="2147483913" r:id="rId2"/>
    <p:sldLayoutId id="2147483914" r:id="rId3"/>
    <p:sldLayoutId id="2147483915" r:id="rId4"/>
    <p:sldLayoutId id="2147483916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.xml"/><Relationship Id="rId5" Type="http://schemas.openxmlformats.org/officeDocument/2006/relationships/hyperlink" Target="http://www.cv-foundation.org/openaccess/content_cvpr_workshops_2014/W15/papers/Razavian_CNN_Features_Off-the-Shelf_2014_CVPR_paper.pdf" TargetMode="Externa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4.xml"/><Relationship Id="rId1" Type="http://schemas.openxmlformats.org/officeDocument/2006/relationships/themeOverride" Target="../theme/themeOverrid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themeOverride" Target="../theme/themeOverr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emf"/><Relationship Id="rId7" Type="http://schemas.openxmlformats.org/officeDocument/2006/relationships/image" Target="../media/image3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11.emf"/><Relationship Id="rId5" Type="http://schemas.openxmlformats.org/officeDocument/2006/relationships/image" Target="../media/image10.emf"/><Relationship Id="rId4" Type="http://schemas.openxmlformats.org/officeDocument/2006/relationships/image" Target="../media/image9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g"/><Relationship Id="rId3" Type="http://schemas.openxmlformats.org/officeDocument/2006/relationships/image" Target="../media/image14.jpg"/><Relationship Id="rId7" Type="http://schemas.openxmlformats.org/officeDocument/2006/relationships/image" Target="../media/image18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17.jpg"/><Relationship Id="rId5" Type="http://schemas.openxmlformats.org/officeDocument/2006/relationships/image" Target="../media/image16.jpg"/><Relationship Id="rId4" Type="http://schemas.openxmlformats.org/officeDocument/2006/relationships/image" Target="../media/image15.jpg"/><Relationship Id="rId9" Type="http://schemas.openxmlformats.org/officeDocument/2006/relationships/image" Target="../media/image20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5.xml"/><Relationship Id="rId1" Type="http://schemas.openxmlformats.org/officeDocument/2006/relationships/themeOverride" Target="../theme/themeOverride5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5.xml"/><Relationship Id="rId1" Type="http://schemas.openxmlformats.org/officeDocument/2006/relationships/themeOverride" Target="../theme/themeOverride6.xml"/><Relationship Id="rId5" Type="http://schemas.openxmlformats.org/officeDocument/2006/relationships/image" Target="../media/image23.jpe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2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6.png"/><Relationship Id="rId4" Type="http://schemas.openxmlformats.org/officeDocument/2006/relationships/image" Target="../media/image26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13" Type="http://schemas.openxmlformats.org/officeDocument/2006/relationships/image" Target="../media/image38.emf"/><Relationship Id="rId3" Type="http://schemas.openxmlformats.org/officeDocument/2006/relationships/image" Target="../media/image28.emf"/><Relationship Id="rId7" Type="http://schemas.openxmlformats.org/officeDocument/2006/relationships/image" Target="../media/image32.emf"/><Relationship Id="rId12" Type="http://schemas.openxmlformats.org/officeDocument/2006/relationships/image" Target="../media/image37.emf"/><Relationship Id="rId2" Type="http://schemas.openxmlformats.org/officeDocument/2006/relationships/slideLayout" Target="../slideLayouts/slideLayout46.xml"/><Relationship Id="rId16" Type="http://schemas.openxmlformats.org/officeDocument/2006/relationships/image" Target="../media/image41.emf"/><Relationship Id="rId1" Type="http://schemas.openxmlformats.org/officeDocument/2006/relationships/themeOverride" Target="../theme/themeOverride7.xml"/><Relationship Id="rId6" Type="http://schemas.openxmlformats.org/officeDocument/2006/relationships/image" Target="../media/image31.emf"/><Relationship Id="rId11" Type="http://schemas.openxmlformats.org/officeDocument/2006/relationships/image" Target="../media/image36.emf"/><Relationship Id="rId5" Type="http://schemas.openxmlformats.org/officeDocument/2006/relationships/image" Target="../media/image30.emf"/><Relationship Id="rId15" Type="http://schemas.openxmlformats.org/officeDocument/2006/relationships/image" Target="../media/image40.emf"/><Relationship Id="rId10" Type="http://schemas.openxmlformats.org/officeDocument/2006/relationships/image" Target="../media/image35.emf"/><Relationship Id="rId4" Type="http://schemas.openxmlformats.org/officeDocument/2006/relationships/image" Target="../media/image29.emf"/><Relationship Id="rId9" Type="http://schemas.openxmlformats.org/officeDocument/2006/relationships/image" Target="../media/image34.emf"/><Relationship Id="rId14" Type="http://schemas.openxmlformats.org/officeDocument/2006/relationships/image" Target="../media/image39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emf"/><Relationship Id="rId13" Type="http://schemas.openxmlformats.org/officeDocument/2006/relationships/image" Target="../media/image39.emf"/><Relationship Id="rId3" Type="http://schemas.openxmlformats.org/officeDocument/2006/relationships/image" Target="../media/image28.emf"/><Relationship Id="rId7" Type="http://schemas.openxmlformats.org/officeDocument/2006/relationships/image" Target="../media/image33.emf"/><Relationship Id="rId12" Type="http://schemas.openxmlformats.org/officeDocument/2006/relationships/image" Target="../media/image38.emf"/><Relationship Id="rId2" Type="http://schemas.openxmlformats.org/officeDocument/2006/relationships/slideLayout" Target="../slideLayouts/slideLayout46.xml"/><Relationship Id="rId1" Type="http://schemas.openxmlformats.org/officeDocument/2006/relationships/themeOverride" Target="../theme/themeOverride8.xml"/><Relationship Id="rId6" Type="http://schemas.openxmlformats.org/officeDocument/2006/relationships/image" Target="../media/image31.emf"/><Relationship Id="rId11" Type="http://schemas.openxmlformats.org/officeDocument/2006/relationships/image" Target="../media/image37.emf"/><Relationship Id="rId5" Type="http://schemas.openxmlformats.org/officeDocument/2006/relationships/image" Target="../media/image30.emf"/><Relationship Id="rId15" Type="http://schemas.openxmlformats.org/officeDocument/2006/relationships/image" Target="../media/image41.emf"/><Relationship Id="rId10" Type="http://schemas.openxmlformats.org/officeDocument/2006/relationships/image" Target="../media/image36.emf"/><Relationship Id="rId4" Type="http://schemas.openxmlformats.org/officeDocument/2006/relationships/image" Target="../media/image29.emf"/><Relationship Id="rId9" Type="http://schemas.openxmlformats.org/officeDocument/2006/relationships/image" Target="../media/image35.emf"/><Relationship Id="rId14" Type="http://schemas.openxmlformats.org/officeDocument/2006/relationships/image" Target="../media/image40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emf"/><Relationship Id="rId13" Type="http://schemas.openxmlformats.org/officeDocument/2006/relationships/image" Target="../media/image39.emf"/><Relationship Id="rId3" Type="http://schemas.openxmlformats.org/officeDocument/2006/relationships/image" Target="../media/image28.emf"/><Relationship Id="rId7" Type="http://schemas.openxmlformats.org/officeDocument/2006/relationships/image" Target="../media/image33.emf"/><Relationship Id="rId12" Type="http://schemas.openxmlformats.org/officeDocument/2006/relationships/image" Target="../media/image38.emf"/><Relationship Id="rId2" Type="http://schemas.openxmlformats.org/officeDocument/2006/relationships/slideLayout" Target="../slideLayouts/slideLayout46.xml"/><Relationship Id="rId1" Type="http://schemas.openxmlformats.org/officeDocument/2006/relationships/themeOverride" Target="../theme/themeOverride9.xml"/><Relationship Id="rId6" Type="http://schemas.openxmlformats.org/officeDocument/2006/relationships/image" Target="../media/image31.emf"/><Relationship Id="rId11" Type="http://schemas.openxmlformats.org/officeDocument/2006/relationships/image" Target="../media/image37.emf"/><Relationship Id="rId5" Type="http://schemas.openxmlformats.org/officeDocument/2006/relationships/image" Target="../media/image30.emf"/><Relationship Id="rId15" Type="http://schemas.openxmlformats.org/officeDocument/2006/relationships/image" Target="../media/image41.emf"/><Relationship Id="rId10" Type="http://schemas.openxmlformats.org/officeDocument/2006/relationships/image" Target="../media/image36.emf"/><Relationship Id="rId4" Type="http://schemas.openxmlformats.org/officeDocument/2006/relationships/image" Target="../media/image29.emf"/><Relationship Id="rId9" Type="http://schemas.openxmlformats.org/officeDocument/2006/relationships/image" Target="../media/image35.emf"/><Relationship Id="rId14" Type="http://schemas.openxmlformats.org/officeDocument/2006/relationships/image" Target="../media/image40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emf"/><Relationship Id="rId13" Type="http://schemas.openxmlformats.org/officeDocument/2006/relationships/image" Target="../media/image39.emf"/><Relationship Id="rId3" Type="http://schemas.openxmlformats.org/officeDocument/2006/relationships/image" Target="../media/image28.emf"/><Relationship Id="rId7" Type="http://schemas.openxmlformats.org/officeDocument/2006/relationships/image" Target="../media/image33.emf"/><Relationship Id="rId12" Type="http://schemas.openxmlformats.org/officeDocument/2006/relationships/image" Target="../media/image38.emf"/><Relationship Id="rId2" Type="http://schemas.openxmlformats.org/officeDocument/2006/relationships/slideLayout" Target="../slideLayouts/slideLayout46.xml"/><Relationship Id="rId1" Type="http://schemas.openxmlformats.org/officeDocument/2006/relationships/themeOverride" Target="../theme/themeOverride10.xml"/><Relationship Id="rId6" Type="http://schemas.openxmlformats.org/officeDocument/2006/relationships/image" Target="../media/image31.emf"/><Relationship Id="rId11" Type="http://schemas.openxmlformats.org/officeDocument/2006/relationships/image" Target="../media/image37.emf"/><Relationship Id="rId5" Type="http://schemas.openxmlformats.org/officeDocument/2006/relationships/image" Target="../media/image30.emf"/><Relationship Id="rId15" Type="http://schemas.openxmlformats.org/officeDocument/2006/relationships/image" Target="../media/image41.emf"/><Relationship Id="rId10" Type="http://schemas.openxmlformats.org/officeDocument/2006/relationships/image" Target="../media/image36.emf"/><Relationship Id="rId4" Type="http://schemas.openxmlformats.org/officeDocument/2006/relationships/image" Target="../media/image29.emf"/><Relationship Id="rId9" Type="http://schemas.openxmlformats.org/officeDocument/2006/relationships/image" Target="../media/image35.emf"/><Relationship Id="rId14" Type="http://schemas.openxmlformats.org/officeDocument/2006/relationships/image" Target="../media/image40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emf"/><Relationship Id="rId13" Type="http://schemas.openxmlformats.org/officeDocument/2006/relationships/image" Target="../media/image39.emf"/><Relationship Id="rId3" Type="http://schemas.openxmlformats.org/officeDocument/2006/relationships/image" Target="../media/image28.emf"/><Relationship Id="rId7" Type="http://schemas.openxmlformats.org/officeDocument/2006/relationships/image" Target="../media/image33.emf"/><Relationship Id="rId12" Type="http://schemas.openxmlformats.org/officeDocument/2006/relationships/image" Target="../media/image38.emf"/><Relationship Id="rId2" Type="http://schemas.openxmlformats.org/officeDocument/2006/relationships/slideLayout" Target="../slideLayouts/slideLayout46.xml"/><Relationship Id="rId1" Type="http://schemas.openxmlformats.org/officeDocument/2006/relationships/themeOverride" Target="../theme/themeOverride11.xml"/><Relationship Id="rId6" Type="http://schemas.openxmlformats.org/officeDocument/2006/relationships/image" Target="../media/image31.emf"/><Relationship Id="rId11" Type="http://schemas.openxmlformats.org/officeDocument/2006/relationships/image" Target="../media/image37.emf"/><Relationship Id="rId5" Type="http://schemas.openxmlformats.org/officeDocument/2006/relationships/image" Target="../media/image30.emf"/><Relationship Id="rId15" Type="http://schemas.openxmlformats.org/officeDocument/2006/relationships/image" Target="../media/image41.emf"/><Relationship Id="rId10" Type="http://schemas.openxmlformats.org/officeDocument/2006/relationships/image" Target="../media/image36.emf"/><Relationship Id="rId4" Type="http://schemas.openxmlformats.org/officeDocument/2006/relationships/image" Target="../media/image29.emf"/><Relationship Id="rId9" Type="http://schemas.openxmlformats.org/officeDocument/2006/relationships/image" Target="../media/image35.emf"/><Relationship Id="rId14" Type="http://schemas.openxmlformats.org/officeDocument/2006/relationships/image" Target="../media/image40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emf"/><Relationship Id="rId13" Type="http://schemas.openxmlformats.org/officeDocument/2006/relationships/image" Target="../media/image39.emf"/><Relationship Id="rId3" Type="http://schemas.openxmlformats.org/officeDocument/2006/relationships/image" Target="../media/image28.emf"/><Relationship Id="rId7" Type="http://schemas.openxmlformats.org/officeDocument/2006/relationships/image" Target="../media/image33.emf"/><Relationship Id="rId12" Type="http://schemas.openxmlformats.org/officeDocument/2006/relationships/image" Target="../media/image38.emf"/><Relationship Id="rId2" Type="http://schemas.openxmlformats.org/officeDocument/2006/relationships/slideLayout" Target="../slideLayouts/slideLayout46.xml"/><Relationship Id="rId1" Type="http://schemas.openxmlformats.org/officeDocument/2006/relationships/themeOverride" Target="../theme/themeOverride12.xml"/><Relationship Id="rId6" Type="http://schemas.openxmlformats.org/officeDocument/2006/relationships/image" Target="../media/image31.emf"/><Relationship Id="rId11" Type="http://schemas.openxmlformats.org/officeDocument/2006/relationships/image" Target="../media/image37.emf"/><Relationship Id="rId5" Type="http://schemas.openxmlformats.org/officeDocument/2006/relationships/image" Target="../media/image30.emf"/><Relationship Id="rId15" Type="http://schemas.openxmlformats.org/officeDocument/2006/relationships/image" Target="../media/image41.emf"/><Relationship Id="rId10" Type="http://schemas.openxmlformats.org/officeDocument/2006/relationships/image" Target="../media/image36.emf"/><Relationship Id="rId4" Type="http://schemas.openxmlformats.org/officeDocument/2006/relationships/image" Target="../media/image29.emf"/><Relationship Id="rId9" Type="http://schemas.openxmlformats.org/officeDocument/2006/relationships/image" Target="../media/image35.emf"/><Relationship Id="rId14" Type="http://schemas.openxmlformats.org/officeDocument/2006/relationships/image" Target="../media/image40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emf"/><Relationship Id="rId13" Type="http://schemas.openxmlformats.org/officeDocument/2006/relationships/image" Target="../media/image39.emf"/><Relationship Id="rId3" Type="http://schemas.openxmlformats.org/officeDocument/2006/relationships/image" Target="../media/image28.emf"/><Relationship Id="rId7" Type="http://schemas.openxmlformats.org/officeDocument/2006/relationships/image" Target="../media/image33.emf"/><Relationship Id="rId12" Type="http://schemas.openxmlformats.org/officeDocument/2006/relationships/image" Target="../media/image38.emf"/><Relationship Id="rId2" Type="http://schemas.openxmlformats.org/officeDocument/2006/relationships/slideLayout" Target="../slideLayouts/slideLayout46.xml"/><Relationship Id="rId1" Type="http://schemas.openxmlformats.org/officeDocument/2006/relationships/themeOverride" Target="../theme/themeOverride13.xml"/><Relationship Id="rId6" Type="http://schemas.openxmlformats.org/officeDocument/2006/relationships/image" Target="../media/image31.emf"/><Relationship Id="rId11" Type="http://schemas.openxmlformats.org/officeDocument/2006/relationships/image" Target="../media/image37.emf"/><Relationship Id="rId5" Type="http://schemas.openxmlformats.org/officeDocument/2006/relationships/image" Target="../media/image30.emf"/><Relationship Id="rId15" Type="http://schemas.openxmlformats.org/officeDocument/2006/relationships/image" Target="../media/image41.emf"/><Relationship Id="rId10" Type="http://schemas.openxmlformats.org/officeDocument/2006/relationships/image" Target="../media/image36.emf"/><Relationship Id="rId4" Type="http://schemas.openxmlformats.org/officeDocument/2006/relationships/image" Target="../media/image29.emf"/><Relationship Id="rId9" Type="http://schemas.openxmlformats.org/officeDocument/2006/relationships/image" Target="../media/image35.emf"/><Relationship Id="rId14" Type="http://schemas.openxmlformats.org/officeDocument/2006/relationships/image" Target="../media/image40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3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3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3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3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47.jpg"/><Relationship Id="rId4" Type="http://schemas.openxmlformats.org/officeDocument/2006/relationships/image" Target="../media/image46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44.jpg"/><Relationship Id="rId4" Type="http://schemas.openxmlformats.org/officeDocument/2006/relationships/image" Target="../media/image47.jp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jpg"/><Relationship Id="rId3" Type="http://schemas.openxmlformats.org/officeDocument/2006/relationships/image" Target="../media/image46.jpg"/><Relationship Id="rId7" Type="http://schemas.openxmlformats.org/officeDocument/2006/relationships/image" Target="../media/image49.jpg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48.jpg"/><Relationship Id="rId5" Type="http://schemas.openxmlformats.org/officeDocument/2006/relationships/image" Target="../media/image44.jpg"/><Relationship Id="rId10" Type="http://schemas.openxmlformats.org/officeDocument/2006/relationships/image" Target="../media/image52.jpg"/><Relationship Id="rId4" Type="http://schemas.openxmlformats.org/officeDocument/2006/relationships/image" Target="../media/image47.jpg"/><Relationship Id="rId9" Type="http://schemas.openxmlformats.org/officeDocument/2006/relationships/image" Target="../media/image51.jp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jpg"/><Relationship Id="rId3" Type="http://schemas.openxmlformats.org/officeDocument/2006/relationships/image" Target="../media/image46.jpg"/><Relationship Id="rId7" Type="http://schemas.openxmlformats.org/officeDocument/2006/relationships/image" Target="../media/image49.jpg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48.jpg"/><Relationship Id="rId5" Type="http://schemas.openxmlformats.org/officeDocument/2006/relationships/image" Target="../media/image44.jpg"/><Relationship Id="rId10" Type="http://schemas.openxmlformats.org/officeDocument/2006/relationships/image" Target="../media/image52.jpg"/><Relationship Id="rId4" Type="http://schemas.openxmlformats.org/officeDocument/2006/relationships/image" Target="../media/image47.jpg"/><Relationship Id="rId9" Type="http://schemas.openxmlformats.org/officeDocument/2006/relationships/image" Target="../media/image51.jp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jpg"/><Relationship Id="rId3" Type="http://schemas.openxmlformats.org/officeDocument/2006/relationships/image" Target="../media/image46.jpg"/><Relationship Id="rId7" Type="http://schemas.openxmlformats.org/officeDocument/2006/relationships/image" Target="../media/image49.jpg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48.jpg"/><Relationship Id="rId5" Type="http://schemas.openxmlformats.org/officeDocument/2006/relationships/image" Target="../media/image44.jpg"/><Relationship Id="rId10" Type="http://schemas.openxmlformats.org/officeDocument/2006/relationships/image" Target="../media/image52.jpg"/><Relationship Id="rId4" Type="http://schemas.openxmlformats.org/officeDocument/2006/relationships/image" Target="../media/image47.jpg"/><Relationship Id="rId9" Type="http://schemas.openxmlformats.org/officeDocument/2006/relationships/image" Target="../media/image51.jp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jpg"/><Relationship Id="rId3" Type="http://schemas.openxmlformats.org/officeDocument/2006/relationships/image" Target="../media/image46.jpg"/><Relationship Id="rId7" Type="http://schemas.openxmlformats.org/officeDocument/2006/relationships/image" Target="../media/image49.jpg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48.jpg"/><Relationship Id="rId5" Type="http://schemas.openxmlformats.org/officeDocument/2006/relationships/image" Target="../media/image44.jpg"/><Relationship Id="rId10" Type="http://schemas.openxmlformats.org/officeDocument/2006/relationships/image" Target="../media/image52.jpg"/><Relationship Id="rId4" Type="http://schemas.openxmlformats.org/officeDocument/2006/relationships/image" Target="../media/image47.jpg"/><Relationship Id="rId9" Type="http://schemas.openxmlformats.org/officeDocument/2006/relationships/image" Target="../media/image51.jp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jpg"/><Relationship Id="rId3" Type="http://schemas.openxmlformats.org/officeDocument/2006/relationships/image" Target="../media/image46.jpg"/><Relationship Id="rId7" Type="http://schemas.openxmlformats.org/officeDocument/2006/relationships/image" Target="../media/image49.jpg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48.jpg"/><Relationship Id="rId11" Type="http://schemas.openxmlformats.org/officeDocument/2006/relationships/image" Target="../media/image53.jpg"/><Relationship Id="rId5" Type="http://schemas.openxmlformats.org/officeDocument/2006/relationships/image" Target="../media/image44.jpg"/><Relationship Id="rId10" Type="http://schemas.openxmlformats.org/officeDocument/2006/relationships/image" Target="../media/image52.jpg"/><Relationship Id="rId4" Type="http://schemas.openxmlformats.org/officeDocument/2006/relationships/image" Target="../media/image47.jpg"/><Relationship Id="rId9" Type="http://schemas.openxmlformats.org/officeDocument/2006/relationships/image" Target="../media/image51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3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57.jp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g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60.jpg"/><Relationship Id="rId4" Type="http://schemas.openxmlformats.org/officeDocument/2006/relationships/image" Target="../media/image59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3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g"/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3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3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5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5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g"/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57.xml"/><Relationship Id="rId5" Type="http://schemas.openxmlformats.org/officeDocument/2006/relationships/image" Target="../media/image69.jpg"/><Relationship Id="rId4" Type="http://schemas.openxmlformats.org/officeDocument/2006/relationships/image" Target="../media/image68.jp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g"/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57.xml"/><Relationship Id="rId6" Type="http://schemas.openxmlformats.org/officeDocument/2006/relationships/image" Target="../media/image69.jpg"/><Relationship Id="rId5" Type="http://schemas.openxmlformats.org/officeDocument/2006/relationships/image" Target="../media/image70.jpg"/><Relationship Id="rId4" Type="http://schemas.openxmlformats.org/officeDocument/2006/relationships/image" Target="../media/image68.jp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g"/><Relationship Id="rId2" Type="http://schemas.openxmlformats.org/officeDocument/2006/relationships/image" Target="../media/image71.emf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7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g"/><Relationship Id="rId2" Type="http://schemas.openxmlformats.org/officeDocument/2006/relationships/image" Target="../media/image73.emf"/><Relationship Id="rId1" Type="http://schemas.openxmlformats.org/officeDocument/2006/relationships/slideLayout" Target="../slideLayouts/slideLayout3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g"/><Relationship Id="rId2" Type="http://schemas.openxmlformats.org/officeDocument/2006/relationships/slideLayout" Target="../slideLayouts/slideLayout35.xml"/><Relationship Id="rId1" Type="http://schemas.openxmlformats.org/officeDocument/2006/relationships/themeOverride" Target="../theme/themeOverride14.xml"/><Relationship Id="rId4" Type="http://schemas.openxmlformats.org/officeDocument/2006/relationships/image" Target="../media/image76.jp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emf"/><Relationship Id="rId1" Type="http://schemas.openxmlformats.org/officeDocument/2006/relationships/slideLayout" Target="../slideLayouts/slideLayout3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2.xml"/><Relationship Id="rId4" Type="http://schemas.openxmlformats.org/officeDocument/2006/relationships/image" Target="../media/image78.jp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jpg"/><Relationship Id="rId3" Type="http://schemas.openxmlformats.org/officeDocument/2006/relationships/image" Target="../media/image78.jpg"/><Relationship Id="rId7" Type="http://schemas.openxmlformats.org/officeDocument/2006/relationships/image" Target="../media/image82.jpg"/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62.xml"/><Relationship Id="rId6" Type="http://schemas.openxmlformats.org/officeDocument/2006/relationships/image" Target="../media/image81.jpg"/><Relationship Id="rId5" Type="http://schemas.openxmlformats.org/officeDocument/2006/relationships/image" Target="../media/image80.jpg"/><Relationship Id="rId4" Type="http://schemas.openxmlformats.org/officeDocument/2006/relationships/image" Target="../media/image79.jp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jpg"/><Relationship Id="rId3" Type="http://schemas.openxmlformats.org/officeDocument/2006/relationships/image" Target="../media/image78.jpg"/><Relationship Id="rId7" Type="http://schemas.openxmlformats.org/officeDocument/2006/relationships/image" Target="../media/image82.jpg"/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62.xml"/><Relationship Id="rId6" Type="http://schemas.openxmlformats.org/officeDocument/2006/relationships/image" Target="../media/image81.jpg"/><Relationship Id="rId5" Type="http://schemas.openxmlformats.org/officeDocument/2006/relationships/image" Target="../media/image80.jpg"/><Relationship Id="rId4" Type="http://schemas.openxmlformats.org/officeDocument/2006/relationships/image" Target="../media/image79.jpg"/><Relationship Id="rId9" Type="http://schemas.openxmlformats.org/officeDocument/2006/relationships/image" Target="../media/image84.jp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jpg"/><Relationship Id="rId3" Type="http://schemas.openxmlformats.org/officeDocument/2006/relationships/image" Target="../media/image78.jpg"/><Relationship Id="rId7" Type="http://schemas.openxmlformats.org/officeDocument/2006/relationships/image" Target="../media/image82.jpg"/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62.xml"/><Relationship Id="rId6" Type="http://schemas.openxmlformats.org/officeDocument/2006/relationships/image" Target="../media/image81.jpg"/><Relationship Id="rId5" Type="http://schemas.openxmlformats.org/officeDocument/2006/relationships/image" Target="../media/image80.jpg"/><Relationship Id="rId4" Type="http://schemas.openxmlformats.org/officeDocument/2006/relationships/image" Target="../media/image79.jpg"/><Relationship Id="rId9" Type="http://schemas.openxmlformats.org/officeDocument/2006/relationships/image" Target="../media/image84.jp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jpg"/><Relationship Id="rId3" Type="http://schemas.openxmlformats.org/officeDocument/2006/relationships/image" Target="../media/image78.jpg"/><Relationship Id="rId7" Type="http://schemas.openxmlformats.org/officeDocument/2006/relationships/image" Target="../media/image82.jpg"/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62.xml"/><Relationship Id="rId6" Type="http://schemas.openxmlformats.org/officeDocument/2006/relationships/image" Target="../media/image81.jpg"/><Relationship Id="rId5" Type="http://schemas.openxmlformats.org/officeDocument/2006/relationships/image" Target="../media/image80.jpg"/><Relationship Id="rId4" Type="http://schemas.openxmlformats.org/officeDocument/2006/relationships/image" Target="../media/image79.jpg"/><Relationship Id="rId9" Type="http://schemas.openxmlformats.org/officeDocument/2006/relationships/image" Target="../media/image85.jp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jpg"/><Relationship Id="rId3" Type="http://schemas.openxmlformats.org/officeDocument/2006/relationships/image" Target="../media/image78.jpg"/><Relationship Id="rId7" Type="http://schemas.openxmlformats.org/officeDocument/2006/relationships/image" Target="../media/image82.jpg"/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62.xml"/><Relationship Id="rId6" Type="http://schemas.openxmlformats.org/officeDocument/2006/relationships/image" Target="../media/image81.jpg"/><Relationship Id="rId5" Type="http://schemas.openxmlformats.org/officeDocument/2006/relationships/image" Target="../media/image80.jpg"/><Relationship Id="rId4" Type="http://schemas.openxmlformats.org/officeDocument/2006/relationships/image" Target="../media/image79.jpg"/><Relationship Id="rId9" Type="http://schemas.openxmlformats.org/officeDocument/2006/relationships/image" Target="../media/image85.jp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jpg"/><Relationship Id="rId3" Type="http://schemas.openxmlformats.org/officeDocument/2006/relationships/image" Target="../media/image78.jpg"/><Relationship Id="rId7" Type="http://schemas.openxmlformats.org/officeDocument/2006/relationships/image" Target="../media/image82.jpg"/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62.xml"/><Relationship Id="rId6" Type="http://schemas.openxmlformats.org/officeDocument/2006/relationships/image" Target="../media/image81.jpg"/><Relationship Id="rId5" Type="http://schemas.openxmlformats.org/officeDocument/2006/relationships/image" Target="../media/image80.jpg"/><Relationship Id="rId4" Type="http://schemas.openxmlformats.org/officeDocument/2006/relationships/image" Target="../media/image79.jpg"/><Relationship Id="rId9" Type="http://schemas.openxmlformats.org/officeDocument/2006/relationships/image" Target="../media/image86.jp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jpg"/><Relationship Id="rId3" Type="http://schemas.openxmlformats.org/officeDocument/2006/relationships/image" Target="../media/image78.jpg"/><Relationship Id="rId7" Type="http://schemas.openxmlformats.org/officeDocument/2006/relationships/image" Target="../media/image82.jpg"/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62.xml"/><Relationship Id="rId6" Type="http://schemas.openxmlformats.org/officeDocument/2006/relationships/image" Target="../media/image81.jpg"/><Relationship Id="rId5" Type="http://schemas.openxmlformats.org/officeDocument/2006/relationships/image" Target="../media/image80.jpg"/><Relationship Id="rId4" Type="http://schemas.openxmlformats.org/officeDocument/2006/relationships/image" Target="../media/image79.jpg"/><Relationship Id="rId9" Type="http://schemas.openxmlformats.org/officeDocument/2006/relationships/image" Target="../media/image86.jp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jpg"/><Relationship Id="rId3" Type="http://schemas.openxmlformats.org/officeDocument/2006/relationships/image" Target="../media/image78.jpg"/><Relationship Id="rId7" Type="http://schemas.openxmlformats.org/officeDocument/2006/relationships/image" Target="../media/image82.jpg"/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62.xml"/><Relationship Id="rId6" Type="http://schemas.openxmlformats.org/officeDocument/2006/relationships/image" Target="../media/image81.jpg"/><Relationship Id="rId5" Type="http://schemas.openxmlformats.org/officeDocument/2006/relationships/image" Target="../media/image80.jpg"/><Relationship Id="rId4" Type="http://schemas.openxmlformats.org/officeDocument/2006/relationships/image" Target="../media/image79.jpg"/><Relationship Id="rId9" Type="http://schemas.openxmlformats.org/officeDocument/2006/relationships/image" Target="../media/image87.jp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jpg"/><Relationship Id="rId3" Type="http://schemas.openxmlformats.org/officeDocument/2006/relationships/image" Target="../media/image78.jpg"/><Relationship Id="rId7" Type="http://schemas.openxmlformats.org/officeDocument/2006/relationships/image" Target="../media/image82.jpg"/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62.xml"/><Relationship Id="rId6" Type="http://schemas.openxmlformats.org/officeDocument/2006/relationships/image" Target="../media/image81.jpg"/><Relationship Id="rId11" Type="http://schemas.openxmlformats.org/officeDocument/2006/relationships/image" Target="../media/image89.jpg"/><Relationship Id="rId5" Type="http://schemas.openxmlformats.org/officeDocument/2006/relationships/image" Target="../media/image80.jpg"/><Relationship Id="rId10" Type="http://schemas.openxmlformats.org/officeDocument/2006/relationships/image" Target="../media/image87.jpg"/><Relationship Id="rId4" Type="http://schemas.openxmlformats.org/officeDocument/2006/relationships/image" Target="../media/image79.jpg"/><Relationship Id="rId9" Type="http://schemas.openxmlformats.org/officeDocument/2006/relationships/image" Target="../media/image88.jp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jpg"/><Relationship Id="rId3" Type="http://schemas.openxmlformats.org/officeDocument/2006/relationships/image" Target="../media/image78.jpg"/><Relationship Id="rId7" Type="http://schemas.openxmlformats.org/officeDocument/2006/relationships/image" Target="../media/image82.jpg"/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62.xml"/><Relationship Id="rId6" Type="http://schemas.openxmlformats.org/officeDocument/2006/relationships/image" Target="../media/image81.jpg"/><Relationship Id="rId5" Type="http://schemas.openxmlformats.org/officeDocument/2006/relationships/image" Target="../media/image80.jpg"/><Relationship Id="rId4" Type="http://schemas.openxmlformats.org/officeDocument/2006/relationships/image" Target="../media/image79.jpg"/><Relationship Id="rId9" Type="http://schemas.openxmlformats.org/officeDocument/2006/relationships/image" Target="../media/image90.jp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jpg"/><Relationship Id="rId3" Type="http://schemas.openxmlformats.org/officeDocument/2006/relationships/image" Target="../media/image78.jpg"/><Relationship Id="rId7" Type="http://schemas.openxmlformats.org/officeDocument/2006/relationships/image" Target="../media/image82.jpg"/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62.xml"/><Relationship Id="rId6" Type="http://schemas.openxmlformats.org/officeDocument/2006/relationships/image" Target="../media/image81.jpg"/><Relationship Id="rId5" Type="http://schemas.openxmlformats.org/officeDocument/2006/relationships/image" Target="../media/image80.jpg"/><Relationship Id="rId10" Type="http://schemas.openxmlformats.org/officeDocument/2006/relationships/image" Target="../media/image88.jpg"/><Relationship Id="rId4" Type="http://schemas.openxmlformats.org/officeDocument/2006/relationships/image" Target="../media/image79.jpg"/><Relationship Id="rId9" Type="http://schemas.openxmlformats.org/officeDocument/2006/relationships/image" Target="../media/image90.jp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jpg"/><Relationship Id="rId2" Type="http://schemas.openxmlformats.org/officeDocument/2006/relationships/image" Target="../media/image91.jpg"/><Relationship Id="rId1" Type="http://schemas.openxmlformats.org/officeDocument/2006/relationships/slideLayout" Target="../slideLayouts/slideLayout62.xml"/><Relationship Id="rId4" Type="http://schemas.openxmlformats.org/officeDocument/2006/relationships/image" Target="../media/image93.jp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jpg"/><Relationship Id="rId2" Type="http://schemas.openxmlformats.org/officeDocument/2006/relationships/image" Target="../media/image91.jpg"/><Relationship Id="rId1" Type="http://schemas.openxmlformats.org/officeDocument/2006/relationships/slideLayout" Target="../slideLayouts/slideLayout62.xml"/><Relationship Id="rId6" Type="http://schemas.openxmlformats.org/officeDocument/2006/relationships/image" Target="../media/image95.jpg"/><Relationship Id="rId5" Type="http://schemas.openxmlformats.org/officeDocument/2006/relationships/image" Target="../media/image94.jpg"/><Relationship Id="rId4" Type="http://schemas.openxmlformats.org/officeDocument/2006/relationships/image" Target="../media/image93.jp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jpg"/><Relationship Id="rId7" Type="http://schemas.openxmlformats.org/officeDocument/2006/relationships/image" Target="../media/image96.jpg"/><Relationship Id="rId2" Type="http://schemas.openxmlformats.org/officeDocument/2006/relationships/image" Target="../media/image91.jpg"/><Relationship Id="rId1" Type="http://schemas.openxmlformats.org/officeDocument/2006/relationships/slideLayout" Target="../slideLayouts/slideLayout62.xml"/><Relationship Id="rId6" Type="http://schemas.openxmlformats.org/officeDocument/2006/relationships/image" Target="../media/image95.jpg"/><Relationship Id="rId5" Type="http://schemas.openxmlformats.org/officeDocument/2006/relationships/image" Target="../media/image94.jpg"/><Relationship Id="rId4" Type="http://schemas.openxmlformats.org/officeDocument/2006/relationships/image" Target="../media/image93.jp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92.jpg"/><Relationship Id="rId7" Type="http://schemas.openxmlformats.org/officeDocument/2006/relationships/image" Target="../media/image95.jpg"/><Relationship Id="rId2" Type="http://schemas.openxmlformats.org/officeDocument/2006/relationships/image" Target="../media/image91.jpg"/><Relationship Id="rId1" Type="http://schemas.openxmlformats.org/officeDocument/2006/relationships/slideLayout" Target="../slideLayouts/slideLayout62.xml"/><Relationship Id="rId6" Type="http://schemas.openxmlformats.org/officeDocument/2006/relationships/image" Target="../media/image94.jpg"/><Relationship Id="rId5" Type="http://schemas.openxmlformats.org/officeDocument/2006/relationships/image" Target="../media/image96.jpg"/><Relationship Id="rId4" Type="http://schemas.openxmlformats.org/officeDocument/2006/relationships/image" Target="../media/image93.jp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92.jpg"/><Relationship Id="rId7" Type="http://schemas.openxmlformats.org/officeDocument/2006/relationships/image" Target="../media/image95.jpg"/><Relationship Id="rId2" Type="http://schemas.openxmlformats.org/officeDocument/2006/relationships/image" Target="../media/image91.jpg"/><Relationship Id="rId1" Type="http://schemas.openxmlformats.org/officeDocument/2006/relationships/slideLayout" Target="../slideLayouts/slideLayout62.xml"/><Relationship Id="rId6" Type="http://schemas.openxmlformats.org/officeDocument/2006/relationships/image" Target="../media/image94.jpg"/><Relationship Id="rId5" Type="http://schemas.openxmlformats.org/officeDocument/2006/relationships/image" Target="../media/image96.jpg"/><Relationship Id="rId4" Type="http://schemas.openxmlformats.org/officeDocument/2006/relationships/image" Target="../media/image93.jpg"/><Relationship Id="rId9" Type="http://schemas.openxmlformats.org/officeDocument/2006/relationships/image" Target="../media/image9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-74815" y="764771"/>
            <a:ext cx="9318568" cy="5288164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176135"/>
            <a:ext cx="9144000" cy="2590800"/>
          </a:xfrm>
        </p:spPr>
        <p:txBody>
          <a:bodyPr>
            <a:normAutofit/>
          </a:bodyPr>
          <a:lstStyle/>
          <a:p>
            <a:r>
              <a:rPr lang="en-US" sz="5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Neural Network Basics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919335"/>
            <a:ext cx="6400800" cy="213360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sz="3600" dirty="0" err="1">
                <a:solidFill>
                  <a:schemeClr val="tx1"/>
                </a:solidFill>
              </a:rPr>
              <a:t>李翔</a:t>
            </a:r>
            <a:endParaRPr lang="en-US" sz="3600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5162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(convolutional) neural networks?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State of the art performance on many problems</a:t>
            </a:r>
          </a:p>
          <a:p>
            <a:r>
              <a:rPr lang="en-US" dirty="0"/>
              <a:t>Most papers in recent vision conferences use deep neural networks</a:t>
            </a:r>
          </a:p>
        </p:txBody>
      </p:sp>
      <p:sp>
        <p:nvSpPr>
          <p:cNvPr id="5" name="object 3"/>
          <p:cNvSpPr/>
          <p:nvPr/>
        </p:nvSpPr>
        <p:spPr>
          <a:xfrm>
            <a:off x="1170831" y="2612573"/>
            <a:ext cx="7853428" cy="3375142"/>
          </a:xfrm>
          <a:prstGeom prst="rect">
            <a:avLst/>
          </a:prstGeom>
          <a:blipFill>
            <a:blip r:embed="rId4" cstate="print"/>
            <a:stretch>
              <a:fillRect t="-45605" b="-1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6488668"/>
            <a:ext cx="4250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i="1" spc="-5" dirty="0" err="1">
                <a:cs typeface="Arial"/>
                <a:hlinkClick r:id="rId5"/>
              </a:rPr>
              <a:t>Razavian</a:t>
            </a:r>
            <a:r>
              <a:rPr lang="en-US" i="1" spc="-5" dirty="0">
                <a:cs typeface="Arial"/>
                <a:hlinkClick r:id="rId5"/>
              </a:rPr>
              <a:t> et al., CVPR</a:t>
            </a:r>
            <a:r>
              <a:rPr lang="en-US" i="1" spc="-20" dirty="0">
                <a:cs typeface="Arial"/>
                <a:hlinkClick r:id="rId5"/>
              </a:rPr>
              <a:t> </a:t>
            </a:r>
            <a:r>
              <a:rPr lang="en-US" i="1" spc="-5" dirty="0">
                <a:cs typeface="Arial"/>
                <a:hlinkClick r:id="rId5"/>
              </a:rPr>
              <a:t>2014 Workshops</a:t>
            </a:r>
            <a:endParaRPr lang="en-US" i="1" dirty="0">
              <a:cs typeface="Arial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49071BD-8DDF-F142-9E3C-A41918F3A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4C1639-4E2F-4550-BAEE-C5BDC1CB80DD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1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49856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+mn-lt"/>
              </a:rPr>
              <a:t>Traditional Recognition Approach</a:t>
            </a:r>
          </a:p>
        </p:txBody>
      </p:sp>
      <p:sp>
        <p:nvSpPr>
          <p:cNvPr id="2" name="Rounded Rectangle 1"/>
          <p:cNvSpPr>
            <a:spLocks noChangeArrowheads="1"/>
          </p:cNvSpPr>
          <p:nvPr/>
        </p:nvSpPr>
        <p:spPr bwMode="auto">
          <a:xfrm>
            <a:off x="1749425" y="2057400"/>
            <a:ext cx="2593975" cy="1600200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lIns="91430" tIns="45715" rIns="91430" bIns="45715" anchor="ctr"/>
          <a:lstStyle/>
          <a:p>
            <a:pPr algn="ctr">
              <a:defRPr/>
            </a:pPr>
            <a:r>
              <a:rPr lang="en-US" b="0" dirty="0">
                <a:latin typeface="+mn-lt"/>
                <a:ea typeface="+mn-ea"/>
                <a:cs typeface="Adobe Caslon Pro"/>
              </a:rPr>
              <a:t>Hand-designed</a:t>
            </a:r>
            <a:br>
              <a:rPr lang="en-US" b="0" dirty="0">
                <a:latin typeface="+mn-lt"/>
                <a:ea typeface="+mn-ea"/>
                <a:cs typeface="Adobe Caslon Pro"/>
              </a:rPr>
            </a:br>
            <a:r>
              <a:rPr lang="en-US" b="0" dirty="0">
                <a:latin typeface="+mn-lt"/>
                <a:ea typeface="+mn-ea"/>
                <a:cs typeface="Adobe Caslon Pro"/>
              </a:rPr>
              <a:t>feature extraction (e.g. SIFT, HOG)</a:t>
            </a:r>
          </a:p>
        </p:txBody>
      </p:sp>
      <p:sp>
        <p:nvSpPr>
          <p:cNvPr id="12" name="Rounded Rectangle 11"/>
          <p:cNvSpPr>
            <a:spLocks noChangeArrowheads="1"/>
          </p:cNvSpPr>
          <p:nvPr/>
        </p:nvSpPr>
        <p:spPr bwMode="auto">
          <a:xfrm>
            <a:off x="4876310" y="2057400"/>
            <a:ext cx="2593975" cy="1600200"/>
          </a:xfrm>
          <a:prstGeom prst="roundRect">
            <a:avLst>
              <a:gd name="adj" fmla="val 16667"/>
            </a:avLst>
          </a:prstGeom>
          <a:solidFill>
            <a:srgbClr val="00B0F0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lIns="91430" tIns="45715" rIns="91430" bIns="45715" anchor="ctr"/>
          <a:lstStyle/>
          <a:p>
            <a:pPr algn="ctr">
              <a:defRPr/>
            </a:pPr>
            <a:r>
              <a:rPr lang="en-US" b="0" dirty="0">
                <a:latin typeface="+mn-lt"/>
                <a:ea typeface="+mn-ea"/>
                <a:cs typeface="Adobe Caslon Pro"/>
              </a:rPr>
              <a:t>Trainable</a:t>
            </a:r>
            <a:br>
              <a:rPr lang="en-US" b="0" dirty="0">
                <a:latin typeface="+mn-lt"/>
                <a:ea typeface="+mn-ea"/>
                <a:cs typeface="Adobe Caslon Pro"/>
              </a:rPr>
            </a:br>
            <a:r>
              <a:rPr lang="en-US" b="0" dirty="0">
                <a:latin typeface="+mn-lt"/>
                <a:ea typeface="+mn-ea"/>
                <a:cs typeface="Adobe Caslon Pro"/>
              </a:rPr>
              <a:t>classifier</a:t>
            </a:r>
          </a:p>
        </p:txBody>
      </p:sp>
      <p:sp>
        <p:nvSpPr>
          <p:cNvPr id="16" name="Right Arrow 15"/>
          <p:cNvSpPr>
            <a:spLocks noChangeArrowheads="1"/>
          </p:cNvSpPr>
          <p:nvPr/>
        </p:nvSpPr>
        <p:spPr bwMode="auto">
          <a:xfrm>
            <a:off x="1371600" y="2743200"/>
            <a:ext cx="304800" cy="266700"/>
          </a:xfrm>
          <a:prstGeom prst="rightArrow">
            <a:avLst>
              <a:gd name="adj1" fmla="val 50000"/>
              <a:gd name="adj2" fmla="val 50000"/>
            </a:avLst>
          </a:prstGeom>
          <a:gradFill rotWithShape="1">
            <a:gsLst>
              <a:gs pos="0">
                <a:srgbClr val="EDEDED"/>
              </a:gs>
              <a:gs pos="64999">
                <a:srgbClr val="D0D0D0"/>
              </a:gs>
              <a:gs pos="100000">
                <a:srgbClr val="BCBCBC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lIns="91430" tIns="45715" rIns="91430" bIns="45715" anchor="ctr"/>
          <a:lstStyle/>
          <a:p>
            <a:pPr algn="ctr">
              <a:defRPr/>
            </a:pPr>
            <a:endParaRPr lang="en-US" b="0">
              <a:latin typeface="+mn-lt"/>
              <a:ea typeface="+mn-ea"/>
              <a:cs typeface="+mn-cs"/>
            </a:endParaRPr>
          </a:p>
        </p:txBody>
      </p:sp>
      <p:sp>
        <p:nvSpPr>
          <p:cNvPr id="18" name="Right Arrow 17"/>
          <p:cNvSpPr>
            <a:spLocks noChangeArrowheads="1"/>
          </p:cNvSpPr>
          <p:nvPr/>
        </p:nvSpPr>
        <p:spPr bwMode="auto">
          <a:xfrm>
            <a:off x="7543309" y="2743200"/>
            <a:ext cx="381000" cy="228600"/>
          </a:xfrm>
          <a:prstGeom prst="rightArrow">
            <a:avLst>
              <a:gd name="adj1" fmla="val 50000"/>
              <a:gd name="adj2" fmla="val 50000"/>
            </a:avLst>
          </a:prstGeom>
          <a:gradFill rotWithShape="1">
            <a:gsLst>
              <a:gs pos="0">
                <a:srgbClr val="EDEDED"/>
              </a:gs>
              <a:gs pos="64999">
                <a:srgbClr val="D0D0D0"/>
              </a:gs>
              <a:gs pos="100000">
                <a:srgbClr val="BCBCBC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lIns="91430" tIns="45715" rIns="91430" bIns="45715" anchor="ctr"/>
          <a:lstStyle/>
          <a:p>
            <a:pPr algn="ctr">
              <a:defRPr/>
            </a:pPr>
            <a:endParaRPr lang="en-US" b="0">
              <a:latin typeface="+mn-lt"/>
              <a:ea typeface="+mn-ea"/>
              <a:cs typeface="+mn-cs"/>
            </a:endParaRPr>
          </a:p>
        </p:txBody>
      </p:sp>
      <p:sp>
        <p:nvSpPr>
          <p:cNvPr id="10253" name="TextBox 20"/>
          <p:cNvSpPr txBox="1">
            <a:spLocks noChangeArrowheads="1"/>
          </p:cNvSpPr>
          <p:nvPr/>
        </p:nvSpPr>
        <p:spPr bwMode="auto">
          <a:xfrm>
            <a:off x="-133724" y="2286000"/>
            <a:ext cx="1810124" cy="120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latin typeface="+mn-lt"/>
              </a:rPr>
              <a:t>Image/ Video</a:t>
            </a:r>
          </a:p>
          <a:p>
            <a:pPr algn="ctr" eaLnBrk="1" hangingPunct="1"/>
            <a:r>
              <a:rPr lang="en-US" b="0" dirty="0">
                <a:latin typeface="+mn-lt"/>
              </a:rPr>
              <a:t>Pixels</a:t>
            </a:r>
          </a:p>
        </p:txBody>
      </p:sp>
      <p:sp>
        <p:nvSpPr>
          <p:cNvPr id="10254" name="Content Placeholder 2"/>
          <p:cNvSpPr txBox="1">
            <a:spLocks/>
          </p:cNvSpPr>
          <p:nvPr/>
        </p:nvSpPr>
        <p:spPr bwMode="auto">
          <a:xfrm>
            <a:off x="258792" y="4343400"/>
            <a:ext cx="8732808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5" rIns="91430" bIns="45715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lvl="1" eaLnBrk="1" hangingPunct="1">
              <a:spcBef>
                <a:spcPct val="20000"/>
              </a:spcBef>
              <a:buFont typeface="Arial" charset="0"/>
              <a:buChar char="•"/>
            </a:pPr>
            <a:r>
              <a:rPr lang="en-US" sz="2800" dirty="0"/>
              <a:t>Features are key to recent progress in recognition, but research shows they’re flawed…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sz="2800" dirty="0"/>
              <a:t>Where next? </a:t>
            </a:r>
          </a:p>
        </p:txBody>
      </p:sp>
      <p:sp>
        <p:nvSpPr>
          <p:cNvPr id="20" name="TextBox 20"/>
          <p:cNvSpPr txBox="1">
            <a:spLocks noChangeArrowheads="1"/>
          </p:cNvSpPr>
          <p:nvPr/>
        </p:nvSpPr>
        <p:spPr bwMode="auto">
          <a:xfrm>
            <a:off x="7917287" y="2438400"/>
            <a:ext cx="1074313" cy="830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5" rIns="91430" bIns="4571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latin typeface="+mn-lt"/>
              </a:rPr>
              <a:t>Object</a:t>
            </a:r>
            <a:br>
              <a:rPr lang="en-US" b="0" dirty="0">
                <a:latin typeface="+mn-lt"/>
              </a:rPr>
            </a:br>
            <a:r>
              <a:rPr lang="en-US" b="0" dirty="0">
                <a:latin typeface="+mn-lt"/>
              </a:rPr>
              <a:t>Class</a:t>
            </a:r>
          </a:p>
        </p:txBody>
      </p:sp>
      <p:sp>
        <p:nvSpPr>
          <p:cNvPr id="13" name="Right Arrow 12"/>
          <p:cNvSpPr>
            <a:spLocks noChangeArrowheads="1"/>
          </p:cNvSpPr>
          <p:nvPr/>
        </p:nvSpPr>
        <p:spPr bwMode="auto">
          <a:xfrm>
            <a:off x="4419600" y="2743200"/>
            <a:ext cx="381000" cy="228600"/>
          </a:xfrm>
          <a:prstGeom prst="rightArrow">
            <a:avLst>
              <a:gd name="adj1" fmla="val 50000"/>
              <a:gd name="adj2" fmla="val 50000"/>
            </a:avLst>
          </a:prstGeom>
          <a:gradFill rotWithShape="1">
            <a:gsLst>
              <a:gs pos="0">
                <a:srgbClr val="EDEDED"/>
              </a:gs>
              <a:gs pos="64999">
                <a:srgbClr val="D0D0D0"/>
              </a:gs>
              <a:gs pos="100000">
                <a:srgbClr val="BCBCBC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lIns="91430" tIns="45715" rIns="91430" bIns="45715" anchor="ctr"/>
          <a:lstStyle/>
          <a:p>
            <a:pPr algn="ctr">
              <a:defRPr/>
            </a:pPr>
            <a:endParaRPr lang="en-US" b="0">
              <a:latin typeface="+mn-lt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6604084"/>
            <a:ext cx="191110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Adapted from Lana </a:t>
            </a:r>
            <a:r>
              <a:rPr lang="en-US" sz="1050" dirty="0" err="1"/>
              <a:t>Lazebnik</a:t>
            </a:r>
            <a:endParaRPr lang="en-US" sz="105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605D7FC-B760-E849-98F9-A10CA6C4D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82024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dirty="0">
                <a:latin typeface="+mn-lt"/>
              </a:rPr>
              <a:t>What about learning the features?</a:t>
            </a:r>
          </a:p>
        </p:txBody>
      </p:sp>
      <p:sp>
        <p:nvSpPr>
          <p:cNvPr id="10242" name="Content Placeholder 2"/>
          <p:cNvSpPr>
            <a:spLocks noGrp="1"/>
          </p:cNvSpPr>
          <p:nvPr>
            <p:ph idx="1"/>
          </p:nvPr>
        </p:nvSpPr>
        <p:spPr>
          <a:xfrm>
            <a:off x="685800" y="1066800"/>
            <a:ext cx="7772400" cy="5105400"/>
          </a:xfrm>
        </p:spPr>
        <p:txBody>
          <a:bodyPr/>
          <a:lstStyle/>
          <a:p>
            <a:pPr marL="342865" lvl="1" indent="-342865" eaLnBrk="1" hangingPunct="1">
              <a:spcAft>
                <a:spcPts val="1200"/>
              </a:spcAft>
              <a:buFont typeface="Arial"/>
              <a:buChar char="•"/>
            </a:pPr>
            <a:r>
              <a:rPr lang="en-US" sz="2400" dirty="0"/>
              <a:t>Learn a </a:t>
            </a:r>
            <a:r>
              <a:rPr lang="en-US" sz="2400" i="1" dirty="0"/>
              <a:t>feature hierarchy</a:t>
            </a:r>
            <a:r>
              <a:rPr lang="en-US" sz="2400" dirty="0"/>
              <a:t> all the way from pixels </a:t>
            </a:r>
            <a:r>
              <a:rPr lang="en-US" sz="2400" dirty="0">
                <a:sym typeface="Wingdings" charset="0"/>
              </a:rPr>
              <a:t>to classifier</a:t>
            </a:r>
          </a:p>
          <a:p>
            <a:pPr marL="342865" lvl="1" indent="-342865" eaLnBrk="1" hangingPunct="1">
              <a:spcAft>
                <a:spcPts val="1200"/>
              </a:spcAft>
              <a:buFont typeface="Arial"/>
              <a:buChar char="•"/>
            </a:pPr>
            <a:r>
              <a:rPr lang="en-US" sz="2400" dirty="0"/>
              <a:t>Each layer extracts features from the output of previous layer</a:t>
            </a:r>
          </a:p>
          <a:p>
            <a:pPr marL="342865" lvl="1" indent="-342865" eaLnBrk="1" hangingPunct="1">
              <a:spcAft>
                <a:spcPts val="1200"/>
              </a:spcAft>
              <a:buFont typeface="Arial"/>
              <a:buChar char="•"/>
            </a:pPr>
            <a:r>
              <a:rPr lang="en-US" sz="2400" dirty="0"/>
              <a:t>Train all layers jointly</a:t>
            </a:r>
          </a:p>
        </p:txBody>
      </p:sp>
      <p:sp>
        <p:nvSpPr>
          <p:cNvPr id="2" name="Rounded Rectangle 1"/>
          <p:cNvSpPr>
            <a:spLocks noChangeArrowheads="1"/>
          </p:cNvSpPr>
          <p:nvPr/>
        </p:nvSpPr>
        <p:spPr bwMode="auto">
          <a:xfrm>
            <a:off x="1676400" y="4851747"/>
            <a:ext cx="1524000" cy="8382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8F26"/>
              </a:gs>
              <a:gs pos="20000">
                <a:srgbClr val="FF8F2A"/>
              </a:gs>
              <a:gs pos="100000">
                <a:srgbClr val="CB6C1D"/>
              </a:gs>
            </a:gsLst>
            <a:lin ang="5400000"/>
          </a:gradFill>
          <a:ln w="9525">
            <a:solidFill>
              <a:srgbClr val="F69240"/>
            </a:solidFill>
            <a:round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lIns="91430" tIns="45715" rIns="91430" bIns="45715" anchor="ctr"/>
          <a:lstStyle/>
          <a:p>
            <a:pPr algn="ctr">
              <a:defRPr/>
            </a:pPr>
            <a:r>
              <a:rPr lang="en-US" sz="2000" b="0" dirty="0">
                <a:latin typeface="+mn-lt"/>
                <a:ea typeface="+mn-ea"/>
                <a:cs typeface="Adobe Caslon Pro"/>
              </a:rPr>
              <a:t>Layer 1</a:t>
            </a:r>
          </a:p>
        </p:txBody>
      </p:sp>
      <p:sp>
        <p:nvSpPr>
          <p:cNvPr id="12" name="Rounded Rectangle 11"/>
          <p:cNvSpPr>
            <a:spLocks noChangeArrowheads="1"/>
          </p:cNvSpPr>
          <p:nvPr/>
        </p:nvSpPr>
        <p:spPr bwMode="auto">
          <a:xfrm>
            <a:off x="3733800" y="4851747"/>
            <a:ext cx="1524000" cy="8382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8F26"/>
              </a:gs>
              <a:gs pos="20000">
                <a:srgbClr val="FF8F2A"/>
              </a:gs>
              <a:gs pos="100000">
                <a:srgbClr val="CB6C1D"/>
              </a:gs>
            </a:gsLst>
            <a:lin ang="5400000"/>
          </a:gradFill>
          <a:ln w="9525">
            <a:solidFill>
              <a:srgbClr val="F69240"/>
            </a:solidFill>
            <a:round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lIns="91430" tIns="45715" rIns="91430" bIns="45715" anchor="ctr"/>
          <a:lstStyle/>
          <a:p>
            <a:pPr algn="ctr">
              <a:defRPr/>
            </a:pPr>
            <a:r>
              <a:rPr lang="en-US" sz="2000" b="0" dirty="0">
                <a:latin typeface="+mn-lt"/>
                <a:ea typeface="+mn-ea"/>
                <a:cs typeface="Adobe Caslon Pro"/>
              </a:rPr>
              <a:t>Layer 2</a:t>
            </a:r>
          </a:p>
        </p:txBody>
      </p:sp>
      <p:sp>
        <p:nvSpPr>
          <p:cNvPr id="13" name="Rounded Rectangle 12"/>
          <p:cNvSpPr>
            <a:spLocks noChangeArrowheads="1"/>
          </p:cNvSpPr>
          <p:nvPr/>
        </p:nvSpPr>
        <p:spPr bwMode="auto">
          <a:xfrm>
            <a:off x="5791200" y="4851747"/>
            <a:ext cx="1524000" cy="8382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8F26"/>
              </a:gs>
              <a:gs pos="20000">
                <a:srgbClr val="FF8F2A"/>
              </a:gs>
              <a:gs pos="100000">
                <a:srgbClr val="CB6C1D"/>
              </a:gs>
            </a:gsLst>
            <a:lin ang="5400000"/>
          </a:gradFill>
          <a:ln w="9525">
            <a:solidFill>
              <a:srgbClr val="F69240"/>
            </a:solidFill>
            <a:round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lIns="91430" tIns="45715" rIns="91430" bIns="45715" anchor="ctr"/>
          <a:lstStyle/>
          <a:p>
            <a:pPr algn="ctr">
              <a:defRPr/>
            </a:pPr>
            <a:r>
              <a:rPr lang="en-US" sz="2000" b="0" dirty="0">
                <a:latin typeface="+mn-lt"/>
                <a:ea typeface="+mn-ea"/>
                <a:cs typeface="Adobe Caslon Pro"/>
              </a:rPr>
              <a:t>Layer 3</a:t>
            </a:r>
          </a:p>
        </p:txBody>
      </p:sp>
      <p:sp>
        <p:nvSpPr>
          <p:cNvPr id="19" name="Right Arrow 18"/>
          <p:cNvSpPr>
            <a:spLocks noChangeArrowheads="1"/>
          </p:cNvSpPr>
          <p:nvPr/>
        </p:nvSpPr>
        <p:spPr bwMode="auto">
          <a:xfrm>
            <a:off x="7315200" y="5156547"/>
            <a:ext cx="533400" cy="266700"/>
          </a:xfrm>
          <a:prstGeom prst="rightArrow">
            <a:avLst>
              <a:gd name="adj1" fmla="val 50000"/>
              <a:gd name="adj2" fmla="val 50000"/>
            </a:avLst>
          </a:prstGeom>
          <a:gradFill rotWithShape="1">
            <a:gsLst>
              <a:gs pos="0">
                <a:srgbClr val="EDEDED"/>
              </a:gs>
              <a:gs pos="64999">
                <a:srgbClr val="D0D0D0"/>
              </a:gs>
              <a:gs pos="100000">
                <a:srgbClr val="BCBCBC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lIns="91430" tIns="45715" rIns="91430" bIns="45715" anchor="ctr"/>
          <a:lstStyle/>
          <a:p>
            <a:pPr algn="ctr">
              <a:defRPr/>
            </a:pPr>
            <a:endParaRPr lang="en-US" sz="2000" b="0">
              <a:latin typeface="+mn-lt"/>
              <a:ea typeface="+mn-ea"/>
              <a:cs typeface="+mn-cs"/>
            </a:endParaRPr>
          </a:p>
        </p:txBody>
      </p:sp>
      <p:sp>
        <p:nvSpPr>
          <p:cNvPr id="10252" name="TextBox 19"/>
          <p:cNvSpPr txBox="1">
            <a:spLocks noChangeArrowheads="1"/>
          </p:cNvSpPr>
          <p:nvPr/>
        </p:nvSpPr>
        <p:spPr bwMode="auto">
          <a:xfrm>
            <a:off x="8034932" y="4967635"/>
            <a:ext cx="995765" cy="707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5" rIns="91430" bIns="4571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2000" b="0" dirty="0">
                <a:latin typeface="+mn-lt"/>
              </a:rPr>
              <a:t>Object </a:t>
            </a:r>
          </a:p>
          <a:p>
            <a:pPr algn="ctr" eaLnBrk="1" hangingPunct="1"/>
            <a:r>
              <a:rPr lang="en-US" sz="2000" b="0" dirty="0">
                <a:latin typeface="+mn-lt"/>
              </a:rPr>
              <a:t>Class</a:t>
            </a:r>
          </a:p>
        </p:txBody>
      </p:sp>
      <p:sp>
        <p:nvSpPr>
          <p:cNvPr id="10253" name="TextBox 20"/>
          <p:cNvSpPr txBox="1">
            <a:spLocks noChangeArrowheads="1"/>
          </p:cNvSpPr>
          <p:nvPr/>
        </p:nvSpPr>
        <p:spPr bwMode="auto">
          <a:xfrm>
            <a:off x="-54454" y="4775547"/>
            <a:ext cx="1353029" cy="1015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2000" b="0" dirty="0">
                <a:latin typeface="+mn-lt"/>
              </a:rPr>
              <a:t>Image/ Video</a:t>
            </a:r>
          </a:p>
          <a:p>
            <a:pPr algn="ctr" eaLnBrk="1" hangingPunct="1"/>
            <a:r>
              <a:rPr lang="en-US" sz="2000" b="0" dirty="0">
                <a:latin typeface="+mn-lt"/>
              </a:rPr>
              <a:t>Pixels</a:t>
            </a:r>
          </a:p>
        </p:txBody>
      </p:sp>
      <p:sp>
        <p:nvSpPr>
          <p:cNvPr id="15" name="Right Arrow 14"/>
          <p:cNvSpPr>
            <a:spLocks noChangeArrowheads="1"/>
          </p:cNvSpPr>
          <p:nvPr/>
        </p:nvSpPr>
        <p:spPr bwMode="auto">
          <a:xfrm>
            <a:off x="5260975" y="5156547"/>
            <a:ext cx="533400" cy="266700"/>
          </a:xfrm>
          <a:prstGeom prst="rightArrow">
            <a:avLst>
              <a:gd name="adj1" fmla="val 50000"/>
              <a:gd name="adj2" fmla="val 50000"/>
            </a:avLst>
          </a:prstGeom>
          <a:gradFill rotWithShape="1">
            <a:gsLst>
              <a:gs pos="0">
                <a:srgbClr val="EDEDED"/>
              </a:gs>
              <a:gs pos="64999">
                <a:srgbClr val="D0D0D0"/>
              </a:gs>
              <a:gs pos="100000">
                <a:srgbClr val="BCBCBC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lIns="91430" tIns="45715" rIns="91430" bIns="45715" anchor="ctr"/>
          <a:lstStyle/>
          <a:p>
            <a:pPr algn="ctr">
              <a:defRPr/>
            </a:pPr>
            <a:endParaRPr lang="en-US" sz="2000" b="0">
              <a:latin typeface="+mn-lt"/>
              <a:ea typeface="+mn-ea"/>
              <a:cs typeface="+mn-cs"/>
            </a:endParaRPr>
          </a:p>
        </p:txBody>
      </p:sp>
      <p:sp>
        <p:nvSpPr>
          <p:cNvPr id="20" name="Right Arrow 19"/>
          <p:cNvSpPr>
            <a:spLocks noChangeArrowheads="1"/>
          </p:cNvSpPr>
          <p:nvPr/>
        </p:nvSpPr>
        <p:spPr bwMode="auto">
          <a:xfrm>
            <a:off x="3203575" y="5156547"/>
            <a:ext cx="533400" cy="266700"/>
          </a:xfrm>
          <a:prstGeom prst="rightArrow">
            <a:avLst>
              <a:gd name="adj1" fmla="val 50000"/>
              <a:gd name="adj2" fmla="val 50000"/>
            </a:avLst>
          </a:prstGeom>
          <a:gradFill rotWithShape="1">
            <a:gsLst>
              <a:gs pos="0">
                <a:srgbClr val="EDEDED"/>
              </a:gs>
              <a:gs pos="64999">
                <a:srgbClr val="D0D0D0"/>
              </a:gs>
              <a:gs pos="100000">
                <a:srgbClr val="BCBCBC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lIns="91430" tIns="45715" rIns="91430" bIns="45715" anchor="ctr"/>
          <a:lstStyle/>
          <a:p>
            <a:pPr algn="ctr">
              <a:defRPr/>
            </a:pPr>
            <a:endParaRPr lang="en-US" sz="2000" b="0">
              <a:latin typeface="+mn-lt"/>
              <a:ea typeface="+mn-ea"/>
              <a:cs typeface="+mn-cs"/>
            </a:endParaRPr>
          </a:p>
        </p:txBody>
      </p:sp>
      <p:sp>
        <p:nvSpPr>
          <p:cNvPr id="21" name="Right Arrow 20"/>
          <p:cNvSpPr>
            <a:spLocks noChangeArrowheads="1"/>
          </p:cNvSpPr>
          <p:nvPr/>
        </p:nvSpPr>
        <p:spPr bwMode="auto">
          <a:xfrm>
            <a:off x="1146175" y="5156547"/>
            <a:ext cx="533400" cy="266700"/>
          </a:xfrm>
          <a:prstGeom prst="rightArrow">
            <a:avLst>
              <a:gd name="adj1" fmla="val 50000"/>
              <a:gd name="adj2" fmla="val 50000"/>
            </a:avLst>
          </a:prstGeom>
          <a:gradFill rotWithShape="1">
            <a:gsLst>
              <a:gs pos="0">
                <a:srgbClr val="EDEDED"/>
              </a:gs>
              <a:gs pos="64999">
                <a:srgbClr val="D0D0D0"/>
              </a:gs>
              <a:gs pos="100000">
                <a:srgbClr val="BCBCBC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lIns="91430" tIns="45715" rIns="91430" bIns="45715" anchor="ctr"/>
          <a:lstStyle/>
          <a:p>
            <a:pPr algn="ctr">
              <a:defRPr/>
            </a:pPr>
            <a:endParaRPr lang="en-US" sz="2000" b="0">
              <a:latin typeface="+mn-lt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6604084"/>
            <a:ext cx="106471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Lana </a:t>
            </a:r>
            <a:r>
              <a:rPr lang="en-US" sz="1050" dirty="0" err="1"/>
              <a:t>Lazebnik</a:t>
            </a:r>
            <a:endParaRPr lang="en-US" sz="105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2A69CEF-EB11-3443-8BE4-C9BAC2E70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27608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“Shallow” vs. “deep” architectures</a:t>
            </a:r>
          </a:p>
        </p:txBody>
      </p:sp>
      <p:sp>
        <p:nvSpPr>
          <p:cNvPr id="4" name="Rounded Rectangle 3"/>
          <p:cNvSpPr>
            <a:spLocks noChangeArrowheads="1"/>
          </p:cNvSpPr>
          <p:nvPr/>
        </p:nvSpPr>
        <p:spPr bwMode="auto">
          <a:xfrm>
            <a:off x="1749425" y="2209800"/>
            <a:ext cx="2593975" cy="1219200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lIns="91430" tIns="45715" rIns="91430" bIns="45715" anchor="ctr"/>
          <a:lstStyle/>
          <a:p>
            <a:pPr algn="ctr">
              <a:defRPr/>
            </a:pPr>
            <a:r>
              <a:rPr lang="en-US" sz="2000" b="0" dirty="0">
                <a:latin typeface="+mn-lt"/>
                <a:ea typeface="+mn-ea"/>
                <a:cs typeface="Adobe Caslon Pro"/>
              </a:rPr>
              <a:t>Hand-designed</a:t>
            </a:r>
            <a:br>
              <a:rPr lang="en-US" sz="2000" b="0" dirty="0">
                <a:latin typeface="+mn-lt"/>
                <a:ea typeface="+mn-ea"/>
                <a:cs typeface="Adobe Caslon Pro"/>
              </a:rPr>
            </a:br>
            <a:r>
              <a:rPr lang="en-US" sz="2000" b="0" dirty="0">
                <a:latin typeface="+mn-lt"/>
                <a:ea typeface="+mn-ea"/>
                <a:cs typeface="Adobe Caslon Pro"/>
              </a:rPr>
              <a:t>feature extraction</a:t>
            </a:r>
          </a:p>
        </p:txBody>
      </p:sp>
      <p:sp>
        <p:nvSpPr>
          <p:cNvPr id="5" name="Rounded Rectangle 4"/>
          <p:cNvSpPr>
            <a:spLocks noChangeArrowheads="1"/>
          </p:cNvSpPr>
          <p:nvPr/>
        </p:nvSpPr>
        <p:spPr bwMode="auto">
          <a:xfrm>
            <a:off x="4876310" y="2209800"/>
            <a:ext cx="2593975" cy="1219200"/>
          </a:xfrm>
          <a:prstGeom prst="roundRect">
            <a:avLst>
              <a:gd name="adj" fmla="val 16667"/>
            </a:avLst>
          </a:prstGeom>
          <a:solidFill>
            <a:srgbClr val="00B0F0"/>
          </a:solidFill>
          <a:ln w="9525">
            <a:solidFill>
              <a:schemeClr val="bg1"/>
            </a:solidFill>
            <a:round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lIns="91430" tIns="45715" rIns="91430" bIns="45715" anchor="ctr"/>
          <a:lstStyle/>
          <a:p>
            <a:pPr algn="ctr">
              <a:defRPr/>
            </a:pPr>
            <a:r>
              <a:rPr lang="en-US" sz="2000" b="0" dirty="0">
                <a:latin typeface="+mn-lt"/>
                <a:ea typeface="+mn-ea"/>
                <a:cs typeface="Adobe Caslon Pro"/>
              </a:rPr>
              <a:t>Trainable</a:t>
            </a:r>
            <a:br>
              <a:rPr lang="en-US" sz="2000" b="0" dirty="0">
                <a:latin typeface="+mn-lt"/>
                <a:ea typeface="+mn-ea"/>
                <a:cs typeface="Adobe Caslon Pro"/>
              </a:rPr>
            </a:br>
            <a:r>
              <a:rPr lang="en-US" sz="2000" b="0" dirty="0">
                <a:latin typeface="+mn-lt"/>
                <a:ea typeface="+mn-ea"/>
                <a:cs typeface="Adobe Caslon Pro"/>
              </a:rPr>
              <a:t>classifier</a:t>
            </a:r>
          </a:p>
        </p:txBody>
      </p:sp>
      <p:sp>
        <p:nvSpPr>
          <p:cNvPr id="8" name="TextBox 20"/>
          <p:cNvSpPr txBox="1">
            <a:spLocks noChangeArrowheads="1"/>
          </p:cNvSpPr>
          <p:nvPr/>
        </p:nvSpPr>
        <p:spPr bwMode="auto">
          <a:xfrm>
            <a:off x="75347" y="2286000"/>
            <a:ext cx="1372453" cy="1015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2000" b="0" dirty="0">
                <a:latin typeface="+mn-lt"/>
              </a:rPr>
              <a:t>Image/ Video</a:t>
            </a:r>
          </a:p>
          <a:p>
            <a:pPr algn="ctr" eaLnBrk="1" hangingPunct="1"/>
            <a:r>
              <a:rPr lang="en-US" sz="2000" b="0" dirty="0">
                <a:latin typeface="+mn-lt"/>
              </a:rPr>
              <a:t>Pixels</a:t>
            </a:r>
          </a:p>
        </p:txBody>
      </p:sp>
      <p:sp>
        <p:nvSpPr>
          <p:cNvPr id="9" name="TextBox 20"/>
          <p:cNvSpPr txBox="1">
            <a:spLocks noChangeArrowheads="1"/>
          </p:cNvSpPr>
          <p:nvPr/>
        </p:nvSpPr>
        <p:spPr bwMode="auto">
          <a:xfrm>
            <a:off x="7991827" y="2492524"/>
            <a:ext cx="925233" cy="707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5715" rIns="91430" bIns="4571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2000" b="0" dirty="0">
                <a:latin typeface="+mn-lt"/>
              </a:rPr>
              <a:t>Object</a:t>
            </a:r>
            <a:br>
              <a:rPr lang="en-US" sz="2000" b="0" dirty="0">
                <a:latin typeface="+mn-lt"/>
              </a:rPr>
            </a:br>
            <a:r>
              <a:rPr lang="en-US" sz="2000" b="0" dirty="0">
                <a:latin typeface="+mn-lt"/>
              </a:rPr>
              <a:t>Class</a:t>
            </a:r>
          </a:p>
        </p:txBody>
      </p:sp>
      <p:sp>
        <p:nvSpPr>
          <p:cNvPr id="11" name="Rounded Rectangle 10"/>
          <p:cNvSpPr>
            <a:spLocks noChangeArrowheads="1"/>
          </p:cNvSpPr>
          <p:nvPr/>
        </p:nvSpPr>
        <p:spPr bwMode="auto">
          <a:xfrm>
            <a:off x="1502254" y="4851747"/>
            <a:ext cx="1524000" cy="8382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8F26"/>
              </a:gs>
              <a:gs pos="20000">
                <a:srgbClr val="FF8F2A"/>
              </a:gs>
              <a:gs pos="100000">
                <a:srgbClr val="CB6C1D"/>
              </a:gs>
            </a:gsLst>
            <a:lin ang="5400000"/>
          </a:gradFill>
          <a:ln w="9525">
            <a:solidFill>
              <a:srgbClr val="F69240"/>
            </a:solidFill>
            <a:round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lIns="91430" tIns="45715" rIns="91430" bIns="45715" anchor="ctr"/>
          <a:lstStyle/>
          <a:p>
            <a:pPr algn="ctr">
              <a:defRPr/>
            </a:pPr>
            <a:r>
              <a:rPr lang="en-US" sz="2000" b="0" dirty="0">
                <a:latin typeface="+mn-lt"/>
                <a:ea typeface="+mn-ea"/>
                <a:cs typeface="Adobe Caslon Pro"/>
              </a:rPr>
              <a:t>Layer 1</a:t>
            </a:r>
          </a:p>
        </p:txBody>
      </p:sp>
      <p:sp>
        <p:nvSpPr>
          <p:cNvPr id="12" name="Rounded Rectangle 11"/>
          <p:cNvSpPr>
            <a:spLocks noChangeArrowheads="1"/>
          </p:cNvSpPr>
          <p:nvPr/>
        </p:nvSpPr>
        <p:spPr bwMode="auto">
          <a:xfrm>
            <a:off x="4035425" y="4851747"/>
            <a:ext cx="1524000" cy="8382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8F26"/>
              </a:gs>
              <a:gs pos="20000">
                <a:srgbClr val="FF8F2A"/>
              </a:gs>
              <a:gs pos="100000">
                <a:srgbClr val="CB6C1D"/>
              </a:gs>
            </a:gsLst>
            <a:lin ang="5400000"/>
          </a:gradFill>
          <a:ln w="9525">
            <a:solidFill>
              <a:srgbClr val="F69240"/>
            </a:solidFill>
            <a:round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lIns="91430" tIns="45715" rIns="91430" bIns="45715" anchor="ctr"/>
          <a:lstStyle/>
          <a:p>
            <a:pPr algn="ctr">
              <a:defRPr/>
            </a:pPr>
            <a:r>
              <a:rPr lang="en-US" sz="2000" b="0" dirty="0">
                <a:latin typeface="+mn-lt"/>
                <a:ea typeface="+mn-ea"/>
                <a:cs typeface="Adobe Caslon Pro"/>
              </a:rPr>
              <a:t>Layer N</a:t>
            </a:r>
          </a:p>
        </p:txBody>
      </p:sp>
      <p:sp>
        <p:nvSpPr>
          <p:cNvPr id="13" name="Rounded Rectangle 12"/>
          <p:cNvSpPr>
            <a:spLocks noChangeArrowheads="1"/>
          </p:cNvSpPr>
          <p:nvPr/>
        </p:nvSpPr>
        <p:spPr bwMode="auto">
          <a:xfrm>
            <a:off x="6096000" y="4851747"/>
            <a:ext cx="1524000" cy="8382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FF8F26"/>
              </a:gs>
              <a:gs pos="20000">
                <a:srgbClr val="FF8F2A"/>
              </a:gs>
              <a:gs pos="100000">
                <a:srgbClr val="CB6C1D"/>
              </a:gs>
            </a:gsLst>
            <a:lin ang="5400000"/>
          </a:gradFill>
          <a:ln w="9525">
            <a:solidFill>
              <a:srgbClr val="F69240"/>
            </a:solidFill>
            <a:round/>
            <a:headEnd/>
            <a:tailEnd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lIns="91430" tIns="45715" rIns="91430" bIns="45715" anchor="ctr"/>
          <a:lstStyle/>
          <a:p>
            <a:pPr algn="ctr">
              <a:defRPr/>
            </a:pPr>
            <a:r>
              <a:rPr lang="en-US" sz="2000" b="0" dirty="0">
                <a:latin typeface="+mn-lt"/>
                <a:ea typeface="+mn-ea"/>
                <a:cs typeface="Adobe Caslon Pro"/>
              </a:rPr>
              <a:t>Simple classifier</a:t>
            </a:r>
          </a:p>
        </p:txBody>
      </p:sp>
      <p:sp>
        <p:nvSpPr>
          <p:cNvPr id="14" name="Right Arrow 13"/>
          <p:cNvSpPr>
            <a:spLocks noChangeArrowheads="1"/>
          </p:cNvSpPr>
          <p:nvPr/>
        </p:nvSpPr>
        <p:spPr bwMode="auto">
          <a:xfrm>
            <a:off x="7620000" y="5156547"/>
            <a:ext cx="533400" cy="266700"/>
          </a:xfrm>
          <a:prstGeom prst="rightArrow">
            <a:avLst>
              <a:gd name="adj1" fmla="val 50000"/>
              <a:gd name="adj2" fmla="val 50000"/>
            </a:avLst>
          </a:prstGeom>
          <a:gradFill rotWithShape="1">
            <a:gsLst>
              <a:gs pos="0">
                <a:srgbClr val="EDEDED"/>
              </a:gs>
              <a:gs pos="64999">
                <a:srgbClr val="D0D0D0"/>
              </a:gs>
              <a:gs pos="100000">
                <a:srgbClr val="BCBCBC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lIns="91430" tIns="45715" rIns="91430" bIns="45715" anchor="ctr"/>
          <a:lstStyle/>
          <a:p>
            <a:pPr algn="ctr">
              <a:defRPr/>
            </a:pPr>
            <a:endParaRPr lang="en-US" sz="2000" b="0">
              <a:latin typeface="+mn-lt"/>
              <a:ea typeface="+mn-ea"/>
              <a:cs typeface="+mn-cs"/>
            </a:endParaRPr>
          </a:p>
        </p:txBody>
      </p:sp>
      <p:sp>
        <p:nvSpPr>
          <p:cNvPr id="15" name="TextBox 19"/>
          <p:cNvSpPr txBox="1">
            <a:spLocks noChangeArrowheads="1"/>
          </p:cNvSpPr>
          <p:nvPr/>
        </p:nvSpPr>
        <p:spPr bwMode="auto">
          <a:xfrm>
            <a:off x="8047183" y="4967635"/>
            <a:ext cx="1249217" cy="707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2000" b="0" dirty="0">
                <a:latin typeface="+mn-lt"/>
              </a:rPr>
              <a:t>Object Class</a:t>
            </a:r>
          </a:p>
        </p:txBody>
      </p:sp>
      <p:sp>
        <p:nvSpPr>
          <p:cNvPr id="16" name="TextBox 20"/>
          <p:cNvSpPr txBox="1">
            <a:spLocks noChangeArrowheads="1"/>
          </p:cNvSpPr>
          <p:nvPr/>
        </p:nvSpPr>
        <p:spPr bwMode="auto">
          <a:xfrm>
            <a:off x="-228600" y="4775547"/>
            <a:ext cx="1353029" cy="1015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2000" b="0" dirty="0">
                <a:latin typeface="+mn-lt"/>
              </a:rPr>
              <a:t>Image/ Video</a:t>
            </a:r>
          </a:p>
          <a:p>
            <a:pPr algn="ctr" eaLnBrk="1" hangingPunct="1"/>
            <a:r>
              <a:rPr lang="en-US" sz="2000" b="0" dirty="0">
                <a:latin typeface="+mn-lt"/>
              </a:rPr>
              <a:t>Pixels</a:t>
            </a:r>
          </a:p>
        </p:txBody>
      </p:sp>
      <p:sp>
        <p:nvSpPr>
          <p:cNvPr id="17" name="Right Arrow 16"/>
          <p:cNvSpPr>
            <a:spLocks noChangeArrowheads="1"/>
          </p:cNvSpPr>
          <p:nvPr/>
        </p:nvSpPr>
        <p:spPr bwMode="auto">
          <a:xfrm>
            <a:off x="5562600" y="5156547"/>
            <a:ext cx="533400" cy="266700"/>
          </a:xfrm>
          <a:prstGeom prst="rightArrow">
            <a:avLst>
              <a:gd name="adj1" fmla="val 50000"/>
              <a:gd name="adj2" fmla="val 50000"/>
            </a:avLst>
          </a:prstGeom>
          <a:gradFill rotWithShape="1">
            <a:gsLst>
              <a:gs pos="0">
                <a:srgbClr val="EDEDED"/>
              </a:gs>
              <a:gs pos="64999">
                <a:srgbClr val="D0D0D0"/>
              </a:gs>
              <a:gs pos="100000">
                <a:srgbClr val="BCBCBC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lIns="91430" tIns="45715" rIns="91430" bIns="45715" anchor="ctr"/>
          <a:lstStyle/>
          <a:p>
            <a:pPr algn="ctr">
              <a:defRPr/>
            </a:pPr>
            <a:endParaRPr lang="en-US" sz="2000" b="0">
              <a:latin typeface="+mn-lt"/>
              <a:ea typeface="+mn-ea"/>
              <a:cs typeface="+mn-cs"/>
            </a:endParaRPr>
          </a:p>
        </p:txBody>
      </p:sp>
      <p:sp>
        <p:nvSpPr>
          <p:cNvPr id="18" name="Right Arrow 17"/>
          <p:cNvSpPr>
            <a:spLocks noChangeArrowheads="1"/>
          </p:cNvSpPr>
          <p:nvPr/>
        </p:nvSpPr>
        <p:spPr bwMode="auto">
          <a:xfrm>
            <a:off x="3029429" y="5156547"/>
            <a:ext cx="533400" cy="266700"/>
          </a:xfrm>
          <a:prstGeom prst="rightArrow">
            <a:avLst>
              <a:gd name="adj1" fmla="val 50000"/>
              <a:gd name="adj2" fmla="val 50000"/>
            </a:avLst>
          </a:prstGeom>
          <a:gradFill rotWithShape="1">
            <a:gsLst>
              <a:gs pos="0">
                <a:srgbClr val="EDEDED"/>
              </a:gs>
              <a:gs pos="64999">
                <a:srgbClr val="D0D0D0"/>
              </a:gs>
              <a:gs pos="100000">
                <a:srgbClr val="BCBCBC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lIns="91430" tIns="45715" rIns="91430" bIns="45715" anchor="ctr"/>
          <a:lstStyle/>
          <a:p>
            <a:pPr algn="ctr">
              <a:defRPr/>
            </a:pPr>
            <a:endParaRPr lang="en-US" sz="2000" b="0">
              <a:latin typeface="+mn-lt"/>
              <a:ea typeface="+mn-ea"/>
              <a:cs typeface="+mn-cs"/>
            </a:endParaRPr>
          </a:p>
        </p:txBody>
      </p:sp>
      <p:sp>
        <p:nvSpPr>
          <p:cNvPr id="19" name="Right Arrow 18"/>
          <p:cNvSpPr>
            <a:spLocks noChangeArrowheads="1"/>
          </p:cNvSpPr>
          <p:nvPr/>
        </p:nvSpPr>
        <p:spPr bwMode="auto">
          <a:xfrm>
            <a:off x="972029" y="5156547"/>
            <a:ext cx="533400" cy="266700"/>
          </a:xfrm>
          <a:prstGeom prst="rightArrow">
            <a:avLst>
              <a:gd name="adj1" fmla="val 50000"/>
              <a:gd name="adj2" fmla="val 50000"/>
            </a:avLst>
          </a:prstGeom>
          <a:gradFill rotWithShape="1">
            <a:gsLst>
              <a:gs pos="0">
                <a:srgbClr val="EDEDED"/>
              </a:gs>
              <a:gs pos="64999">
                <a:srgbClr val="D0D0D0"/>
              </a:gs>
              <a:gs pos="100000">
                <a:srgbClr val="BCBCBC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lIns="91430" tIns="45715" rIns="91430" bIns="45715" anchor="ctr"/>
          <a:lstStyle/>
          <a:p>
            <a:pPr algn="ctr">
              <a:defRPr/>
            </a:pPr>
            <a:endParaRPr lang="en-US" sz="2000" b="0">
              <a:latin typeface="+mn-lt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088465" y="1519535"/>
            <a:ext cx="4805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Traditional recognition: “Shallow” 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00891" y="4262735"/>
            <a:ext cx="3724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Deep learning: “Deep” architecture</a:t>
            </a:r>
          </a:p>
        </p:txBody>
      </p:sp>
      <p:sp>
        <p:nvSpPr>
          <p:cNvPr id="22" name="Right Arrow 21"/>
          <p:cNvSpPr>
            <a:spLocks noChangeArrowheads="1"/>
          </p:cNvSpPr>
          <p:nvPr/>
        </p:nvSpPr>
        <p:spPr bwMode="auto">
          <a:xfrm>
            <a:off x="7467600" y="2705100"/>
            <a:ext cx="533400" cy="266700"/>
          </a:xfrm>
          <a:prstGeom prst="rightArrow">
            <a:avLst>
              <a:gd name="adj1" fmla="val 50000"/>
              <a:gd name="adj2" fmla="val 50000"/>
            </a:avLst>
          </a:prstGeom>
          <a:gradFill rotWithShape="1">
            <a:gsLst>
              <a:gs pos="0">
                <a:srgbClr val="EDEDED"/>
              </a:gs>
              <a:gs pos="64999">
                <a:srgbClr val="D0D0D0"/>
              </a:gs>
              <a:gs pos="100000">
                <a:srgbClr val="BCBCBC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lIns="91430" tIns="45715" rIns="91430" bIns="45715" anchor="ctr"/>
          <a:lstStyle/>
          <a:p>
            <a:pPr algn="ctr">
              <a:defRPr/>
            </a:pPr>
            <a:endParaRPr lang="en-US" sz="2000" b="0">
              <a:latin typeface="+mn-lt"/>
              <a:ea typeface="+mn-ea"/>
              <a:cs typeface="+mn-cs"/>
            </a:endParaRPr>
          </a:p>
        </p:txBody>
      </p:sp>
      <p:sp>
        <p:nvSpPr>
          <p:cNvPr id="23" name="Right Arrow 22"/>
          <p:cNvSpPr>
            <a:spLocks noChangeArrowheads="1"/>
          </p:cNvSpPr>
          <p:nvPr/>
        </p:nvSpPr>
        <p:spPr bwMode="auto">
          <a:xfrm>
            <a:off x="4343400" y="2705100"/>
            <a:ext cx="533400" cy="266700"/>
          </a:xfrm>
          <a:prstGeom prst="rightArrow">
            <a:avLst>
              <a:gd name="adj1" fmla="val 50000"/>
              <a:gd name="adj2" fmla="val 50000"/>
            </a:avLst>
          </a:prstGeom>
          <a:gradFill rotWithShape="1">
            <a:gsLst>
              <a:gs pos="0">
                <a:srgbClr val="EDEDED"/>
              </a:gs>
              <a:gs pos="64999">
                <a:srgbClr val="D0D0D0"/>
              </a:gs>
              <a:gs pos="100000">
                <a:srgbClr val="BCBCBC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lIns="91430" tIns="45715" rIns="91430" bIns="45715" anchor="ctr"/>
          <a:lstStyle/>
          <a:p>
            <a:pPr algn="ctr">
              <a:defRPr/>
            </a:pPr>
            <a:endParaRPr lang="en-US" sz="2000" b="0">
              <a:latin typeface="+mn-lt"/>
              <a:ea typeface="+mn-ea"/>
              <a:cs typeface="+mn-cs"/>
            </a:endParaRPr>
          </a:p>
        </p:txBody>
      </p:sp>
      <p:sp>
        <p:nvSpPr>
          <p:cNvPr id="24" name="Right Arrow 23"/>
          <p:cNvSpPr>
            <a:spLocks noChangeArrowheads="1"/>
          </p:cNvSpPr>
          <p:nvPr/>
        </p:nvSpPr>
        <p:spPr bwMode="auto">
          <a:xfrm>
            <a:off x="1200629" y="2705100"/>
            <a:ext cx="533400" cy="266700"/>
          </a:xfrm>
          <a:prstGeom prst="rightArrow">
            <a:avLst>
              <a:gd name="adj1" fmla="val 50000"/>
              <a:gd name="adj2" fmla="val 50000"/>
            </a:avLst>
          </a:prstGeom>
          <a:gradFill rotWithShape="1">
            <a:gsLst>
              <a:gs pos="0">
                <a:srgbClr val="EDEDED"/>
              </a:gs>
              <a:gs pos="64999">
                <a:srgbClr val="D0D0D0"/>
              </a:gs>
              <a:gs pos="100000">
                <a:srgbClr val="BCBCBC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lIns="91430" tIns="45715" rIns="91430" bIns="45715" anchor="ctr"/>
          <a:lstStyle/>
          <a:p>
            <a:pPr algn="ctr">
              <a:defRPr/>
            </a:pPr>
            <a:endParaRPr lang="en-US" sz="2000" b="0">
              <a:latin typeface="+mn-lt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562829" y="509074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0" y="6604084"/>
            <a:ext cx="106471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Lana </a:t>
            </a:r>
            <a:r>
              <a:rPr lang="en-US" sz="1050" dirty="0" err="1"/>
              <a:t>Lazebnik</a:t>
            </a:r>
            <a:endParaRPr lang="en-US" sz="105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3DA5B04-B17B-4548-8BE9-5E5089AEF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11163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itchFamily="34" charset="0"/>
              <a:buChar char="•"/>
            </a:pPr>
            <a:endParaRPr lang="en-US" dirty="0"/>
          </a:p>
          <a:p>
            <a:pPr marL="457200" indent="-457200">
              <a:buFont typeface="Arial" pitchFamily="34" charset="0"/>
              <a:buChar char="•"/>
            </a:pPr>
            <a:endParaRPr lang="en-US" dirty="0"/>
          </a:p>
          <a:p>
            <a:pPr marL="457200" indent="-457200">
              <a:buFont typeface="Arial" pitchFamily="34" charset="0"/>
              <a:buChar char="•"/>
            </a:pPr>
            <a:endParaRPr lang="en-US" dirty="0"/>
          </a:p>
          <a:p>
            <a:pPr marL="457200" indent="-457200">
              <a:buFont typeface="Arial" pitchFamily="34" charset="0"/>
              <a:buChar char="•"/>
            </a:pPr>
            <a:endParaRPr lang="en-US" dirty="0"/>
          </a:p>
          <a:p>
            <a:pPr marL="457200" indent="-457200">
              <a:buFont typeface="Arial" pitchFamily="34" charset="0"/>
              <a:buChar char="•"/>
            </a:pPr>
            <a:endParaRPr lang="en-US" dirty="0"/>
          </a:p>
          <a:p>
            <a:pPr marL="457200" indent="-457200">
              <a:buFont typeface="Arial" pitchFamily="34" charset="0"/>
              <a:buChar char="•"/>
            </a:pPr>
            <a:endParaRPr lang="en-US" dirty="0"/>
          </a:p>
          <a:p>
            <a:pPr marL="457200" indent="-457200">
              <a:buFont typeface="Arial" pitchFamily="34" charset="0"/>
              <a:buChar char="•"/>
            </a:pPr>
            <a:endParaRPr lang="en-US" sz="40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dirty="0"/>
              <a:t>Activations: 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0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dirty="0"/>
              <a:t>Nonlinear activation function </a:t>
            </a:r>
            <a:r>
              <a:rPr lang="en-US" i="1" dirty="0"/>
              <a:t>h</a:t>
            </a:r>
            <a:r>
              <a:rPr lang="en-US" dirty="0"/>
              <a:t> (e.g. sigmoid, RELU):</a:t>
            </a:r>
          </a:p>
        </p:txBody>
      </p:sp>
      <p:pic>
        <p:nvPicPr>
          <p:cNvPr id="8704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0018" y="908720"/>
            <a:ext cx="7683964" cy="36159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704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63888" y="4437097"/>
            <a:ext cx="3147060" cy="10801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7044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457188" y="6095955"/>
            <a:ext cx="1546860" cy="5734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0" y="6604084"/>
            <a:ext cx="19944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000000"/>
                </a:solidFill>
              </a:rPr>
              <a:t>Figure from Christopher Bishop </a:t>
            </a:r>
          </a:p>
        </p:txBody>
      </p:sp>
      <p:pic>
        <p:nvPicPr>
          <p:cNvPr id="9" name="Picture 2" descr="http://neuralnetworksanddeeplearning.com/images/tikz36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062952" y="68317"/>
            <a:ext cx="2005076" cy="998957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4" name="TextBox 3"/>
          <p:cNvSpPr txBox="1"/>
          <p:nvPr/>
        </p:nvSpPr>
        <p:spPr>
          <a:xfrm>
            <a:off x="7399899" y="4653998"/>
            <a:ext cx="151836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Recall SVM: </a:t>
            </a:r>
          </a:p>
          <a:p>
            <a:r>
              <a:rPr lang="en-US" dirty="0" err="1"/>
              <a:t>w</a:t>
            </a:r>
            <a:r>
              <a:rPr lang="en-US" baseline="30000" dirty="0" err="1"/>
              <a:t>T</a:t>
            </a:r>
            <a:r>
              <a:rPr lang="en-US" dirty="0" err="1"/>
              <a:t>x</a:t>
            </a:r>
            <a:r>
              <a:rPr lang="en-US" dirty="0"/>
              <a:t> + b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3A6F31A-4606-A945-93FC-0EA062B13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9705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Layer 2</a:t>
            </a:r>
          </a:p>
          <a:p>
            <a:pPr marL="0" indent="0"/>
            <a:endParaRPr lang="en-US" sz="4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Layer 3 (final)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4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Outputs (e.g. sigmoid/</a:t>
            </a:r>
            <a:r>
              <a:rPr lang="en-US" dirty="0" err="1"/>
              <a:t>softmax</a:t>
            </a:r>
            <a:r>
              <a:rPr lang="en-US" dirty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4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Finally: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389933" y="3933056"/>
            <a:ext cx="4830139" cy="936104"/>
            <a:chOff x="389933" y="3933056"/>
            <a:chExt cx="4830139" cy="936104"/>
          </a:xfrm>
        </p:grpSpPr>
        <p:grpSp>
          <p:nvGrpSpPr>
            <p:cNvPr id="9" name="Group 8"/>
            <p:cNvGrpSpPr/>
            <p:nvPr/>
          </p:nvGrpSpPr>
          <p:grpSpPr>
            <a:xfrm>
              <a:off x="389933" y="3933056"/>
              <a:ext cx="4542107" cy="936104"/>
              <a:chOff x="-252536" y="4690890"/>
              <a:chExt cx="4542107" cy="936104"/>
            </a:xfrm>
          </p:grpSpPr>
          <p:pic>
            <p:nvPicPr>
              <p:cNvPr id="6" name="Picture 5"/>
              <p:cNvPicPr>
                <a:picLocks noChangeAspect="1"/>
              </p:cNvPicPr>
              <p:nvPr/>
            </p:nvPicPr>
            <p:blipFill rotWithShape="1">
              <a:blip r:embed="rId2" cstate="print"/>
              <a:srcRect b="75306"/>
              <a:stretch/>
            </p:blipFill>
            <p:spPr>
              <a:xfrm>
                <a:off x="-252536" y="4878738"/>
                <a:ext cx="2952600" cy="432048"/>
              </a:xfrm>
              <a:prstGeom prst="rect">
                <a:avLst/>
              </a:prstGeom>
            </p:spPr>
          </p:pic>
          <p:pic>
            <p:nvPicPr>
              <p:cNvPr id="7" name="Picture 6"/>
              <p:cNvPicPr>
                <a:picLocks noChangeAspect="1"/>
              </p:cNvPicPr>
              <p:nvPr/>
            </p:nvPicPr>
            <p:blipFill>
              <a:blip r:embed="rId3" cstate="print"/>
              <a:srcRect l="23829" b="-11985"/>
              <a:stretch>
                <a:fillRect/>
              </a:stretch>
            </p:blipFill>
            <p:spPr>
              <a:xfrm>
                <a:off x="2129331" y="4690890"/>
                <a:ext cx="2160240" cy="936104"/>
              </a:xfrm>
              <a:prstGeom prst="rect">
                <a:avLst/>
              </a:prstGeom>
            </p:spPr>
          </p:pic>
        </p:grpSp>
        <p:pic>
          <p:nvPicPr>
            <p:cNvPr id="14" name="Picture 13"/>
            <p:cNvPicPr>
              <a:picLocks noChangeAspect="1"/>
            </p:cNvPicPr>
            <p:nvPr/>
          </p:nvPicPr>
          <p:blipFill rotWithShape="1">
            <a:blip r:embed="rId2" cstate="print"/>
            <a:srcRect l="60876" t="1131" r="19614" b="74175"/>
            <a:stretch/>
          </p:blipFill>
          <p:spPr>
            <a:xfrm>
              <a:off x="4644008" y="4365104"/>
              <a:ext cx="576064" cy="432048"/>
            </a:xfrm>
            <a:prstGeom prst="rect">
              <a:avLst/>
            </a:prstGeom>
          </p:spPr>
        </p:pic>
        <p:sp>
          <p:nvSpPr>
            <p:cNvPr id="15" name="Rectangle 14"/>
            <p:cNvSpPr/>
            <p:nvPr/>
          </p:nvSpPr>
          <p:spPr bwMode="auto">
            <a:xfrm>
              <a:off x="4636008" y="4365104"/>
              <a:ext cx="72008" cy="43204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 b="1">
                <a:solidFill>
                  <a:srgbClr val="000000"/>
                </a:solidFill>
                <a:cs typeface="Arial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 definition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 cstate="print"/>
          <a:srcRect t="6123" b="2040"/>
          <a:stretch/>
        </p:blipFill>
        <p:spPr>
          <a:xfrm>
            <a:off x="3305730" y="1052736"/>
            <a:ext cx="3185700" cy="108012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305730" y="2496124"/>
            <a:ext cx="3185700" cy="104004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81250" y="5157192"/>
            <a:ext cx="7381501" cy="1321920"/>
          </a:xfrm>
          <a:prstGeom prst="rect">
            <a:avLst/>
          </a:prstGeom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7" cstate="print"/>
          <a:srcRect l="44377" t="11947" b="1299"/>
          <a:stretch/>
        </p:blipFill>
        <p:spPr bwMode="auto">
          <a:xfrm>
            <a:off x="6400800" y="44623"/>
            <a:ext cx="2671980" cy="19611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Box 11"/>
          <p:cNvSpPr txBox="1"/>
          <p:nvPr/>
        </p:nvSpPr>
        <p:spPr>
          <a:xfrm>
            <a:off x="251520" y="4170566"/>
            <a:ext cx="8803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</a:rPr>
              <a:t>(binary)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24128" y="3810526"/>
            <a:ext cx="12218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</a:rPr>
              <a:t>(multiclass)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6156176" y="4005064"/>
            <a:ext cx="2550987" cy="886391"/>
            <a:chOff x="6156176" y="4005064"/>
            <a:chExt cx="2550987" cy="886391"/>
          </a:xfrm>
        </p:grpSpPr>
        <p:pic>
          <p:nvPicPr>
            <p:cNvPr id="172033" name="Picture 1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6876256" y="4005064"/>
              <a:ext cx="1830907" cy="8863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9" name="Picture 18"/>
            <p:cNvPicPr>
              <a:picLocks noChangeAspect="1"/>
            </p:cNvPicPr>
            <p:nvPr/>
          </p:nvPicPr>
          <p:blipFill rotWithShape="1">
            <a:blip r:embed="rId2" cstate="print"/>
            <a:srcRect l="21949" r="48785" b="75306"/>
            <a:stretch/>
          </p:blipFill>
          <p:spPr>
            <a:xfrm>
              <a:off x="6156176" y="4149080"/>
              <a:ext cx="864096" cy="432048"/>
            </a:xfrm>
            <a:prstGeom prst="rect">
              <a:avLst/>
            </a:prstGeom>
          </p:spPr>
        </p:pic>
      </p:grpSp>
      <p:sp>
        <p:nvSpPr>
          <p:cNvPr id="21" name="TextBox 20"/>
          <p:cNvSpPr txBox="1"/>
          <p:nvPr/>
        </p:nvSpPr>
        <p:spPr>
          <a:xfrm>
            <a:off x="251520" y="5394702"/>
            <a:ext cx="8803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</a:rPr>
              <a:t>(binary)</a:t>
            </a:r>
          </a:p>
        </p:txBody>
      </p:sp>
      <p:sp>
        <p:nvSpPr>
          <p:cNvPr id="8" name="Rectangle 7"/>
          <p:cNvSpPr/>
          <p:nvPr/>
        </p:nvSpPr>
        <p:spPr bwMode="auto">
          <a:xfrm>
            <a:off x="4031477" y="2474352"/>
            <a:ext cx="2695903" cy="104004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27C0CC87-15A7-6848-9EB3-61D1D2DF6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7338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8" grpId="0"/>
      <p:bldP spid="21" grpId="0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3042919" y="1924222"/>
            <a:ext cx="1650071" cy="10519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58625" y="1997751"/>
            <a:ext cx="122618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b="1" spc="-5" dirty="0">
                <a:latin typeface="Arial"/>
                <a:cs typeface="Arial"/>
              </a:rPr>
              <a:t>Sigmoid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85600" y="2549947"/>
            <a:ext cx="2673069" cy="4526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58625" y="3670424"/>
            <a:ext cx="66865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b="1" spc="-5" dirty="0">
                <a:latin typeface="Arial"/>
                <a:cs typeface="Arial"/>
              </a:rPr>
              <a:t>tanh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40736" y="3670424"/>
            <a:ext cx="97409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spc="-5" dirty="0">
                <a:latin typeface="Arial"/>
                <a:cs typeface="Arial"/>
              </a:rPr>
              <a:t>tanh(x)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996820" y="3113161"/>
            <a:ext cx="1650071" cy="104160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58625" y="4808097"/>
            <a:ext cx="82105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b="1" spc="-5" dirty="0">
                <a:latin typeface="Arial"/>
                <a:cs typeface="Arial"/>
              </a:rPr>
              <a:t>ReLU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93289" y="4808097"/>
            <a:ext cx="12109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spc="-5" dirty="0">
                <a:latin typeface="Arial"/>
                <a:cs typeface="Arial"/>
              </a:rPr>
              <a:t>max(0,x)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042918" y="4291768"/>
            <a:ext cx="1557846" cy="105192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6493034" y="945132"/>
            <a:ext cx="1769745" cy="737870"/>
          </a:xfrm>
          <a:prstGeom prst="rect">
            <a:avLst/>
          </a:prstGeom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lnSpc>
                <a:spcPts val="2865"/>
              </a:lnSpc>
            </a:pPr>
            <a:r>
              <a:rPr sz="2400" b="1" spc="-5" dirty="0">
                <a:latin typeface="Arial"/>
                <a:cs typeface="Arial"/>
              </a:rPr>
              <a:t>Leaky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ReLU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865"/>
              </a:lnSpc>
            </a:pPr>
            <a:r>
              <a:rPr sz="2400" spc="-5" dirty="0"/>
              <a:t>max(0.1x,</a:t>
            </a:r>
            <a:r>
              <a:rPr sz="2400" spc="-70" dirty="0"/>
              <a:t> </a:t>
            </a:r>
            <a:r>
              <a:rPr sz="2400" dirty="0"/>
              <a:t>x)</a:t>
            </a:r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6584562" y="1783250"/>
            <a:ext cx="2168895" cy="139477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594761" y="3337795"/>
            <a:ext cx="2472094" cy="32692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149112" y="4289469"/>
            <a:ext cx="2317620" cy="114304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273835" y="3127028"/>
            <a:ext cx="1092200" cy="1066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0" marR="5080" indent="-45085">
              <a:lnSpc>
                <a:spcPct val="144400"/>
              </a:lnSpc>
            </a:pPr>
            <a:r>
              <a:rPr sz="2400" b="1" spc="-5" dirty="0">
                <a:latin typeface="Arial"/>
                <a:cs typeface="Arial"/>
              </a:rPr>
              <a:t>Maxout  ELU</a:t>
            </a:r>
            <a:endParaRPr sz="24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371913" y="3824501"/>
            <a:ext cx="2168895" cy="41791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Title 1"/>
          <p:cNvSpPr txBox="1">
            <a:spLocks/>
          </p:cNvSpPr>
          <p:nvPr/>
        </p:nvSpPr>
        <p:spPr bwMode="auto">
          <a:xfrm>
            <a:off x="685800" y="76200"/>
            <a:ext cx="7772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kern="0" dirty="0"/>
              <a:t>Activation functions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0" y="6604084"/>
            <a:ext cx="10983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000000"/>
                </a:solidFill>
              </a:rPr>
              <a:t>Andrej </a:t>
            </a:r>
            <a:r>
              <a:rPr lang="en-US" sz="1000" dirty="0" err="1">
                <a:solidFill>
                  <a:srgbClr val="000000"/>
                </a:solidFill>
              </a:rPr>
              <a:t>Karpathy</a:t>
            </a:r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572BD38-A227-9045-B2CC-697B1959F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87492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81546" y="1089220"/>
            <a:ext cx="4500254" cy="31318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multi-layer neural network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idx="1"/>
          </p:nvPr>
        </p:nvSpPr>
        <p:spPr>
          <a:xfrm>
            <a:off x="685800" y="4509120"/>
            <a:ext cx="7772400" cy="166308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i="1" dirty="0"/>
              <a:t>Nonlinear</a:t>
            </a:r>
            <a:r>
              <a:rPr lang="en-US" sz="2400" dirty="0"/>
              <a:t> classifier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Can approximate any continuous function to arbitrary accuracy given sufficiently many hidden units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0" indent="0"/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0" y="6604084"/>
            <a:ext cx="10118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000000"/>
                </a:solidFill>
              </a:rPr>
              <a:t>Lana </a:t>
            </a:r>
            <a:r>
              <a:rPr lang="en-US" sz="1000" dirty="0" err="1">
                <a:solidFill>
                  <a:srgbClr val="000000"/>
                </a:solidFill>
              </a:rPr>
              <a:t>Lazebnik</a:t>
            </a:r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8AA3061-F81F-FA48-BEE2-73337593F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88982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Inspiration: Neuron cells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85800" y="914400"/>
            <a:ext cx="7772400" cy="25299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Neurons</a:t>
            </a:r>
          </a:p>
          <a:p>
            <a:pPr lvl="1"/>
            <a:r>
              <a:rPr lang="en-US" dirty="0"/>
              <a:t>accept information from multiple inputs, </a:t>
            </a:r>
          </a:p>
          <a:p>
            <a:pPr lvl="1"/>
            <a:r>
              <a:rPr lang="en-US" dirty="0"/>
              <a:t>transmit information to other neurons.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Multiply inputs by weights along edges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Apply some function to the set of inputs at each node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If output of function over threshold, neuron “fires”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604084"/>
            <a:ext cx="23759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000000"/>
                </a:solidFill>
              </a:rPr>
              <a:t>Text: HKUST, figures: Andrej </a:t>
            </a:r>
            <a:r>
              <a:rPr lang="en-US" sz="1000" dirty="0" err="1">
                <a:solidFill>
                  <a:srgbClr val="000000"/>
                </a:solidFill>
              </a:rPr>
              <a:t>Karpathy</a:t>
            </a:r>
            <a:endParaRPr lang="en-US" sz="1000" dirty="0">
              <a:solidFill>
                <a:srgbClr val="000000"/>
              </a:solidFill>
            </a:endParaRPr>
          </a:p>
        </p:txBody>
      </p:sp>
      <p:pic>
        <p:nvPicPr>
          <p:cNvPr id="167938" name="Picture 2" descr="http://cs231n.github.io/assets/nn1/neuron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12995" y="4107909"/>
            <a:ext cx="3970973" cy="1697355"/>
          </a:xfrm>
          <a:prstGeom prst="rect">
            <a:avLst/>
          </a:prstGeom>
          <a:noFill/>
        </p:spPr>
      </p:pic>
      <p:pic>
        <p:nvPicPr>
          <p:cNvPr id="167940" name="Picture 4" descr="http://cs231n.github.io/assets/nn1/neuron_model.jpe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427984" y="3730332"/>
            <a:ext cx="4393883" cy="2506980"/>
          </a:xfrm>
          <a:prstGeom prst="rect">
            <a:avLst/>
          </a:prstGeom>
          <a:noFill/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DBAF369-579D-BF49-A1C8-9FABADE21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27809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Biological analog</a:t>
            </a: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891" y="1766785"/>
            <a:ext cx="3963755" cy="2560320"/>
          </a:xfrm>
        </p:spPr>
      </p:pic>
      <p:sp>
        <p:nvSpPr>
          <p:cNvPr id="2" name="Rounded Rectangle 1"/>
          <p:cNvSpPr/>
          <p:nvPr/>
        </p:nvSpPr>
        <p:spPr>
          <a:xfrm>
            <a:off x="457200" y="990600"/>
            <a:ext cx="4021138" cy="5135563"/>
          </a:xfrm>
          <a:prstGeom prst="roundRect">
            <a:avLst/>
          </a:prstGeom>
          <a:noFill/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648200" y="969963"/>
            <a:ext cx="4021138" cy="5126037"/>
          </a:xfrm>
          <a:prstGeom prst="roundRect">
            <a:avLst/>
          </a:prstGeom>
          <a:noFill/>
          <a:ln w="762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369" name="Rectangle 2"/>
          <p:cNvSpPr>
            <a:spLocks noChangeArrowheads="1"/>
          </p:cNvSpPr>
          <p:nvPr/>
        </p:nvSpPr>
        <p:spPr bwMode="auto">
          <a:xfrm>
            <a:off x="1255712" y="4791075"/>
            <a:ext cx="24241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A biological neuron </a:t>
            </a:r>
          </a:p>
        </p:txBody>
      </p:sp>
      <p:sp>
        <p:nvSpPr>
          <p:cNvPr id="15370" name="Rectangle 9"/>
          <p:cNvSpPr>
            <a:spLocks noChangeArrowheads="1"/>
          </p:cNvSpPr>
          <p:nvPr/>
        </p:nvSpPr>
        <p:spPr bwMode="auto">
          <a:xfrm>
            <a:off x="5425477" y="4791075"/>
            <a:ext cx="230864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An artificial neuron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1616495"/>
            <a:ext cx="3738682" cy="264398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29050" y="5301343"/>
            <a:ext cx="1485900" cy="155665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0" y="6604084"/>
            <a:ext cx="91884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Jia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-bin Huang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94939D-04DA-A64D-9086-748A74292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49387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2110273"/>
            <a:ext cx="4257300" cy="1745764"/>
          </a:xfrm>
        </p:spPr>
      </p:pic>
      <p:sp>
        <p:nvSpPr>
          <p:cNvPr id="2" name="Rounded Rectangle 1"/>
          <p:cNvSpPr/>
          <p:nvPr/>
        </p:nvSpPr>
        <p:spPr>
          <a:xfrm>
            <a:off x="76200" y="990600"/>
            <a:ext cx="4402138" cy="5135563"/>
          </a:xfrm>
          <a:prstGeom prst="roundRect">
            <a:avLst/>
          </a:prstGeom>
          <a:noFill/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648200" y="969963"/>
            <a:ext cx="4419600" cy="5126037"/>
          </a:xfrm>
          <a:prstGeom prst="roundRect">
            <a:avLst/>
          </a:prstGeom>
          <a:noFill/>
          <a:ln w="762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369" name="Rectangle 2"/>
          <p:cNvSpPr>
            <a:spLocks noChangeArrowheads="1"/>
          </p:cNvSpPr>
          <p:nvPr/>
        </p:nvSpPr>
        <p:spPr bwMode="auto">
          <a:xfrm>
            <a:off x="386174" y="4791045"/>
            <a:ext cx="378218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Hubel and 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Weisel’s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 architecture</a:t>
            </a:r>
          </a:p>
        </p:txBody>
      </p:sp>
      <p:sp>
        <p:nvSpPr>
          <p:cNvPr id="15370" name="Rectangle 9"/>
          <p:cNvSpPr>
            <a:spLocks noChangeArrowheads="1"/>
          </p:cNvSpPr>
          <p:nvPr/>
        </p:nvSpPr>
        <p:spPr bwMode="auto">
          <a:xfrm>
            <a:off x="5405632" y="4791045"/>
            <a:ext cx="282641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Multi-layer neural network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29050" y="5301343"/>
            <a:ext cx="1485900" cy="155665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0" y="6604084"/>
            <a:ext cx="186621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Adapted from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Jia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-bin Huang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Biological analog</a:t>
            </a:r>
          </a:p>
        </p:txBody>
      </p:sp>
      <p:pic>
        <p:nvPicPr>
          <p:cNvPr id="11" name="Picture 2" descr="http://neuralnetworksanddeeplearning.com/images/tikz36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 rot="16200000">
            <a:off x="4956318" y="2040086"/>
            <a:ext cx="3746573" cy="1866595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5F762E-DF9C-6F49-B675-25A7C6439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1090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Multilayer networks</a:t>
            </a:r>
          </a:p>
        </p:txBody>
      </p:sp>
      <p:sp>
        <p:nvSpPr>
          <p:cNvPr id="25" name="Content Placeholder 24"/>
          <p:cNvSpPr>
            <a:spLocks noGrp="1"/>
          </p:cNvSpPr>
          <p:nvPr>
            <p:ph idx="1"/>
          </p:nvPr>
        </p:nvSpPr>
        <p:spPr>
          <a:xfrm>
            <a:off x="685800" y="914400"/>
            <a:ext cx="7772400" cy="525780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Cascade neurons together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Output from one layer is the input to the next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Each layer has its own sets of weights</a:t>
            </a:r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2502558" y="3041601"/>
            <a:ext cx="587424" cy="587424"/>
            <a:chOff x="5401994" y="3071949"/>
            <a:chExt cx="587424" cy="587424"/>
          </a:xfrm>
        </p:grpSpPr>
        <p:sp>
          <p:nvSpPr>
            <p:cNvPr id="4" name="Oval 3"/>
            <p:cNvSpPr/>
            <p:nvPr/>
          </p:nvSpPr>
          <p:spPr>
            <a:xfrm>
              <a:off x="5401994" y="3071949"/>
              <a:ext cx="587424" cy="58742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cxnSp>
          <p:nvCxnSpPr>
            <p:cNvPr id="5" name="Curved Connector 4"/>
            <p:cNvCxnSpPr/>
            <p:nvPr/>
          </p:nvCxnSpPr>
          <p:spPr>
            <a:xfrm flipV="1">
              <a:off x="5490894" y="3224349"/>
              <a:ext cx="411480" cy="301752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/>
          <p:cNvGrpSpPr/>
          <p:nvPr/>
        </p:nvGrpSpPr>
        <p:grpSpPr>
          <a:xfrm>
            <a:off x="2502558" y="4067097"/>
            <a:ext cx="587424" cy="587424"/>
            <a:chOff x="5401994" y="3071949"/>
            <a:chExt cx="587424" cy="587424"/>
          </a:xfrm>
        </p:grpSpPr>
        <p:sp>
          <p:nvSpPr>
            <p:cNvPr id="8" name="Oval 7"/>
            <p:cNvSpPr/>
            <p:nvPr/>
          </p:nvSpPr>
          <p:spPr>
            <a:xfrm>
              <a:off x="5401994" y="3071949"/>
              <a:ext cx="587424" cy="58742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cxnSp>
          <p:nvCxnSpPr>
            <p:cNvPr id="9" name="Curved Connector 8"/>
            <p:cNvCxnSpPr/>
            <p:nvPr/>
          </p:nvCxnSpPr>
          <p:spPr>
            <a:xfrm flipV="1">
              <a:off x="5490894" y="3224349"/>
              <a:ext cx="411480" cy="301752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/>
          <p:cNvGrpSpPr/>
          <p:nvPr/>
        </p:nvGrpSpPr>
        <p:grpSpPr>
          <a:xfrm>
            <a:off x="2502558" y="5100453"/>
            <a:ext cx="587424" cy="587424"/>
            <a:chOff x="5401994" y="3071949"/>
            <a:chExt cx="587424" cy="587424"/>
          </a:xfrm>
        </p:grpSpPr>
        <p:sp>
          <p:nvSpPr>
            <p:cNvPr id="11" name="Oval 10"/>
            <p:cNvSpPr/>
            <p:nvPr/>
          </p:nvSpPr>
          <p:spPr>
            <a:xfrm>
              <a:off x="5401994" y="3071949"/>
              <a:ext cx="587424" cy="58742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cxnSp>
          <p:nvCxnSpPr>
            <p:cNvPr id="12" name="Curved Connector 11"/>
            <p:cNvCxnSpPr/>
            <p:nvPr/>
          </p:nvCxnSpPr>
          <p:spPr>
            <a:xfrm flipV="1">
              <a:off x="5490894" y="3224349"/>
              <a:ext cx="411480" cy="301752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/>
          <p:cNvGrpSpPr/>
          <p:nvPr/>
        </p:nvGrpSpPr>
        <p:grpSpPr>
          <a:xfrm>
            <a:off x="5003197" y="3041601"/>
            <a:ext cx="587424" cy="587424"/>
            <a:chOff x="5401994" y="3071949"/>
            <a:chExt cx="587424" cy="587424"/>
          </a:xfrm>
        </p:grpSpPr>
        <p:sp>
          <p:nvSpPr>
            <p:cNvPr id="14" name="Oval 13"/>
            <p:cNvSpPr/>
            <p:nvPr/>
          </p:nvSpPr>
          <p:spPr>
            <a:xfrm>
              <a:off x="5401994" y="3071949"/>
              <a:ext cx="587424" cy="58742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cxnSp>
          <p:nvCxnSpPr>
            <p:cNvPr id="15" name="Curved Connector 14"/>
            <p:cNvCxnSpPr/>
            <p:nvPr/>
          </p:nvCxnSpPr>
          <p:spPr>
            <a:xfrm flipV="1">
              <a:off x="5490894" y="3224349"/>
              <a:ext cx="411480" cy="301752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/>
          <p:cNvGrpSpPr/>
          <p:nvPr/>
        </p:nvGrpSpPr>
        <p:grpSpPr>
          <a:xfrm>
            <a:off x="5003197" y="4067097"/>
            <a:ext cx="587424" cy="587424"/>
            <a:chOff x="5401994" y="3071949"/>
            <a:chExt cx="587424" cy="587424"/>
          </a:xfrm>
        </p:grpSpPr>
        <p:sp>
          <p:nvSpPr>
            <p:cNvPr id="17" name="Oval 16"/>
            <p:cNvSpPr/>
            <p:nvPr/>
          </p:nvSpPr>
          <p:spPr>
            <a:xfrm>
              <a:off x="5401994" y="3071949"/>
              <a:ext cx="587424" cy="58742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cxnSp>
          <p:nvCxnSpPr>
            <p:cNvPr id="18" name="Curved Connector 17"/>
            <p:cNvCxnSpPr/>
            <p:nvPr/>
          </p:nvCxnSpPr>
          <p:spPr>
            <a:xfrm flipV="1">
              <a:off x="5490894" y="3224349"/>
              <a:ext cx="411480" cy="301752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/>
          <p:cNvGrpSpPr/>
          <p:nvPr/>
        </p:nvGrpSpPr>
        <p:grpSpPr>
          <a:xfrm>
            <a:off x="5003197" y="5100453"/>
            <a:ext cx="587424" cy="587424"/>
            <a:chOff x="5401994" y="3071949"/>
            <a:chExt cx="587424" cy="587424"/>
          </a:xfrm>
        </p:grpSpPr>
        <p:sp>
          <p:nvSpPr>
            <p:cNvPr id="20" name="Oval 19"/>
            <p:cNvSpPr/>
            <p:nvPr/>
          </p:nvSpPr>
          <p:spPr>
            <a:xfrm>
              <a:off x="5401994" y="3071949"/>
              <a:ext cx="587424" cy="58742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cxnSp>
          <p:nvCxnSpPr>
            <p:cNvPr id="21" name="Curved Connector 20"/>
            <p:cNvCxnSpPr/>
            <p:nvPr/>
          </p:nvCxnSpPr>
          <p:spPr>
            <a:xfrm flipV="1">
              <a:off x="5490894" y="3224349"/>
              <a:ext cx="411480" cy="301752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/>
          <p:cNvGrpSpPr/>
          <p:nvPr/>
        </p:nvGrpSpPr>
        <p:grpSpPr>
          <a:xfrm>
            <a:off x="7279051" y="4067097"/>
            <a:ext cx="587424" cy="587424"/>
            <a:chOff x="5401994" y="3071949"/>
            <a:chExt cx="587424" cy="587424"/>
          </a:xfrm>
        </p:grpSpPr>
        <p:sp>
          <p:nvSpPr>
            <p:cNvPr id="23" name="Oval 22"/>
            <p:cNvSpPr/>
            <p:nvPr/>
          </p:nvSpPr>
          <p:spPr>
            <a:xfrm>
              <a:off x="5401994" y="3071949"/>
              <a:ext cx="587424" cy="58742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cxnSp>
          <p:nvCxnSpPr>
            <p:cNvPr id="24" name="Curved Connector 23"/>
            <p:cNvCxnSpPr/>
            <p:nvPr/>
          </p:nvCxnSpPr>
          <p:spPr>
            <a:xfrm flipV="1">
              <a:off x="5490894" y="3224349"/>
              <a:ext cx="411480" cy="301752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6" name="Picture 25" descr="latex-image-1.pd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68375" y="3161959"/>
            <a:ext cx="279400" cy="190500"/>
          </a:xfrm>
          <a:prstGeom prst="rect">
            <a:avLst/>
          </a:prstGeom>
        </p:spPr>
      </p:pic>
      <p:pic>
        <p:nvPicPr>
          <p:cNvPr id="27" name="Picture 26" descr="latex-image-1.pd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74725" y="3865221"/>
            <a:ext cx="266700" cy="190500"/>
          </a:xfrm>
          <a:prstGeom prst="rect">
            <a:avLst/>
          </a:prstGeom>
        </p:spPr>
      </p:pic>
      <p:pic>
        <p:nvPicPr>
          <p:cNvPr id="28" name="Picture 27" descr="latex-image-1.pdf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943345" y="4596258"/>
            <a:ext cx="279400" cy="190500"/>
          </a:xfrm>
          <a:prstGeom prst="rect">
            <a:avLst/>
          </a:prstGeom>
        </p:spPr>
      </p:pic>
      <p:pic>
        <p:nvPicPr>
          <p:cNvPr id="29" name="Picture 28" descr="latex-image-1.pdf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64555" y="5395753"/>
            <a:ext cx="355600" cy="190500"/>
          </a:xfrm>
          <a:prstGeom prst="rect">
            <a:avLst/>
          </a:prstGeom>
        </p:spPr>
      </p:pic>
      <p:cxnSp>
        <p:nvCxnSpPr>
          <p:cNvPr id="32" name="Straight Arrow Connector 31"/>
          <p:cNvCxnSpPr>
            <a:stCxn id="4" idx="6"/>
            <a:endCxn id="14" idx="2"/>
          </p:cNvCxnSpPr>
          <p:nvPr/>
        </p:nvCxnSpPr>
        <p:spPr>
          <a:xfrm>
            <a:off x="3089982" y="3335313"/>
            <a:ext cx="1913215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4" idx="6"/>
            <a:endCxn id="17" idx="1"/>
          </p:cNvCxnSpPr>
          <p:nvPr/>
        </p:nvCxnSpPr>
        <p:spPr>
          <a:xfrm>
            <a:off x="3089982" y="3335313"/>
            <a:ext cx="1999241" cy="8178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4" idx="6"/>
            <a:endCxn id="20" idx="1"/>
          </p:cNvCxnSpPr>
          <p:nvPr/>
        </p:nvCxnSpPr>
        <p:spPr>
          <a:xfrm>
            <a:off x="3089982" y="3335313"/>
            <a:ext cx="1999241" cy="185116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8" idx="6"/>
            <a:endCxn id="14" idx="2"/>
          </p:cNvCxnSpPr>
          <p:nvPr/>
        </p:nvCxnSpPr>
        <p:spPr>
          <a:xfrm flipV="1">
            <a:off x="3089982" y="3335313"/>
            <a:ext cx="1913215" cy="10254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8" idx="6"/>
            <a:endCxn id="17" idx="2"/>
          </p:cNvCxnSpPr>
          <p:nvPr/>
        </p:nvCxnSpPr>
        <p:spPr>
          <a:xfrm>
            <a:off x="3089982" y="4360809"/>
            <a:ext cx="1913215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8" idx="6"/>
            <a:endCxn id="20" idx="2"/>
          </p:cNvCxnSpPr>
          <p:nvPr/>
        </p:nvCxnSpPr>
        <p:spPr>
          <a:xfrm>
            <a:off x="3089982" y="4360809"/>
            <a:ext cx="1913215" cy="10333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11" idx="6"/>
          </p:cNvCxnSpPr>
          <p:nvPr/>
        </p:nvCxnSpPr>
        <p:spPr>
          <a:xfrm>
            <a:off x="3089982" y="5394165"/>
            <a:ext cx="1913215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11" idx="6"/>
            <a:endCxn id="17" idx="3"/>
          </p:cNvCxnSpPr>
          <p:nvPr/>
        </p:nvCxnSpPr>
        <p:spPr>
          <a:xfrm flipV="1">
            <a:off x="3089982" y="4568495"/>
            <a:ext cx="1999241" cy="8256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11" idx="6"/>
            <a:endCxn id="14" idx="3"/>
          </p:cNvCxnSpPr>
          <p:nvPr/>
        </p:nvCxnSpPr>
        <p:spPr>
          <a:xfrm flipV="1">
            <a:off x="3089982" y="3542999"/>
            <a:ext cx="1999241" cy="185116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26" idx="3"/>
            <a:endCxn id="4" idx="2"/>
          </p:cNvCxnSpPr>
          <p:nvPr/>
        </p:nvCxnSpPr>
        <p:spPr>
          <a:xfrm>
            <a:off x="1247775" y="3257209"/>
            <a:ext cx="1254783" cy="7810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26" idx="3"/>
            <a:endCxn id="8" idx="1"/>
          </p:cNvCxnSpPr>
          <p:nvPr/>
        </p:nvCxnSpPr>
        <p:spPr>
          <a:xfrm>
            <a:off x="1247775" y="3257209"/>
            <a:ext cx="1340809" cy="8959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26" idx="3"/>
            <a:endCxn id="11" idx="1"/>
          </p:cNvCxnSpPr>
          <p:nvPr/>
        </p:nvCxnSpPr>
        <p:spPr>
          <a:xfrm>
            <a:off x="1247775" y="3257209"/>
            <a:ext cx="1340809" cy="19292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>
            <a:stCxn id="27" idx="3"/>
            <a:endCxn id="4" idx="2"/>
          </p:cNvCxnSpPr>
          <p:nvPr/>
        </p:nvCxnSpPr>
        <p:spPr>
          <a:xfrm flipV="1">
            <a:off x="1241425" y="3335313"/>
            <a:ext cx="1261133" cy="62515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>
            <a:stCxn id="27" idx="3"/>
            <a:endCxn id="8" idx="2"/>
          </p:cNvCxnSpPr>
          <p:nvPr/>
        </p:nvCxnSpPr>
        <p:spPr>
          <a:xfrm>
            <a:off x="1241425" y="3960471"/>
            <a:ext cx="1261133" cy="40033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stCxn id="27" idx="3"/>
            <a:endCxn id="11" idx="2"/>
          </p:cNvCxnSpPr>
          <p:nvPr/>
        </p:nvCxnSpPr>
        <p:spPr>
          <a:xfrm>
            <a:off x="1241425" y="3960471"/>
            <a:ext cx="1261133" cy="143369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28" idx="3"/>
            <a:endCxn id="4" idx="3"/>
          </p:cNvCxnSpPr>
          <p:nvPr/>
        </p:nvCxnSpPr>
        <p:spPr>
          <a:xfrm flipV="1">
            <a:off x="1222745" y="3542999"/>
            <a:ext cx="1365839" cy="114850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>
            <a:stCxn id="28" idx="3"/>
            <a:endCxn id="8" idx="2"/>
          </p:cNvCxnSpPr>
          <p:nvPr/>
        </p:nvCxnSpPr>
        <p:spPr>
          <a:xfrm flipV="1">
            <a:off x="1222745" y="4360809"/>
            <a:ext cx="1279813" cy="33069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>
            <a:stCxn id="29" idx="3"/>
            <a:endCxn id="11" idx="2"/>
          </p:cNvCxnSpPr>
          <p:nvPr/>
        </p:nvCxnSpPr>
        <p:spPr>
          <a:xfrm flipV="1">
            <a:off x="1220155" y="5394165"/>
            <a:ext cx="1282403" cy="9683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>
            <a:stCxn id="29" idx="3"/>
            <a:endCxn id="8" idx="3"/>
          </p:cNvCxnSpPr>
          <p:nvPr/>
        </p:nvCxnSpPr>
        <p:spPr>
          <a:xfrm flipV="1">
            <a:off x="1220155" y="4568495"/>
            <a:ext cx="1368429" cy="92250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>
            <a:stCxn id="28" idx="3"/>
            <a:endCxn id="11" idx="2"/>
          </p:cNvCxnSpPr>
          <p:nvPr/>
        </p:nvCxnSpPr>
        <p:spPr>
          <a:xfrm>
            <a:off x="1222745" y="4691508"/>
            <a:ext cx="1279813" cy="70265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>
            <a:stCxn id="29" idx="3"/>
            <a:endCxn id="4" idx="3"/>
          </p:cNvCxnSpPr>
          <p:nvPr/>
        </p:nvCxnSpPr>
        <p:spPr>
          <a:xfrm flipV="1">
            <a:off x="1220155" y="3542999"/>
            <a:ext cx="1368429" cy="194800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>
            <a:endCxn id="23" idx="3"/>
          </p:cNvCxnSpPr>
          <p:nvPr/>
        </p:nvCxnSpPr>
        <p:spPr>
          <a:xfrm flipV="1">
            <a:off x="5590621" y="4568495"/>
            <a:ext cx="1774456" cy="8256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>
            <a:stCxn id="17" idx="6"/>
            <a:endCxn id="23" idx="2"/>
          </p:cNvCxnSpPr>
          <p:nvPr/>
        </p:nvCxnSpPr>
        <p:spPr>
          <a:xfrm>
            <a:off x="5590621" y="4360809"/>
            <a:ext cx="168843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>
            <a:stCxn id="14" idx="6"/>
            <a:endCxn id="23" idx="1"/>
          </p:cNvCxnSpPr>
          <p:nvPr/>
        </p:nvCxnSpPr>
        <p:spPr>
          <a:xfrm>
            <a:off x="5590621" y="3335313"/>
            <a:ext cx="1774456" cy="8178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>
            <a:stCxn id="23" idx="6"/>
          </p:cNvCxnSpPr>
          <p:nvPr/>
        </p:nvCxnSpPr>
        <p:spPr>
          <a:xfrm>
            <a:off x="7866475" y="4360809"/>
            <a:ext cx="302800" cy="397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0" name="Picture 89" descr="latex-image-1.pdf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8180388" y="4175125"/>
            <a:ext cx="850900" cy="381000"/>
          </a:xfrm>
          <a:prstGeom prst="rect">
            <a:avLst/>
          </a:prstGeom>
        </p:spPr>
      </p:pic>
      <p:pic>
        <p:nvPicPr>
          <p:cNvPr id="98" name="Picture 97" descr="latex-image-1.pdf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071688" y="3008313"/>
            <a:ext cx="444500" cy="393700"/>
          </a:xfrm>
          <a:prstGeom prst="rect">
            <a:avLst/>
          </a:prstGeom>
        </p:spPr>
      </p:pic>
      <p:pic>
        <p:nvPicPr>
          <p:cNvPr id="99" name="Picture 98" descr="latex-image-1.pdf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2157413" y="3835400"/>
            <a:ext cx="444500" cy="393700"/>
          </a:xfrm>
          <a:prstGeom prst="rect">
            <a:avLst/>
          </a:prstGeom>
        </p:spPr>
      </p:pic>
      <p:pic>
        <p:nvPicPr>
          <p:cNvPr id="100" name="Picture 99" descr="latex-image-1.pdf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2022475" y="4883150"/>
            <a:ext cx="444500" cy="393700"/>
          </a:xfrm>
          <a:prstGeom prst="rect">
            <a:avLst/>
          </a:prstGeom>
        </p:spPr>
      </p:pic>
      <p:pic>
        <p:nvPicPr>
          <p:cNvPr id="101" name="Picture 100" descr="latex-image-1.pdf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4513263" y="4945063"/>
            <a:ext cx="444500" cy="393700"/>
          </a:xfrm>
          <a:prstGeom prst="rect">
            <a:avLst/>
          </a:prstGeom>
        </p:spPr>
      </p:pic>
      <p:pic>
        <p:nvPicPr>
          <p:cNvPr id="102" name="Picture 101" descr="latex-image-1.pdf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4500563" y="4117975"/>
            <a:ext cx="444500" cy="393700"/>
          </a:xfrm>
          <a:prstGeom prst="rect">
            <a:avLst/>
          </a:prstGeom>
        </p:spPr>
      </p:pic>
      <p:pic>
        <p:nvPicPr>
          <p:cNvPr id="103" name="Picture 102" descr="latex-image-1.pdf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4537075" y="2971800"/>
            <a:ext cx="444500" cy="393700"/>
          </a:xfrm>
          <a:prstGeom prst="rect">
            <a:avLst/>
          </a:prstGeom>
        </p:spPr>
      </p:pic>
      <p:pic>
        <p:nvPicPr>
          <p:cNvPr id="104" name="Picture 103" descr="latex-image-1.pdf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6683375" y="3527425"/>
            <a:ext cx="444500" cy="317500"/>
          </a:xfrm>
          <a:prstGeom prst="rect">
            <a:avLst/>
          </a:prstGeom>
        </p:spPr>
      </p:pic>
      <p:pic>
        <p:nvPicPr>
          <p:cNvPr id="105" name="Picture 104" descr="latex-image-1.pdf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6608763" y="4033838"/>
            <a:ext cx="444500" cy="317500"/>
          </a:xfrm>
          <a:prstGeom prst="rect">
            <a:avLst/>
          </a:prstGeom>
        </p:spPr>
      </p:pic>
      <p:pic>
        <p:nvPicPr>
          <p:cNvPr id="106" name="Picture 105" descr="latex-image-1.pdf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6534150" y="4476750"/>
            <a:ext cx="444500" cy="31750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0" y="6604084"/>
            <a:ext cx="6190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000000"/>
                </a:solidFill>
              </a:rPr>
              <a:t>HKUST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63ECC84-6BA9-CA49-850E-BC7FEC498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61044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Feed-forward networks</a:t>
            </a:r>
          </a:p>
        </p:txBody>
      </p:sp>
      <p:sp>
        <p:nvSpPr>
          <p:cNvPr id="55" name="Content Placeholder 5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Predictions are fed forward through the network to classify</a:t>
            </a:r>
          </a:p>
          <a:p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2502558" y="3041601"/>
            <a:ext cx="587424" cy="587424"/>
            <a:chOff x="5401994" y="3071949"/>
            <a:chExt cx="587424" cy="587424"/>
          </a:xfrm>
        </p:grpSpPr>
        <p:sp>
          <p:nvSpPr>
            <p:cNvPr id="6" name="Oval 5"/>
            <p:cNvSpPr/>
            <p:nvPr/>
          </p:nvSpPr>
          <p:spPr>
            <a:xfrm>
              <a:off x="5401994" y="3071949"/>
              <a:ext cx="587424" cy="58742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cxnSp>
          <p:nvCxnSpPr>
            <p:cNvPr id="7" name="Curved Connector 6"/>
            <p:cNvCxnSpPr/>
            <p:nvPr/>
          </p:nvCxnSpPr>
          <p:spPr>
            <a:xfrm flipV="1">
              <a:off x="5490894" y="3224349"/>
              <a:ext cx="411480" cy="301752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/>
          <p:cNvGrpSpPr/>
          <p:nvPr/>
        </p:nvGrpSpPr>
        <p:grpSpPr>
          <a:xfrm>
            <a:off x="2502558" y="4067097"/>
            <a:ext cx="587424" cy="587424"/>
            <a:chOff x="5401994" y="3071949"/>
            <a:chExt cx="587424" cy="587424"/>
          </a:xfrm>
        </p:grpSpPr>
        <p:sp>
          <p:nvSpPr>
            <p:cNvPr id="9" name="Oval 8"/>
            <p:cNvSpPr/>
            <p:nvPr/>
          </p:nvSpPr>
          <p:spPr>
            <a:xfrm>
              <a:off x="5401994" y="3071949"/>
              <a:ext cx="587424" cy="58742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cxnSp>
          <p:nvCxnSpPr>
            <p:cNvPr id="10" name="Curved Connector 9"/>
            <p:cNvCxnSpPr/>
            <p:nvPr/>
          </p:nvCxnSpPr>
          <p:spPr>
            <a:xfrm flipV="1">
              <a:off x="5490894" y="3224349"/>
              <a:ext cx="411480" cy="301752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/>
          <p:cNvGrpSpPr/>
          <p:nvPr/>
        </p:nvGrpSpPr>
        <p:grpSpPr>
          <a:xfrm>
            <a:off x="2502558" y="5100453"/>
            <a:ext cx="587424" cy="587424"/>
            <a:chOff x="5401994" y="3071949"/>
            <a:chExt cx="587424" cy="587424"/>
          </a:xfrm>
        </p:grpSpPr>
        <p:sp>
          <p:nvSpPr>
            <p:cNvPr id="12" name="Oval 11"/>
            <p:cNvSpPr/>
            <p:nvPr/>
          </p:nvSpPr>
          <p:spPr>
            <a:xfrm>
              <a:off x="5401994" y="3071949"/>
              <a:ext cx="587424" cy="58742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cxnSp>
          <p:nvCxnSpPr>
            <p:cNvPr id="13" name="Curved Connector 12"/>
            <p:cNvCxnSpPr/>
            <p:nvPr/>
          </p:nvCxnSpPr>
          <p:spPr>
            <a:xfrm flipV="1">
              <a:off x="5490894" y="3224349"/>
              <a:ext cx="411480" cy="301752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/>
          <p:cNvGrpSpPr/>
          <p:nvPr/>
        </p:nvGrpSpPr>
        <p:grpSpPr>
          <a:xfrm>
            <a:off x="5003197" y="3041601"/>
            <a:ext cx="587424" cy="587424"/>
            <a:chOff x="5401994" y="3071949"/>
            <a:chExt cx="587424" cy="587424"/>
          </a:xfrm>
        </p:grpSpPr>
        <p:sp>
          <p:nvSpPr>
            <p:cNvPr id="15" name="Oval 14"/>
            <p:cNvSpPr/>
            <p:nvPr/>
          </p:nvSpPr>
          <p:spPr>
            <a:xfrm>
              <a:off x="5401994" y="3071949"/>
              <a:ext cx="587424" cy="58742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cxnSp>
          <p:nvCxnSpPr>
            <p:cNvPr id="16" name="Curved Connector 15"/>
            <p:cNvCxnSpPr/>
            <p:nvPr/>
          </p:nvCxnSpPr>
          <p:spPr>
            <a:xfrm flipV="1">
              <a:off x="5490894" y="3224349"/>
              <a:ext cx="411480" cy="301752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5003197" y="4067097"/>
            <a:ext cx="587424" cy="587424"/>
            <a:chOff x="5401994" y="3071949"/>
            <a:chExt cx="587424" cy="587424"/>
          </a:xfrm>
        </p:grpSpPr>
        <p:sp>
          <p:nvSpPr>
            <p:cNvPr id="18" name="Oval 17"/>
            <p:cNvSpPr/>
            <p:nvPr/>
          </p:nvSpPr>
          <p:spPr>
            <a:xfrm>
              <a:off x="5401994" y="3071949"/>
              <a:ext cx="587424" cy="58742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cxnSp>
          <p:nvCxnSpPr>
            <p:cNvPr id="19" name="Curved Connector 18"/>
            <p:cNvCxnSpPr/>
            <p:nvPr/>
          </p:nvCxnSpPr>
          <p:spPr>
            <a:xfrm flipV="1">
              <a:off x="5490894" y="3224349"/>
              <a:ext cx="411480" cy="301752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5003197" y="5100453"/>
            <a:ext cx="587424" cy="587424"/>
            <a:chOff x="5401994" y="3071949"/>
            <a:chExt cx="587424" cy="587424"/>
          </a:xfrm>
        </p:grpSpPr>
        <p:sp>
          <p:nvSpPr>
            <p:cNvPr id="21" name="Oval 20"/>
            <p:cNvSpPr/>
            <p:nvPr/>
          </p:nvSpPr>
          <p:spPr>
            <a:xfrm>
              <a:off x="5401994" y="3071949"/>
              <a:ext cx="587424" cy="58742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cxnSp>
          <p:nvCxnSpPr>
            <p:cNvPr id="22" name="Curved Connector 21"/>
            <p:cNvCxnSpPr/>
            <p:nvPr/>
          </p:nvCxnSpPr>
          <p:spPr>
            <a:xfrm flipV="1">
              <a:off x="5490894" y="3224349"/>
              <a:ext cx="411480" cy="301752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7279051" y="4067097"/>
            <a:ext cx="587424" cy="587424"/>
            <a:chOff x="5401994" y="3071949"/>
            <a:chExt cx="587424" cy="587424"/>
          </a:xfrm>
        </p:grpSpPr>
        <p:sp>
          <p:nvSpPr>
            <p:cNvPr id="24" name="Oval 23"/>
            <p:cNvSpPr/>
            <p:nvPr/>
          </p:nvSpPr>
          <p:spPr>
            <a:xfrm>
              <a:off x="5401994" y="3071949"/>
              <a:ext cx="587424" cy="58742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cxnSp>
          <p:nvCxnSpPr>
            <p:cNvPr id="25" name="Curved Connector 24"/>
            <p:cNvCxnSpPr/>
            <p:nvPr/>
          </p:nvCxnSpPr>
          <p:spPr>
            <a:xfrm flipV="1">
              <a:off x="5490894" y="3224349"/>
              <a:ext cx="411480" cy="301752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6" name="Picture 25" descr="latex-image-1.pd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68375" y="3161959"/>
            <a:ext cx="279400" cy="190500"/>
          </a:xfrm>
          <a:prstGeom prst="rect">
            <a:avLst/>
          </a:prstGeom>
        </p:spPr>
      </p:pic>
      <p:pic>
        <p:nvPicPr>
          <p:cNvPr id="27" name="Picture 26" descr="latex-image-1.pd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74725" y="3865221"/>
            <a:ext cx="266700" cy="190500"/>
          </a:xfrm>
          <a:prstGeom prst="rect">
            <a:avLst/>
          </a:prstGeom>
        </p:spPr>
      </p:pic>
      <p:pic>
        <p:nvPicPr>
          <p:cNvPr id="28" name="Picture 27" descr="latex-image-1.pdf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943345" y="4596258"/>
            <a:ext cx="279400" cy="190500"/>
          </a:xfrm>
          <a:prstGeom prst="rect">
            <a:avLst/>
          </a:prstGeom>
        </p:spPr>
      </p:pic>
      <p:pic>
        <p:nvPicPr>
          <p:cNvPr id="29" name="Picture 28" descr="latex-image-1.pdf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64555" y="5395753"/>
            <a:ext cx="355600" cy="190500"/>
          </a:xfrm>
          <a:prstGeom prst="rect">
            <a:avLst/>
          </a:prstGeom>
        </p:spPr>
      </p:pic>
      <p:cxnSp>
        <p:nvCxnSpPr>
          <p:cNvPr id="30" name="Straight Arrow Connector 29"/>
          <p:cNvCxnSpPr>
            <a:stCxn id="6" idx="6"/>
            <a:endCxn id="15" idx="2"/>
          </p:cNvCxnSpPr>
          <p:nvPr/>
        </p:nvCxnSpPr>
        <p:spPr>
          <a:xfrm>
            <a:off x="3089982" y="3335313"/>
            <a:ext cx="1913215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6" idx="6"/>
            <a:endCxn id="18" idx="1"/>
          </p:cNvCxnSpPr>
          <p:nvPr/>
        </p:nvCxnSpPr>
        <p:spPr>
          <a:xfrm>
            <a:off x="3089982" y="3335313"/>
            <a:ext cx="1999241" cy="8178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6" idx="6"/>
            <a:endCxn id="21" idx="1"/>
          </p:cNvCxnSpPr>
          <p:nvPr/>
        </p:nvCxnSpPr>
        <p:spPr>
          <a:xfrm>
            <a:off x="3089982" y="3335313"/>
            <a:ext cx="1999241" cy="185116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9" idx="6"/>
            <a:endCxn id="15" idx="2"/>
          </p:cNvCxnSpPr>
          <p:nvPr/>
        </p:nvCxnSpPr>
        <p:spPr>
          <a:xfrm flipV="1">
            <a:off x="3089982" y="3335313"/>
            <a:ext cx="1913215" cy="10254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9" idx="6"/>
            <a:endCxn id="18" idx="2"/>
          </p:cNvCxnSpPr>
          <p:nvPr/>
        </p:nvCxnSpPr>
        <p:spPr>
          <a:xfrm>
            <a:off x="3089982" y="4360809"/>
            <a:ext cx="1913215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9" idx="6"/>
            <a:endCxn id="21" idx="2"/>
          </p:cNvCxnSpPr>
          <p:nvPr/>
        </p:nvCxnSpPr>
        <p:spPr>
          <a:xfrm>
            <a:off x="3089982" y="4360809"/>
            <a:ext cx="1913215" cy="10333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2" idx="6"/>
          </p:cNvCxnSpPr>
          <p:nvPr/>
        </p:nvCxnSpPr>
        <p:spPr>
          <a:xfrm>
            <a:off x="3089982" y="5394165"/>
            <a:ext cx="1913215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12" idx="6"/>
            <a:endCxn id="18" idx="3"/>
          </p:cNvCxnSpPr>
          <p:nvPr/>
        </p:nvCxnSpPr>
        <p:spPr>
          <a:xfrm flipV="1">
            <a:off x="3089982" y="4568495"/>
            <a:ext cx="1999241" cy="8256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12" idx="6"/>
            <a:endCxn id="15" idx="3"/>
          </p:cNvCxnSpPr>
          <p:nvPr/>
        </p:nvCxnSpPr>
        <p:spPr>
          <a:xfrm flipV="1">
            <a:off x="3089982" y="3542999"/>
            <a:ext cx="1999241" cy="185116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26" idx="3"/>
            <a:endCxn id="6" idx="2"/>
          </p:cNvCxnSpPr>
          <p:nvPr/>
        </p:nvCxnSpPr>
        <p:spPr>
          <a:xfrm>
            <a:off x="1247775" y="3257209"/>
            <a:ext cx="1254783" cy="78104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26" idx="3"/>
            <a:endCxn id="9" idx="1"/>
          </p:cNvCxnSpPr>
          <p:nvPr/>
        </p:nvCxnSpPr>
        <p:spPr>
          <a:xfrm>
            <a:off x="1247775" y="3257209"/>
            <a:ext cx="1340809" cy="895914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26" idx="3"/>
            <a:endCxn id="12" idx="1"/>
          </p:cNvCxnSpPr>
          <p:nvPr/>
        </p:nvCxnSpPr>
        <p:spPr>
          <a:xfrm>
            <a:off x="1247775" y="3257209"/>
            <a:ext cx="1340809" cy="1929270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27" idx="3"/>
            <a:endCxn id="6" idx="2"/>
          </p:cNvCxnSpPr>
          <p:nvPr/>
        </p:nvCxnSpPr>
        <p:spPr>
          <a:xfrm flipV="1">
            <a:off x="1241425" y="3335313"/>
            <a:ext cx="1261133" cy="62515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27" idx="3"/>
            <a:endCxn id="9" idx="2"/>
          </p:cNvCxnSpPr>
          <p:nvPr/>
        </p:nvCxnSpPr>
        <p:spPr>
          <a:xfrm>
            <a:off x="1241425" y="3960471"/>
            <a:ext cx="1261133" cy="40033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27" idx="3"/>
            <a:endCxn id="12" idx="2"/>
          </p:cNvCxnSpPr>
          <p:nvPr/>
        </p:nvCxnSpPr>
        <p:spPr>
          <a:xfrm>
            <a:off x="1241425" y="3960471"/>
            <a:ext cx="1261133" cy="1433694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28" idx="3"/>
            <a:endCxn id="6" idx="3"/>
          </p:cNvCxnSpPr>
          <p:nvPr/>
        </p:nvCxnSpPr>
        <p:spPr>
          <a:xfrm flipV="1">
            <a:off x="1222745" y="3542999"/>
            <a:ext cx="1365839" cy="1148509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8" idx="3"/>
            <a:endCxn id="9" idx="2"/>
          </p:cNvCxnSpPr>
          <p:nvPr/>
        </p:nvCxnSpPr>
        <p:spPr>
          <a:xfrm flipV="1">
            <a:off x="1222745" y="4360809"/>
            <a:ext cx="1279813" cy="330699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29" idx="3"/>
            <a:endCxn id="12" idx="2"/>
          </p:cNvCxnSpPr>
          <p:nvPr/>
        </p:nvCxnSpPr>
        <p:spPr>
          <a:xfrm flipV="1">
            <a:off x="1220155" y="5394165"/>
            <a:ext cx="1282403" cy="9683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29" idx="3"/>
            <a:endCxn id="9" idx="3"/>
          </p:cNvCxnSpPr>
          <p:nvPr/>
        </p:nvCxnSpPr>
        <p:spPr>
          <a:xfrm flipV="1">
            <a:off x="1220155" y="4568495"/>
            <a:ext cx="1368429" cy="92250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28" idx="3"/>
            <a:endCxn id="12" idx="2"/>
          </p:cNvCxnSpPr>
          <p:nvPr/>
        </p:nvCxnSpPr>
        <p:spPr>
          <a:xfrm>
            <a:off x="1222745" y="4691508"/>
            <a:ext cx="1279813" cy="702657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29" idx="3"/>
            <a:endCxn id="6" idx="3"/>
          </p:cNvCxnSpPr>
          <p:nvPr/>
        </p:nvCxnSpPr>
        <p:spPr>
          <a:xfrm flipV="1">
            <a:off x="1220155" y="3542999"/>
            <a:ext cx="1368429" cy="1948004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endCxn id="24" idx="3"/>
          </p:cNvCxnSpPr>
          <p:nvPr/>
        </p:nvCxnSpPr>
        <p:spPr>
          <a:xfrm flipV="1">
            <a:off x="5590621" y="4568495"/>
            <a:ext cx="1774456" cy="8256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18" idx="6"/>
            <a:endCxn id="24" idx="2"/>
          </p:cNvCxnSpPr>
          <p:nvPr/>
        </p:nvCxnSpPr>
        <p:spPr>
          <a:xfrm>
            <a:off x="5590621" y="4360809"/>
            <a:ext cx="168843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15" idx="6"/>
            <a:endCxn id="24" idx="1"/>
          </p:cNvCxnSpPr>
          <p:nvPr/>
        </p:nvCxnSpPr>
        <p:spPr>
          <a:xfrm>
            <a:off x="5590621" y="3335313"/>
            <a:ext cx="1774456" cy="8178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24" idx="6"/>
          </p:cNvCxnSpPr>
          <p:nvPr/>
        </p:nvCxnSpPr>
        <p:spPr>
          <a:xfrm>
            <a:off x="7866475" y="4360809"/>
            <a:ext cx="302800" cy="397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0" name="Picture 59" descr="latex-image-1.pdf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071688" y="3008313"/>
            <a:ext cx="444500" cy="393700"/>
          </a:xfrm>
          <a:prstGeom prst="rect">
            <a:avLst/>
          </a:prstGeom>
        </p:spPr>
      </p:pic>
      <p:pic>
        <p:nvPicPr>
          <p:cNvPr id="61" name="Picture 60" descr="latex-image-1.pdf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157413" y="3835400"/>
            <a:ext cx="444500" cy="393700"/>
          </a:xfrm>
          <a:prstGeom prst="rect">
            <a:avLst/>
          </a:prstGeom>
        </p:spPr>
      </p:pic>
      <p:pic>
        <p:nvPicPr>
          <p:cNvPr id="62" name="Picture 61" descr="latex-image-1.pdf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2022475" y="4883150"/>
            <a:ext cx="444500" cy="393700"/>
          </a:xfrm>
          <a:prstGeom prst="rect">
            <a:avLst/>
          </a:prstGeom>
        </p:spPr>
      </p:pic>
      <p:pic>
        <p:nvPicPr>
          <p:cNvPr id="63" name="Picture 62" descr="latex-image-1.pdf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4513263" y="4945063"/>
            <a:ext cx="444500" cy="393700"/>
          </a:xfrm>
          <a:prstGeom prst="rect">
            <a:avLst/>
          </a:prstGeom>
        </p:spPr>
      </p:pic>
      <p:pic>
        <p:nvPicPr>
          <p:cNvPr id="64" name="Picture 63" descr="latex-image-1.pdf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4500563" y="4117975"/>
            <a:ext cx="444500" cy="393700"/>
          </a:xfrm>
          <a:prstGeom prst="rect">
            <a:avLst/>
          </a:prstGeom>
        </p:spPr>
      </p:pic>
      <p:pic>
        <p:nvPicPr>
          <p:cNvPr id="65" name="Picture 64" descr="latex-image-1.pdf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4537075" y="2971800"/>
            <a:ext cx="444500" cy="393700"/>
          </a:xfrm>
          <a:prstGeom prst="rect">
            <a:avLst/>
          </a:prstGeom>
        </p:spPr>
      </p:pic>
      <p:pic>
        <p:nvPicPr>
          <p:cNvPr id="66" name="Picture 65" descr="latex-image-1.pdf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683375" y="3527425"/>
            <a:ext cx="444500" cy="317500"/>
          </a:xfrm>
          <a:prstGeom prst="rect">
            <a:avLst/>
          </a:prstGeom>
        </p:spPr>
      </p:pic>
      <p:pic>
        <p:nvPicPr>
          <p:cNvPr id="67" name="Picture 66" descr="latex-image-1.pdf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6608763" y="4033838"/>
            <a:ext cx="444500" cy="317500"/>
          </a:xfrm>
          <a:prstGeom prst="rect">
            <a:avLst/>
          </a:prstGeom>
        </p:spPr>
      </p:pic>
      <p:pic>
        <p:nvPicPr>
          <p:cNvPr id="68" name="Picture 67" descr="latex-image-1.pdf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6534150" y="4476750"/>
            <a:ext cx="444500" cy="31750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0" y="6604084"/>
            <a:ext cx="6190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000000"/>
                </a:solidFill>
              </a:rPr>
              <a:t>HKUST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7F61EE1-8EB8-E344-8ABF-2C894482F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75756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Feed-forward networks</a:t>
            </a:r>
          </a:p>
        </p:txBody>
      </p:sp>
      <p:sp>
        <p:nvSpPr>
          <p:cNvPr id="6" name="Oval 5"/>
          <p:cNvSpPr/>
          <p:nvPr/>
        </p:nvSpPr>
        <p:spPr>
          <a:xfrm>
            <a:off x="2502558" y="3041601"/>
            <a:ext cx="587424" cy="587424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7" name="Curved Connector 6"/>
          <p:cNvCxnSpPr/>
          <p:nvPr/>
        </p:nvCxnSpPr>
        <p:spPr>
          <a:xfrm flipV="1">
            <a:off x="2591458" y="3194001"/>
            <a:ext cx="411480" cy="301752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502558" y="4067097"/>
            <a:ext cx="587424" cy="587424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0" name="Curved Connector 9"/>
          <p:cNvCxnSpPr/>
          <p:nvPr/>
        </p:nvCxnSpPr>
        <p:spPr>
          <a:xfrm flipV="1">
            <a:off x="2591458" y="4219497"/>
            <a:ext cx="411480" cy="301752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502558" y="5100453"/>
            <a:ext cx="587424" cy="587424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3" name="Curved Connector 12"/>
          <p:cNvCxnSpPr/>
          <p:nvPr/>
        </p:nvCxnSpPr>
        <p:spPr>
          <a:xfrm flipV="1">
            <a:off x="2591458" y="5252853"/>
            <a:ext cx="411480" cy="301752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" name="Group 13"/>
          <p:cNvGrpSpPr/>
          <p:nvPr/>
        </p:nvGrpSpPr>
        <p:grpSpPr>
          <a:xfrm>
            <a:off x="5003197" y="3041601"/>
            <a:ext cx="587424" cy="587424"/>
            <a:chOff x="5401994" y="3071949"/>
            <a:chExt cx="587424" cy="587424"/>
          </a:xfrm>
        </p:grpSpPr>
        <p:sp>
          <p:nvSpPr>
            <p:cNvPr id="15" name="Oval 14"/>
            <p:cNvSpPr/>
            <p:nvPr/>
          </p:nvSpPr>
          <p:spPr>
            <a:xfrm>
              <a:off x="5401994" y="3071949"/>
              <a:ext cx="587424" cy="58742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cxnSp>
          <p:nvCxnSpPr>
            <p:cNvPr id="16" name="Curved Connector 15"/>
            <p:cNvCxnSpPr/>
            <p:nvPr/>
          </p:nvCxnSpPr>
          <p:spPr>
            <a:xfrm flipV="1">
              <a:off x="5490894" y="3224349"/>
              <a:ext cx="411480" cy="301752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5003197" y="4067097"/>
            <a:ext cx="587424" cy="587424"/>
            <a:chOff x="5401994" y="3071949"/>
            <a:chExt cx="587424" cy="587424"/>
          </a:xfrm>
        </p:grpSpPr>
        <p:sp>
          <p:nvSpPr>
            <p:cNvPr id="18" name="Oval 17"/>
            <p:cNvSpPr/>
            <p:nvPr/>
          </p:nvSpPr>
          <p:spPr>
            <a:xfrm>
              <a:off x="5401994" y="3071949"/>
              <a:ext cx="587424" cy="58742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cxnSp>
          <p:nvCxnSpPr>
            <p:cNvPr id="19" name="Curved Connector 18"/>
            <p:cNvCxnSpPr/>
            <p:nvPr/>
          </p:nvCxnSpPr>
          <p:spPr>
            <a:xfrm flipV="1">
              <a:off x="5490894" y="3224349"/>
              <a:ext cx="411480" cy="301752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5003197" y="5100453"/>
            <a:ext cx="587424" cy="587424"/>
            <a:chOff x="5401994" y="3071949"/>
            <a:chExt cx="587424" cy="587424"/>
          </a:xfrm>
        </p:grpSpPr>
        <p:sp>
          <p:nvSpPr>
            <p:cNvPr id="21" name="Oval 20"/>
            <p:cNvSpPr/>
            <p:nvPr/>
          </p:nvSpPr>
          <p:spPr>
            <a:xfrm>
              <a:off x="5401994" y="3071949"/>
              <a:ext cx="587424" cy="58742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cxnSp>
          <p:nvCxnSpPr>
            <p:cNvPr id="22" name="Curved Connector 21"/>
            <p:cNvCxnSpPr/>
            <p:nvPr/>
          </p:nvCxnSpPr>
          <p:spPr>
            <a:xfrm flipV="1">
              <a:off x="5490894" y="3224349"/>
              <a:ext cx="411480" cy="301752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7279051" y="4067097"/>
            <a:ext cx="587424" cy="587424"/>
            <a:chOff x="5401994" y="3071949"/>
            <a:chExt cx="587424" cy="587424"/>
          </a:xfrm>
        </p:grpSpPr>
        <p:sp>
          <p:nvSpPr>
            <p:cNvPr id="24" name="Oval 23"/>
            <p:cNvSpPr/>
            <p:nvPr/>
          </p:nvSpPr>
          <p:spPr>
            <a:xfrm>
              <a:off x="5401994" y="3071949"/>
              <a:ext cx="587424" cy="58742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cxnSp>
          <p:nvCxnSpPr>
            <p:cNvPr id="25" name="Curved Connector 24"/>
            <p:cNvCxnSpPr/>
            <p:nvPr/>
          </p:nvCxnSpPr>
          <p:spPr>
            <a:xfrm flipV="1">
              <a:off x="5490894" y="3224349"/>
              <a:ext cx="411480" cy="301752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6" name="Picture 25" descr="latex-image-1.pd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68375" y="3161959"/>
            <a:ext cx="2794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Picture 26" descr="latex-image-1.pd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74725" y="3865221"/>
            <a:ext cx="2667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Picture 27" descr="latex-image-1.pdf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943345" y="4596258"/>
            <a:ext cx="2794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Picture 28" descr="latex-image-1.pdf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64555" y="5395753"/>
            <a:ext cx="355600" cy="190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" name="Straight Arrow Connector 29"/>
          <p:cNvCxnSpPr>
            <a:stCxn id="6" idx="6"/>
            <a:endCxn id="15" idx="2"/>
          </p:cNvCxnSpPr>
          <p:nvPr/>
        </p:nvCxnSpPr>
        <p:spPr>
          <a:xfrm>
            <a:off x="3089982" y="3335313"/>
            <a:ext cx="1913215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6" idx="6"/>
            <a:endCxn id="18" idx="1"/>
          </p:cNvCxnSpPr>
          <p:nvPr/>
        </p:nvCxnSpPr>
        <p:spPr>
          <a:xfrm>
            <a:off x="3089982" y="3335313"/>
            <a:ext cx="1999241" cy="8178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6" idx="6"/>
            <a:endCxn id="21" idx="1"/>
          </p:cNvCxnSpPr>
          <p:nvPr/>
        </p:nvCxnSpPr>
        <p:spPr>
          <a:xfrm>
            <a:off x="3089982" y="3335313"/>
            <a:ext cx="1999241" cy="185116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9" idx="6"/>
            <a:endCxn id="15" idx="2"/>
          </p:cNvCxnSpPr>
          <p:nvPr/>
        </p:nvCxnSpPr>
        <p:spPr>
          <a:xfrm flipV="1">
            <a:off x="3089982" y="3335313"/>
            <a:ext cx="1913215" cy="10254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9" idx="6"/>
            <a:endCxn id="18" idx="2"/>
          </p:cNvCxnSpPr>
          <p:nvPr/>
        </p:nvCxnSpPr>
        <p:spPr>
          <a:xfrm>
            <a:off x="3089982" y="4360809"/>
            <a:ext cx="1913215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9" idx="6"/>
            <a:endCxn id="21" idx="2"/>
          </p:cNvCxnSpPr>
          <p:nvPr/>
        </p:nvCxnSpPr>
        <p:spPr>
          <a:xfrm>
            <a:off x="3089982" y="4360809"/>
            <a:ext cx="1913215" cy="10333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2" idx="6"/>
          </p:cNvCxnSpPr>
          <p:nvPr/>
        </p:nvCxnSpPr>
        <p:spPr>
          <a:xfrm>
            <a:off x="3089982" y="5394165"/>
            <a:ext cx="1913215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12" idx="6"/>
            <a:endCxn id="18" idx="3"/>
          </p:cNvCxnSpPr>
          <p:nvPr/>
        </p:nvCxnSpPr>
        <p:spPr>
          <a:xfrm flipV="1">
            <a:off x="3089982" y="4568495"/>
            <a:ext cx="1999241" cy="8256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12" idx="6"/>
            <a:endCxn id="15" idx="3"/>
          </p:cNvCxnSpPr>
          <p:nvPr/>
        </p:nvCxnSpPr>
        <p:spPr>
          <a:xfrm flipV="1">
            <a:off x="3089982" y="3542999"/>
            <a:ext cx="1999241" cy="185116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26" idx="3"/>
            <a:endCxn id="6" idx="2"/>
          </p:cNvCxnSpPr>
          <p:nvPr/>
        </p:nvCxnSpPr>
        <p:spPr>
          <a:xfrm>
            <a:off x="1247775" y="3257209"/>
            <a:ext cx="1254783" cy="78104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26" idx="3"/>
            <a:endCxn id="9" idx="1"/>
          </p:cNvCxnSpPr>
          <p:nvPr/>
        </p:nvCxnSpPr>
        <p:spPr>
          <a:xfrm>
            <a:off x="1247775" y="3257209"/>
            <a:ext cx="1340809" cy="895914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26" idx="3"/>
            <a:endCxn id="12" idx="1"/>
          </p:cNvCxnSpPr>
          <p:nvPr/>
        </p:nvCxnSpPr>
        <p:spPr>
          <a:xfrm>
            <a:off x="1247775" y="3257209"/>
            <a:ext cx="1340809" cy="1929270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27" idx="3"/>
            <a:endCxn id="6" idx="2"/>
          </p:cNvCxnSpPr>
          <p:nvPr/>
        </p:nvCxnSpPr>
        <p:spPr>
          <a:xfrm flipV="1">
            <a:off x="1241425" y="3335313"/>
            <a:ext cx="1261133" cy="62515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27" idx="3"/>
            <a:endCxn id="9" idx="2"/>
          </p:cNvCxnSpPr>
          <p:nvPr/>
        </p:nvCxnSpPr>
        <p:spPr>
          <a:xfrm>
            <a:off x="1241425" y="3960471"/>
            <a:ext cx="1261133" cy="40033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27" idx="3"/>
            <a:endCxn id="12" idx="2"/>
          </p:cNvCxnSpPr>
          <p:nvPr/>
        </p:nvCxnSpPr>
        <p:spPr>
          <a:xfrm>
            <a:off x="1241425" y="3960471"/>
            <a:ext cx="1261133" cy="1433694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28" idx="3"/>
            <a:endCxn id="6" idx="3"/>
          </p:cNvCxnSpPr>
          <p:nvPr/>
        </p:nvCxnSpPr>
        <p:spPr>
          <a:xfrm flipV="1">
            <a:off x="1222745" y="3542999"/>
            <a:ext cx="1365839" cy="1148509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8" idx="3"/>
            <a:endCxn id="9" idx="2"/>
          </p:cNvCxnSpPr>
          <p:nvPr/>
        </p:nvCxnSpPr>
        <p:spPr>
          <a:xfrm flipV="1">
            <a:off x="1222745" y="4360809"/>
            <a:ext cx="1279813" cy="330699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29" idx="3"/>
            <a:endCxn id="12" idx="2"/>
          </p:cNvCxnSpPr>
          <p:nvPr/>
        </p:nvCxnSpPr>
        <p:spPr>
          <a:xfrm flipV="1">
            <a:off x="1220155" y="5394165"/>
            <a:ext cx="1282403" cy="9683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29" idx="3"/>
            <a:endCxn id="9" idx="3"/>
          </p:cNvCxnSpPr>
          <p:nvPr/>
        </p:nvCxnSpPr>
        <p:spPr>
          <a:xfrm flipV="1">
            <a:off x="1220155" y="4568495"/>
            <a:ext cx="1368429" cy="92250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28" idx="3"/>
            <a:endCxn id="12" idx="2"/>
          </p:cNvCxnSpPr>
          <p:nvPr/>
        </p:nvCxnSpPr>
        <p:spPr>
          <a:xfrm>
            <a:off x="1222745" y="4691508"/>
            <a:ext cx="1279813" cy="702657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29" idx="3"/>
            <a:endCxn id="6" idx="3"/>
          </p:cNvCxnSpPr>
          <p:nvPr/>
        </p:nvCxnSpPr>
        <p:spPr>
          <a:xfrm flipV="1">
            <a:off x="1220155" y="3542999"/>
            <a:ext cx="1368429" cy="1948004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endCxn id="24" idx="3"/>
          </p:cNvCxnSpPr>
          <p:nvPr/>
        </p:nvCxnSpPr>
        <p:spPr>
          <a:xfrm flipV="1">
            <a:off x="5590621" y="4568495"/>
            <a:ext cx="1774456" cy="8256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18" idx="6"/>
            <a:endCxn id="24" idx="2"/>
          </p:cNvCxnSpPr>
          <p:nvPr/>
        </p:nvCxnSpPr>
        <p:spPr>
          <a:xfrm>
            <a:off x="5590621" y="4360809"/>
            <a:ext cx="168843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15" idx="6"/>
            <a:endCxn id="24" idx="1"/>
          </p:cNvCxnSpPr>
          <p:nvPr/>
        </p:nvCxnSpPr>
        <p:spPr>
          <a:xfrm>
            <a:off x="5590621" y="3335313"/>
            <a:ext cx="1774456" cy="8178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24" idx="6"/>
          </p:cNvCxnSpPr>
          <p:nvPr/>
        </p:nvCxnSpPr>
        <p:spPr>
          <a:xfrm>
            <a:off x="7866475" y="4360809"/>
            <a:ext cx="302800" cy="397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0" name="Picture 59" descr="latex-image-1.pdf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071688" y="3008313"/>
            <a:ext cx="444500" cy="39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Picture 60" descr="latex-image-1.pdf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157413" y="3835400"/>
            <a:ext cx="444500" cy="39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Picture 61" descr="latex-image-1.pdf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2022475" y="4883150"/>
            <a:ext cx="444500" cy="39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Picture 62" descr="latex-image-1.pdf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4513263" y="4945063"/>
            <a:ext cx="444500" cy="393700"/>
          </a:xfrm>
          <a:prstGeom prst="rect">
            <a:avLst/>
          </a:prstGeom>
        </p:spPr>
      </p:pic>
      <p:pic>
        <p:nvPicPr>
          <p:cNvPr id="64" name="Picture 63" descr="latex-image-1.pdf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4500563" y="4117975"/>
            <a:ext cx="444500" cy="393700"/>
          </a:xfrm>
          <a:prstGeom prst="rect">
            <a:avLst/>
          </a:prstGeom>
        </p:spPr>
      </p:pic>
      <p:pic>
        <p:nvPicPr>
          <p:cNvPr id="65" name="Picture 64" descr="latex-image-1.pdf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4537075" y="2971800"/>
            <a:ext cx="444500" cy="393700"/>
          </a:xfrm>
          <a:prstGeom prst="rect">
            <a:avLst/>
          </a:prstGeom>
        </p:spPr>
      </p:pic>
      <p:pic>
        <p:nvPicPr>
          <p:cNvPr id="66" name="Picture 65" descr="latex-image-1.pdf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683375" y="3527425"/>
            <a:ext cx="444500" cy="317500"/>
          </a:xfrm>
          <a:prstGeom prst="rect">
            <a:avLst/>
          </a:prstGeom>
        </p:spPr>
      </p:pic>
      <p:pic>
        <p:nvPicPr>
          <p:cNvPr id="67" name="Picture 66" descr="latex-image-1.pdf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6608763" y="4033838"/>
            <a:ext cx="444500" cy="317500"/>
          </a:xfrm>
          <a:prstGeom prst="rect">
            <a:avLst/>
          </a:prstGeom>
        </p:spPr>
      </p:pic>
      <p:pic>
        <p:nvPicPr>
          <p:cNvPr id="68" name="Picture 67" descr="latex-image-1.pdf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6534150" y="4476750"/>
            <a:ext cx="444500" cy="317500"/>
          </a:xfrm>
          <a:prstGeom prst="rect">
            <a:avLst/>
          </a:prstGeom>
        </p:spPr>
      </p:pic>
      <p:sp>
        <p:nvSpPr>
          <p:cNvPr id="70" name="Content Placeholder 5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Predictions are fed forward through the network to classify</a:t>
            </a:r>
          </a:p>
          <a:p>
            <a:endParaRPr lang="en-US" dirty="0"/>
          </a:p>
        </p:txBody>
      </p:sp>
      <p:sp>
        <p:nvSpPr>
          <p:cNvPr id="71" name="TextBox 70"/>
          <p:cNvSpPr txBox="1"/>
          <p:nvPr/>
        </p:nvSpPr>
        <p:spPr>
          <a:xfrm>
            <a:off x="0" y="6604084"/>
            <a:ext cx="6190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000000"/>
                </a:solidFill>
              </a:rPr>
              <a:t>HKUST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C8E79BA-1A35-C34E-ACB7-48DE0D945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62440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Feed-forward networks</a:t>
            </a:r>
          </a:p>
        </p:txBody>
      </p:sp>
      <p:sp>
        <p:nvSpPr>
          <p:cNvPr id="6" name="Oval 5"/>
          <p:cNvSpPr/>
          <p:nvPr/>
        </p:nvSpPr>
        <p:spPr>
          <a:xfrm>
            <a:off x="2502558" y="3041601"/>
            <a:ext cx="587424" cy="587424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7" name="Curved Connector 6"/>
          <p:cNvCxnSpPr/>
          <p:nvPr/>
        </p:nvCxnSpPr>
        <p:spPr>
          <a:xfrm flipV="1">
            <a:off x="2591458" y="3194001"/>
            <a:ext cx="411480" cy="301752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502558" y="4067097"/>
            <a:ext cx="587424" cy="587424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0" name="Curved Connector 9"/>
          <p:cNvCxnSpPr/>
          <p:nvPr/>
        </p:nvCxnSpPr>
        <p:spPr>
          <a:xfrm flipV="1">
            <a:off x="2591458" y="4219497"/>
            <a:ext cx="411480" cy="301752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502558" y="5100453"/>
            <a:ext cx="587424" cy="587424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3" name="Curved Connector 12"/>
          <p:cNvCxnSpPr/>
          <p:nvPr/>
        </p:nvCxnSpPr>
        <p:spPr>
          <a:xfrm flipV="1">
            <a:off x="2591458" y="5252853"/>
            <a:ext cx="411480" cy="301752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" name="Group 13"/>
          <p:cNvGrpSpPr/>
          <p:nvPr/>
        </p:nvGrpSpPr>
        <p:grpSpPr>
          <a:xfrm>
            <a:off x="5003197" y="3041601"/>
            <a:ext cx="587424" cy="587424"/>
            <a:chOff x="5401994" y="3071949"/>
            <a:chExt cx="587424" cy="587424"/>
          </a:xfrm>
        </p:grpSpPr>
        <p:sp>
          <p:nvSpPr>
            <p:cNvPr id="15" name="Oval 14"/>
            <p:cNvSpPr/>
            <p:nvPr/>
          </p:nvSpPr>
          <p:spPr>
            <a:xfrm>
              <a:off x="5401994" y="3071949"/>
              <a:ext cx="587424" cy="58742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cxnSp>
          <p:nvCxnSpPr>
            <p:cNvPr id="16" name="Curved Connector 15"/>
            <p:cNvCxnSpPr/>
            <p:nvPr/>
          </p:nvCxnSpPr>
          <p:spPr>
            <a:xfrm flipV="1">
              <a:off x="5490894" y="3224349"/>
              <a:ext cx="411480" cy="301752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16"/>
          <p:cNvGrpSpPr/>
          <p:nvPr/>
        </p:nvGrpSpPr>
        <p:grpSpPr>
          <a:xfrm>
            <a:off x="5003197" y="4067097"/>
            <a:ext cx="587424" cy="587424"/>
            <a:chOff x="5401994" y="3071949"/>
            <a:chExt cx="587424" cy="587424"/>
          </a:xfrm>
        </p:grpSpPr>
        <p:sp>
          <p:nvSpPr>
            <p:cNvPr id="18" name="Oval 17"/>
            <p:cNvSpPr/>
            <p:nvPr/>
          </p:nvSpPr>
          <p:spPr>
            <a:xfrm>
              <a:off x="5401994" y="3071949"/>
              <a:ext cx="587424" cy="58742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cxnSp>
          <p:nvCxnSpPr>
            <p:cNvPr id="19" name="Curved Connector 18"/>
            <p:cNvCxnSpPr/>
            <p:nvPr/>
          </p:nvCxnSpPr>
          <p:spPr>
            <a:xfrm flipV="1">
              <a:off x="5490894" y="3224349"/>
              <a:ext cx="411480" cy="301752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9"/>
          <p:cNvGrpSpPr/>
          <p:nvPr/>
        </p:nvGrpSpPr>
        <p:grpSpPr>
          <a:xfrm>
            <a:off x="5003197" y="5100453"/>
            <a:ext cx="587424" cy="587424"/>
            <a:chOff x="5401994" y="3071949"/>
            <a:chExt cx="587424" cy="587424"/>
          </a:xfrm>
        </p:grpSpPr>
        <p:sp>
          <p:nvSpPr>
            <p:cNvPr id="21" name="Oval 20"/>
            <p:cNvSpPr/>
            <p:nvPr/>
          </p:nvSpPr>
          <p:spPr>
            <a:xfrm>
              <a:off x="5401994" y="3071949"/>
              <a:ext cx="587424" cy="58742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cxnSp>
          <p:nvCxnSpPr>
            <p:cNvPr id="22" name="Curved Connector 21"/>
            <p:cNvCxnSpPr/>
            <p:nvPr/>
          </p:nvCxnSpPr>
          <p:spPr>
            <a:xfrm flipV="1">
              <a:off x="5490894" y="3224349"/>
              <a:ext cx="411480" cy="301752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22"/>
          <p:cNvGrpSpPr/>
          <p:nvPr/>
        </p:nvGrpSpPr>
        <p:grpSpPr>
          <a:xfrm>
            <a:off x="7279051" y="4067097"/>
            <a:ext cx="587424" cy="587424"/>
            <a:chOff x="5401994" y="3071949"/>
            <a:chExt cx="587424" cy="587424"/>
          </a:xfrm>
        </p:grpSpPr>
        <p:sp>
          <p:nvSpPr>
            <p:cNvPr id="24" name="Oval 23"/>
            <p:cNvSpPr/>
            <p:nvPr/>
          </p:nvSpPr>
          <p:spPr>
            <a:xfrm>
              <a:off x="5401994" y="3071949"/>
              <a:ext cx="587424" cy="58742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cxnSp>
          <p:nvCxnSpPr>
            <p:cNvPr id="25" name="Curved Connector 24"/>
            <p:cNvCxnSpPr/>
            <p:nvPr/>
          </p:nvCxnSpPr>
          <p:spPr>
            <a:xfrm flipV="1">
              <a:off x="5490894" y="3224349"/>
              <a:ext cx="411480" cy="301752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6" name="Picture 25" descr="latex-image-1.pd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68375" y="3161959"/>
            <a:ext cx="279400" cy="190500"/>
          </a:xfrm>
          <a:prstGeom prst="rect">
            <a:avLst/>
          </a:prstGeom>
        </p:spPr>
      </p:pic>
      <p:pic>
        <p:nvPicPr>
          <p:cNvPr id="27" name="Picture 26" descr="latex-image-1.pd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74725" y="3865221"/>
            <a:ext cx="266700" cy="190500"/>
          </a:xfrm>
          <a:prstGeom prst="rect">
            <a:avLst/>
          </a:prstGeom>
        </p:spPr>
      </p:pic>
      <p:pic>
        <p:nvPicPr>
          <p:cNvPr id="28" name="Picture 27" descr="latex-image-1.pdf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943345" y="4596258"/>
            <a:ext cx="279400" cy="190500"/>
          </a:xfrm>
          <a:prstGeom prst="rect">
            <a:avLst/>
          </a:prstGeom>
        </p:spPr>
      </p:pic>
      <p:pic>
        <p:nvPicPr>
          <p:cNvPr id="29" name="Picture 28" descr="latex-image-1.pdf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64555" y="5395753"/>
            <a:ext cx="355600" cy="190500"/>
          </a:xfrm>
          <a:prstGeom prst="rect">
            <a:avLst/>
          </a:prstGeom>
        </p:spPr>
      </p:pic>
      <p:cxnSp>
        <p:nvCxnSpPr>
          <p:cNvPr id="30" name="Straight Arrow Connector 29"/>
          <p:cNvCxnSpPr>
            <a:stCxn id="6" idx="6"/>
            <a:endCxn id="15" idx="2"/>
          </p:cNvCxnSpPr>
          <p:nvPr/>
        </p:nvCxnSpPr>
        <p:spPr>
          <a:xfrm>
            <a:off x="3089982" y="3335313"/>
            <a:ext cx="1913215" cy="158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6" idx="6"/>
            <a:endCxn id="18" idx="1"/>
          </p:cNvCxnSpPr>
          <p:nvPr/>
        </p:nvCxnSpPr>
        <p:spPr>
          <a:xfrm>
            <a:off x="3089982" y="3335313"/>
            <a:ext cx="1999241" cy="817810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6" idx="6"/>
            <a:endCxn id="21" idx="1"/>
          </p:cNvCxnSpPr>
          <p:nvPr/>
        </p:nvCxnSpPr>
        <p:spPr>
          <a:xfrm>
            <a:off x="3089982" y="3335313"/>
            <a:ext cx="1999241" cy="1851166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9" idx="6"/>
            <a:endCxn id="15" idx="2"/>
          </p:cNvCxnSpPr>
          <p:nvPr/>
        </p:nvCxnSpPr>
        <p:spPr>
          <a:xfrm flipV="1">
            <a:off x="3089982" y="3335313"/>
            <a:ext cx="1913215" cy="1025496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9" idx="6"/>
            <a:endCxn id="18" idx="2"/>
          </p:cNvCxnSpPr>
          <p:nvPr/>
        </p:nvCxnSpPr>
        <p:spPr>
          <a:xfrm>
            <a:off x="3089982" y="4360809"/>
            <a:ext cx="1913215" cy="158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9" idx="6"/>
            <a:endCxn id="21" idx="2"/>
          </p:cNvCxnSpPr>
          <p:nvPr/>
        </p:nvCxnSpPr>
        <p:spPr>
          <a:xfrm>
            <a:off x="3089982" y="4360809"/>
            <a:ext cx="1913215" cy="1033356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2" idx="6"/>
          </p:cNvCxnSpPr>
          <p:nvPr/>
        </p:nvCxnSpPr>
        <p:spPr>
          <a:xfrm>
            <a:off x="3089982" y="5394165"/>
            <a:ext cx="1913215" cy="158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12" idx="6"/>
            <a:endCxn id="18" idx="3"/>
          </p:cNvCxnSpPr>
          <p:nvPr/>
        </p:nvCxnSpPr>
        <p:spPr>
          <a:xfrm flipV="1">
            <a:off x="3089982" y="4568495"/>
            <a:ext cx="1999241" cy="825670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12" idx="6"/>
            <a:endCxn id="15" idx="3"/>
          </p:cNvCxnSpPr>
          <p:nvPr/>
        </p:nvCxnSpPr>
        <p:spPr>
          <a:xfrm flipV="1">
            <a:off x="3089982" y="3542999"/>
            <a:ext cx="1999241" cy="1851166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26" idx="3"/>
            <a:endCxn id="6" idx="2"/>
          </p:cNvCxnSpPr>
          <p:nvPr/>
        </p:nvCxnSpPr>
        <p:spPr>
          <a:xfrm>
            <a:off x="1247775" y="3257209"/>
            <a:ext cx="1254783" cy="78104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26" idx="3"/>
            <a:endCxn id="9" idx="1"/>
          </p:cNvCxnSpPr>
          <p:nvPr/>
        </p:nvCxnSpPr>
        <p:spPr>
          <a:xfrm>
            <a:off x="1247775" y="3257209"/>
            <a:ext cx="1340809" cy="895914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26" idx="3"/>
            <a:endCxn id="12" idx="1"/>
          </p:cNvCxnSpPr>
          <p:nvPr/>
        </p:nvCxnSpPr>
        <p:spPr>
          <a:xfrm>
            <a:off x="1247775" y="3257209"/>
            <a:ext cx="1340809" cy="1929270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27" idx="3"/>
            <a:endCxn id="6" idx="2"/>
          </p:cNvCxnSpPr>
          <p:nvPr/>
        </p:nvCxnSpPr>
        <p:spPr>
          <a:xfrm flipV="1">
            <a:off x="1241425" y="3335313"/>
            <a:ext cx="1261133" cy="62515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27" idx="3"/>
            <a:endCxn id="9" idx="2"/>
          </p:cNvCxnSpPr>
          <p:nvPr/>
        </p:nvCxnSpPr>
        <p:spPr>
          <a:xfrm>
            <a:off x="1241425" y="3960471"/>
            <a:ext cx="1261133" cy="40033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27" idx="3"/>
            <a:endCxn id="12" idx="2"/>
          </p:cNvCxnSpPr>
          <p:nvPr/>
        </p:nvCxnSpPr>
        <p:spPr>
          <a:xfrm>
            <a:off x="1241425" y="3960471"/>
            <a:ext cx="1261133" cy="1433694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28" idx="3"/>
            <a:endCxn id="6" idx="3"/>
          </p:cNvCxnSpPr>
          <p:nvPr/>
        </p:nvCxnSpPr>
        <p:spPr>
          <a:xfrm flipV="1">
            <a:off x="1222745" y="3542999"/>
            <a:ext cx="1365839" cy="1148509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8" idx="3"/>
            <a:endCxn id="9" idx="2"/>
          </p:cNvCxnSpPr>
          <p:nvPr/>
        </p:nvCxnSpPr>
        <p:spPr>
          <a:xfrm flipV="1">
            <a:off x="1222745" y="4360809"/>
            <a:ext cx="1279813" cy="330699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29" idx="3"/>
            <a:endCxn id="12" idx="2"/>
          </p:cNvCxnSpPr>
          <p:nvPr/>
        </p:nvCxnSpPr>
        <p:spPr>
          <a:xfrm flipV="1">
            <a:off x="1220155" y="5394165"/>
            <a:ext cx="1282403" cy="9683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29" idx="3"/>
            <a:endCxn id="9" idx="3"/>
          </p:cNvCxnSpPr>
          <p:nvPr/>
        </p:nvCxnSpPr>
        <p:spPr>
          <a:xfrm flipV="1">
            <a:off x="1220155" y="4568495"/>
            <a:ext cx="1368429" cy="92250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28" idx="3"/>
            <a:endCxn id="12" idx="2"/>
          </p:cNvCxnSpPr>
          <p:nvPr/>
        </p:nvCxnSpPr>
        <p:spPr>
          <a:xfrm>
            <a:off x="1222745" y="4691508"/>
            <a:ext cx="1279813" cy="702657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29" idx="3"/>
            <a:endCxn id="6" idx="3"/>
          </p:cNvCxnSpPr>
          <p:nvPr/>
        </p:nvCxnSpPr>
        <p:spPr>
          <a:xfrm flipV="1">
            <a:off x="1220155" y="3542999"/>
            <a:ext cx="1368429" cy="1948004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endCxn id="24" idx="3"/>
          </p:cNvCxnSpPr>
          <p:nvPr/>
        </p:nvCxnSpPr>
        <p:spPr>
          <a:xfrm flipV="1">
            <a:off x="5590621" y="4568495"/>
            <a:ext cx="1774456" cy="8256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18" idx="6"/>
            <a:endCxn id="24" idx="2"/>
          </p:cNvCxnSpPr>
          <p:nvPr/>
        </p:nvCxnSpPr>
        <p:spPr>
          <a:xfrm>
            <a:off x="5590621" y="4360809"/>
            <a:ext cx="168843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15" idx="6"/>
            <a:endCxn id="24" idx="1"/>
          </p:cNvCxnSpPr>
          <p:nvPr/>
        </p:nvCxnSpPr>
        <p:spPr>
          <a:xfrm>
            <a:off x="5590621" y="3335313"/>
            <a:ext cx="1774456" cy="8178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24" idx="6"/>
          </p:cNvCxnSpPr>
          <p:nvPr/>
        </p:nvCxnSpPr>
        <p:spPr>
          <a:xfrm>
            <a:off x="7866475" y="4360809"/>
            <a:ext cx="302800" cy="397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0" name="Picture 59" descr="latex-image-1.pdf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071688" y="3008313"/>
            <a:ext cx="444500" cy="393700"/>
          </a:xfrm>
          <a:prstGeom prst="rect">
            <a:avLst/>
          </a:prstGeom>
        </p:spPr>
      </p:pic>
      <p:pic>
        <p:nvPicPr>
          <p:cNvPr id="61" name="Picture 60" descr="latex-image-1.pdf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157413" y="3835400"/>
            <a:ext cx="444500" cy="393700"/>
          </a:xfrm>
          <a:prstGeom prst="rect">
            <a:avLst/>
          </a:prstGeom>
        </p:spPr>
      </p:pic>
      <p:pic>
        <p:nvPicPr>
          <p:cNvPr id="62" name="Picture 61" descr="latex-image-1.pdf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2022475" y="4883150"/>
            <a:ext cx="444500" cy="393700"/>
          </a:xfrm>
          <a:prstGeom prst="rect">
            <a:avLst/>
          </a:prstGeom>
        </p:spPr>
      </p:pic>
      <p:pic>
        <p:nvPicPr>
          <p:cNvPr id="63" name="Picture 62" descr="latex-image-1.pdf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4513263" y="4945063"/>
            <a:ext cx="444500" cy="393700"/>
          </a:xfrm>
          <a:prstGeom prst="rect">
            <a:avLst/>
          </a:prstGeom>
        </p:spPr>
      </p:pic>
      <p:pic>
        <p:nvPicPr>
          <p:cNvPr id="64" name="Picture 63" descr="latex-image-1.pdf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4500563" y="4117975"/>
            <a:ext cx="444500" cy="393700"/>
          </a:xfrm>
          <a:prstGeom prst="rect">
            <a:avLst/>
          </a:prstGeom>
        </p:spPr>
      </p:pic>
      <p:pic>
        <p:nvPicPr>
          <p:cNvPr id="65" name="Picture 64" descr="latex-image-1.pdf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4537075" y="2971800"/>
            <a:ext cx="444500" cy="393700"/>
          </a:xfrm>
          <a:prstGeom prst="rect">
            <a:avLst/>
          </a:prstGeom>
        </p:spPr>
      </p:pic>
      <p:pic>
        <p:nvPicPr>
          <p:cNvPr id="66" name="Picture 65" descr="latex-image-1.pdf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683375" y="3527425"/>
            <a:ext cx="444500" cy="317500"/>
          </a:xfrm>
          <a:prstGeom prst="rect">
            <a:avLst/>
          </a:prstGeom>
        </p:spPr>
      </p:pic>
      <p:pic>
        <p:nvPicPr>
          <p:cNvPr id="67" name="Picture 66" descr="latex-image-1.pdf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6608763" y="4033838"/>
            <a:ext cx="444500" cy="317500"/>
          </a:xfrm>
          <a:prstGeom prst="rect">
            <a:avLst/>
          </a:prstGeom>
        </p:spPr>
      </p:pic>
      <p:pic>
        <p:nvPicPr>
          <p:cNvPr id="68" name="Picture 67" descr="latex-image-1.pdf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6534150" y="4476750"/>
            <a:ext cx="444500" cy="317500"/>
          </a:xfrm>
          <a:prstGeom prst="rect">
            <a:avLst/>
          </a:prstGeom>
        </p:spPr>
      </p:pic>
      <p:sp>
        <p:nvSpPr>
          <p:cNvPr id="70" name="Content Placeholder 5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Predictions are fed forward through the network to classify</a:t>
            </a:r>
          </a:p>
          <a:p>
            <a:endParaRPr lang="en-US" dirty="0"/>
          </a:p>
        </p:txBody>
      </p:sp>
      <p:sp>
        <p:nvSpPr>
          <p:cNvPr id="71" name="TextBox 70"/>
          <p:cNvSpPr txBox="1"/>
          <p:nvPr/>
        </p:nvSpPr>
        <p:spPr>
          <a:xfrm>
            <a:off x="0" y="6604084"/>
            <a:ext cx="6190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000000"/>
                </a:solidFill>
              </a:rPr>
              <a:t>HKUST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FBE619E-97E5-A04F-898A-A412A197A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74107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Feed-forward networks</a:t>
            </a:r>
          </a:p>
        </p:txBody>
      </p:sp>
      <p:sp>
        <p:nvSpPr>
          <p:cNvPr id="6" name="Oval 5"/>
          <p:cNvSpPr/>
          <p:nvPr/>
        </p:nvSpPr>
        <p:spPr>
          <a:xfrm>
            <a:off x="2502558" y="3041601"/>
            <a:ext cx="587424" cy="587424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7" name="Curved Connector 6"/>
          <p:cNvCxnSpPr/>
          <p:nvPr/>
        </p:nvCxnSpPr>
        <p:spPr>
          <a:xfrm flipV="1">
            <a:off x="2591458" y="3194001"/>
            <a:ext cx="411480" cy="301752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502558" y="4067097"/>
            <a:ext cx="587424" cy="587424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0" name="Curved Connector 9"/>
          <p:cNvCxnSpPr/>
          <p:nvPr/>
        </p:nvCxnSpPr>
        <p:spPr>
          <a:xfrm flipV="1">
            <a:off x="2591458" y="4219497"/>
            <a:ext cx="411480" cy="301752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502558" y="5100453"/>
            <a:ext cx="587424" cy="587424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3" name="Curved Connector 12"/>
          <p:cNvCxnSpPr/>
          <p:nvPr/>
        </p:nvCxnSpPr>
        <p:spPr>
          <a:xfrm flipV="1">
            <a:off x="2591458" y="5252853"/>
            <a:ext cx="411480" cy="301752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003197" y="3041601"/>
            <a:ext cx="587424" cy="587424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Curved Connector 15"/>
          <p:cNvCxnSpPr/>
          <p:nvPr/>
        </p:nvCxnSpPr>
        <p:spPr>
          <a:xfrm flipV="1">
            <a:off x="5092097" y="3194001"/>
            <a:ext cx="411480" cy="301752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003197" y="4067097"/>
            <a:ext cx="587424" cy="587424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9" name="Curved Connector 18"/>
          <p:cNvCxnSpPr/>
          <p:nvPr/>
        </p:nvCxnSpPr>
        <p:spPr>
          <a:xfrm flipV="1">
            <a:off x="5092097" y="4219497"/>
            <a:ext cx="411480" cy="301752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5003197" y="5100453"/>
            <a:ext cx="587424" cy="587424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22" name="Curved Connector 21"/>
          <p:cNvCxnSpPr/>
          <p:nvPr/>
        </p:nvCxnSpPr>
        <p:spPr>
          <a:xfrm flipV="1">
            <a:off x="5092097" y="5252853"/>
            <a:ext cx="411480" cy="301752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" name="Group 22"/>
          <p:cNvGrpSpPr/>
          <p:nvPr/>
        </p:nvGrpSpPr>
        <p:grpSpPr>
          <a:xfrm>
            <a:off x="7279051" y="4067097"/>
            <a:ext cx="587424" cy="587424"/>
            <a:chOff x="5401994" y="3071949"/>
            <a:chExt cx="587424" cy="587424"/>
          </a:xfrm>
        </p:grpSpPr>
        <p:sp>
          <p:nvSpPr>
            <p:cNvPr id="24" name="Oval 23"/>
            <p:cNvSpPr/>
            <p:nvPr/>
          </p:nvSpPr>
          <p:spPr>
            <a:xfrm>
              <a:off x="5401994" y="3071949"/>
              <a:ext cx="587424" cy="58742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cxnSp>
          <p:nvCxnSpPr>
            <p:cNvPr id="25" name="Curved Connector 24"/>
            <p:cNvCxnSpPr/>
            <p:nvPr/>
          </p:nvCxnSpPr>
          <p:spPr>
            <a:xfrm flipV="1">
              <a:off x="5490894" y="3224349"/>
              <a:ext cx="411480" cy="301752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6" name="Picture 25" descr="latex-image-1.pd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68375" y="3161959"/>
            <a:ext cx="279400" cy="190500"/>
          </a:xfrm>
          <a:prstGeom prst="rect">
            <a:avLst/>
          </a:prstGeom>
        </p:spPr>
      </p:pic>
      <p:pic>
        <p:nvPicPr>
          <p:cNvPr id="27" name="Picture 26" descr="latex-image-1.pd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74725" y="3865221"/>
            <a:ext cx="266700" cy="190500"/>
          </a:xfrm>
          <a:prstGeom prst="rect">
            <a:avLst/>
          </a:prstGeom>
        </p:spPr>
      </p:pic>
      <p:pic>
        <p:nvPicPr>
          <p:cNvPr id="28" name="Picture 27" descr="latex-image-1.pdf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943345" y="4596258"/>
            <a:ext cx="279400" cy="190500"/>
          </a:xfrm>
          <a:prstGeom prst="rect">
            <a:avLst/>
          </a:prstGeom>
        </p:spPr>
      </p:pic>
      <p:pic>
        <p:nvPicPr>
          <p:cNvPr id="29" name="Picture 28" descr="latex-image-1.pdf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64555" y="5395753"/>
            <a:ext cx="355600" cy="190500"/>
          </a:xfrm>
          <a:prstGeom prst="rect">
            <a:avLst/>
          </a:prstGeom>
        </p:spPr>
      </p:pic>
      <p:cxnSp>
        <p:nvCxnSpPr>
          <p:cNvPr id="30" name="Straight Arrow Connector 29"/>
          <p:cNvCxnSpPr>
            <a:stCxn id="6" idx="6"/>
            <a:endCxn id="15" idx="2"/>
          </p:cNvCxnSpPr>
          <p:nvPr/>
        </p:nvCxnSpPr>
        <p:spPr>
          <a:xfrm>
            <a:off x="3089982" y="3335313"/>
            <a:ext cx="1913215" cy="158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6" idx="6"/>
            <a:endCxn id="18" idx="1"/>
          </p:cNvCxnSpPr>
          <p:nvPr/>
        </p:nvCxnSpPr>
        <p:spPr>
          <a:xfrm>
            <a:off x="3089982" y="3335313"/>
            <a:ext cx="1999241" cy="817810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6" idx="6"/>
            <a:endCxn id="21" idx="1"/>
          </p:cNvCxnSpPr>
          <p:nvPr/>
        </p:nvCxnSpPr>
        <p:spPr>
          <a:xfrm>
            <a:off x="3089982" y="3335313"/>
            <a:ext cx="1999241" cy="1851166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9" idx="6"/>
            <a:endCxn id="15" idx="2"/>
          </p:cNvCxnSpPr>
          <p:nvPr/>
        </p:nvCxnSpPr>
        <p:spPr>
          <a:xfrm flipV="1">
            <a:off x="3089982" y="3335313"/>
            <a:ext cx="1913215" cy="1025496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9" idx="6"/>
            <a:endCxn id="18" idx="2"/>
          </p:cNvCxnSpPr>
          <p:nvPr/>
        </p:nvCxnSpPr>
        <p:spPr>
          <a:xfrm>
            <a:off x="3089982" y="4360809"/>
            <a:ext cx="1913215" cy="158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9" idx="6"/>
            <a:endCxn id="21" idx="2"/>
          </p:cNvCxnSpPr>
          <p:nvPr/>
        </p:nvCxnSpPr>
        <p:spPr>
          <a:xfrm>
            <a:off x="3089982" y="4360809"/>
            <a:ext cx="1913215" cy="1033356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2" idx="6"/>
          </p:cNvCxnSpPr>
          <p:nvPr/>
        </p:nvCxnSpPr>
        <p:spPr>
          <a:xfrm>
            <a:off x="3089982" y="5394165"/>
            <a:ext cx="1913215" cy="158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12" idx="6"/>
            <a:endCxn id="18" idx="3"/>
          </p:cNvCxnSpPr>
          <p:nvPr/>
        </p:nvCxnSpPr>
        <p:spPr>
          <a:xfrm flipV="1">
            <a:off x="3089982" y="4568495"/>
            <a:ext cx="1999241" cy="825670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12" idx="6"/>
            <a:endCxn id="15" idx="3"/>
          </p:cNvCxnSpPr>
          <p:nvPr/>
        </p:nvCxnSpPr>
        <p:spPr>
          <a:xfrm flipV="1">
            <a:off x="3089982" y="3542999"/>
            <a:ext cx="1999241" cy="1851166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26" idx="3"/>
            <a:endCxn id="6" idx="2"/>
          </p:cNvCxnSpPr>
          <p:nvPr/>
        </p:nvCxnSpPr>
        <p:spPr>
          <a:xfrm>
            <a:off x="1247775" y="3257209"/>
            <a:ext cx="1254783" cy="78104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26" idx="3"/>
            <a:endCxn id="9" idx="1"/>
          </p:cNvCxnSpPr>
          <p:nvPr/>
        </p:nvCxnSpPr>
        <p:spPr>
          <a:xfrm>
            <a:off x="1247775" y="3257209"/>
            <a:ext cx="1340809" cy="895914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26" idx="3"/>
            <a:endCxn id="12" idx="1"/>
          </p:cNvCxnSpPr>
          <p:nvPr/>
        </p:nvCxnSpPr>
        <p:spPr>
          <a:xfrm>
            <a:off x="1247775" y="3257209"/>
            <a:ext cx="1340809" cy="1929270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27" idx="3"/>
            <a:endCxn id="6" idx="2"/>
          </p:cNvCxnSpPr>
          <p:nvPr/>
        </p:nvCxnSpPr>
        <p:spPr>
          <a:xfrm flipV="1">
            <a:off x="1241425" y="3335313"/>
            <a:ext cx="1261133" cy="62515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27" idx="3"/>
            <a:endCxn id="9" idx="2"/>
          </p:cNvCxnSpPr>
          <p:nvPr/>
        </p:nvCxnSpPr>
        <p:spPr>
          <a:xfrm>
            <a:off x="1241425" y="3960471"/>
            <a:ext cx="1261133" cy="40033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27" idx="3"/>
            <a:endCxn id="12" idx="2"/>
          </p:cNvCxnSpPr>
          <p:nvPr/>
        </p:nvCxnSpPr>
        <p:spPr>
          <a:xfrm>
            <a:off x="1241425" y="3960471"/>
            <a:ext cx="1261133" cy="1433694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28" idx="3"/>
            <a:endCxn id="6" idx="3"/>
          </p:cNvCxnSpPr>
          <p:nvPr/>
        </p:nvCxnSpPr>
        <p:spPr>
          <a:xfrm flipV="1">
            <a:off x="1222745" y="3542999"/>
            <a:ext cx="1365839" cy="1148509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8" idx="3"/>
            <a:endCxn id="9" idx="2"/>
          </p:cNvCxnSpPr>
          <p:nvPr/>
        </p:nvCxnSpPr>
        <p:spPr>
          <a:xfrm flipV="1">
            <a:off x="1222745" y="4360809"/>
            <a:ext cx="1279813" cy="330699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29" idx="3"/>
            <a:endCxn id="12" idx="2"/>
          </p:cNvCxnSpPr>
          <p:nvPr/>
        </p:nvCxnSpPr>
        <p:spPr>
          <a:xfrm flipV="1">
            <a:off x="1220155" y="5394165"/>
            <a:ext cx="1282403" cy="9683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29" idx="3"/>
            <a:endCxn id="9" idx="3"/>
          </p:cNvCxnSpPr>
          <p:nvPr/>
        </p:nvCxnSpPr>
        <p:spPr>
          <a:xfrm flipV="1">
            <a:off x="1220155" y="4568495"/>
            <a:ext cx="1368429" cy="92250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28" idx="3"/>
            <a:endCxn id="12" idx="2"/>
          </p:cNvCxnSpPr>
          <p:nvPr/>
        </p:nvCxnSpPr>
        <p:spPr>
          <a:xfrm>
            <a:off x="1222745" y="4691508"/>
            <a:ext cx="1279813" cy="702657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29" idx="3"/>
            <a:endCxn id="6" idx="3"/>
          </p:cNvCxnSpPr>
          <p:nvPr/>
        </p:nvCxnSpPr>
        <p:spPr>
          <a:xfrm flipV="1">
            <a:off x="1220155" y="3542999"/>
            <a:ext cx="1368429" cy="1948004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endCxn id="24" idx="3"/>
          </p:cNvCxnSpPr>
          <p:nvPr/>
        </p:nvCxnSpPr>
        <p:spPr>
          <a:xfrm flipV="1">
            <a:off x="5590621" y="4568495"/>
            <a:ext cx="1774456" cy="8256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18" idx="6"/>
            <a:endCxn id="24" idx="2"/>
          </p:cNvCxnSpPr>
          <p:nvPr/>
        </p:nvCxnSpPr>
        <p:spPr>
          <a:xfrm>
            <a:off x="5590621" y="4360809"/>
            <a:ext cx="168843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15" idx="6"/>
            <a:endCxn id="24" idx="1"/>
          </p:cNvCxnSpPr>
          <p:nvPr/>
        </p:nvCxnSpPr>
        <p:spPr>
          <a:xfrm>
            <a:off x="5590621" y="3335313"/>
            <a:ext cx="1774456" cy="8178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24" idx="6"/>
          </p:cNvCxnSpPr>
          <p:nvPr/>
        </p:nvCxnSpPr>
        <p:spPr>
          <a:xfrm>
            <a:off x="7866475" y="4360809"/>
            <a:ext cx="302800" cy="397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0" name="Picture 59" descr="latex-image-1.pdf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071688" y="3008313"/>
            <a:ext cx="444500" cy="393700"/>
          </a:xfrm>
          <a:prstGeom prst="rect">
            <a:avLst/>
          </a:prstGeom>
        </p:spPr>
      </p:pic>
      <p:pic>
        <p:nvPicPr>
          <p:cNvPr id="61" name="Picture 60" descr="latex-image-1.pdf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157413" y="3835400"/>
            <a:ext cx="444500" cy="393700"/>
          </a:xfrm>
          <a:prstGeom prst="rect">
            <a:avLst/>
          </a:prstGeom>
        </p:spPr>
      </p:pic>
      <p:pic>
        <p:nvPicPr>
          <p:cNvPr id="62" name="Picture 61" descr="latex-image-1.pdf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2022475" y="4883150"/>
            <a:ext cx="444500" cy="393700"/>
          </a:xfrm>
          <a:prstGeom prst="rect">
            <a:avLst/>
          </a:prstGeom>
        </p:spPr>
      </p:pic>
      <p:pic>
        <p:nvPicPr>
          <p:cNvPr id="63" name="Picture 62" descr="latex-image-1.pdf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4513263" y="4945063"/>
            <a:ext cx="444500" cy="393700"/>
          </a:xfrm>
          <a:prstGeom prst="rect">
            <a:avLst/>
          </a:prstGeom>
        </p:spPr>
      </p:pic>
      <p:pic>
        <p:nvPicPr>
          <p:cNvPr id="64" name="Picture 63" descr="latex-image-1.pdf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4500563" y="4117975"/>
            <a:ext cx="444500" cy="393700"/>
          </a:xfrm>
          <a:prstGeom prst="rect">
            <a:avLst/>
          </a:prstGeom>
        </p:spPr>
      </p:pic>
      <p:pic>
        <p:nvPicPr>
          <p:cNvPr id="65" name="Picture 64" descr="latex-image-1.pdf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4537075" y="2971800"/>
            <a:ext cx="444500" cy="393700"/>
          </a:xfrm>
          <a:prstGeom prst="rect">
            <a:avLst/>
          </a:prstGeom>
        </p:spPr>
      </p:pic>
      <p:pic>
        <p:nvPicPr>
          <p:cNvPr id="66" name="Picture 65" descr="latex-image-1.pdf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683375" y="3527425"/>
            <a:ext cx="444500" cy="317500"/>
          </a:xfrm>
          <a:prstGeom prst="rect">
            <a:avLst/>
          </a:prstGeom>
        </p:spPr>
      </p:pic>
      <p:pic>
        <p:nvPicPr>
          <p:cNvPr id="67" name="Picture 66" descr="latex-image-1.pdf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6608763" y="4033838"/>
            <a:ext cx="444500" cy="317500"/>
          </a:xfrm>
          <a:prstGeom prst="rect">
            <a:avLst/>
          </a:prstGeom>
        </p:spPr>
      </p:pic>
      <p:pic>
        <p:nvPicPr>
          <p:cNvPr id="68" name="Picture 67" descr="latex-image-1.pdf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6534150" y="4476750"/>
            <a:ext cx="444500" cy="317500"/>
          </a:xfrm>
          <a:prstGeom prst="rect">
            <a:avLst/>
          </a:prstGeom>
        </p:spPr>
      </p:pic>
      <p:sp>
        <p:nvSpPr>
          <p:cNvPr id="69" name="Content Placeholder 5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Predictions are fed forward through the network to classify</a:t>
            </a:r>
          </a:p>
          <a:p>
            <a:endParaRPr lang="en-US" dirty="0"/>
          </a:p>
        </p:txBody>
      </p:sp>
      <p:sp>
        <p:nvSpPr>
          <p:cNvPr id="70" name="TextBox 69"/>
          <p:cNvSpPr txBox="1"/>
          <p:nvPr/>
        </p:nvSpPr>
        <p:spPr>
          <a:xfrm>
            <a:off x="0" y="6604084"/>
            <a:ext cx="6190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000000"/>
                </a:solidFill>
              </a:rPr>
              <a:t>HKUST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47C98C6-90EF-D443-BAD4-8F695926B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45819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Feed-forward networks</a:t>
            </a:r>
          </a:p>
        </p:txBody>
      </p:sp>
      <p:sp>
        <p:nvSpPr>
          <p:cNvPr id="6" name="Oval 5"/>
          <p:cNvSpPr/>
          <p:nvPr/>
        </p:nvSpPr>
        <p:spPr>
          <a:xfrm>
            <a:off x="2502558" y="3041601"/>
            <a:ext cx="587424" cy="587424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7" name="Curved Connector 6"/>
          <p:cNvCxnSpPr/>
          <p:nvPr/>
        </p:nvCxnSpPr>
        <p:spPr>
          <a:xfrm flipV="1">
            <a:off x="2591458" y="3194001"/>
            <a:ext cx="411480" cy="301752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502558" y="4067097"/>
            <a:ext cx="587424" cy="587424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0" name="Curved Connector 9"/>
          <p:cNvCxnSpPr/>
          <p:nvPr/>
        </p:nvCxnSpPr>
        <p:spPr>
          <a:xfrm flipV="1">
            <a:off x="2591458" y="4219497"/>
            <a:ext cx="411480" cy="301752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502558" y="5100453"/>
            <a:ext cx="587424" cy="587424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3" name="Curved Connector 12"/>
          <p:cNvCxnSpPr/>
          <p:nvPr/>
        </p:nvCxnSpPr>
        <p:spPr>
          <a:xfrm flipV="1">
            <a:off x="2591458" y="5252853"/>
            <a:ext cx="411480" cy="301752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003197" y="3041601"/>
            <a:ext cx="587424" cy="587424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Curved Connector 15"/>
          <p:cNvCxnSpPr/>
          <p:nvPr/>
        </p:nvCxnSpPr>
        <p:spPr>
          <a:xfrm flipV="1">
            <a:off x="5092097" y="3194001"/>
            <a:ext cx="411480" cy="301752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003197" y="4067097"/>
            <a:ext cx="587424" cy="587424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9" name="Curved Connector 18"/>
          <p:cNvCxnSpPr/>
          <p:nvPr/>
        </p:nvCxnSpPr>
        <p:spPr>
          <a:xfrm flipV="1">
            <a:off x="5092097" y="4219497"/>
            <a:ext cx="411480" cy="301752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5003197" y="5100453"/>
            <a:ext cx="587424" cy="587424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22" name="Curved Connector 21"/>
          <p:cNvCxnSpPr/>
          <p:nvPr/>
        </p:nvCxnSpPr>
        <p:spPr>
          <a:xfrm flipV="1">
            <a:off x="5092097" y="5252853"/>
            <a:ext cx="411480" cy="301752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" name="Group 22"/>
          <p:cNvGrpSpPr/>
          <p:nvPr/>
        </p:nvGrpSpPr>
        <p:grpSpPr>
          <a:xfrm>
            <a:off x="7279051" y="4067097"/>
            <a:ext cx="587424" cy="587424"/>
            <a:chOff x="5401994" y="3071949"/>
            <a:chExt cx="587424" cy="587424"/>
          </a:xfrm>
        </p:grpSpPr>
        <p:sp>
          <p:nvSpPr>
            <p:cNvPr id="24" name="Oval 23"/>
            <p:cNvSpPr/>
            <p:nvPr/>
          </p:nvSpPr>
          <p:spPr>
            <a:xfrm>
              <a:off x="5401994" y="3071949"/>
              <a:ext cx="587424" cy="58742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cxnSp>
          <p:nvCxnSpPr>
            <p:cNvPr id="25" name="Curved Connector 24"/>
            <p:cNvCxnSpPr/>
            <p:nvPr/>
          </p:nvCxnSpPr>
          <p:spPr>
            <a:xfrm flipV="1">
              <a:off x="5490894" y="3224349"/>
              <a:ext cx="411480" cy="301752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6" name="Picture 25" descr="latex-image-1.pd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68375" y="3161959"/>
            <a:ext cx="279400" cy="190500"/>
          </a:xfrm>
          <a:prstGeom prst="rect">
            <a:avLst/>
          </a:prstGeom>
        </p:spPr>
      </p:pic>
      <p:pic>
        <p:nvPicPr>
          <p:cNvPr id="27" name="Picture 26" descr="latex-image-1.pd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74725" y="3865221"/>
            <a:ext cx="266700" cy="190500"/>
          </a:xfrm>
          <a:prstGeom prst="rect">
            <a:avLst/>
          </a:prstGeom>
        </p:spPr>
      </p:pic>
      <p:pic>
        <p:nvPicPr>
          <p:cNvPr id="28" name="Picture 27" descr="latex-image-1.pdf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943345" y="4596258"/>
            <a:ext cx="279400" cy="190500"/>
          </a:xfrm>
          <a:prstGeom prst="rect">
            <a:avLst/>
          </a:prstGeom>
        </p:spPr>
      </p:pic>
      <p:pic>
        <p:nvPicPr>
          <p:cNvPr id="29" name="Picture 28" descr="latex-image-1.pdf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64555" y="5395753"/>
            <a:ext cx="355600" cy="190500"/>
          </a:xfrm>
          <a:prstGeom prst="rect">
            <a:avLst/>
          </a:prstGeom>
        </p:spPr>
      </p:pic>
      <p:cxnSp>
        <p:nvCxnSpPr>
          <p:cNvPr id="30" name="Straight Arrow Connector 29"/>
          <p:cNvCxnSpPr>
            <a:stCxn id="6" idx="6"/>
            <a:endCxn id="15" idx="2"/>
          </p:cNvCxnSpPr>
          <p:nvPr/>
        </p:nvCxnSpPr>
        <p:spPr>
          <a:xfrm>
            <a:off x="3089982" y="3335313"/>
            <a:ext cx="1913215" cy="158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6" idx="6"/>
            <a:endCxn id="18" idx="1"/>
          </p:cNvCxnSpPr>
          <p:nvPr/>
        </p:nvCxnSpPr>
        <p:spPr>
          <a:xfrm>
            <a:off x="3089982" y="3335313"/>
            <a:ext cx="1999241" cy="817810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6" idx="6"/>
            <a:endCxn id="21" idx="1"/>
          </p:cNvCxnSpPr>
          <p:nvPr/>
        </p:nvCxnSpPr>
        <p:spPr>
          <a:xfrm>
            <a:off x="3089982" y="3335313"/>
            <a:ext cx="1999241" cy="1851166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9" idx="6"/>
            <a:endCxn id="15" idx="2"/>
          </p:cNvCxnSpPr>
          <p:nvPr/>
        </p:nvCxnSpPr>
        <p:spPr>
          <a:xfrm flipV="1">
            <a:off x="3089982" y="3335313"/>
            <a:ext cx="1913215" cy="1025496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9" idx="6"/>
            <a:endCxn id="18" idx="2"/>
          </p:cNvCxnSpPr>
          <p:nvPr/>
        </p:nvCxnSpPr>
        <p:spPr>
          <a:xfrm>
            <a:off x="3089982" y="4360809"/>
            <a:ext cx="1913215" cy="158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2" idx="6"/>
          </p:cNvCxnSpPr>
          <p:nvPr/>
        </p:nvCxnSpPr>
        <p:spPr>
          <a:xfrm>
            <a:off x="3089982" y="5394165"/>
            <a:ext cx="1913215" cy="158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12" idx="6"/>
            <a:endCxn id="15" idx="3"/>
          </p:cNvCxnSpPr>
          <p:nvPr/>
        </p:nvCxnSpPr>
        <p:spPr>
          <a:xfrm flipV="1">
            <a:off x="3089982" y="3542999"/>
            <a:ext cx="1999241" cy="1851166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26" idx="3"/>
            <a:endCxn id="6" idx="2"/>
          </p:cNvCxnSpPr>
          <p:nvPr/>
        </p:nvCxnSpPr>
        <p:spPr>
          <a:xfrm>
            <a:off x="1247775" y="3257209"/>
            <a:ext cx="1254783" cy="78104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26" idx="3"/>
            <a:endCxn id="9" idx="1"/>
          </p:cNvCxnSpPr>
          <p:nvPr/>
        </p:nvCxnSpPr>
        <p:spPr>
          <a:xfrm>
            <a:off x="1247775" y="3257209"/>
            <a:ext cx="1340809" cy="895914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26" idx="3"/>
            <a:endCxn id="12" idx="1"/>
          </p:cNvCxnSpPr>
          <p:nvPr/>
        </p:nvCxnSpPr>
        <p:spPr>
          <a:xfrm>
            <a:off x="1247775" y="3257209"/>
            <a:ext cx="1340809" cy="1929270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27" idx="3"/>
            <a:endCxn id="6" idx="2"/>
          </p:cNvCxnSpPr>
          <p:nvPr/>
        </p:nvCxnSpPr>
        <p:spPr>
          <a:xfrm flipV="1">
            <a:off x="1241425" y="3335313"/>
            <a:ext cx="1261133" cy="62515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27" idx="3"/>
            <a:endCxn id="9" idx="2"/>
          </p:cNvCxnSpPr>
          <p:nvPr/>
        </p:nvCxnSpPr>
        <p:spPr>
          <a:xfrm>
            <a:off x="1241425" y="3960471"/>
            <a:ext cx="1261133" cy="40033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27" idx="3"/>
            <a:endCxn id="12" idx="2"/>
          </p:cNvCxnSpPr>
          <p:nvPr/>
        </p:nvCxnSpPr>
        <p:spPr>
          <a:xfrm>
            <a:off x="1241425" y="3960471"/>
            <a:ext cx="1261133" cy="1433694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28" idx="3"/>
            <a:endCxn id="6" idx="3"/>
          </p:cNvCxnSpPr>
          <p:nvPr/>
        </p:nvCxnSpPr>
        <p:spPr>
          <a:xfrm flipV="1">
            <a:off x="1222745" y="3542999"/>
            <a:ext cx="1365839" cy="1148509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8" idx="3"/>
            <a:endCxn id="9" idx="2"/>
          </p:cNvCxnSpPr>
          <p:nvPr/>
        </p:nvCxnSpPr>
        <p:spPr>
          <a:xfrm flipV="1">
            <a:off x="1222745" y="4360809"/>
            <a:ext cx="1279813" cy="330699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29" idx="3"/>
            <a:endCxn id="12" idx="2"/>
          </p:cNvCxnSpPr>
          <p:nvPr/>
        </p:nvCxnSpPr>
        <p:spPr>
          <a:xfrm flipV="1">
            <a:off x="1220155" y="5394165"/>
            <a:ext cx="1282403" cy="9683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29" idx="3"/>
            <a:endCxn id="9" idx="3"/>
          </p:cNvCxnSpPr>
          <p:nvPr/>
        </p:nvCxnSpPr>
        <p:spPr>
          <a:xfrm flipV="1">
            <a:off x="1220155" y="4568495"/>
            <a:ext cx="1368429" cy="92250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28" idx="3"/>
            <a:endCxn id="12" idx="2"/>
          </p:cNvCxnSpPr>
          <p:nvPr/>
        </p:nvCxnSpPr>
        <p:spPr>
          <a:xfrm>
            <a:off x="1222745" y="4691508"/>
            <a:ext cx="1279813" cy="702657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29" idx="3"/>
            <a:endCxn id="6" idx="3"/>
          </p:cNvCxnSpPr>
          <p:nvPr/>
        </p:nvCxnSpPr>
        <p:spPr>
          <a:xfrm flipV="1">
            <a:off x="1220155" y="3542999"/>
            <a:ext cx="1368429" cy="1948004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endCxn id="24" idx="3"/>
          </p:cNvCxnSpPr>
          <p:nvPr/>
        </p:nvCxnSpPr>
        <p:spPr>
          <a:xfrm flipV="1">
            <a:off x="5590621" y="4568495"/>
            <a:ext cx="1774456" cy="825670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18" idx="6"/>
            <a:endCxn id="24" idx="2"/>
          </p:cNvCxnSpPr>
          <p:nvPr/>
        </p:nvCxnSpPr>
        <p:spPr>
          <a:xfrm>
            <a:off x="5590621" y="4360809"/>
            <a:ext cx="1688430" cy="158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15" idx="6"/>
            <a:endCxn id="24" idx="1"/>
          </p:cNvCxnSpPr>
          <p:nvPr/>
        </p:nvCxnSpPr>
        <p:spPr>
          <a:xfrm>
            <a:off x="5590621" y="3335313"/>
            <a:ext cx="1774456" cy="817810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24" idx="6"/>
          </p:cNvCxnSpPr>
          <p:nvPr/>
        </p:nvCxnSpPr>
        <p:spPr>
          <a:xfrm>
            <a:off x="7866475" y="4360809"/>
            <a:ext cx="302800" cy="397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0" name="Picture 59" descr="latex-image-1.pdf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071688" y="3008313"/>
            <a:ext cx="444500" cy="393700"/>
          </a:xfrm>
          <a:prstGeom prst="rect">
            <a:avLst/>
          </a:prstGeom>
        </p:spPr>
      </p:pic>
      <p:pic>
        <p:nvPicPr>
          <p:cNvPr id="61" name="Picture 60" descr="latex-image-1.pdf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157413" y="3835400"/>
            <a:ext cx="444500" cy="393700"/>
          </a:xfrm>
          <a:prstGeom prst="rect">
            <a:avLst/>
          </a:prstGeom>
        </p:spPr>
      </p:pic>
      <p:pic>
        <p:nvPicPr>
          <p:cNvPr id="62" name="Picture 61" descr="latex-image-1.pdf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2022475" y="4883150"/>
            <a:ext cx="444500" cy="393700"/>
          </a:xfrm>
          <a:prstGeom prst="rect">
            <a:avLst/>
          </a:prstGeom>
        </p:spPr>
      </p:pic>
      <p:pic>
        <p:nvPicPr>
          <p:cNvPr id="63" name="Picture 62" descr="latex-image-1.pdf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4513263" y="4945063"/>
            <a:ext cx="444500" cy="393700"/>
          </a:xfrm>
          <a:prstGeom prst="rect">
            <a:avLst/>
          </a:prstGeom>
        </p:spPr>
      </p:pic>
      <p:pic>
        <p:nvPicPr>
          <p:cNvPr id="64" name="Picture 63" descr="latex-image-1.pdf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4500563" y="4117975"/>
            <a:ext cx="444500" cy="393700"/>
          </a:xfrm>
          <a:prstGeom prst="rect">
            <a:avLst/>
          </a:prstGeom>
        </p:spPr>
      </p:pic>
      <p:pic>
        <p:nvPicPr>
          <p:cNvPr id="65" name="Picture 64" descr="latex-image-1.pdf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4537075" y="2971800"/>
            <a:ext cx="444500" cy="393700"/>
          </a:xfrm>
          <a:prstGeom prst="rect">
            <a:avLst/>
          </a:prstGeom>
        </p:spPr>
      </p:pic>
      <p:pic>
        <p:nvPicPr>
          <p:cNvPr id="66" name="Picture 65" descr="latex-image-1.pdf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683375" y="3527425"/>
            <a:ext cx="444500" cy="317500"/>
          </a:xfrm>
          <a:prstGeom prst="rect">
            <a:avLst/>
          </a:prstGeom>
        </p:spPr>
      </p:pic>
      <p:pic>
        <p:nvPicPr>
          <p:cNvPr id="67" name="Picture 66" descr="latex-image-1.pdf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6608763" y="4033838"/>
            <a:ext cx="444500" cy="317500"/>
          </a:xfrm>
          <a:prstGeom prst="rect">
            <a:avLst/>
          </a:prstGeom>
        </p:spPr>
      </p:pic>
      <p:pic>
        <p:nvPicPr>
          <p:cNvPr id="68" name="Picture 67" descr="latex-image-1.pdf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6534150" y="4476750"/>
            <a:ext cx="444500" cy="317500"/>
          </a:xfrm>
          <a:prstGeom prst="rect">
            <a:avLst/>
          </a:prstGeom>
        </p:spPr>
      </p:pic>
      <p:cxnSp>
        <p:nvCxnSpPr>
          <p:cNvPr id="58" name="Straight Arrow Connector 57"/>
          <p:cNvCxnSpPr/>
          <p:nvPr/>
        </p:nvCxnSpPr>
        <p:spPr>
          <a:xfrm>
            <a:off x="3089982" y="4360809"/>
            <a:ext cx="1913215" cy="1033356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V="1">
            <a:off x="3089982" y="4568495"/>
            <a:ext cx="1999241" cy="825670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70" name="Content Placeholder 5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Predictions are fed forward through the network to classify</a:t>
            </a:r>
          </a:p>
          <a:p>
            <a:endParaRPr lang="en-US" dirty="0"/>
          </a:p>
        </p:txBody>
      </p:sp>
      <p:sp>
        <p:nvSpPr>
          <p:cNvPr id="71" name="TextBox 70"/>
          <p:cNvSpPr txBox="1"/>
          <p:nvPr/>
        </p:nvSpPr>
        <p:spPr>
          <a:xfrm>
            <a:off x="0" y="6604084"/>
            <a:ext cx="6190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000000"/>
                </a:solidFill>
              </a:rPr>
              <a:t>HKUST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A1F7076-B2C4-874F-8A5D-DDB338BE1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7781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Feed-forward networks</a:t>
            </a:r>
          </a:p>
        </p:txBody>
      </p:sp>
      <p:sp>
        <p:nvSpPr>
          <p:cNvPr id="6" name="Oval 5"/>
          <p:cNvSpPr/>
          <p:nvPr/>
        </p:nvSpPr>
        <p:spPr>
          <a:xfrm>
            <a:off x="2502558" y="3041601"/>
            <a:ext cx="587424" cy="587424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7" name="Curved Connector 6"/>
          <p:cNvCxnSpPr/>
          <p:nvPr/>
        </p:nvCxnSpPr>
        <p:spPr>
          <a:xfrm flipV="1">
            <a:off x="2591458" y="3194001"/>
            <a:ext cx="411480" cy="301752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502558" y="4067097"/>
            <a:ext cx="587424" cy="587424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0" name="Curved Connector 9"/>
          <p:cNvCxnSpPr/>
          <p:nvPr/>
        </p:nvCxnSpPr>
        <p:spPr>
          <a:xfrm flipV="1">
            <a:off x="2591458" y="4219497"/>
            <a:ext cx="411480" cy="301752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502558" y="5100453"/>
            <a:ext cx="587424" cy="587424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3" name="Curved Connector 12"/>
          <p:cNvCxnSpPr/>
          <p:nvPr/>
        </p:nvCxnSpPr>
        <p:spPr>
          <a:xfrm flipV="1">
            <a:off x="2591458" y="5252853"/>
            <a:ext cx="411480" cy="301752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003197" y="3041601"/>
            <a:ext cx="587424" cy="587424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Curved Connector 15"/>
          <p:cNvCxnSpPr/>
          <p:nvPr/>
        </p:nvCxnSpPr>
        <p:spPr>
          <a:xfrm flipV="1">
            <a:off x="5092097" y="3194001"/>
            <a:ext cx="411480" cy="301752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003197" y="4067097"/>
            <a:ext cx="587424" cy="587424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9" name="Curved Connector 18"/>
          <p:cNvCxnSpPr/>
          <p:nvPr/>
        </p:nvCxnSpPr>
        <p:spPr>
          <a:xfrm flipV="1">
            <a:off x="5092097" y="4219497"/>
            <a:ext cx="411480" cy="301752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5003197" y="5100453"/>
            <a:ext cx="587424" cy="587424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22" name="Curved Connector 21"/>
          <p:cNvCxnSpPr/>
          <p:nvPr/>
        </p:nvCxnSpPr>
        <p:spPr>
          <a:xfrm flipV="1">
            <a:off x="5092097" y="5252853"/>
            <a:ext cx="411480" cy="301752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279051" y="4067097"/>
            <a:ext cx="587424" cy="587424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25" name="Curved Connector 24"/>
          <p:cNvCxnSpPr/>
          <p:nvPr/>
        </p:nvCxnSpPr>
        <p:spPr>
          <a:xfrm flipV="1">
            <a:off x="7367951" y="4219497"/>
            <a:ext cx="411480" cy="301752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6" name="Picture 25" descr="latex-image-1.pd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68375" y="3161959"/>
            <a:ext cx="279400" cy="190500"/>
          </a:xfrm>
          <a:prstGeom prst="rect">
            <a:avLst/>
          </a:prstGeom>
        </p:spPr>
      </p:pic>
      <p:pic>
        <p:nvPicPr>
          <p:cNvPr id="27" name="Picture 26" descr="latex-image-1.pd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74725" y="3865221"/>
            <a:ext cx="266700" cy="190500"/>
          </a:xfrm>
          <a:prstGeom prst="rect">
            <a:avLst/>
          </a:prstGeom>
        </p:spPr>
      </p:pic>
      <p:pic>
        <p:nvPicPr>
          <p:cNvPr id="28" name="Picture 27" descr="latex-image-1.pdf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943345" y="4596258"/>
            <a:ext cx="279400" cy="190500"/>
          </a:xfrm>
          <a:prstGeom prst="rect">
            <a:avLst/>
          </a:prstGeom>
        </p:spPr>
      </p:pic>
      <p:pic>
        <p:nvPicPr>
          <p:cNvPr id="29" name="Picture 28" descr="latex-image-1.pdf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64555" y="5395753"/>
            <a:ext cx="355600" cy="190500"/>
          </a:xfrm>
          <a:prstGeom prst="rect">
            <a:avLst/>
          </a:prstGeom>
        </p:spPr>
      </p:pic>
      <p:cxnSp>
        <p:nvCxnSpPr>
          <p:cNvPr id="30" name="Straight Arrow Connector 29"/>
          <p:cNvCxnSpPr>
            <a:stCxn id="6" idx="6"/>
            <a:endCxn id="15" idx="2"/>
          </p:cNvCxnSpPr>
          <p:nvPr/>
        </p:nvCxnSpPr>
        <p:spPr>
          <a:xfrm>
            <a:off x="3089982" y="3335313"/>
            <a:ext cx="1913215" cy="158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6" idx="6"/>
            <a:endCxn id="18" idx="1"/>
          </p:cNvCxnSpPr>
          <p:nvPr/>
        </p:nvCxnSpPr>
        <p:spPr>
          <a:xfrm>
            <a:off x="3089982" y="3335313"/>
            <a:ext cx="1999241" cy="817810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6" idx="6"/>
            <a:endCxn id="21" idx="1"/>
          </p:cNvCxnSpPr>
          <p:nvPr/>
        </p:nvCxnSpPr>
        <p:spPr>
          <a:xfrm>
            <a:off x="3089982" y="3335313"/>
            <a:ext cx="1999241" cy="1851166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9" idx="6"/>
            <a:endCxn id="15" idx="2"/>
          </p:cNvCxnSpPr>
          <p:nvPr/>
        </p:nvCxnSpPr>
        <p:spPr>
          <a:xfrm flipV="1">
            <a:off x="3089982" y="3335313"/>
            <a:ext cx="1913215" cy="1025496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9" idx="6"/>
            <a:endCxn id="18" idx="2"/>
          </p:cNvCxnSpPr>
          <p:nvPr/>
        </p:nvCxnSpPr>
        <p:spPr>
          <a:xfrm>
            <a:off x="3089982" y="4360809"/>
            <a:ext cx="1913215" cy="158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2" idx="6"/>
          </p:cNvCxnSpPr>
          <p:nvPr/>
        </p:nvCxnSpPr>
        <p:spPr>
          <a:xfrm>
            <a:off x="3089982" y="5394165"/>
            <a:ext cx="1913215" cy="158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12" idx="6"/>
            <a:endCxn id="15" idx="3"/>
          </p:cNvCxnSpPr>
          <p:nvPr/>
        </p:nvCxnSpPr>
        <p:spPr>
          <a:xfrm flipV="1">
            <a:off x="3089982" y="3542999"/>
            <a:ext cx="1999241" cy="1851166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26" idx="3"/>
            <a:endCxn id="6" idx="2"/>
          </p:cNvCxnSpPr>
          <p:nvPr/>
        </p:nvCxnSpPr>
        <p:spPr>
          <a:xfrm>
            <a:off x="1247775" y="3257209"/>
            <a:ext cx="1254783" cy="78104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26" idx="3"/>
            <a:endCxn id="9" idx="1"/>
          </p:cNvCxnSpPr>
          <p:nvPr/>
        </p:nvCxnSpPr>
        <p:spPr>
          <a:xfrm>
            <a:off x="1247775" y="3257209"/>
            <a:ext cx="1340809" cy="895914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26" idx="3"/>
            <a:endCxn id="12" idx="1"/>
          </p:cNvCxnSpPr>
          <p:nvPr/>
        </p:nvCxnSpPr>
        <p:spPr>
          <a:xfrm>
            <a:off x="1247775" y="3257209"/>
            <a:ext cx="1340809" cy="1929270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27" idx="3"/>
            <a:endCxn id="6" idx="2"/>
          </p:cNvCxnSpPr>
          <p:nvPr/>
        </p:nvCxnSpPr>
        <p:spPr>
          <a:xfrm flipV="1">
            <a:off x="1241425" y="3335313"/>
            <a:ext cx="1261133" cy="62515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27" idx="3"/>
            <a:endCxn id="9" idx="2"/>
          </p:cNvCxnSpPr>
          <p:nvPr/>
        </p:nvCxnSpPr>
        <p:spPr>
          <a:xfrm>
            <a:off x="1241425" y="3960471"/>
            <a:ext cx="1261133" cy="40033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27" idx="3"/>
            <a:endCxn id="12" idx="2"/>
          </p:cNvCxnSpPr>
          <p:nvPr/>
        </p:nvCxnSpPr>
        <p:spPr>
          <a:xfrm>
            <a:off x="1241425" y="3960471"/>
            <a:ext cx="1261133" cy="1433694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28" idx="3"/>
            <a:endCxn id="6" idx="3"/>
          </p:cNvCxnSpPr>
          <p:nvPr/>
        </p:nvCxnSpPr>
        <p:spPr>
          <a:xfrm flipV="1">
            <a:off x="1222745" y="3542999"/>
            <a:ext cx="1365839" cy="1148509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28" idx="3"/>
            <a:endCxn id="9" idx="2"/>
          </p:cNvCxnSpPr>
          <p:nvPr/>
        </p:nvCxnSpPr>
        <p:spPr>
          <a:xfrm flipV="1">
            <a:off x="1222745" y="4360809"/>
            <a:ext cx="1279813" cy="330699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29" idx="3"/>
            <a:endCxn id="12" idx="2"/>
          </p:cNvCxnSpPr>
          <p:nvPr/>
        </p:nvCxnSpPr>
        <p:spPr>
          <a:xfrm flipV="1">
            <a:off x="1220155" y="5394165"/>
            <a:ext cx="1282403" cy="9683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29" idx="3"/>
            <a:endCxn id="9" idx="3"/>
          </p:cNvCxnSpPr>
          <p:nvPr/>
        </p:nvCxnSpPr>
        <p:spPr>
          <a:xfrm flipV="1">
            <a:off x="1220155" y="4568495"/>
            <a:ext cx="1368429" cy="92250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28" idx="3"/>
            <a:endCxn id="12" idx="2"/>
          </p:cNvCxnSpPr>
          <p:nvPr/>
        </p:nvCxnSpPr>
        <p:spPr>
          <a:xfrm>
            <a:off x="1222745" y="4691508"/>
            <a:ext cx="1279813" cy="702657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29" idx="3"/>
            <a:endCxn id="6" idx="3"/>
          </p:cNvCxnSpPr>
          <p:nvPr/>
        </p:nvCxnSpPr>
        <p:spPr>
          <a:xfrm flipV="1">
            <a:off x="1220155" y="3542999"/>
            <a:ext cx="1368429" cy="1948004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endCxn id="24" idx="3"/>
          </p:cNvCxnSpPr>
          <p:nvPr/>
        </p:nvCxnSpPr>
        <p:spPr>
          <a:xfrm flipV="1">
            <a:off x="5590621" y="4568495"/>
            <a:ext cx="1774456" cy="825670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18" idx="6"/>
            <a:endCxn id="24" idx="2"/>
          </p:cNvCxnSpPr>
          <p:nvPr/>
        </p:nvCxnSpPr>
        <p:spPr>
          <a:xfrm>
            <a:off x="5590621" y="4360809"/>
            <a:ext cx="1688430" cy="1588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15" idx="6"/>
            <a:endCxn id="24" idx="1"/>
          </p:cNvCxnSpPr>
          <p:nvPr/>
        </p:nvCxnSpPr>
        <p:spPr>
          <a:xfrm>
            <a:off x="5590621" y="3335313"/>
            <a:ext cx="1774456" cy="817810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24" idx="6"/>
          </p:cNvCxnSpPr>
          <p:nvPr/>
        </p:nvCxnSpPr>
        <p:spPr>
          <a:xfrm>
            <a:off x="7866475" y="4360809"/>
            <a:ext cx="302800" cy="3971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pic>
        <p:nvPicPr>
          <p:cNvPr id="60" name="Picture 59" descr="latex-image-1.pdf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071688" y="3008313"/>
            <a:ext cx="444500" cy="393700"/>
          </a:xfrm>
          <a:prstGeom prst="rect">
            <a:avLst/>
          </a:prstGeom>
        </p:spPr>
      </p:pic>
      <p:pic>
        <p:nvPicPr>
          <p:cNvPr id="61" name="Picture 60" descr="latex-image-1.pdf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157413" y="3835400"/>
            <a:ext cx="444500" cy="393700"/>
          </a:xfrm>
          <a:prstGeom prst="rect">
            <a:avLst/>
          </a:prstGeom>
        </p:spPr>
      </p:pic>
      <p:pic>
        <p:nvPicPr>
          <p:cNvPr id="62" name="Picture 61" descr="latex-image-1.pdf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2022475" y="4883150"/>
            <a:ext cx="444500" cy="393700"/>
          </a:xfrm>
          <a:prstGeom prst="rect">
            <a:avLst/>
          </a:prstGeom>
        </p:spPr>
      </p:pic>
      <p:pic>
        <p:nvPicPr>
          <p:cNvPr id="63" name="Picture 62" descr="latex-image-1.pdf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4513263" y="4945063"/>
            <a:ext cx="444500" cy="39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Picture 63" descr="latex-image-1.pdf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4500563" y="4117975"/>
            <a:ext cx="444500" cy="393700"/>
          </a:xfrm>
          <a:prstGeom prst="rect">
            <a:avLst/>
          </a:prstGeom>
        </p:spPr>
      </p:pic>
      <p:pic>
        <p:nvPicPr>
          <p:cNvPr id="65" name="Picture 64" descr="latex-image-1.pdf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4537075" y="2971800"/>
            <a:ext cx="444500" cy="393700"/>
          </a:xfrm>
          <a:prstGeom prst="rect">
            <a:avLst/>
          </a:prstGeom>
        </p:spPr>
      </p:pic>
      <p:pic>
        <p:nvPicPr>
          <p:cNvPr id="66" name="Picture 65" descr="latex-image-1.pdf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683375" y="3527425"/>
            <a:ext cx="444500" cy="317500"/>
          </a:xfrm>
          <a:prstGeom prst="rect">
            <a:avLst/>
          </a:prstGeom>
        </p:spPr>
      </p:pic>
      <p:pic>
        <p:nvPicPr>
          <p:cNvPr id="67" name="Picture 66" descr="latex-image-1.pdf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6608763" y="4033838"/>
            <a:ext cx="444500" cy="317500"/>
          </a:xfrm>
          <a:prstGeom prst="rect">
            <a:avLst/>
          </a:prstGeom>
        </p:spPr>
      </p:pic>
      <p:pic>
        <p:nvPicPr>
          <p:cNvPr id="68" name="Picture 67" descr="latex-image-1.pdf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6534150" y="4476750"/>
            <a:ext cx="444500" cy="317500"/>
          </a:xfrm>
          <a:prstGeom prst="rect">
            <a:avLst/>
          </a:prstGeom>
        </p:spPr>
      </p:pic>
      <p:cxnSp>
        <p:nvCxnSpPr>
          <p:cNvPr id="58" name="Straight Arrow Connector 57"/>
          <p:cNvCxnSpPr/>
          <p:nvPr/>
        </p:nvCxnSpPr>
        <p:spPr>
          <a:xfrm>
            <a:off x="3089982" y="4360809"/>
            <a:ext cx="1913215" cy="1033356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V="1">
            <a:off x="3089982" y="4568495"/>
            <a:ext cx="1999241" cy="825670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69" name="Content Placeholder 5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Predictions are fed forward through the network to classify</a:t>
            </a:r>
          </a:p>
          <a:p>
            <a:endParaRPr lang="en-US" dirty="0"/>
          </a:p>
        </p:txBody>
      </p:sp>
      <p:sp>
        <p:nvSpPr>
          <p:cNvPr id="70" name="TextBox 69"/>
          <p:cNvSpPr txBox="1"/>
          <p:nvPr/>
        </p:nvSpPr>
        <p:spPr>
          <a:xfrm>
            <a:off x="0" y="6604084"/>
            <a:ext cx="6190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000000"/>
                </a:solidFill>
              </a:rPr>
              <a:t>HKUST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8C184BD-9A92-874F-BA80-0204D98AA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07661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neural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Lots of hidden layers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Depth = power (usually)</a:t>
            </a:r>
          </a:p>
        </p:txBody>
      </p:sp>
      <p:pic>
        <p:nvPicPr>
          <p:cNvPr id="368642" name="Picture 2" descr="http://neuralnetworksanddeeplearning.com/images/tikz36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0211" y="2225467"/>
            <a:ext cx="7907914" cy="3939837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0" y="6604084"/>
            <a:ext cx="39757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000000"/>
                </a:solidFill>
              </a:rPr>
              <a:t>Figure from http://neuralnetworksanddeeplearning.com/chap5.html </a:t>
            </a:r>
          </a:p>
        </p:txBody>
      </p:sp>
      <p:sp>
        <p:nvSpPr>
          <p:cNvPr id="4" name="TextBox 3"/>
          <p:cNvSpPr txBox="1"/>
          <p:nvPr/>
        </p:nvSpPr>
        <p:spPr>
          <a:xfrm rot="16200000">
            <a:off x="835870" y="4156262"/>
            <a:ext cx="2673361" cy="461665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Weights to learn!</a:t>
            </a:r>
          </a:p>
        </p:txBody>
      </p:sp>
      <p:sp>
        <p:nvSpPr>
          <p:cNvPr id="7" name="TextBox 6"/>
          <p:cNvSpPr txBox="1"/>
          <p:nvPr/>
        </p:nvSpPr>
        <p:spPr>
          <a:xfrm rot="16200000">
            <a:off x="2408255" y="4156262"/>
            <a:ext cx="2673361" cy="461665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Weights to learn!</a:t>
            </a:r>
          </a:p>
        </p:txBody>
      </p:sp>
      <p:sp>
        <p:nvSpPr>
          <p:cNvPr id="8" name="TextBox 7"/>
          <p:cNvSpPr txBox="1"/>
          <p:nvPr/>
        </p:nvSpPr>
        <p:spPr>
          <a:xfrm rot="16200000">
            <a:off x="3891900" y="4156263"/>
            <a:ext cx="2673361" cy="461665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Weights to learn!</a:t>
            </a:r>
          </a:p>
        </p:txBody>
      </p:sp>
      <p:sp>
        <p:nvSpPr>
          <p:cNvPr id="9" name="TextBox 8"/>
          <p:cNvSpPr txBox="1"/>
          <p:nvPr/>
        </p:nvSpPr>
        <p:spPr>
          <a:xfrm rot="16200000">
            <a:off x="5513485" y="4156263"/>
            <a:ext cx="2673361" cy="461665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Weights to learn!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14BBFA-AC35-A54F-9A79-C5BEA7602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40002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train them?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The goal is to iteratively find such a set of weights that allow the activations/outputs to match the desired output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We want to </a:t>
            </a:r>
            <a:r>
              <a:rPr lang="en-US" i="1" dirty="0"/>
              <a:t>minimize a </a:t>
            </a:r>
            <a:r>
              <a:rPr lang="en-US" b="1" i="1" dirty="0"/>
              <a:t>loss function</a:t>
            </a:r>
            <a:r>
              <a:rPr lang="en-US" b="1" dirty="0"/>
              <a:t>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The loss function is a function of the weights in the network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For now let’s simplify and assume there’s a single layer of weights in the network </a:t>
            </a:r>
          </a:p>
          <a:p>
            <a:pPr marL="0" indent="0"/>
            <a:endParaRPr lang="en-US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17323F3-4271-6349-B1FE-212A3241A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4575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goal</a:t>
            </a:r>
          </a:p>
        </p:txBody>
      </p:sp>
      <p:sp>
        <p:nvSpPr>
          <p:cNvPr id="5" name="object 4"/>
          <p:cNvSpPr/>
          <p:nvPr/>
        </p:nvSpPr>
        <p:spPr>
          <a:xfrm>
            <a:off x="102075" y="1503004"/>
            <a:ext cx="5909913" cy="44952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5"/>
          <p:cNvSpPr txBox="1"/>
          <p:nvPr/>
        </p:nvSpPr>
        <p:spPr>
          <a:xfrm>
            <a:off x="6085012" y="1492824"/>
            <a:ext cx="2883535" cy="1391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699"/>
              </a:lnSpc>
            </a:pPr>
            <a:r>
              <a:rPr spc="-5" dirty="0">
                <a:solidFill>
                  <a:prstClr val="black"/>
                </a:solidFill>
                <a:latin typeface="Arial"/>
                <a:cs typeface="Arial"/>
              </a:rPr>
              <a:t>Example dataset: </a:t>
            </a:r>
            <a:r>
              <a:rPr b="1" spc="-5" dirty="0">
                <a:solidFill>
                  <a:prstClr val="black"/>
                </a:solidFill>
                <a:latin typeface="Arial"/>
                <a:cs typeface="Arial"/>
              </a:rPr>
              <a:t>CIFAR-10  10</a:t>
            </a:r>
            <a:r>
              <a:rPr b="1" spc="-7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prstClr val="black"/>
                </a:solidFill>
                <a:latin typeface="Arial"/>
                <a:cs typeface="Arial"/>
              </a:rPr>
              <a:t>labels</a:t>
            </a:r>
            <a:endParaRPr dirty="0">
              <a:solidFill>
                <a:prstClr val="black"/>
              </a:solidFill>
              <a:latin typeface="Arial"/>
              <a:cs typeface="Arial"/>
            </a:endParaRPr>
          </a:p>
          <a:p>
            <a:pPr marL="202565" marR="308610" indent="-190500">
              <a:lnSpc>
                <a:spcPct val="100699"/>
              </a:lnSpc>
            </a:pPr>
            <a:r>
              <a:rPr b="1" spc="-5" dirty="0">
                <a:solidFill>
                  <a:prstClr val="black"/>
                </a:solidFill>
                <a:latin typeface="Arial"/>
                <a:cs typeface="Arial"/>
              </a:rPr>
              <a:t>50,000 </a:t>
            </a:r>
            <a:r>
              <a:rPr spc="-5" dirty="0">
                <a:solidFill>
                  <a:prstClr val="black"/>
                </a:solidFill>
                <a:latin typeface="Arial"/>
                <a:cs typeface="Arial"/>
              </a:rPr>
              <a:t>training images  each image is</a:t>
            </a:r>
            <a:r>
              <a:rPr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b="1" spc="-5" dirty="0">
                <a:solidFill>
                  <a:prstClr val="black"/>
                </a:solidFill>
                <a:latin typeface="Arial"/>
                <a:cs typeface="Arial"/>
              </a:rPr>
              <a:t>32x32x3</a:t>
            </a:r>
            <a:endParaRPr dirty="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15"/>
              </a:spcBef>
            </a:pPr>
            <a:r>
              <a:rPr b="1" spc="-5" dirty="0">
                <a:solidFill>
                  <a:prstClr val="black"/>
                </a:solidFill>
                <a:latin typeface="Arial"/>
                <a:cs typeface="Arial"/>
              </a:rPr>
              <a:t>10,000 </a:t>
            </a:r>
            <a:r>
              <a:rPr spc="-5" dirty="0">
                <a:solidFill>
                  <a:prstClr val="black"/>
                </a:solidFill>
                <a:latin typeface="Arial"/>
                <a:cs typeface="Arial"/>
              </a:rPr>
              <a:t>test</a:t>
            </a:r>
            <a:r>
              <a:rPr spc="-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prstClr val="black"/>
                </a:solidFill>
                <a:latin typeface="Arial"/>
                <a:cs typeface="Arial"/>
              </a:rPr>
              <a:t>images.</a:t>
            </a:r>
            <a:endParaRPr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604084"/>
            <a:ext cx="10727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Andrej </a:t>
            </a:r>
            <a:r>
              <a:rPr lang="en-US" sz="1050" dirty="0" err="1"/>
              <a:t>Karpathy</a:t>
            </a:r>
            <a:endParaRPr lang="en-US" sz="105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C16749F-2C46-9249-B18E-9C9462BB1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76350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scores</a:t>
            </a:r>
          </a:p>
        </p:txBody>
      </p:sp>
      <p:sp>
        <p:nvSpPr>
          <p:cNvPr id="3" name="object 5"/>
          <p:cNvSpPr/>
          <p:nvPr/>
        </p:nvSpPr>
        <p:spPr>
          <a:xfrm>
            <a:off x="820349" y="2580771"/>
            <a:ext cx="1009647" cy="11144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" name="object 6"/>
          <p:cNvSpPr txBox="1"/>
          <p:nvPr/>
        </p:nvSpPr>
        <p:spPr>
          <a:xfrm>
            <a:off x="641498" y="3839254"/>
            <a:ext cx="3004820" cy="11285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65"/>
              </a:lnSpc>
            </a:pPr>
            <a:r>
              <a:rPr sz="2400" b="1" spc="-5" dirty="0">
                <a:solidFill>
                  <a:prstClr val="black"/>
                </a:solidFill>
                <a:latin typeface="Arial"/>
                <a:cs typeface="Arial"/>
              </a:rPr>
              <a:t>[32x32x3]</a:t>
            </a:r>
            <a:endParaRPr sz="24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12700" marR="5080">
              <a:lnSpc>
                <a:spcPts val="2850"/>
              </a:lnSpc>
              <a:spcBef>
                <a:spcPts val="105"/>
              </a:spcBef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array of numbers</a:t>
            </a:r>
            <a:r>
              <a:rPr sz="2400" spc="-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0...1  (3072 numbers</a:t>
            </a:r>
            <a:r>
              <a:rPr sz="2400" spc="-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total)</a:t>
            </a:r>
            <a:endParaRPr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7"/>
          <p:cNvSpPr/>
          <p:nvPr/>
        </p:nvSpPr>
        <p:spPr>
          <a:xfrm>
            <a:off x="2424071" y="3127420"/>
            <a:ext cx="3371215" cy="0"/>
          </a:xfrm>
          <a:custGeom>
            <a:avLst/>
            <a:gdLst/>
            <a:ahLst/>
            <a:cxnLst/>
            <a:rect l="l" t="t" r="r" b="b"/>
            <a:pathLst>
              <a:path w="3371215">
                <a:moveTo>
                  <a:pt x="0" y="0"/>
                </a:moveTo>
                <a:lnTo>
                  <a:pt x="3370943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8"/>
          <p:cNvSpPr/>
          <p:nvPr/>
        </p:nvSpPr>
        <p:spPr>
          <a:xfrm>
            <a:off x="5795014" y="3111687"/>
            <a:ext cx="43815" cy="31750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0" y="31464"/>
                </a:moveTo>
                <a:lnTo>
                  <a:pt x="43224" y="15732"/>
                </a:lnTo>
                <a:lnTo>
                  <a:pt x="0" y="0"/>
                </a:lnTo>
                <a:lnTo>
                  <a:pt x="0" y="31464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" name="object 9"/>
          <p:cNvSpPr txBox="1"/>
          <p:nvPr/>
        </p:nvSpPr>
        <p:spPr>
          <a:xfrm>
            <a:off x="3589296" y="2575060"/>
            <a:ext cx="1062355" cy="466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3000" spc="-5" dirty="0">
                <a:solidFill>
                  <a:prstClr val="black"/>
                </a:solidFill>
                <a:latin typeface="Arial"/>
                <a:cs typeface="Arial"/>
              </a:rPr>
              <a:t>f(</a:t>
            </a:r>
            <a:r>
              <a:rPr sz="3000" b="1" spc="-5" dirty="0">
                <a:solidFill>
                  <a:srgbClr val="0000FF"/>
                </a:solidFill>
                <a:latin typeface="Arial"/>
                <a:cs typeface="Arial"/>
              </a:rPr>
              <a:t>x</a:t>
            </a:r>
            <a:r>
              <a:rPr sz="3000" spc="-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3000" b="1" spc="-5" dirty="0">
                <a:solidFill>
                  <a:srgbClr val="FF0000"/>
                </a:solidFill>
                <a:latin typeface="Arial"/>
                <a:cs typeface="Arial"/>
              </a:rPr>
              <a:t>W</a:t>
            </a:r>
            <a:r>
              <a:rPr sz="300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</a:p>
        </p:txBody>
      </p:sp>
      <p:sp>
        <p:nvSpPr>
          <p:cNvPr id="8" name="object 10"/>
          <p:cNvSpPr txBox="1"/>
          <p:nvPr/>
        </p:nvSpPr>
        <p:spPr>
          <a:xfrm>
            <a:off x="3006995" y="2142407"/>
            <a:ext cx="85598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image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9" name="object 11"/>
          <p:cNvSpPr txBox="1"/>
          <p:nvPr/>
        </p:nvSpPr>
        <p:spPr>
          <a:xfrm>
            <a:off x="4162595" y="2142407"/>
            <a:ext cx="15665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parameters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0" name="object 12"/>
          <p:cNvSpPr txBox="1"/>
          <p:nvPr/>
        </p:nvSpPr>
        <p:spPr>
          <a:xfrm>
            <a:off x="6402366" y="2768741"/>
            <a:ext cx="2091689" cy="1115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850"/>
              </a:lnSpc>
            </a:pPr>
            <a:r>
              <a:rPr sz="2400" b="1" spc="-5" dirty="0">
                <a:solidFill>
                  <a:prstClr val="black"/>
                </a:solidFill>
                <a:latin typeface="Arial"/>
                <a:cs typeface="Arial"/>
              </a:rPr>
              <a:t>10 </a:t>
            </a: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numbers,  indicating</a:t>
            </a:r>
            <a:r>
              <a:rPr sz="240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class  scores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6604084"/>
            <a:ext cx="10727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Andrej </a:t>
            </a:r>
            <a:r>
              <a:rPr lang="en-US" sz="1050" dirty="0" err="1"/>
              <a:t>Karpathy</a:t>
            </a:r>
            <a:endParaRPr lang="en-US" sz="1050" dirty="0"/>
          </a:p>
        </p:txBody>
      </p:sp>
      <p:sp>
        <p:nvSpPr>
          <p:cNvPr id="12" name="object 9"/>
          <p:cNvSpPr/>
          <p:nvPr/>
        </p:nvSpPr>
        <p:spPr>
          <a:xfrm>
            <a:off x="3006995" y="1918222"/>
            <a:ext cx="2868095" cy="6071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15600450-D950-1045-B564-36D29B9EF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4005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classifier </a:t>
            </a:r>
          </a:p>
        </p:txBody>
      </p:sp>
      <p:sp>
        <p:nvSpPr>
          <p:cNvPr id="3" name="object 5"/>
          <p:cNvSpPr/>
          <p:nvPr/>
        </p:nvSpPr>
        <p:spPr>
          <a:xfrm>
            <a:off x="820349" y="2580771"/>
            <a:ext cx="1009647" cy="11144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" name="object 6"/>
          <p:cNvSpPr txBox="1"/>
          <p:nvPr/>
        </p:nvSpPr>
        <p:spPr>
          <a:xfrm>
            <a:off x="641498" y="3839254"/>
            <a:ext cx="3004820" cy="737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65"/>
              </a:lnSpc>
            </a:pPr>
            <a:r>
              <a:rPr sz="2400" b="1" spc="-5" dirty="0">
                <a:solidFill>
                  <a:prstClr val="black"/>
                </a:solidFill>
                <a:latin typeface="Arial"/>
                <a:cs typeface="Arial"/>
              </a:rPr>
              <a:t>[32x32x3]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65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array of numbers</a:t>
            </a:r>
            <a:r>
              <a:rPr sz="2400" spc="-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0...1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7"/>
          <p:cNvSpPr/>
          <p:nvPr/>
        </p:nvSpPr>
        <p:spPr>
          <a:xfrm>
            <a:off x="2424071" y="3127420"/>
            <a:ext cx="3371215" cy="0"/>
          </a:xfrm>
          <a:custGeom>
            <a:avLst/>
            <a:gdLst/>
            <a:ahLst/>
            <a:cxnLst/>
            <a:rect l="l" t="t" r="r" b="b"/>
            <a:pathLst>
              <a:path w="3371215">
                <a:moveTo>
                  <a:pt x="0" y="0"/>
                </a:moveTo>
                <a:lnTo>
                  <a:pt x="3370943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8"/>
          <p:cNvSpPr/>
          <p:nvPr/>
        </p:nvSpPr>
        <p:spPr>
          <a:xfrm>
            <a:off x="5795014" y="3111687"/>
            <a:ext cx="43815" cy="31750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0" y="31464"/>
                </a:moveTo>
                <a:lnTo>
                  <a:pt x="43224" y="15732"/>
                </a:lnTo>
                <a:lnTo>
                  <a:pt x="0" y="0"/>
                </a:lnTo>
                <a:lnTo>
                  <a:pt x="0" y="31464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" name="object 9"/>
          <p:cNvSpPr txBox="1"/>
          <p:nvPr/>
        </p:nvSpPr>
        <p:spPr>
          <a:xfrm>
            <a:off x="6402366" y="2768741"/>
            <a:ext cx="2091689" cy="1115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850"/>
              </a:lnSpc>
            </a:pPr>
            <a:r>
              <a:rPr sz="2400" b="1" spc="-5" dirty="0">
                <a:solidFill>
                  <a:prstClr val="black"/>
                </a:solidFill>
                <a:latin typeface="Arial"/>
                <a:cs typeface="Arial"/>
              </a:rPr>
              <a:t>10 </a:t>
            </a: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numbers,  indicating</a:t>
            </a:r>
            <a:r>
              <a:rPr sz="240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class  scores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object 10"/>
          <p:cNvSpPr/>
          <p:nvPr/>
        </p:nvSpPr>
        <p:spPr>
          <a:xfrm>
            <a:off x="3040469" y="1918223"/>
            <a:ext cx="2393295" cy="5066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9" name="object 11"/>
          <p:cNvSpPr/>
          <p:nvPr/>
        </p:nvSpPr>
        <p:spPr>
          <a:xfrm>
            <a:off x="5210714" y="2048198"/>
            <a:ext cx="223520" cy="310515"/>
          </a:xfrm>
          <a:custGeom>
            <a:avLst/>
            <a:gdLst/>
            <a:ahLst/>
            <a:cxnLst/>
            <a:rect l="l" t="t" r="r" b="b"/>
            <a:pathLst>
              <a:path w="223520" h="310515">
                <a:moveTo>
                  <a:pt x="0" y="0"/>
                </a:moveTo>
                <a:lnTo>
                  <a:pt x="223199" y="0"/>
                </a:lnTo>
                <a:lnTo>
                  <a:pt x="223199" y="310199"/>
                </a:lnTo>
                <a:lnTo>
                  <a:pt x="0" y="310199"/>
                </a:lnTo>
                <a:lnTo>
                  <a:pt x="0" y="0"/>
                </a:lnTo>
                <a:close/>
              </a:path>
            </a:pathLst>
          </a:custGeom>
          <a:ln w="28574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0" name="object 12"/>
          <p:cNvSpPr txBox="1"/>
          <p:nvPr/>
        </p:nvSpPr>
        <p:spPr>
          <a:xfrm>
            <a:off x="5688916" y="1818480"/>
            <a:ext cx="1042669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b="1" spc="-5" dirty="0">
                <a:solidFill>
                  <a:srgbClr val="0000FF"/>
                </a:solidFill>
                <a:latin typeface="Arial"/>
                <a:cs typeface="Arial"/>
              </a:rPr>
              <a:t>3072x1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1" name="object 13"/>
          <p:cNvSpPr/>
          <p:nvPr/>
        </p:nvSpPr>
        <p:spPr>
          <a:xfrm>
            <a:off x="4777690" y="1964780"/>
            <a:ext cx="411480" cy="393700"/>
          </a:xfrm>
          <a:custGeom>
            <a:avLst/>
            <a:gdLst/>
            <a:ahLst/>
            <a:cxnLst/>
            <a:rect l="l" t="t" r="r" b="b"/>
            <a:pathLst>
              <a:path w="411479" h="393700">
                <a:moveTo>
                  <a:pt x="0" y="0"/>
                </a:moveTo>
                <a:lnTo>
                  <a:pt x="411299" y="0"/>
                </a:lnTo>
                <a:lnTo>
                  <a:pt x="411299" y="393599"/>
                </a:lnTo>
                <a:lnTo>
                  <a:pt x="0" y="393599"/>
                </a:lnTo>
                <a:lnTo>
                  <a:pt x="0" y="0"/>
                </a:lnTo>
                <a:close/>
              </a:path>
            </a:pathLst>
          </a:custGeom>
          <a:ln w="2857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2" name="object 14"/>
          <p:cNvSpPr txBox="1"/>
          <p:nvPr/>
        </p:nvSpPr>
        <p:spPr>
          <a:xfrm>
            <a:off x="3113494" y="2439120"/>
            <a:ext cx="70358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b="1" spc="-5" dirty="0">
                <a:solidFill>
                  <a:srgbClr val="38751C"/>
                </a:solidFill>
                <a:latin typeface="Arial"/>
                <a:cs typeface="Arial"/>
              </a:rPr>
              <a:t>10x1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3" name="object 15"/>
          <p:cNvSpPr/>
          <p:nvPr/>
        </p:nvSpPr>
        <p:spPr>
          <a:xfrm>
            <a:off x="2988744" y="1918222"/>
            <a:ext cx="1362075" cy="506730"/>
          </a:xfrm>
          <a:custGeom>
            <a:avLst/>
            <a:gdLst/>
            <a:ahLst/>
            <a:cxnLst/>
            <a:rect l="l" t="t" r="r" b="b"/>
            <a:pathLst>
              <a:path w="1362075" h="506730">
                <a:moveTo>
                  <a:pt x="0" y="0"/>
                </a:moveTo>
                <a:lnTo>
                  <a:pt x="1361997" y="0"/>
                </a:lnTo>
                <a:lnTo>
                  <a:pt x="1361997" y="506698"/>
                </a:lnTo>
                <a:lnTo>
                  <a:pt x="0" y="506698"/>
                </a:lnTo>
                <a:lnTo>
                  <a:pt x="0" y="0"/>
                </a:lnTo>
                <a:close/>
              </a:path>
            </a:pathLst>
          </a:custGeom>
          <a:ln w="28574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4" name="object 16"/>
          <p:cNvSpPr txBox="1"/>
          <p:nvPr/>
        </p:nvSpPr>
        <p:spPr>
          <a:xfrm>
            <a:off x="4545918" y="2428080"/>
            <a:ext cx="121221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10x3072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5" name="object 17"/>
          <p:cNvSpPr/>
          <p:nvPr/>
        </p:nvSpPr>
        <p:spPr>
          <a:xfrm>
            <a:off x="5124089" y="2914095"/>
            <a:ext cx="370840" cy="1727200"/>
          </a:xfrm>
          <a:custGeom>
            <a:avLst/>
            <a:gdLst/>
            <a:ahLst/>
            <a:cxnLst/>
            <a:rect l="l" t="t" r="r" b="b"/>
            <a:pathLst>
              <a:path w="370839" h="1727200">
                <a:moveTo>
                  <a:pt x="0" y="0"/>
                </a:moveTo>
                <a:lnTo>
                  <a:pt x="370499" y="1726721"/>
                </a:lnTo>
              </a:path>
            </a:pathLst>
          </a:custGeom>
          <a:ln w="95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6" name="object 18"/>
          <p:cNvSpPr/>
          <p:nvPr/>
        </p:nvSpPr>
        <p:spPr>
          <a:xfrm>
            <a:off x="5479215" y="4637517"/>
            <a:ext cx="31115" cy="45720"/>
          </a:xfrm>
          <a:custGeom>
            <a:avLst/>
            <a:gdLst/>
            <a:ahLst/>
            <a:cxnLst/>
            <a:rect l="l" t="t" r="r" b="b"/>
            <a:pathLst>
              <a:path w="31114" h="45720">
                <a:moveTo>
                  <a:pt x="0" y="6599"/>
                </a:moveTo>
                <a:lnTo>
                  <a:pt x="24449" y="45549"/>
                </a:lnTo>
                <a:lnTo>
                  <a:pt x="30774" y="0"/>
                </a:lnTo>
                <a:lnTo>
                  <a:pt x="0" y="6599"/>
                </a:lnTo>
                <a:close/>
              </a:path>
            </a:pathLst>
          </a:custGeom>
          <a:ln w="95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7" name="object 19"/>
          <p:cNvSpPr txBox="1"/>
          <p:nvPr/>
        </p:nvSpPr>
        <p:spPr>
          <a:xfrm>
            <a:off x="4374364" y="4686825"/>
            <a:ext cx="332676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parameters, or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“weights”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8" name="object 20"/>
          <p:cNvSpPr txBox="1"/>
          <p:nvPr/>
        </p:nvSpPr>
        <p:spPr>
          <a:xfrm>
            <a:off x="7127035" y="1889173"/>
            <a:ext cx="751840" cy="400751"/>
          </a:xfrm>
          <a:prstGeom prst="rect">
            <a:avLst/>
          </a:prstGeom>
          <a:ln w="28574">
            <a:solidFill>
              <a:srgbClr val="9900FF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 marL="71120">
              <a:spcBef>
                <a:spcPts val="5"/>
              </a:spcBef>
            </a:pPr>
            <a:r>
              <a:rPr sz="2600" spc="-5" dirty="0">
                <a:solidFill>
                  <a:prstClr val="black"/>
                </a:solidFill>
                <a:latin typeface="Arial"/>
                <a:cs typeface="Arial"/>
              </a:rPr>
              <a:t>(+b)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object 21"/>
          <p:cNvSpPr txBox="1"/>
          <p:nvPr/>
        </p:nvSpPr>
        <p:spPr>
          <a:xfrm>
            <a:off x="7951660" y="1991741"/>
            <a:ext cx="70358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b="1" spc="-5" dirty="0">
                <a:solidFill>
                  <a:srgbClr val="9900FF"/>
                </a:solidFill>
                <a:latin typeface="Arial"/>
                <a:cs typeface="Arial"/>
              </a:rPr>
              <a:t>10x1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0" y="6604084"/>
            <a:ext cx="10727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Andrej </a:t>
            </a:r>
            <a:r>
              <a:rPr lang="en-US" sz="1050" dirty="0" err="1"/>
              <a:t>Karpathy</a:t>
            </a:r>
            <a:endParaRPr lang="en-US" sz="1050" dirty="0"/>
          </a:p>
        </p:txBody>
      </p:sp>
      <p:sp>
        <p:nvSpPr>
          <p:cNvPr id="21" name="灯片编号占位符 20">
            <a:extLst>
              <a:ext uri="{FF2B5EF4-FFF2-40B4-BE49-F238E27FC236}">
                <a16:creationId xmlns:a16="http://schemas.microsoft.com/office/drawing/2014/main" id="{2E4762C9-995D-6E4A-A495-ADA034EB8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71595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classifier </a:t>
            </a:r>
          </a:p>
        </p:txBody>
      </p:sp>
      <p:sp>
        <p:nvSpPr>
          <p:cNvPr id="3" name="object 4"/>
          <p:cNvSpPr/>
          <p:nvPr/>
        </p:nvSpPr>
        <p:spPr>
          <a:xfrm>
            <a:off x="163799" y="2418103"/>
            <a:ext cx="8816382" cy="32655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" name="object 5"/>
          <p:cNvSpPr txBox="1">
            <a:spLocks/>
          </p:cNvSpPr>
          <p:nvPr/>
        </p:nvSpPr>
        <p:spPr bwMode="auto">
          <a:xfrm>
            <a:off x="101899" y="1524037"/>
            <a:ext cx="8886190" cy="375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9pPr>
          </a:lstStyle>
          <a:p>
            <a:pPr marL="12700"/>
            <a:r>
              <a:rPr lang="en-US" sz="2400" kern="0" spc="-5"/>
              <a:t>Example with an image with 4 pixels, and 3 classes</a:t>
            </a:r>
            <a:r>
              <a:rPr lang="en-US" sz="2400" kern="0" spc="105"/>
              <a:t> </a:t>
            </a:r>
            <a:r>
              <a:rPr lang="en-US" sz="2400" kern="0"/>
              <a:t>(</a:t>
            </a:r>
            <a:r>
              <a:rPr lang="en-US" sz="2400" kern="0">
                <a:solidFill>
                  <a:srgbClr val="FF0000"/>
                </a:solidFill>
              </a:rPr>
              <a:t>cat</a:t>
            </a:r>
            <a:r>
              <a:rPr lang="en-US" sz="2400" kern="0"/>
              <a:t>/</a:t>
            </a:r>
            <a:r>
              <a:rPr lang="en-US" sz="2400" kern="0">
                <a:solidFill>
                  <a:srgbClr val="38751C"/>
                </a:solidFill>
              </a:rPr>
              <a:t>dog</a:t>
            </a:r>
            <a:r>
              <a:rPr lang="en-US" sz="2400" kern="0"/>
              <a:t>/</a:t>
            </a:r>
            <a:r>
              <a:rPr lang="en-US" sz="2400" kern="0">
                <a:solidFill>
                  <a:srgbClr val="0000FF"/>
                </a:solidFill>
              </a:rPr>
              <a:t>ship</a:t>
            </a:r>
            <a:r>
              <a:rPr lang="en-US" sz="2400" kern="0"/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604084"/>
            <a:ext cx="10727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Andrej </a:t>
            </a:r>
            <a:r>
              <a:rPr lang="en-US" sz="1050" dirty="0" err="1"/>
              <a:t>Karpathy</a:t>
            </a:r>
            <a:endParaRPr lang="en-US" sz="1050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36F056-7A04-0240-A905-BC4E15B40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03806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classifier </a:t>
            </a:r>
          </a:p>
        </p:txBody>
      </p:sp>
      <p:sp>
        <p:nvSpPr>
          <p:cNvPr id="3" name="object 5"/>
          <p:cNvSpPr txBox="1"/>
          <p:nvPr/>
        </p:nvSpPr>
        <p:spPr>
          <a:xfrm>
            <a:off x="3809607" y="1079607"/>
            <a:ext cx="426656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 dirty="0">
                <a:solidFill>
                  <a:prstClr val="black"/>
                </a:solidFill>
                <a:latin typeface="Arial"/>
                <a:cs typeface="Arial"/>
              </a:rPr>
              <a:t>Going forward: Loss</a:t>
            </a:r>
            <a:r>
              <a:rPr spc="6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prstClr val="black"/>
                </a:solidFill>
                <a:latin typeface="Arial"/>
                <a:cs typeface="Arial"/>
              </a:rPr>
              <a:t>function/Optimization</a:t>
            </a:r>
            <a:endParaRPr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" name="object 9"/>
          <p:cNvSpPr/>
          <p:nvPr/>
        </p:nvSpPr>
        <p:spPr>
          <a:xfrm>
            <a:off x="1043585" y="2826403"/>
            <a:ext cx="4102100" cy="2598420"/>
          </a:xfrm>
          <a:custGeom>
            <a:avLst/>
            <a:gdLst/>
            <a:ahLst/>
            <a:cxnLst/>
            <a:rect l="l" t="t" r="r" b="b"/>
            <a:pathLst>
              <a:path w="4102100" h="2598420">
                <a:moveTo>
                  <a:pt x="0" y="0"/>
                </a:moveTo>
                <a:lnTo>
                  <a:pt x="4101604" y="0"/>
                </a:lnTo>
                <a:lnTo>
                  <a:pt x="4101604" y="2597987"/>
                </a:lnTo>
                <a:lnTo>
                  <a:pt x="0" y="259798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2" name="object 14"/>
          <p:cNvSpPr txBox="1"/>
          <p:nvPr/>
        </p:nvSpPr>
        <p:spPr>
          <a:xfrm>
            <a:off x="5749488" y="2191055"/>
            <a:ext cx="3048000" cy="1391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1800" marR="5080" indent="-419734">
              <a:lnSpc>
                <a:spcPct val="100699"/>
              </a:lnSpc>
              <a:tabLst>
                <a:tab pos="431800" algn="l"/>
              </a:tabLst>
            </a:pPr>
            <a:r>
              <a:rPr spc="-5" dirty="0">
                <a:solidFill>
                  <a:prstClr val="black"/>
                </a:solidFill>
                <a:latin typeface="Arial"/>
                <a:cs typeface="Arial"/>
              </a:rPr>
              <a:t>1.	Define a</a:t>
            </a:r>
            <a:r>
              <a:rPr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b="1" spc="-5" dirty="0">
                <a:solidFill>
                  <a:prstClr val="black"/>
                </a:solidFill>
                <a:latin typeface="Arial"/>
                <a:cs typeface="Arial"/>
              </a:rPr>
              <a:t>loss</a:t>
            </a:r>
            <a:r>
              <a:rPr b="1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b="1" spc="-5" dirty="0">
                <a:solidFill>
                  <a:prstClr val="black"/>
                </a:solidFill>
                <a:latin typeface="Arial"/>
                <a:cs typeface="Arial"/>
              </a:rPr>
              <a:t>function  </a:t>
            </a:r>
            <a:r>
              <a:rPr spc="-5" dirty="0">
                <a:solidFill>
                  <a:prstClr val="black"/>
                </a:solidFill>
                <a:latin typeface="Arial"/>
                <a:cs typeface="Arial"/>
              </a:rPr>
              <a:t>that quantifies our  unhappiness with the  </a:t>
            </a:r>
            <a:r>
              <a:rPr dirty="0">
                <a:solidFill>
                  <a:prstClr val="black"/>
                </a:solidFill>
                <a:latin typeface="Arial"/>
                <a:cs typeface="Arial"/>
              </a:rPr>
              <a:t>scores across </a:t>
            </a:r>
            <a:r>
              <a:rPr spc="-5" dirty="0">
                <a:solidFill>
                  <a:prstClr val="black"/>
                </a:solidFill>
                <a:latin typeface="Arial"/>
                <a:cs typeface="Arial"/>
              </a:rPr>
              <a:t>the</a:t>
            </a:r>
            <a:r>
              <a:rPr spc="-7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prstClr val="black"/>
                </a:solidFill>
                <a:latin typeface="Arial"/>
                <a:cs typeface="Arial"/>
              </a:rPr>
              <a:t>training  data.</a:t>
            </a:r>
            <a:endParaRPr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3" name="object 15"/>
          <p:cNvSpPr txBox="1"/>
          <p:nvPr/>
        </p:nvSpPr>
        <p:spPr>
          <a:xfrm>
            <a:off x="5749488" y="3848402"/>
            <a:ext cx="3009900" cy="1391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1800" marR="5080" indent="-419734">
              <a:lnSpc>
                <a:spcPct val="100699"/>
              </a:lnSpc>
              <a:tabLst>
                <a:tab pos="431800" algn="l"/>
              </a:tabLst>
            </a:pPr>
            <a:r>
              <a:rPr spc="-5" dirty="0">
                <a:solidFill>
                  <a:prstClr val="black"/>
                </a:solidFill>
                <a:latin typeface="Arial"/>
                <a:cs typeface="Arial"/>
              </a:rPr>
              <a:t>2.	Come up with a</a:t>
            </a:r>
            <a:r>
              <a:rPr spc="-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prstClr val="black"/>
                </a:solidFill>
                <a:latin typeface="Arial"/>
                <a:cs typeface="Arial"/>
              </a:rPr>
              <a:t>way</a:t>
            </a:r>
            <a:r>
              <a:rPr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prstClr val="black"/>
                </a:solidFill>
                <a:latin typeface="Arial"/>
                <a:cs typeface="Arial"/>
              </a:rPr>
              <a:t>of  efficiently finding the  parameters that minimize  the loss function.  </a:t>
            </a:r>
            <a:r>
              <a:rPr b="1" spc="-5" dirty="0">
                <a:solidFill>
                  <a:prstClr val="black"/>
                </a:solidFill>
                <a:latin typeface="Arial"/>
                <a:cs typeface="Arial"/>
              </a:rPr>
              <a:t>(optimization)</a:t>
            </a:r>
            <a:endParaRPr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4" name="object 16"/>
          <p:cNvSpPr/>
          <p:nvPr/>
        </p:nvSpPr>
        <p:spPr>
          <a:xfrm>
            <a:off x="5316064" y="1576524"/>
            <a:ext cx="0" cy="3662679"/>
          </a:xfrm>
          <a:custGeom>
            <a:avLst/>
            <a:gdLst/>
            <a:ahLst/>
            <a:cxnLst/>
            <a:rect l="l" t="t" r="r" b="b"/>
            <a:pathLst>
              <a:path h="3662679">
                <a:moveTo>
                  <a:pt x="0" y="0"/>
                </a:moveTo>
                <a:lnTo>
                  <a:pt x="0" y="3662692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5" name="object 17"/>
          <p:cNvSpPr txBox="1"/>
          <p:nvPr/>
        </p:nvSpPr>
        <p:spPr>
          <a:xfrm>
            <a:off x="5732759" y="1623480"/>
            <a:ext cx="98996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TODO: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0" y="6604084"/>
            <a:ext cx="10727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Andrej </a:t>
            </a:r>
            <a:r>
              <a:rPr lang="en-US" sz="1050" dirty="0" err="1"/>
              <a:t>Karpathy</a:t>
            </a:r>
            <a:endParaRPr lang="en-US" sz="1050" dirty="0"/>
          </a:p>
        </p:txBody>
      </p:sp>
      <p:sp>
        <p:nvSpPr>
          <p:cNvPr id="17" name="object 4">
            <a:extLst>
              <a:ext uri="{FF2B5EF4-FFF2-40B4-BE49-F238E27FC236}">
                <a16:creationId xmlns:a16="http://schemas.microsoft.com/office/drawing/2014/main" id="{3483E78B-3FAC-43DF-9BA0-EBE87049665C}"/>
              </a:ext>
            </a:extLst>
          </p:cNvPr>
          <p:cNvSpPr/>
          <p:nvPr/>
        </p:nvSpPr>
        <p:spPr>
          <a:xfrm>
            <a:off x="1404999" y="1863785"/>
            <a:ext cx="1140220" cy="125855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object 5">
            <a:extLst>
              <a:ext uri="{FF2B5EF4-FFF2-40B4-BE49-F238E27FC236}">
                <a16:creationId xmlns:a16="http://schemas.microsoft.com/office/drawing/2014/main" id="{8C15DAD6-1893-4F7E-99C2-673992903E5D}"/>
              </a:ext>
            </a:extLst>
          </p:cNvPr>
          <p:cNvSpPr/>
          <p:nvPr/>
        </p:nvSpPr>
        <p:spPr>
          <a:xfrm>
            <a:off x="2670995" y="1863788"/>
            <a:ext cx="1258539" cy="12585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" name="object 6">
            <a:extLst>
              <a:ext uri="{FF2B5EF4-FFF2-40B4-BE49-F238E27FC236}">
                <a16:creationId xmlns:a16="http://schemas.microsoft.com/office/drawing/2014/main" id="{1F7B5676-6AEE-443D-B4DA-F52CED0B2AE3}"/>
              </a:ext>
            </a:extLst>
          </p:cNvPr>
          <p:cNvSpPr/>
          <p:nvPr/>
        </p:nvSpPr>
        <p:spPr>
          <a:xfrm>
            <a:off x="4049442" y="1863808"/>
            <a:ext cx="1211047" cy="121104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object 9">
            <a:extLst>
              <a:ext uri="{FF2B5EF4-FFF2-40B4-BE49-F238E27FC236}">
                <a16:creationId xmlns:a16="http://schemas.microsoft.com/office/drawing/2014/main" id="{3B3218A1-1EF2-4F0A-B7ED-E8CD983E4E76}"/>
              </a:ext>
            </a:extLst>
          </p:cNvPr>
          <p:cNvSpPr txBox="1"/>
          <p:nvPr/>
        </p:nvSpPr>
        <p:spPr>
          <a:xfrm>
            <a:off x="198150" y="3137426"/>
            <a:ext cx="550545" cy="17456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lvl="0" indent="0" algn="just" defTabSz="914400" rtl="0" eaLnBrk="1" fontAlgn="auto" latinLnBrk="0" hangingPunct="1">
              <a:lnSpc>
                <a:spcPct val="158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cat  car  frog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1" name="object 10">
            <a:extLst>
              <a:ext uri="{FF2B5EF4-FFF2-40B4-BE49-F238E27FC236}">
                <a16:creationId xmlns:a16="http://schemas.microsoft.com/office/drawing/2014/main" id="{7D25C699-E704-4494-84E5-100A86297C4B}"/>
              </a:ext>
            </a:extLst>
          </p:cNvPr>
          <p:cNvSpPr txBox="1"/>
          <p:nvPr/>
        </p:nvSpPr>
        <p:spPr>
          <a:xfrm>
            <a:off x="1648542" y="3318856"/>
            <a:ext cx="681990" cy="1532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3.2</a:t>
            </a: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2540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5.1</a:t>
            </a: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-1.7</a:t>
            </a: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2" name="object 11">
            <a:extLst>
              <a:ext uri="{FF2B5EF4-FFF2-40B4-BE49-F238E27FC236}">
                <a16:creationId xmlns:a16="http://schemas.microsoft.com/office/drawing/2014/main" id="{E3CD45EC-28E4-4D6D-A13E-EEF8AA8BB68E}"/>
              </a:ext>
            </a:extLst>
          </p:cNvPr>
          <p:cNvSpPr txBox="1"/>
          <p:nvPr/>
        </p:nvSpPr>
        <p:spPr>
          <a:xfrm>
            <a:off x="3172539" y="3318856"/>
            <a:ext cx="554990" cy="1532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1.3</a:t>
            </a: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4.9</a:t>
            </a: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2.0</a:t>
            </a: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3" name="object 12">
            <a:extLst>
              <a:ext uri="{FF2B5EF4-FFF2-40B4-BE49-F238E27FC236}">
                <a16:creationId xmlns:a16="http://schemas.microsoft.com/office/drawing/2014/main" id="{F6D34D98-2115-4951-9435-EC8E72E26ABE}"/>
              </a:ext>
            </a:extLst>
          </p:cNvPr>
          <p:cNvSpPr txBox="1"/>
          <p:nvPr/>
        </p:nvSpPr>
        <p:spPr>
          <a:xfrm>
            <a:off x="4391736" y="3318856"/>
            <a:ext cx="707390" cy="1532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446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2.2</a:t>
            </a: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64465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2.5</a:t>
            </a: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1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-3.1</a:t>
            </a:r>
            <a:endParaRPr kumimoji="0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1D99AF-AB40-5A46-A735-2E6038850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35341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classifier </a:t>
            </a:r>
          </a:p>
        </p:txBody>
      </p:sp>
      <p:sp>
        <p:nvSpPr>
          <p:cNvPr id="3" name="object 4"/>
          <p:cNvSpPr/>
          <p:nvPr/>
        </p:nvSpPr>
        <p:spPr>
          <a:xfrm>
            <a:off x="1404999" y="1863785"/>
            <a:ext cx="1140220" cy="12585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" name="object 5"/>
          <p:cNvSpPr/>
          <p:nvPr/>
        </p:nvSpPr>
        <p:spPr>
          <a:xfrm>
            <a:off x="2670995" y="1863788"/>
            <a:ext cx="1258539" cy="12585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6"/>
          <p:cNvSpPr/>
          <p:nvPr/>
        </p:nvSpPr>
        <p:spPr>
          <a:xfrm>
            <a:off x="4049442" y="1863808"/>
            <a:ext cx="1211047" cy="121104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7"/>
          <p:cNvSpPr txBox="1"/>
          <p:nvPr/>
        </p:nvSpPr>
        <p:spPr>
          <a:xfrm>
            <a:off x="345848" y="1055935"/>
            <a:ext cx="4178300" cy="563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699"/>
              </a:lnSpc>
            </a:pPr>
            <a:r>
              <a:rPr spc="-5" dirty="0">
                <a:solidFill>
                  <a:prstClr val="black"/>
                </a:solidFill>
                <a:latin typeface="Arial"/>
                <a:cs typeface="Arial"/>
              </a:rPr>
              <a:t>Suppose: 3 training examples, 3 classes.  With some W the</a:t>
            </a:r>
            <a:r>
              <a:rPr spc="-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prstClr val="black"/>
                </a:solidFill>
                <a:latin typeface="Arial"/>
                <a:cs typeface="Arial"/>
              </a:rPr>
              <a:t>scores</a:t>
            </a:r>
            <a:endParaRPr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" name="object 8"/>
          <p:cNvSpPr txBox="1"/>
          <p:nvPr/>
        </p:nvSpPr>
        <p:spPr>
          <a:xfrm>
            <a:off x="4530820" y="1334080"/>
            <a:ext cx="41910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 dirty="0">
                <a:solidFill>
                  <a:prstClr val="black"/>
                </a:solidFill>
                <a:latin typeface="Arial"/>
                <a:cs typeface="Arial"/>
              </a:rPr>
              <a:t>are:</a:t>
            </a:r>
            <a:endParaRPr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object 9"/>
          <p:cNvSpPr txBox="1"/>
          <p:nvPr/>
        </p:nvSpPr>
        <p:spPr>
          <a:xfrm>
            <a:off x="198150" y="3137426"/>
            <a:ext cx="550545" cy="17456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5820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cat  car  frog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9" name="object 10"/>
          <p:cNvSpPr txBox="1"/>
          <p:nvPr/>
        </p:nvSpPr>
        <p:spPr>
          <a:xfrm>
            <a:off x="1648542" y="3318856"/>
            <a:ext cx="681990" cy="1532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 algn="ctr"/>
            <a:r>
              <a:rPr sz="3000" b="1" spc="-5" dirty="0">
                <a:solidFill>
                  <a:prstClr val="black"/>
                </a:solidFill>
                <a:latin typeface="Arial"/>
                <a:cs typeface="Arial"/>
              </a:rPr>
              <a:t>3.2</a:t>
            </a:r>
            <a:endParaRPr sz="3000">
              <a:solidFill>
                <a:prstClr val="black"/>
              </a:solidFill>
              <a:latin typeface="Arial"/>
              <a:cs typeface="Arial"/>
            </a:endParaRPr>
          </a:p>
          <a:p>
            <a:pPr marL="25400" algn="ctr">
              <a:spcBef>
                <a:spcPts val="600"/>
              </a:spcBef>
            </a:pPr>
            <a:r>
              <a:rPr sz="3000" spc="-5" dirty="0">
                <a:solidFill>
                  <a:prstClr val="black"/>
                </a:solidFill>
                <a:latin typeface="Arial"/>
                <a:cs typeface="Arial"/>
              </a:rPr>
              <a:t>5.1</a:t>
            </a:r>
            <a:endParaRPr sz="3000">
              <a:solidFill>
                <a:prstClr val="black"/>
              </a:solidFill>
              <a:latin typeface="Arial"/>
              <a:cs typeface="Arial"/>
            </a:endParaRPr>
          </a:p>
          <a:p>
            <a:pPr algn="ctr">
              <a:spcBef>
                <a:spcPts val="600"/>
              </a:spcBef>
            </a:pPr>
            <a:r>
              <a:rPr sz="3000" spc="-5" dirty="0">
                <a:solidFill>
                  <a:prstClr val="black"/>
                </a:solidFill>
                <a:latin typeface="Arial"/>
                <a:cs typeface="Arial"/>
              </a:rPr>
              <a:t>-1.7</a:t>
            </a:r>
            <a:endParaRPr sz="30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0" name="object 11"/>
          <p:cNvSpPr txBox="1"/>
          <p:nvPr/>
        </p:nvSpPr>
        <p:spPr>
          <a:xfrm>
            <a:off x="3172539" y="3318856"/>
            <a:ext cx="554990" cy="1532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3000" spc="-5" dirty="0">
                <a:solidFill>
                  <a:prstClr val="black"/>
                </a:solidFill>
                <a:latin typeface="Arial"/>
                <a:cs typeface="Arial"/>
              </a:rPr>
              <a:t>1.3</a:t>
            </a:r>
            <a:endParaRPr sz="30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600"/>
              </a:spcBef>
            </a:pPr>
            <a:r>
              <a:rPr sz="3000" b="1" spc="-5" dirty="0">
                <a:solidFill>
                  <a:prstClr val="black"/>
                </a:solidFill>
                <a:latin typeface="Arial"/>
                <a:cs typeface="Arial"/>
              </a:rPr>
              <a:t>4.9</a:t>
            </a:r>
            <a:endParaRPr sz="30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600"/>
              </a:spcBef>
            </a:pPr>
            <a:r>
              <a:rPr sz="3000" spc="-5" dirty="0">
                <a:solidFill>
                  <a:prstClr val="black"/>
                </a:solidFill>
                <a:latin typeface="Arial"/>
                <a:cs typeface="Arial"/>
              </a:rPr>
              <a:t>2.0</a:t>
            </a:r>
            <a:endParaRPr sz="30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1" name="object 12"/>
          <p:cNvSpPr txBox="1"/>
          <p:nvPr/>
        </p:nvSpPr>
        <p:spPr>
          <a:xfrm>
            <a:off x="4391736" y="3318856"/>
            <a:ext cx="707390" cy="1532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4465"/>
            <a:r>
              <a:rPr sz="3000" spc="-5" dirty="0">
                <a:solidFill>
                  <a:prstClr val="black"/>
                </a:solidFill>
                <a:latin typeface="Arial"/>
                <a:cs typeface="Arial"/>
              </a:rPr>
              <a:t>2.2</a:t>
            </a:r>
            <a:endParaRPr sz="3000">
              <a:solidFill>
                <a:prstClr val="black"/>
              </a:solidFill>
              <a:latin typeface="Arial"/>
              <a:cs typeface="Arial"/>
            </a:endParaRPr>
          </a:p>
          <a:p>
            <a:pPr marL="164465">
              <a:spcBef>
                <a:spcPts val="600"/>
              </a:spcBef>
            </a:pPr>
            <a:r>
              <a:rPr sz="3000" spc="-5" dirty="0">
                <a:solidFill>
                  <a:prstClr val="black"/>
                </a:solidFill>
                <a:latin typeface="Arial"/>
                <a:cs typeface="Arial"/>
              </a:rPr>
              <a:t>2.5</a:t>
            </a:r>
            <a:endParaRPr sz="30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600"/>
              </a:spcBef>
            </a:pPr>
            <a:r>
              <a:rPr sz="3000" b="1" spc="-5" dirty="0">
                <a:solidFill>
                  <a:prstClr val="black"/>
                </a:solidFill>
                <a:latin typeface="Arial"/>
                <a:cs typeface="Arial"/>
              </a:rPr>
              <a:t>-3.1</a:t>
            </a:r>
            <a:endParaRPr sz="30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2" name="object 13"/>
          <p:cNvSpPr/>
          <p:nvPr/>
        </p:nvSpPr>
        <p:spPr>
          <a:xfrm>
            <a:off x="2975794" y="1336775"/>
            <a:ext cx="1449172" cy="3067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0" y="6604084"/>
            <a:ext cx="199926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Adapted from Andrej </a:t>
            </a:r>
            <a:r>
              <a:rPr lang="en-US" sz="1050" dirty="0" err="1"/>
              <a:t>Karpathy</a:t>
            </a:r>
            <a:endParaRPr lang="en-US" sz="1050" dirty="0"/>
          </a:p>
        </p:txBody>
      </p:sp>
      <p:sp>
        <p:nvSpPr>
          <p:cNvPr id="14" name="灯片编号占位符 13">
            <a:extLst>
              <a:ext uri="{FF2B5EF4-FFF2-40B4-BE49-F238E27FC236}">
                <a16:creationId xmlns:a16="http://schemas.microsoft.com/office/drawing/2014/main" id="{6E2F4BA6-A68E-6048-AAA9-F3C0FDDDF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63871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classifier: Hinge loss </a:t>
            </a:r>
          </a:p>
        </p:txBody>
      </p:sp>
      <p:sp>
        <p:nvSpPr>
          <p:cNvPr id="3" name="object 4"/>
          <p:cNvSpPr/>
          <p:nvPr/>
        </p:nvSpPr>
        <p:spPr>
          <a:xfrm>
            <a:off x="1404999" y="1863785"/>
            <a:ext cx="1140220" cy="12585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" name="object 5"/>
          <p:cNvSpPr/>
          <p:nvPr/>
        </p:nvSpPr>
        <p:spPr>
          <a:xfrm>
            <a:off x="2670995" y="1863788"/>
            <a:ext cx="1258539" cy="12585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6"/>
          <p:cNvSpPr/>
          <p:nvPr/>
        </p:nvSpPr>
        <p:spPr>
          <a:xfrm>
            <a:off x="4049442" y="1863808"/>
            <a:ext cx="1211047" cy="121104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7"/>
          <p:cNvSpPr txBox="1"/>
          <p:nvPr/>
        </p:nvSpPr>
        <p:spPr>
          <a:xfrm>
            <a:off x="345848" y="1055935"/>
            <a:ext cx="4178300" cy="563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699"/>
              </a:lnSpc>
            </a:pPr>
            <a:r>
              <a:rPr spc="-5" dirty="0">
                <a:solidFill>
                  <a:prstClr val="black"/>
                </a:solidFill>
                <a:latin typeface="Arial"/>
                <a:cs typeface="Arial"/>
              </a:rPr>
              <a:t>Suppose: 3 training examples, 3 classes.  With some W the</a:t>
            </a:r>
            <a:r>
              <a:rPr spc="-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prstClr val="black"/>
                </a:solidFill>
                <a:latin typeface="Arial"/>
                <a:cs typeface="Arial"/>
              </a:rPr>
              <a:t>scores</a:t>
            </a:r>
            <a:endParaRPr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" name="object 8"/>
          <p:cNvSpPr txBox="1"/>
          <p:nvPr/>
        </p:nvSpPr>
        <p:spPr>
          <a:xfrm>
            <a:off x="4530820" y="1334080"/>
            <a:ext cx="41910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 dirty="0">
                <a:solidFill>
                  <a:prstClr val="black"/>
                </a:solidFill>
                <a:latin typeface="Arial"/>
                <a:cs typeface="Arial"/>
              </a:rPr>
              <a:t>are:</a:t>
            </a:r>
            <a:endParaRPr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object 9"/>
          <p:cNvSpPr txBox="1"/>
          <p:nvPr/>
        </p:nvSpPr>
        <p:spPr>
          <a:xfrm>
            <a:off x="198150" y="3137426"/>
            <a:ext cx="550545" cy="17456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5820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cat  car  frog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9" name="object 10"/>
          <p:cNvSpPr txBox="1"/>
          <p:nvPr/>
        </p:nvSpPr>
        <p:spPr>
          <a:xfrm>
            <a:off x="1648542" y="3318856"/>
            <a:ext cx="681990" cy="1532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 algn="ctr"/>
            <a:r>
              <a:rPr sz="3000" b="1" spc="-5" dirty="0">
                <a:solidFill>
                  <a:prstClr val="black"/>
                </a:solidFill>
                <a:latin typeface="Arial"/>
                <a:cs typeface="Arial"/>
              </a:rPr>
              <a:t>3.2</a:t>
            </a:r>
            <a:endParaRPr sz="3000">
              <a:solidFill>
                <a:prstClr val="black"/>
              </a:solidFill>
              <a:latin typeface="Arial"/>
              <a:cs typeface="Arial"/>
            </a:endParaRPr>
          </a:p>
          <a:p>
            <a:pPr marL="25400" algn="ctr">
              <a:spcBef>
                <a:spcPts val="600"/>
              </a:spcBef>
            </a:pPr>
            <a:r>
              <a:rPr sz="3000" spc="-5" dirty="0">
                <a:solidFill>
                  <a:prstClr val="black"/>
                </a:solidFill>
                <a:latin typeface="Arial"/>
                <a:cs typeface="Arial"/>
              </a:rPr>
              <a:t>5.1</a:t>
            </a:r>
            <a:endParaRPr sz="3000">
              <a:solidFill>
                <a:prstClr val="black"/>
              </a:solidFill>
              <a:latin typeface="Arial"/>
              <a:cs typeface="Arial"/>
            </a:endParaRPr>
          </a:p>
          <a:p>
            <a:pPr algn="ctr">
              <a:spcBef>
                <a:spcPts val="600"/>
              </a:spcBef>
            </a:pPr>
            <a:r>
              <a:rPr sz="3000" spc="-5" dirty="0">
                <a:solidFill>
                  <a:prstClr val="black"/>
                </a:solidFill>
                <a:latin typeface="Arial"/>
                <a:cs typeface="Arial"/>
              </a:rPr>
              <a:t>-1.7</a:t>
            </a:r>
            <a:endParaRPr sz="30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0" name="object 11"/>
          <p:cNvSpPr txBox="1"/>
          <p:nvPr/>
        </p:nvSpPr>
        <p:spPr>
          <a:xfrm>
            <a:off x="3172539" y="3318856"/>
            <a:ext cx="554990" cy="1532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3000" spc="-5" dirty="0">
                <a:solidFill>
                  <a:prstClr val="black"/>
                </a:solidFill>
                <a:latin typeface="Arial"/>
                <a:cs typeface="Arial"/>
              </a:rPr>
              <a:t>1.3</a:t>
            </a:r>
            <a:endParaRPr sz="30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600"/>
              </a:spcBef>
            </a:pPr>
            <a:r>
              <a:rPr sz="3000" b="1" spc="-5" dirty="0">
                <a:solidFill>
                  <a:prstClr val="black"/>
                </a:solidFill>
                <a:latin typeface="Arial"/>
                <a:cs typeface="Arial"/>
              </a:rPr>
              <a:t>4.9</a:t>
            </a:r>
            <a:endParaRPr sz="30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600"/>
              </a:spcBef>
            </a:pPr>
            <a:r>
              <a:rPr sz="3000" spc="-5" dirty="0">
                <a:solidFill>
                  <a:prstClr val="black"/>
                </a:solidFill>
                <a:latin typeface="Arial"/>
                <a:cs typeface="Arial"/>
              </a:rPr>
              <a:t>2.0</a:t>
            </a:r>
            <a:endParaRPr sz="30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1" name="object 12"/>
          <p:cNvSpPr txBox="1"/>
          <p:nvPr/>
        </p:nvSpPr>
        <p:spPr>
          <a:xfrm>
            <a:off x="4391736" y="3318856"/>
            <a:ext cx="707390" cy="1532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4465"/>
            <a:r>
              <a:rPr sz="3000" spc="-5" dirty="0">
                <a:solidFill>
                  <a:prstClr val="black"/>
                </a:solidFill>
                <a:latin typeface="Arial"/>
                <a:cs typeface="Arial"/>
              </a:rPr>
              <a:t>2.2</a:t>
            </a:r>
            <a:endParaRPr sz="3000">
              <a:solidFill>
                <a:prstClr val="black"/>
              </a:solidFill>
              <a:latin typeface="Arial"/>
              <a:cs typeface="Arial"/>
            </a:endParaRPr>
          </a:p>
          <a:p>
            <a:pPr marL="164465">
              <a:spcBef>
                <a:spcPts val="600"/>
              </a:spcBef>
            </a:pPr>
            <a:r>
              <a:rPr sz="3000" spc="-5" dirty="0">
                <a:solidFill>
                  <a:prstClr val="black"/>
                </a:solidFill>
                <a:latin typeface="Arial"/>
                <a:cs typeface="Arial"/>
              </a:rPr>
              <a:t>2.5</a:t>
            </a:r>
            <a:endParaRPr sz="30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600"/>
              </a:spcBef>
            </a:pPr>
            <a:r>
              <a:rPr sz="3000" b="1" spc="-5" dirty="0">
                <a:solidFill>
                  <a:prstClr val="black"/>
                </a:solidFill>
                <a:latin typeface="Arial"/>
                <a:cs typeface="Arial"/>
              </a:rPr>
              <a:t>-3.1</a:t>
            </a:r>
            <a:endParaRPr sz="30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2" name="object 13"/>
          <p:cNvSpPr/>
          <p:nvPr/>
        </p:nvSpPr>
        <p:spPr>
          <a:xfrm>
            <a:off x="2975794" y="1336775"/>
            <a:ext cx="1449172" cy="3067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3" name="object 14"/>
          <p:cNvSpPr/>
          <p:nvPr/>
        </p:nvSpPr>
        <p:spPr>
          <a:xfrm>
            <a:off x="5679888" y="981274"/>
            <a:ext cx="0" cy="4439920"/>
          </a:xfrm>
          <a:custGeom>
            <a:avLst/>
            <a:gdLst/>
            <a:ahLst/>
            <a:cxnLst/>
            <a:rect l="l" t="t" r="r" b="b"/>
            <a:pathLst>
              <a:path h="4439920">
                <a:moveTo>
                  <a:pt x="0" y="0"/>
                </a:moveTo>
                <a:lnTo>
                  <a:pt x="0" y="4439691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4" name="object 15"/>
          <p:cNvSpPr txBox="1"/>
          <p:nvPr/>
        </p:nvSpPr>
        <p:spPr>
          <a:xfrm>
            <a:off x="5976065" y="1108405"/>
            <a:ext cx="2284730" cy="692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n-US" b="1" spc="-5" dirty="0">
                <a:solidFill>
                  <a:prstClr val="black"/>
                </a:solidFill>
                <a:latin typeface="Arial"/>
                <a:cs typeface="Arial"/>
              </a:rPr>
              <a:t>Hinge </a:t>
            </a:r>
            <a:r>
              <a:rPr b="1" spc="-5" dirty="0">
                <a:solidFill>
                  <a:prstClr val="black"/>
                </a:solidFill>
                <a:latin typeface="Arial"/>
                <a:cs typeface="Arial"/>
              </a:rPr>
              <a:t>loss:</a:t>
            </a:r>
            <a:endParaRPr dirty="0">
              <a:solidFill>
                <a:prstClr val="black"/>
              </a:solidFill>
              <a:latin typeface="Arial"/>
              <a:cs typeface="Arial"/>
            </a:endParaRPr>
          </a:p>
          <a:p>
            <a:pPr marL="30480">
              <a:spcBef>
                <a:spcPts val="1520"/>
              </a:spcBef>
            </a:pP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Given an</a:t>
            </a:r>
            <a:r>
              <a:rPr sz="140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example</a:t>
            </a:r>
            <a:endParaRPr sz="1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5" name="object 16"/>
          <p:cNvSpPr txBox="1"/>
          <p:nvPr/>
        </p:nvSpPr>
        <p:spPr>
          <a:xfrm>
            <a:off x="5994439" y="1795722"/>
            <a:ext cx="509905" cy="4360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1650"/>
              </a:lnSpc>
            </a:pP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where  where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6" name="object 17"/>
          <p:cNvSpPr txBox="1"/>
          <p:nvPr/>
        </p:nvSpPr>
        <p:spPr>
          <a:xfrm>
            <a:off x="6823343" y="1785561"/>
            <a:ext cx="1635125" cy="434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594">
              <a:lnSpc>
                <a:spcPts val="1664"/>
              </a:lnSpc>
            </a:pP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is the image</a:t>
            </a:r>
            <a:r>
              <a:rPr sz="1400" spc="-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and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1664"/>
              </a:lnSpc>
            </a:pP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is the (integer)</a:t>
            </a:r>
            <a:r>
              <a:rPr sz="14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label,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7" name="object 18"/>
          <p:cNvSpPr txBox="1"/>
          <p:nvPr/>
        </p:nvSpPr>
        <p:spPr>
          <a:xfrm>
            <a:off x="5994438" y="2424371"/>
            <a:ext cx="2485390" cy="4360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1650"/>
              </a:lnSpc>
            </a:pP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and using the shorthand for the  </a:t>
            </a:r>
            <a:r>
              <a:rPr sz="1400" dirty="0">
                <a:solidFill>
                  <a:prstClr val="black"/>
                </a:solidFill>
                <a:latin typeface="Arial"/>
                <a:cs typeface="Arial"/>
              </a:rPr>
              <a:t>scores</a:t>
            </a:r>
            <a:r>
              <a:rPr sz="1400" spc="-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vector: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8" name="object 19"/>
          <p:cNvSpPr txBox="1"/>
          <p:nvPr/>
        </p:nvSpPr>
        <p:spPr>
          <a:xfrm>
            <a:off x="5994439" y="3252408"/>
            <a:ext cx="2158365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the </a:t>
            </a:r>
            <a:r>
              <a:rPr lang="en-US" sz="1400" spc="-5" dirty="0">
                <a:solidFill>
                  <a:prstClr val="black"/>
                </a:solidFill>
                <a:latin typeface="Arial"/>
                <a:cs typeface="Arial"/>
              </a:rPr>
              <a:t>loss </a:t>
            </a: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has the</a:t>
            </a:r>
            <a:r>
              <a:rPr sz="14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form:</a:t>
            </a:r>
            <a:endParaRPr sz="1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object 20"/>
          <p:cNvSpPr/>
          <p:nvPr/>
        </p:nvSpPr>
        <p:spPr>
          <a:xfrm>
            <a:off x="7555385" y="1513452"/>
            <a:ext cx="723573" cy="30679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0" name="object 21"/>
          <p:cNvSpPr/>
          <p:nvPr/>
        </p:nvSpPr>
        <p:spPr>
          <a:xfrm>
            <a:off x="6547013" y="2000373"/>
            <a:ext cx="240049" cy="3067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1" name="object 22"/>
          <p:cNvSpPr/>
          <p:nvPr/>
        </p:nvSpPr>
        <p:spPr>
          <a:xfrm>
            <a:off x="6583387" y="1789424"/>
            <a:ext cx="240049" cy="30679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2" name="object 23"/>
          <p:cNvSpPr/>
          <p:nvPr/>
        </p:nvSpPr>
        <p:spPr>
          <a:xfrm>
            <a:off x="7179785" y="2639546"/>
            <a:ext cx="1099172" cy="22939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3" name="object 24"/>
          <p:cNvSpPr/>
          <p:nvPr/>
        </p:nvSpPr>
        <p:spPr>
          <a:xfrm>
            <a:off x="5748014" y="3603820"/>
            <a:ext cx="3316043" cy="35549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4" name="object 25"/>
          <p:cNvSpPr/>
          <p:nvPr/>
        </p:nvSpPr>
        <p:spPr>
          <a:xfrm>
            <a:off x="5738488" y="3594294"/>
            <a:ext cx="3335654" cy="374650"/>
          </a:xfrm>
          <a:custGeom>
            <a:avLst/>
            <a:gdLst/>
            <a:ahLst/>
            <a:cxnLst/>
            <a:rect l="l" t="t" r="r" b="b"/>
            <a:pathLst>
              <a:path w="3335654" h="374650">
                <a:moveTo>
                  <a:pt x="0" y="0"/>
                </a:moveTo>
                <a:lnTo>
                  <a:pt x="3335093" y="0"/>
                </a:lnTo>
                <a:lnTo>
                  <a:pt x="3335093" y="374549"/>
                </a:lnTo>
                <a:lnTo>
                  <a:pt x="0" y="37454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0" y="6604084"/>
            <a:ext cx="199926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Adapted from Andrej </a:t>
            </a:r>
            <a:r>
              <a:rPr lang="en-US" sz="1050" dirty="0" err="1"/>
              <a:t>Karpathy</a:t>
            </a:r>
            <a:endParaRPr lang="en-US" sz="1050" dirty="0"/>
          </a:p>
        </p:txBody>
      </p:sp>
      <p:sp>
        <p:nvSpPr>
          <p:cNvPr id="26" name="TextBox 25"/>
          <p:cNvSpPr txBox="1"/>
          <p:nvPr/>
        </p:nvSpPr>
        <p:spPr>
          <a:xfrm>
            <a:off x="5829094" y="4185623"/>
            <a:ext cx="327134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Want: </a:t>
            </a:r>
            <a:r>
              <a:rPr lang="en-US" sz="1400" dirty="0" err="1"/>
              <a:t>s</a:t>
            </a:r>
            <a:r>
              <a:rPr lang="en-US" sz="1400" baseline="-25000" dirty="0" err="1"/>
              <a:t>y</a:t>
            </a:r>
            <a:r>
              <a:rPr lang="en-US" sz="1400" baseline="-40000" dirty="0" err="1"/>
              <a:t>i</a:t>
            </a:r>
            <a:r>
              <a:rPr lang="en-US" sz="1400" dirty="0"/>
              <a:t> &gt;= </a:t>
            </a:r>
            <a:r>
              <a:rPr lang="en-US" sz="1400" dirty="0" err="1"/>
              <a:t>s</a:t>
            </a:r>
            <a:r>
              <a:rPr lang="en-US" sz="1400" baseline="-25000" dirty="0" err="1"/>
              <a:t>j</a:t>
            </a:r>
            <a:r>
              <a:rPr lang="en-US" sz="1400" dirty="0"/>
              <a:t> + 1</a:t>
            </a:r>
          </a:p>
          <a:p>
            <a:r>
              <a:rPr lang="en-US" sz="1400" dirty="0"/>
              <a:t>i.e. </a:t>
            </a:r>
            <a:r>
              <a:rPr lang="en-US" sz="1400" dirty="0" err="1"/>
              <a:t>s</a:t>
            </a:r>
            <a:r>
              <a:rPr lang="en-US" sz="1400" baseline="-25000" dirty="0" err="1"/>
              <a:t>j</a:t>
            </a:r>
            <a:r>
              <a:rPr lang="en-US" sz="1400" dirty="0"/>
              <a:t> – </a:t>
            </a:r>
            <a:r>
              <a:rPr lang="en-US" sz="1400" dirty="0" err="1"/>
              <a:t>s</a:t>
            </a:r>
            <a:r>
              <a:rPr lang="en-US" sz="1400" baseline="-25000" dirty="0" err="1"/>
              <a:t>y</a:t>
            </a:r>
            <a:r>
              <a:rPr lang="en-US" sz="1400" baseline="-40000" dirty="0" err="1"/>
              <a:t>i</a:t>
            </a:r>
            <a:r>
              <a:rPr lang="en-US" sz="1400" dirty="0"/>
              <a:t> + 1 &lt;= 0</a:t>
            </a:r>
          </a:p>
          <a:p>
            <a:endParaRPr lang="en-US" sz="1400" dirty="0"/>
          </a:p>
          <a:p>
            <a:r>
              <a:rPr lang="en-US" sz="1400" dirty="0"/>
              <a:t>If true, loss is 0</a:t>
            </a:r>
          </a:p>
          <a:p>
            <a:r>
              <a:rPr lang="en-US" sz="1400" dirty="0"/>
              <a:t>If false, loss is magnitude of violation</a:t>
            </a:r>
          </a:p>
        </p:txBody>
      </p:sp>
      <p:sp>
        <p:nvSpPr>
          <p:cNvPr id="27" name="灯片编号占位符 26">
            <a:extLst>
              <a:ext uri="{FF2B5EF4-FFF2-40B4-BE49-F238E27FC236}">
                <a16:creationId xmlns:a16="http://schemas.microsoft.com/office/drawing/2014/main" id="{40061D24-C5CA-9041-9654-BA3E2C4FB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28630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classifier: Hinge loss </a:t>
            </a:r>
          </a:p>
        </p:txBody>
      </p:sp>
      <p:sp>
        <p:nvSpPr>
          <p:cNvPr id="3" name="object 4"/>
          <p:cNvSpPr txBox="1">
            <a:spLocks/>
          </p:cNvSpPr>
          <p:nvPr/>
        </p:nvSpPr>
        <p:spPr bwMode="auto">
          <a:xfrm>
            <a:off x="345848" y="1055935"/>
            <a:ext cx="4178300" cy="5632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9pPr>
          </a:lstStyle>
          <a:p>
            <a:pPr marL="12700" marR="5080">
              <a:lnSpc>
                <a:spcPct val="100699"/>
              </a:lnSpc>
            </a:pPr>
            <a:r>
              <a:rPr lang="en-US" sz="1800" kern="0" spc="-5"/>
              <a:t>Suppose: 3 training examples, 3 classes.  With some W the</a:t>
            </a:r>
            <a:r>
              <a:rPr lang="en-US" sz="1800" kern="0" spc="-55"/>
              <a:t> </a:t>
            </a:r>
            <a:r>
              <a:rPr lang="en-US" sz="1800" kern="0"/>
              <a:t>scores</a:t>
            </a:r>
          </a:p>
        </p:txBody>
      </p:sp>
      <p:sp>
        <p:nvSpPr>
          <p:cNvPr id="4" name="object 5"/>
          <p:cNvSpPr txBox="1"/>
          <p:nvPr/>
        </p:nvSpPr>
        <p:spPr>
          <a:xfrm>
            <a:off x="4530820" y="1334080"/>
            <a:ext cx="41910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 dirty="0">
                <a:solidFill>
                  <a:prstClr val="black"/>
                </a:solidFill>
                <a:latin typeface="Arial"/>
                <a:cs typeface="Arial"/>
              </a:rPr>
              <a:t>are:</a:t>
            </a:r>
            <a:endParaRPr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6"/>
          <p:cNvSpPr txBox="1"/>
          <p:nvPr/>
        </p:nvSpPr>
        <p:spPr>
          <a:xfrm>
            <a:off x="5976065" y="1108405"/>
            <a:ext cx="2284730" cy="692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n-US" b="1" spc="-5" dirty="0">
                <a:solidFill>
                  <a:prstClr val="black"/>
                </a:solidFill>
                <a:latin typeface="Arial"/>
                <a:cs typeface="Arial"/>
              </a:rPr>
              <a:t>Hinge </a:t>
            </a:r>
            <a:r>
              <a:rPr b="1" spc="-5" dirty="0">
                <a:solidFill>
                  <a:prstClr val="black"/>
                </a:solidFill>
                <a:latin typeface="Arial"/>
                <a:cs typeface="Arial"/>
              </a:rPr>
              <a:t>loss:</a:t>
            </a:r>
            <a:endParaRPr dirty="0">
              <a:solidFill>
                <a:prstClr val="black"/>
              </a:solidFill>
              <a:latin typeface="Arial"/>
              <a:cs typeface="Arial"/>
            </a:endParaRPr>
          </a:p>
          <a:p>
            <a:pPr marL="30480">
              <a:spcBef>
                <a:spcPts val="1520"/>
              </a:spcBef>
            </a:pP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Given an</a:t>
            </a:r>
            <a:r>
              <a:rPr sz="140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example</a:t>
            </a:r>
            <a:endParaRPr sz="1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7"/>
          <p:cNvSpPr txBox="1"/>
          <p:nvPr/>
        </p:nvSpPr>
        <p:spPr>
          <a:xfrm>
            <a:off x="5994439" y="1795722"/>
            <a:ext cx="509905" cy="4360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1650"/>
              </a:lnSpc>
            </a:pP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where  where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" name="object 8"/>
          <p:cNvSpPr txBox="1"/>
          <p:nvPr/>
        </p:nvSpPr>
        <p:spPr>
          <a:xfrm>
            <a:off x="6823343" y="1785561"/>
            <a:ext cx="1635125" cy="434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594">
              <a:lnSpc>
                <a:spcPts val="1664"/>
              </a:lnSpc>
            </a:pP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is the image</a:t>
            </a:r>
            <a:r>
              <a:rPr sz="1400" spc="-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and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1664"/>
              </a:lnSpc>
            </a:pP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is the (integer)</a:t>
            </a:r>
            <a:r>
              <a:rPr sz="14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label,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object 9"/>
          <p:cNvSpPr txBox="1"/>
          <p:nvPr/>
        </p:nvSpPr>
        <p:spPr>
          <a:xfrm>
            <a:off x="5994438" y="2424370"/>
            <a:ext cx="2485390" cy="10823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1650"/>
              </a:lnSpc>
            </a:pP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and using the shorthand for the  </a:t>
            </a:r>
            <a:r>
              <a:rPr sz="1400" dirty="0">
                <a:solidFill>
                  <a:prstClr val="black"/>
                </a:solidFill>
                <a:latin typeface="Arial"/>
                <a:cs typeface="Arial"/>
              </a:rPr>
              <a:t>scores</a:t>
            </a:r>
            <a:r>
              <a:rPr sz="1400" spc="-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vector:</a:t>
            </a:r>
            <a:endParaRPr sz="1400" dirty="0">
              <a:solidFill>
                <a:prstClr val="black"/>
              </a:solidFill>
              <a:latin typeface="Arial"/>
              <a:cs typeface="Arial"/>
            </a:endParaRPr>
          </a:p>
          <a:p>
            <a:endParaRPr sz="14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endParaRPr sz="14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the loss has the</a:t>
            </a:r>
            <a:r>
              <a:rPr sz="14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form:</a:t>
            </a:r>
            <a:endParaRPr sz="1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9" name="object 10"/>
          <p:cNvSpPr txBox="1"/>
          <p:nvPr/>
        </p:nvSpPr>
        <p:spPr>
          <a:xfrm>
            <a:off x="5885310" y="4033098"/>
            <a:ext cx="2868930" cy="13900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 dirty="0">
                <a:solidFill>
                  <a:srgbClr val="0000FF"/>
                </a:solidFill>
                <a:latin typeface="Arial"/>
                <a:cs typeface="Arial"/>
              </a:rPr>
              <a:t>= max(0, 5.1 </a:t>
            </a:r>
            <a:r>
              <a:rPr dirty="0">
                <a:solidFill>
                  <a:srgbClr val="0000FF"/>
                </a:solidFill>
                <a:latin typeface="Arial"/>
                <a:cs typeface="Arial"/>
              </a:rPr>
              <a:t>- </a:t>
            </a:r>
            <a:r>
              <a:rPr spc="-5" dirty="0">
                <a:solidFill>
                  <a:srgbClr val="0000FF"/>
                </a:solidFill>
                <a:latin typeface="Arial"/>
                <a:cs typeface="Arial"/>
              </a:rPr>
              <a:t>3.2 +</a:t>
            </a:r>
            <a:r>
              <a:rPr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0000FF"/>
                </a:solidFill>
                <a:latin typeface="Arial"/>
                <a:cs typeface="Arial"/>
              </a:rPr>
              <a:t>1)</a:t>
            </a:r>
            <a:endParaRPr>
              <a:solidFill>
                <a:prstClr val="black"/>
              </a:solidFill>
              <a:latin typeface="Arial"/>
              <a:cs typeface="Arial"/>
            </a:endParaRPr>
          </a:p>
          <a:p>
            <a:pPr marL="202565">
              <a:spcBef>
                <a:spcPts val="15"/>
              </a:spcBef>
            </a:pPr>
            <a:r>
              <a:rPr spc="-5" dirty="0">
                <a:solidFill>
                  <a:srgbClr val="0000FF"/>
                </a:solidFill>
                <a:latin typeface="Arial"/>
                <a:cs typeface="Arial"/>
              </a:rPr>
              <a:t>+max(0, -1.7 </a:t>
            </a:r>
            <a:r>
              <a:rPr dirty="0">
                <a:solidFill>
                  <a:srgbClr val="0000FF"/>
                </a:solidFill>
                <a:latin typeface="Arial"/>
                <a:cs typeface="Arial"/>
              </a:rPr>
              <a:t>- </a:t>
            </a:r>
            <a:r>
              <a:rPr spc="-5" dirty="0">
                <a:solidFill>
                  <a:srgbClr val="0000FF"/>
                </a:solidFill>
                <a:latin typeface="Arial"/>
                <a:cs typeface="Arial"/>
              </a:rPr>
              <a:t>3.2 +</a:t>
            </a:r>
            <a:r>
              <a:rPr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0000FF"/>
                </a:solidFill>
                <a:latin typeface="Arial"/>
                <a:cs typeface="Arial"/>
              </a:rPr>
              <a:t>1)</a:t>
            </a:r>
            <a:endParaRPr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15"/>
              </a:spcBef>
            </a:pPr>
            <a:r>
              <a:rPr spc="-5" dirty="0">
                <a:solidFill>
                  <a:srgbClr val="0000FF"/>
                </a:solidFill>
                <a:latin typeface="Arial"/>
                <a:cs typeface="Arial"/>
              </a:rPr>
              <a:t>= max(0, 2.9) + max(0, -3.9)</a:t>
            </a:r>
            <a:endParaRPr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15"/>
              </a:spcBef>
            </a:pPr>
            <a:r>
              <a:rPr spc="-5" dirty="0">
                <a:solidFill>
                  <a:srgbClr val="0000FF"/>
                </a:solidFill>
                <a:latin typeface="Arial"/>
                <a:cs typeface="Arial"/>
              </a:rPr>
              <a:t>= 2.9 +</a:t>
            </a:r>
            <a:r>
              <a:rPr spc="-8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0000FF"/>
                </a:solidFill>
                <a:latin typeface="Arial"/>
                <a:cs typeface="Arial"/>
              </a:rPr>
              <a:t>0</a:t>
            </a:r>
            <a:endParaRPr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15"/>
              </a:spcBef>
            </a:pPr>
            <a:r>
              <a:rPr spc="-5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pc="-9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0000FF"/>
                </a:solidFill>
                <a:latin typeface="Arial"/>
                <a:cs typeface="Arial"/>
              </a:rPr>
              <a:t>2.9</a:t>
            </a:r>
            <a:endParaRPr>
              <a:solidFill>
                <a:prstClr val="black"/>
              </a:solidFill>
              <a:latin typeface="Arial"/>
              <a:cs typeface="Arial"/>
            </a:endParaRPr>
          </a:p>
        </p:txBody>
      </p:sp>
      <p:graphicFrame>
        <p:nvGraphicFramePr>
          <p:cNvPr id="10" name="object 11"/>
          <p:cNvGraphicFramePr>
            <a:graphicFrameLocks noGrp="1"/>
          </p:cNvGraphicFramePr>
          <p:nvPr/>
        </p:nvGraphicFramePr>
        <p:xfrm>
          <a:off x="98375" y="3248295"/>
          <a:ext cx="5393988" cy="21303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672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58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08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73196"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cat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112395" marR="712470">
                        <a:lnSpc>
                          <a:spcPct val="157900"/>
                        </a:lnSpc>
                        <a:spcBef>
                          <a:spcPts val="15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car 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frog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9049">
                      <a:solidFill>
                        <a:srgbClr val="0000FF"/>
                      </a:solidFill>
                      <a:prstDash val="solid"/>
                    </a:lnR>
                    <a:lnB w="952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4930"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3000" b="1" spc="-5" dirty="0">
                          <a:latin typeface="Arial"/>
                          <a:cs typeface="Arial"/>
                        </a:rPr>
                        <a:t>3.2</a:t>
                      </a:r>
                      <a:endParaRPr sz="3000">
                        <a:latin typeface="Arial"/>
                        <a:cs typeface="Arial"/>
                      </a:endParaRPr>
                    </a:p>
                    <a:p>
                      <a:pPr marR="74930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3000" spc="-5" dirty="0">
                          <a:latin typeface="Arial"/>
                          <a:cs typeface="Arial"/>
                        </a:rPr>
                        <a:t>5.1</a:t>
                      </a:r>
                      <a:endParaRPr sz="3000">
                        <a:latin typeface="Arial"/>
                        <a:cs typeface="Arial"/>
                      </a:endParaRPr>
                    </a:p>
                    <a:p>
                      <a:pPr marR="101600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3000" spc="-5" dirty="0">
                          <a:latin typeface="Arial"/>
                          <a:cs typeface="Arial"/>
                        </a:rPr>
                        <a:t>-1.7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49">
                      <a:solidFill>
                        <a:srgbClr val="0000FF"/>
                      </a:solidFill>
                      <a:prstDash val="solid"/>
                    </a:lnL>
                    <a:lnR w="19049">
                      <a:solidFill>
                        <a:srgbClr val="0000FF"/>
                      </a:solidFill>
                      <a:prstDash val="solid"/>
                    </a:lnR>
                    <a:lnT w="19049">
                      <a:solidFill>
                        <a:srgbClr val="0000FF"/>
                      </a:solidFill>
                      <a:prstDash val="solid"/>
                    </a:lnT>
                    <a:lnB w="952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3720">
                        <a:lnSpc>
                          <a:spcPct val="100000"/>
                        </a:lnSpc>
                        <a:spcBef>
                          <a:spcPts val="480"/>
                        </a:spcBef>
                        <a:tabLst>
                          <a:tab pos="1925320" algn="l"/>
                        </a:tabLst>
                      </a:pPr>
                      <a:r>
                        <a:rPr sz="3000" spc="-5" dirty="0">
                          <a:latin typeface="Arial"/>
                          <a:cs typeface="Arial"/>
                        </a:rPr>
                        <a:t>1.3	2.2</a:t>
                      </a:r>
                      <a:endParaRPr sz="3000">
                        <a:latin typeface="Arial"/>
                        <a:cs typeface="Arial"/>
                      </a:endParaRPr>
                    </a:p>
                    <a:p>
                      <a:pPr marL="553720">
                        <a:lnSpc>
                          <a:spcPct val="100000"/>
                        </a:lnSpc>
                        <a:spcBef>
                          <a:spcPts val="600"/>
                        </a:spcBef>
                        <a:tabLst>
                          <a:tab pos="1925320" algn="l"/>
                        </a:tabLst>
                      </a:pPr>
                      <a:r>
                        <a:rPr sz="3000" b="1" spc="-5" dirty="0">
                          <a:latin typeface="Arial"/>
                          <a:cs typeface="Arial"/>
                        </a:rPr>
                        <a:t>4.9	</a:t>
                      </a:r>
                      <a:r>
                        <a:rPr sz="3000" spc="-5" dirty="0">
                          <a:latin typeface="Arial"/>
                          <a:cs typeface="Arial"/>
                        </a:rPr>
                        <a:t>2.5</a:t>
                      </a:r>
                      <a:endParaRPr sz="3000">
                        <a:latin typeface="Arial"/>
                        <a:cs typeface="Arial"/>
                      </a:endParaRPr>
                    </a:p>
                    <a:p>
                      <a:pPr marL="553720">
                        <a:lnSpc>
                          <a:spcPct val="100000"/>
                        </a:lnSpc>
                        <a:spcBef>
                          <a:spcPts val="600"/>
                        </a:spcBef>
                        <a:tabLst>
                          <a:tab pos="1772920" algn="l"/>
                        </a:tabLst>
                      </a:pPr>
                      <a:r>
                        <a:rPr sz="3000" spc="-5" dirty="0">
                          <a:latin typeface="Arial"/>
                          <a:cs typeface="Arial"/>
                        </a:rPr>
                        <a:t>2.0	</a:t>
                      </a:r>
                      <a:r>
                        <a:rPr sz="3000" b="1" spc="-5" dirty="0">
                          <a:latin typeface="Arial"/>
                          <a:cs typeface="Arial"/>
                        </a:rPr>
                        <a:t>-3.1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49">
                      <a:solidFill>
                        <a:srgbClr val="0000FF"/>
                      </a:solidFill>
                      <a:prstDash val="solid"/>
                    </a:lnL>
                    <a:lnB w="9524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599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400" spc="-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Losses: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9049">
                      <a:solidFill>
                        <a:srgbClr val="0000FF"/>
                      </a:solidFill>
                      <a:prstDash val="solid"/>
                    </a:lnR>
                    <a:lnT w="9524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16230">
                        <a:lnSpc>
                          <a:spcPts val="3260"/>
                        </a:lnSpc>
                      </a:pPr>
                      <a:r>
                        <a:rPr sz="3000" spc="-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2.9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49">
                      <a:solidFill>
                        <a:srgbClr val="0000FF"/>
                      </a:solidFill>
                      <a:prstDash val="solid"/>
                    </a:lnL>
                    <a:lnR w="19049">
                      <a:solidFill>
                        <a:srgbClr val="0000FF"/>
                      </a:solidFill>
                      <a:prstDash val="solid"/>
                    </a:lnR>
                    <a:lnT w="9524">
                      <a:solidFill>
                        <a:srgbClr val="000000"/>
                      </a:solidFill>
                      <a:prstDash val="solid"/>
                    </a:lnT>
                    <a:lnB w="19049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49">
                      <a:solidFill>
                        <a:srgbClr val="0000FF"/>
                      </a:solidFill>
                      <a:prstDash val="solid"/>
                    </a:lnL>
                    <a:lnT w="9524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object 12"/>
          <p:cNvSpPr/>
          <p:nvPr/>
        </p:nvSpPr>
        <p:spPr>
          <a:xfrm>
            <a:off x="1404999" y="1863785"/>
            <a:ext cx="1140220" cy="12585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2" name="object 13"/>
          <p:cNvSpPr/>
          <p:nvPr/>
        </p:nvSpPr>
        <p:spPr>
          <a:xfrm>
            <a:off x="2670995" y="1863788"/>
            <a:ext cx="1258539" cy="12585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3" name="object 14"/>
          <p:cNvSpPr/>
          <p:nvPr/>
        </p:nvSpPr>
        <p:spPr>
          <a:xfrm>
            <a:off x="4049442" y="1863808"/>
            <a:ext cx="1211047" cy="121104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4" name="object 15"/>
          <p:cNvSpPr/>
          <p:nvPr/>
        </p:nvSpPr>
        <p:spPr>
          <a:xfrm>
            <a:off x="2975794" y="1336775"/>
            <a:ext cx="1449172" cy="3067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5" name="object 16"/>
          <p:cNvSpPr/>
          <p:nvPr/>
        </p:nvSpPr>
        <p:spPr>
          <a:xfrm>
            <a:off x="5679888" y="981274"/>
            <a:ext cx="0" cy="4439920"/>
          </a:xfrm>
          <a:custGeom>
            <a:avLst/>
            <a:gdLst/>
            <a:ahLst/>
            <a:cxnLst/>
            <a:rect l="l" t="t" r="r" b="b"/>
            <a:pathLst>
              <a:path h="4439920">
                <a:moveTo>
                  <a:pt x="0" y="0"/>
                </a:moveTo>
                <a:lnTo>
                  <a:pt x="0" y="4439691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6" name="object 17"/>
          <p:cNvSpPr/>
          <p:nvPr/>
        </p:nvSpPr>
        <p:spPr>
          <a:xfrm>
            <a:off x="7555385" y="1513452"/>
            <a:ext cx="723573" cy="30679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7" name="object 18"/>
          <p:cNvSpPr/>
          <p:nvPr/>
        </p:nvSpPr>
        <p:spPr>
          <a:xfrm>
            <a:off x="6547013" y="2000373"/>
            <a:ext cx="240049" cy="3067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8" name="object 19"/>
          <p:cNvSpPr/>
          <p:nvPr/>
        </p:nvSpPr>
        <p:spPr>
          <a:xfrm>
            <a:off x="6583387" y="1789424"/>
            <a:ext cx="240049" cy="30679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9" name="object 20"/>
          <p:cNvSpPr/>
          <p:nvPr/>
        </p:nvSpPr>
        <p:spPr>
          <a:xfrm>
            <a:off x="7179785" y="2639546"/>
            <a:ext cx="1099172" cy="22939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0" name="object 21"/>
          <p:cNvSpPr/>
          <p:nvPr/>
        </p:nvSpPr>
        <p:spPr>
          <a:xfrm>
            <a:off x="5748014" y="3603820"/>
            <a:ext cx="3316043" cy="35549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1" name="object 22"/>
          <p:cNvSpPr/>
          <p:nvPr/>
        </p:nvSpPr>
        <p:spPr>
          <a:xfrm>
            <a:off x="5738488" y="3594294"/>
            <a:ext cx="3335654" cy="374650"/>
          </a:xfrm>
          <a:custGeom>
            <a:avLst/>
            <a:gdLst/>
            <a:ahLst/>
            <a:cxnLst/>
            <a:rect l="l" t="t" r="r" b="b"/>
            <a:pathLst>
              <a:path w="3335654" h="374650">
                <a:moveTo>
                  <a:pt x="0" y="0"/>
                </a:moveTo>
                <a:lnTo>
                  <a:pt x="3335093" y="0"/>
                </a:lnTo>
                <a:lnTo>
                  <a:pt x="3335093" y="374549"/>
                </a:lnTo>
                <a:lnTo>
                  <a:pt x="0" y="37454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0" y="6604084"/>
            <a:ext cx="199926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Adapted from Andrej </a:t>
            </a:r>
            <a:r>
              <a:rPr lang="en-US" sz="1050" dirty="0" err="1"/>
              <a:t>Karpathy</a:t>
            </a:r>
            <a:endParaRPr lang="en-US" sz="1050" dirty="0"/>
          </a:p>
        </p:txBody>
      </p:sp>
      <p:sp>
        <p:nvSpPr>
          <p:cNvPr id="23" name="灯片编号占位符 22">
            <a:extLst>
              <a:ext uri="{FF2B5EF4-FFF2-40B4-BE49-F238E27FC236}">
                <a16:creationId xmlns:a16="http://schemas.microsoft.com/office/drawing/2014/main" id="{4544D7CD-F47B-404B-9A6B-FAD8D1069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41663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classifier: Hinge loss </a:t>
            </a:r>
          </a:p>
        </p:txBody>
      </p:sp>
      <p:sp>
        <p:nvSpPr>
          <p:cNvPr id="3" name="object 4"/>
          <p:cNvSpPr txBox="1">
            <a:spLocks/>
          </p:cNvSpPr>
          <p:nvPr/>
        </p:nvSpPr>
        <p:spPr bwMode="auto">
          <a:xfrm>
            <a:off x="345848" y="1055935"/>
            <a:ext cx="4178300" cy="5632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9pPr>
          </a:lstStyle>
          <a:p>
            <a:pPr marL="12700" marR="5080">
              <a:lnSpc>
                <a:spcPct val="100699"/>
              </a:lnSpc>
            </a:pPr>
            <a:r>
              <a:rPr lang="en-US" sz="1800" kern="0" spc="-5"/>
              <a:t>Suppose: 3 training examples, 3 classes.  With some W the</a:t>
            </a:r>
            <a:r>
              <a:rPr lang="en-US" sz="1800" kern="0" spc="-55"/>
              <a:t> </a:t>
            </a:r>
            <a:r>
              <a:rPr lang="en-US" sz="1800" kern="0"/>
              <a:t>scores</a:t>
            </a:r>
          </a:p>
        </p:txBody>
      </p:sp>
      <p:sp>
        <p:nvSpPr>
          <p:cNvPr id="4" name="object 5"/>
          <p:cNvSpPr txBox="1"/>
          <p:nvPr/>
        </p:nvSpPr>
        <p:spPr>
          <a:xfrm>
            <a:off x="4530820" y="1334080"/>
            <a:ext cx="41910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 dirty="0">
                <a:solidFill>
                  <a:prstClr val="black"/>
                </a:solidFill>
                <a:latin typeface="Arial"/>
                <a:cs typeface="Arial"/>
              </a:rPr>
              <a:t>are:</a:t>
            </a:r>
            <a:endParaRPr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6"/>
          <p:cNvSpPr txBox="1"/>
          <p:nvPr/>
        </p:nvSpPr>
        <p:spPr>
          <a:xfrm>
            <a:off x="5976065" y="1108405"/>
            <a:ext cx="2284730" cy="692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n-US" b="1" spc="-5" dirty="0">
                <a:solidFill>
                  <a:prstClr val="black"/>
                </a:solidFill>
                <a:latin typeface="Arial"/>
                <a:cs typeface="Arial"/>
              </a:rPr>
              <a:t>Hinge </a:t>
            </a:r>
            <a:r>
              <a:rPr b="1" spc="-5" dirty="0">
                <a:solidFill>
                  <a:prstClr val="black"/>
                </a:solidFill>
                <a:latin typeface="Arial"/>
                <a:cs typeface="Arial"/>
              </a:rPr>
              <a:t>loss:</a:t>
            </a:r>
            <a:endParaRPr dirty="0">
              <a:solidFill>
                <a:prstClr val="black"/>
              </a:solidFill>
              <a:latin typeface="Arial"/>
              <a:cs typeface="Arial"/>
            </a:endParaRPr>
          </a:p>
          <a:p>
            <a:pPr marL="30480">
              <a:spcBef>
                <a:spcPts val="1520"/>
              </a:spcBef>
            </a:pP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Given an</a:t>
            </a:r>
            <a:r>
              <a:rPr sz="140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example</a:t>
            </a:r>
            <a:endParaRPr sz="1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7"/>
          <p:cNvSpPr txBox="1"/>
          <p:nvPr/>
        </p:nvSpPr>
        <p:spPr>
          <a:xfrm>
            <a:off x="5994439" y="1795722"/>
            <a:ext cx="509905" cy="4360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1650"/>
              </a:lnSpc>
            </a:pP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where  where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" name="object 8"/>
          <p:cNvSpPr txBox="1"/>
          <p:nvPr/>
        </p:nvSpPr>
        <p:spPr>
          <a:xfrm>
            <a:off x="6823343" y="1785561"/>
            <a:ext cx="1635125" cy="434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594">
              <a:lnSpc>
                <a:spcPts val="1664"/>
              </a:lnSpc>
            </a:pP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is the image</a:t>
            </a:r>
            <a:r>
              <a:rPr sz="1400" spc="-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and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1664"/>
              </a:lnSpc>
            </a:pP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is the (integer)</a:t>
            </a:r>
            <a:r>
              <a:rPr sz="14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label,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object 9"/>
          <p:cNvSpPr txBox="1"/>
          <p:nvPr/>
        </p:nvSpPr>
        <p:spPr>
          <a:xfrm>
            <a:off x="5994438" y="2424370"/>
            <a:ext cx="2485390" cy="10823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1650"/>
              </a:lnSpc>
            </a:pP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and using the shorthand for the  </a:t>
            </a:r>
            <a:r>
              <a:rPr sz="1400" dirty="0">
                <a:solidFill>
                  <a:prstClr val="black"/>
                </a:solidFill>
                <a:latin typeface="Arial"/>
                <a:cs typeface="Arial"/>
              </a:rPr>
              <a:t>scores</a:t>
            </a:r>
            <a:r>
              <a:rPr sz="1400" spc="-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vector:</a:t>
            </a:r>
            <a:endParaRPr sz="1400" dirty="0">
              <a:solidFill>
                <a:prstClr val="black"/>
              </a:solidFill>
              <a:latin typeface="Arial"/>
              <a:cs typeface="Arial"/>
            </a:endParaRPr>
          </a:p>
          <a:p>
            <a:endParaRPr sz="14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endParaRPr sz="14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the loss has the</a:t>
            </a:r>
            <a:r>
              <a:rPr sz="14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form:</a:t>
            </a:r>
            <a:endParaRPr sz="1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9" name="object 10"/>
          <p:cNvSpPr txBox="1"/>
          <p:nvPr/>
        </p:nvSpPr>
        <p:spPr>
          <a:xfrm>
            <a:off x="5885310" y="4033098"/>
            <a:ext cx="2945130" cy="13900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 dirty="0">
                <a:solidFill>
                  <a:srgbClr val="0000FF"/>
                </a:solidFill>
                <a:latin typeface="Arial"/>
                <a:cs typeface="Arial"/>
              </a:rPr>
              <a:t>= max(0, 1.3 </a:t>
            </a:r>
            <a:r>
              <a:rPr dirty="0">
                <a:solidFill>
                  <a:srgbClr val="0000FF"/>
                </a:solidFill>
                <a:latin typeface="Arial"/>
                <a:cs typeface="Arial"/>
              </a:rPr>
              <a:t>- </a:t>
            </a:r>
            <a:r>
              <a:rPr spc="-5" dirty="0">
                <a:solidFill>
                  <a:srgbClr val="0000FF"/>
                </a:solidFill>
                <a:latin typeface="Arial"/>
                <a:cs typeface="Arial"/>
              </a:rPr>
              <a:t>4.9 +</a:t>
            </a:r>
            <a:r>
              <a:rPr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0000FF"/>
                </a:solidFill>
                <a:latin typeface="Arial"/>
                <a:cs typeface="Arial"/>
              </a:rPr>
              <a:t>1)</a:t>
            </a:r>
            <a:endParaRPr>
              <a:solidFill>
                <a:prstClr val="black"/>
              </a:solidFill>
              <a:latin typeface="Arial"/>
              <a:cs typeface="Arial"/>
            </a:endParaRPr>
          </a:p>
          <a:p>
            <a:pPr marL="202565">
              <a:spcBef>
                <a:spcPts val="15"/>
              </a:spcBef>
            </a:pPr>
            <a:r>
              <a:rPr spc="-5" dirty="0">
                <a:solidFill>
                  <a:srgbClr val="0000FF"/>
                </a:solidFill>
                <a:latin typeface="Arial"/>
                <a:cs typeface="Arial"/>
              </a:rPr>
              <a:t>+max(0, 2.0 </a:t>
            </a:r>
            <a:r>
              <a:rPr dirty="0">
                <a:solidFill>
                  <a:srgbClr val="0000FF"/>
                </a:solidFill>
                <a:latin typeface="Arial"/>
                <a:cs typeface="Arial"/>
              </a:rPr>
              <a:t>- </a:t>
            </a:r>
            <a:r>
              <a:rPr spc="-5" dirty="0">
                <a:solidFill>
                  <a:srgbClr val="0000FF"/>
                </a:solidFill>
                <a:latin typeface="Arial"/>
                <a:cs typeface="Arial"/>
              </a:rPr>
              <a:t>4.9 +</a:t>
            </a:r>
            <a:r>
              <a:rPr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0000FF"/>
                </a:solidFill>
                <a:latin typeface="Arial"/>
                <a:cs typeface="Arial"/>
              </a:rPr>
              <a:t>1)</a:t>
            </a:r>
            <a:endParaRPr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15"/>
              </a:spcBef>
            </a:pPr>
            <a:r>
              <a:rPr spc="-5" dirty="0">
                <a:solidFill>
                  <a:srgbClr val="0000FF"/>
                </a:solidFill>
                <a:latin typeface="Arial"/>
                <a:cs typeface="Arial"/>
              </a:rPr>
              <a:t>= max(0, -2.6) + max(0,</a:t>
            </a:r>
            <a:r>
              <a:rPr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0000FF"/>
                </a:solidFill>
                <a:latin typeface="Arial"/>
                <a:cs typeface="Arial"/>
              </a:rPr>
              <a:t>-1.9)</a:t>
            </a:r>
            <a:endParaRPr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15"/>
              </a:spcBef>
            </a:pPr>
            <a:r>
              <a:rPr spc="-5" dirty="0">
                <a:solidFill>
                  <a:srgbClr val="0000FF"/>
                </a:solidFill>
                <a:latin typeface="Arial"/>
                <a:cs typeface="Arial"/>
              </a:rPr>
              <a:t>= 0 +</a:t>
            </a:r>
            <a:r>
              <a:rPr spc="-9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0000FF"/>
                </a:solidFill>
                <a:latin typeface="Arial"/>
                <a:cs typeface="Arial"/>
              </a:rPr>
              <a:t>0</a:t>
            </a:r>
            <a:endParaRPr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15"/>
              </a:spcBef>
            </a:pPr>
            <a:r>
              <a:rPr spc="-5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pc="-10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0000FF"/>
                </a:solidFill>
                <a:latin typeface="Arial"/>
                <a:cs typeface="Arial"/>
              </a:rPr>
              <a:t>0</a:t>
            </a:r>
            <a:endParaRPr>
              <a:solidFill>
                <a:prstClr val="black"/>
              </a:solidFill>
              <a:latin typeface="Arial"/>
              <a:cs typeface="Arial"/>
            </a:endParaRPr>
          </a:p>
        </p:txBody>
      </p:sp>
      <p:graphicFrame>
        <p:nvGraphicFramePr>
          <p:cNvPr id="10" name="object 11"/>
          <p:cNvGraphicFramePr>
            <a:graphicFrameLocks noGrp="1"/>
          </p:cNvGraphicFramePr>
          <p:nvPr/>
        </p:nvGraphicFramePr>
        <p:xfrm>
          <a:off x="98375" y="3248295"/>
          <a:ext cx="5393987" cy="21303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38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58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92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73196"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125"/>
                        </a:spcBef>
                        <a:tabLst>
                          <a:tab pos="2167890" algn="r"/>
                        </a:tabLst>
                      </a:pPr>
                      <a:r>
                        <a:rPr sz="3600" spc="-7" baseline="8101" dirty="0">
                          <a:latin typeface="Arial"/>
                          <a:cs typeface="Arial"/>
                        </a:rPr>
                        <a:t>cat</a:t>
                      </a:r>
                      <a:r>
                        <a:rPr sz="3000" spc="-5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3000" b="1" spc="-5" dirty="0">
                          <a:latin typeface="Arial"/>
                          <a:cs typeface="Arial"/>
                        </a:rPr>
                        <a:t>3.2</a:t>
                      </a:r>
                      <a:endParaRPr sz="3000">
                        <a:latin typeface="Arial"/>
                        <a:cs typeface="Arial"/>
                      </a:endParaRPr>
                    </a:p>
                    <a:p>
                      <a:pPr marL="112395">
                        <a:lnSpc>
                          <a:spcPct val="100000"/>
                        </a:lnSpc>
                        <a:spcBef>
                          <a:spcPts val="960"/>
                        </a:spcBef>
                        <a:tabLst>
                          <a:tab pos="2167890" algn="r"/>
                        </a:tabLst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car</a:t>
                      </a:r>
                      <a:r>
                        <a:rPr sz="3000" spc="-5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3000" spc="-5" dirty="0">
                          <a:latin typeface="Arial"/>
                          <a:cs typeface="Arial"/>
                        </a:rPr>
                        <a:t>5.1</a:t>
                      </a:r>
                      <a:endParaRPr sz="3000">
                        <a:latin typeface="Arial"/>
                        <a:cs typeface="Arial"/>
                      </a:endParaRPr>
                    </a:p>
                    <a:p>
                      <a:pPr marL="112395">
                        <a:lnSpc>
                          <a:spcPct val="100000"/>
                        </a:lnSpc>
                        <a:spcBef>
                          <a:spcPts val="590"/>
                        </a:spcBef>
                        <a:tabLst>
                          <a:tab pos="1562735" algn="l"/>
                        </a:tabLst>
                      </a:pPr>
                      <a:r>
                        <a:rPr sz="3600" spc="-7" baseline="-8101" dirty="0">
                          <a:latin typeface="Arial"/>
                          <a:cs typeface="Arial"/>
                        </a:rPr>
                        <a:t>frog	</a:t>
                      </a:r>
                      <a:r>
                        <a:rPr sz="3000" spc="-5" dirty="0">
                          <a:latin typeface="Arial"/>
                          <a:cs typeface="Arial"/>
                        </a:rPr>
                        <a:t>-1.7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9049">
                      <a:solidFill>
                        <a:srgbClr val="0000FF"/>
                      </a:solidFill>
                      <a:prstDash val="solid"/>
                    </a:lnR>
                    <a:lnB w="952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845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3000" spc="-5" dirty="0">
                          <a:latin typeface="Arial"/>
                          <a:cs typeface="Arial"/>
                        </a:rPr>
                        <a:t>1.3</a:t>
                      </a:r>
                      <a:endParaRPr sz="3000">
                        <a:latin typeface="Arial"/>
                        <a:cs typeface="Arial"/>
                      </a:endParaRPr>
                    </a:p>
                    <a:p>
                      <a:pPr marL="33845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3000" b="1" spc="-5" dirty="0">
                          <a:latin typeface="Arial"/>
                          <a:cs typeface="Arial"/>
                        </a:rPr>
                        <a:t>4.9</a:t>
                      </a:r>
                      <a:endParaRPr sz="3000">
                        <a:latin typeface="Arial"/>
                        <a:cs typeface="Arial"/>
                      </a:endParaRPr>
                    </a:p>
                    <a:p>
                      <a:pPr marL="33845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3000" spc="-5" dirty="0">
                          <a:latin typeface="Arial"/>
                          <a:cs typeface="Arial"/>
                        </a:rPr>
                        <a:t>2.0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49">
                      <a:solidFill>
                        <a:srgbClr val="0000FF"/>
                      </a:solidFill>
                      <a:prstDash val="solid"/>
                    </a:lnL>
                    <a:lnR w="19049">
                      <a:solidFill>
                        <a:srgbClr val="0000FF"/>
                      </a:solidFill>
                      <a:prstDash val="solid"/>
                    </a:lnR>
                    <a:lnT w="19049">
                      <a:solidFill>
                        <a:srgbClr val="0000FF"/>
                      </a:solidFill>
                      <a:prstDash val="solid"/>
                    </a:lnT>
                    <a:lnB w="952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372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3000" spc="-5" dirty="0">
                          <a:latin typeface="Arial"/>
                          <a:cs typeface="Arial"/>
                        </a:rPr>
                        <a:t>2.2</a:t>
                      </a:r>
                      <a:endParaRPr sz="3000">
                        <a:latin typeface="Arial"/>
                        <a:cs typeface="Arial"/>
                      </a:endParaRPr>
                    </a:p>
                    <a:p>
                      <a:pPr marL="55372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3000" spc="-5" dirty="0">
                          <a:latin typeface="Arial"/>
                          <a:cs typeface="Arial"/>
                        </a:rPr>
                        <a:t>2.5</a:t>
                      </a:r>
                      <a:endParaRPr sz="3000">
                        <a:latin typeface="Arial"/>
                        <a:cs typeface="Arial"/>
                      </a:endParaRPr>
                    </a:p>
                    <a:p>
                      <a:pPr marL="40132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3000" b="1" spc="-5" dirty="0">
                          <a:latin typeface="Arial"/>
                          <a:cs typeface="Arial"/>
                        </a:rPr>
                        <a:t>-3.1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49">
                      <a:solidFill>
                        <a:srgbClr val="0000FF"/>
                      </a:solidFill>
                      <a:prstDash val="solid"/>
                    </a:lnL>
                    <a:lnB w="9524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599">
                <a:tc>
                  <a:txBody>
                    <a:bodyPr/>
                    <a:lstStyle/>
                    <a:p>
                      <a:pPr marL="85090">
                        <a:lnSpc>
                          <a:spcPts val="3340"/>
                        </a:lnSpc>
                        <a:tabLst>
                          <a:tab pos="1692910" algn="l"/>
                        </a:tabLst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Losses:	</a:t>
                      </a:r>
                      <a:r>
                        <a:rPr sz="4500" spc="-7" baseline="1851" dirty="0">
                          <a:latin typeface="Arial"/>
                          <a:cs typeface="Arial"/>
                        </a:rPr>
                        <a:t>2.9</a:t>
                      </a:r>
                      <a:endParaRPr sz="4500" baseline="1851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9049">
                      <a:solidFill>
                        <a:srgbClr val="0000FF"/>
                      </a:solidFill>
                      <a:prstDash val="solid"/>
                    </a:lnR>
                    <a:lnT w="9524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3260"/>
                        </a:lnSpc>
                      </a:pPr>
                      <a:r>
                        <a:rPr sz="3000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49">
                      <a:solidFill>
                        <a:srgbClr val="0000FF"/>
                      </a:solidFill>
                      <a:prstDash val="solid"/>
                    </a:lnL>
                    <a:lnR w="19049">
                      <a:solidFill>
                        <a:srgbClr val="0000FF"/>
                      </a:solidFill>
                      <a:prstDash val="solid"/>
                    </a:lnR>
                    <a:lnT w="9524">
                      <a:solidFill>
                        <a:srgbClr val="000000"/>
                      </a:solidFill>
                      <a:prstDash val="solid"/>
                    </a:lnT>
                    <a:lnB w="19049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49">
                      <a:solidFill>
                        <a:srgbClr val="0000FF"/>
                      </a:solidFill>
                      <a:prstDash val="solid"/>
                    </a:lnL>
                    <a:lnT w="9524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object 12"/>
          <p:cNvSpPr/>
          <p:nvPr/>
        </p:nvSpPr>
        <p:spPr>
          <a:xfrm>
            <a:off x="1404999" y="1863785"/>
            <a:ext cx="1140220" cy="12585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2" name="object 13"/>
          <p:cNvSpPr/>
          <p:nvPr/>
        </p:nvSpPr>
        <p:spPr>
          <a:xfrm>
            <a:off x="2670995" y="1863788"/>
            <a:ext cx="1258539" cy="12585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3" name="object 14"/>
          <p:cNvSpPr/>
          <p:nvPr/>
        </p:nvSpPr>
        <p:spPr>
          <a:xfrm>
            <a:off x="4049442" y="1863808"/>
            <a:ext cx="1211047" cy="121104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4" name="object 15"/>
          <p:cNvSpPr/>
          <p:nvPr/>
        </p:nvSpPr>
        <p:spPr>
          <a:xfrm>
            <a:off x="2975794" y="1336775"/>
            <a:ext cx="1449172" cy="3067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5" name="object 16"/>
          <p:cNvSpPr/>
          <p:nvPr/>
        </p:nvSpPr>
        <p:spPr>
          <a:xfrm>
            <a:off x="5679888" y="981274"/>
            <a:ext cx="0" cy="4439920"/>
          </a:xfrm>
          <a:custGeom>
            <a:avLst/>
            <a:gdLst/>
            <a:ahLst/>
            <a:cxnLst/>
            <a:rect l="l" t="t" r="r" b="b"/>
            <a:pathLst>
              <a:path h="4439920">
                <a:moveTo>
                  <a:pt x="0" y="0"/>
                </a:moveTo>
                <a:lnTo>
                  <a:pt x="0" y="4439691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6" name="object 17"/>
          <p:cNvSpPr/>
          <p:nvPr/>
        </p:nvSpPr>
        <p:spPr>
          <a:xfrm>
            <a:off x="7555385" y="1513452"/>
            <a:ext cx="723573" cy="30679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7" name="object 18"/>
          <p:cNvSpPr/>
          <p:nvPr/>
        </p:nvSpPr>
        <p:spPr>
          <a:xfrm>
            <a:off x="6547013" y="2000373"/>
            <a:ext cx="240049" cy="3067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8" name="object 19"/>
          <p:cNvSpPr/>
          <p:nvPr/>
        </p:nvSpPr>
        <p:spPr>
          <a:xfrm>
            <a:off x="6583387" y="1789424"/>
            <a:ext cx="240049" cy="30679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9" name="object 20"/>
          <p:cNvSpPr/>
          <p:nvPr/>
        </p:nvSpPr>
        <p:spPr>
          <a:xfrm>
            <a:off x="7179785" y="2639546"/>
            <a:ext cx="1099172" cy="22939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0" name="object 21"/>
          <p:cNvSpPr/>
          <p:nvPr/>
        </p:nvSpPr>
        <p:spPr>
          <a:xfrm>
            <a:off x="5748014" y="3603820"/>
            <a:ext cx="3316043" cy="35549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1" name="object 22"/>
          <p:cNvSpPr/>
          <p:nvPr/>
        </p:nvSpPr>
        <p:spPr>
          <a:xfrm>
            <a:off x="5738488" y="3594294"/>
            <a:ext cx="3335654" cy="374650"/>
          </a:xfrm>
          <a:custGeom>
            <a:avLst/>
            <a:gdLst/>
            <a:ahLst/>
            <a:cxnLst/>
            <a:rect l="l" t="t" r="r" b="b"/>
            <a:pathLst>
              <a:path w="3335654" h="374650">
                <a:moveTo>
                  <a:pt x="0" y="0"/>
                </a:moveTo>
                <a:lnTo>
                  <a:pt x="3335093" y="0"/>
                </a:lnTo>
                <a:lnTo>
                  <a:pt x="3335093" y="374549"/>
                </a:lnTo>
                <a:lnTo>
                  <a:pt x="0" y="37454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0" y="6604084"/>
            <a:ext cx="199926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Adapted from Andrej </a:t>
            </a:r>
            <a:r>
              <a:rPr lang="en-US" sz="1050" dirty="0" err="1"/>
              <a:t>Karpathy</a:t>
            </a:r>
            <a:endParaRPr lang="en-US" sz="1050" dirty="0"/>
          </a:p>
        </p:txBody>
      </p:sp>
      <p:sp>
        <p:nvSpPr>
          <p:cNvPr id="23" name="灯片编号占位符 22">
            <a:extLst>
              <a:ext uri="{FF2B5EF4-FFF2-40B4-BE49-F238E27FC236}">
                <a16:creationId xmlns:a16="http://schemas.microsoft.com/office/drawing/2014/main" id="{9F01FDEB-C694-B442-ABDE-0625A6C9C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26268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classifier: Hinge loss </a:t>
            </a:r>
          </a:p>
        </p:txBody>
      </p:sp>
      <p:sp>
        <p:nvSpPr>
          <p:cNvPr id="3" name="object 4"/>
          <p:cNvSpPr txBox="1">
            <a:spLocks/>
          </p:cNvSpPr>
          <p:nvPr/>
        </p:nvSpPr>
        <p:spPr bwMode="auto">
          <a:xfrm>
            <a:off x="345848" y="1055935"/>
            <a:ext cx="4178300" cy="5632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9pPr>
          </a:lstStyle>
          <a:p>
            <a:pPr marL="12700" marR="5080">
              <a:lnSpc>
                <a:spcPct val="100699"/>
              </a:lnSpc>
            </a:pPr>
            <a:r>
              <a:rPr lang="en-US" sz="1800" kern="0" spc="-5"/>
              <a:t>Suppose: 3 training examples, 3 classes.  With some W the</a:t>
            </a:r>
            <a:r>
              <a:rPr lang="en-US" sz="1800" kern="0" spc="-55"/>
              <a:t> </a:t>
            </a:r>
            <a:r>
              <a:rPr lang="en-US" sz="1800" kern="0"/>
              <a:t>scores</a:t>
            </a:r>
          </a:p>
        </p:txBody>
      </p:sp>
      <p:sp>
        <p:nvSpPr>
          <p:cNvPr id="4" name="object 5"/>
          <p:cNvSpPr txBox="1"/>
          <p:nvPr/>
        </p:nvSpPr>
        <p:spPr>
          <a:xfrm>
            <a:off x="4530820" y="1334080"/>
            <a:ext cx="41910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 dirty="0">
                <a:solidFill>
                  <a:prstClr val="black"/>
                </a:solidFill>
                <a:latin typeface="Arial"/>
                <a:cs typeface="Arial"/>
              </a:rPr>
              <a:t>are:</a:t>
            </a:r>
            <a:endParaRPr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6"/>
          <p:cNvSpPr txBox="1"/>
          <p:nvPr/>
        </p:nvSpPr>
        <p:spPr>
          <a:xfrm>
            <a:off x="5976065" y="1108405"/>
            <a:ext cx="2284730" cy="692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n-US" b="1" spc="-5" dirty="0">
                <a:solidFill>
                  <a:prstClr val="black"/>
                </a:solidFill>
                <a:latin typeface="Arial"/>
                <a:cs typeface="Arial"/>
              </a:rPr>
              <a:t>Hinge</a:t>
            </a:r>
            <a:r>
              <a:rPr b="1" spc="-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b="1" spc="-5" dirty="0">
                <a:solidFill>
                  <a:prstClr val="black"/>
                </a:solidFill>
                <a:latin typeface="Arial"/>
                <a:cs typeface="Arial"/>
              </a:rPr>
              <a:t>loss:</a:t>
            </a:r>
            <a:endParaRPr dirty="0">
              <a:solidFill>
                <a:prstClr val="black"/>
              </a:solidFill>
              <a:latin typeface="Arial"/>
              <a:cs typeface="Arial"/>
            </a:endParaRPr>
          </a:p>
          <a:p>
            <a:pPr marL="30480">
              <a:spcBef>
                <a:spcPts val="1520"/>
              </a:spcBef>
            </a:pP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Given an</a:t>
            </a:r>
            <a:r>
              <a:rPr sz="140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example</a:t>
            </a:r>
            <a:endParaRPr sz="1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7"/>
          <p:cNvSpPr txBox="1"/>
          <p:nvPr/>
        </p:nvSpPr>
        <p:spPr>
          <a:xfrm>
            <a:off x="5994439" y="1795722"/>
            <a:ext cx="509905" cy="4360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1650"/>
              </a:lnSpc>
            </a:pP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where  where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" name="object 8"/>
          <p:cNvSpPr txBox="1"/>
          <p:nvPr/>
        </p:nvSpPr>
        <p:spPr>
          <a:xfrm>
            <a:off x="6823343" y="1785561"/>
            <a:ext cx="1635125" cy="434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594">
              <a:lnSpc>
                <a:spcPts val="1664"/>
              </a:lnSpc>
            </a:pP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is the image</a:t>
            </a:r>
            <a:r>
              <a:rPr sz="1400" spc="-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and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1664"/>
              </a:lnSpc>
            </a:pP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is the (integer)</a:t>
            </a:r>
            <a:r>
              <a:rPr sz="14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label,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object 9"/>
          <p:cNvSpPr txBox="1"/>
          <p:nvPr/>
        </p:nvSpPr>
        <p:spPr>
          <a:xfrm>
            <a:off x="5994438" y="2424370"/>
            <a:ext cx="2485390" cy="10823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1650"/>
              </a:lnSpc>
            </a:pP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and using the shorthand for the  </a:t>
            </a:r>
            <a:r>
              <a:rPr sz="1400" dirty="0">
                <a:solidFill>
                  <a:prstClr val="black"/>
                </a:solidFill>
                <a:latin typeface="Arial"/>
                <a:cs typeface="Arial"/>
              </a:rPr>
              <a:t>scores</a:t>
            </a:r>
            <a:r>
              <a:rPr sz="1400" spc="-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vector:</a:t>
            </a:r>
            <a:endParaRPr sz="1400" dirty="0">
              <a:solidFill>
                <a:prstClr val="black"/>
              </a:solidFill>
              <a:latin typeface="Arial"/>
              <a:cs typeface="Arial"/>
            </a:endParaRPr>
          </a:p>
          <a:p>
            <a:endParaRPr sz="14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endParaRPr sz="14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the loss has the</a:t>
            </a:r>
            <a:r>
              <a:rPr sz="14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form:</a:t>
            </a:r>
            <a:endParaRPr sz="1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9" name="object 10"/>
          <p:cNvSpPr txBox="1"/>
          <p:nvPr/>
        </p:nvSpPr>
        <p:spPr>
          <a:xfrm>
            <a:off x="5885310" y="4033098"/>
            <a:ext cx="2792730" cy="16619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 dirty="0">
                <a:solidFill>
                  <a:srgbClr val="0000FF"/>
                </a:solidFill>
                <a:latin typeface="Arial"/>
                <a:cs typeface="Arial"/>
              </a:rPr>
              <a:t>= max(0, 2.2 </a:t>
            </a:r>
            <a:r>
              <a:rPr dirty="0">
                <a:solidFill>
                  <a:srgbClr val="0000FF"/>
                </a:solidFill>
                <a:latin typeface="Arial"/>
                <a:cs typeface="Arial"/>
              </a:rPr>
              <a:t>- </a:t>
            </a:r>
            <a:r>
              <a:rPr spc="-5" dirty="0">
                <a:solidFill>
                  <a:srgbClr val="0000FF"/>
                </a:solidFill>
                <a:latin typeface="Arial"/>
                <a:cs typeface="Arial"/>
              </a:rPr>
              <a:t>(-3.1) +</a:t>
            </a:r>
            <a:r>
              <a:rPr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0000FF"/>
                </a:solidFill>
                <a:latin typeface="Arial"/>
                <a:cs typeface="Arial"/>
              </a:rPr>
              <a:t>1)</a:t>
            </a:r>
            <a:endParaRPr dirty="0">
              <a:solidFill>
                <a:prstClr val="black"/>
              </a:solidFill>
              <a:latin typeface="Arial"/>
              <a:cs typeface="Arial"/>
            </a:endParaRPr>
          </a:p>
          <a:p>
            <a:pPr marL="36830" algn="ctr">
              <a:spcBef>
                <a:spcPts val="15"/>
              </a:spcBef>
            </a:pPr>
            <a:r>
              <a:rPr spc="-5" dirty="0">
                <a:solidFill>
                  <a:srgbClr val="0000FF"/>
                </a:solidFill>
                <a:latin typeface="Arial"/>
                <a:cs typeface="Arial"/>
              </a:rPr>
              <a:t>+max(0, 2.5 </a:t>
            </a:r>
            <a:r>
              <a:rPr dirty="0">
                <a:solidFill>
                  <a:srgbClr val="0000FF"/>
                </a:solidFill>
                <a:latin typeface="Arial"/>
                <a:cs typeface="Arial"/>
              </a:rPr>
              <a:t>- </a:t>
            </a:r>
            <a:r>
              <a:rPr spc="-5" dirty="0">
                <a:solidFill>
                  <a:srgbClr val="0000FF"/>
                </a:solidFill>
                <a:latin typeface="Arial"/>
                <a:cs typeface="Arial"/>
              </a:rPr>
              <a:t>(-3.1) +</a:t>
            </a:r>
            <a:r>
              <a:rPr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0000FF"/>
                </a:solidFill>
                <a:latin typeface="Arial"/>
                <a:cs typeface="Arial"/>
              </a:rPr>
              <a:t>1)</a:t>
            </a:r>
            <a:endParaRPr dirty="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15"/>
              </a:spcBef>
            </a:pPr>
            <a:r>
              <a:rPr spc="-5" dirty="0">
                <a:solidFill>
                  <a:srgbClr val="0000FF"/>
                </a:solidFill>
                <a:latin typeface="Arial"/>
                <a:cs typeface="Arial"/>
              </a:rPr>
              <a:t>= max(0, 5.3</a:t>
            </a:r>
            <a:r>
              <a:rPr lang="en-US" spc="-5" dirty="0">
                <a:solidFill>
                  <a:srgbClr val="0000FF"/>
                </a:solidFill>
                <a:latin typeface="Arial"/>
                <a:cs typeface="Arial"/>
              </a:rPr>
              <a:t> + 1</a:t>
            </a:r>
            <a:r>
              <a:rPr spc="-5" dirty="0">
                <a:solidFill>
                  <a:srgbClr val="0000FF"/>
                </a:solidFill>
                <a:latin typeface="Arial"/>
                <a:cs typeface="Arial"/>
              </a:rPr>
              <a:t>) </a:t>
            </a:r>
            <a:endParaRPr lang="en-US" spc="-5" dirty="0">
              <a:solidFill>
                <a:srgbClr val="0000FF"/>
              </a:solidFill>
              <a:latin typeface="Arial"/>
              <a:cs typeface="Arial"/>
            </a:endParaRPr>
          </a:p>
          <a:p>
            <a:pPr marL="12700">
              <a:spcBef>
                <a:spcPts val="15"/>
              </a:spcBef>
            </a:pPr>
            <a:r>
              <a:rPr lang="en-US" spc="-5" dirty="0">
                <a:solidFill>
                  <a:srgbClr val="0000FF"/>
                </a:solidFill>
                <a:latin typeface="Arial"/>
                <a:cs typeface="Arial"/>
              </a:rPr>
              <a:t>   </a:t>
            </a:r>
            <a:r>
              <a:rPr spc="-5" dirty="0">
                <a:solidFill>
                  <a:srgbClr val="0000FF"/>
                </a:solidFill>
                <a:latin typeface="Arial"/>
                <a:cs typeface="Arial"/>
              </a:rPr>
              <a:t>+ max(0,</a:t>
            </a:r>
            <a:r>
              <a:rPr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0000FF"/>
                </a:solidFill>
                <a:latin typeface="Arial"/>
                <a:cs typeface="Arial"/>
              </a:rPr>
              <a:t>5.6</a:t>
            </a:r>
            <a:r>
              <a:rPr lang="en-US" spc="-5" dirty="0">
                <a:solidFill>
                  <a:srgbClr val="0000FF"/>
                </a:solidFill>
                <a:latin typeface="Arial"/>
                <a:cs typeface="Arial"/>
              </a:rPr>
              <a:t> + 1</a:t>
            </a:r>
            <a:r>
              <a:rPr spc="-5" dirty="0">
                <a:solidFill>
                  <a:srgbClr val="0000FF"/>
                </a:solidFill>
                <a:latin typeface="Arial"/>
                <a:cs typeface="Arial"/>
              </a:rPr>
              <a:t>)</a:t>
            </a:r>
            <a:endParaRPr dirty="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15"/>
              </a:spcBef>
            </a:pPr>
            <a:r>
              <a:rPr spc="-5" dirty="0">
                <a:solidFill>
                  <a:srgbClr val="0000FF"/>
                </a:solidFill>
                <a:latin typeface="Arial"/>
                <a:cs typeface="Arial"/>
              </a:rPr>
              <a:t>= </a:t>
            </a:r>
            <a:r>
              <a:rPr lang="en-US" spc="-5" dirty="0">
                <a:solidFill>
                  <a:srgbClr val="0000FF"/>
                </a:solidFill>
                <a:latin typeface="Arial"/>
                <a:cs typeface="Arial"/>
              </a:rPr>
              <a:t>6</a:t>
            </a:r>
            <a:r>
              <a:rPr spc="-5" dirty="0">
                <a:solidFill>
                  <a:srgbClr val="0000FF"/>
                </a:solidFill>
                <a:latin typeface="Arial"/>
                <a:cs typeface="Arial"/>
              </a:rPr>
              <a:t>.3 +</a:t>
            </a:r>
            <a:r>
              <a:rPr spc="-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en-US" spc="-5" dirty="0">
                <a:solidFill>
                  <a:srgbClr val="0000FF"/>
                </a:solidFill>
                <a:latin typeface="Arial"/>
                <a:cs typeface="Arial"/>
              </a:rPr>
              <a:t>6</a:t>
            </a:r>
            <a:r>
              <a:rPr spc="-5" dirty="0">
                <a:solidFill>
                  <a:srgbClr val="0000FF"/>
                </a:solidFill>
                <a:latin typeface="Arial"/>
                <a:cs typeface="Arial"/>
              </a:rPr>
              <a:t>.6</a:t>
            </a:r>
            <a:endParaRPr dirty="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15"/>
              </a:spcBef>
            </a:pPr>
            <a:r>
              <a:rPr spc="-5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pc="-8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r>
              <a:rPr lang="en-US" spc="-5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r>
              <a:rPr spc="-5" dirty="0">
                <a:solidFill>
                  <a:srgbClr val="0000FF"/>
                </a:solidFill>
                <a:latin typeface="Arial"/>
                <a:cs typeface="Arial"/>
              </a:rPr>
              <a:t>.9</a:t>
            </a:r>
            <a:endParaRPr dirty="0">
              <a:solidFill>
                <a:prstClr val="black"/>
              </a:solidFill>
              <a:latin typeface="Arial"/>
              <a:cs typeface="Arial"/>
            </a:endParaRPr>
          </a:p>
        </p:txBody>
      </p:sp>
      <p:graphicFrame>
        <p:nvGraphicFramePr>
          <p:cNvPr id="10" name="object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41785"/>
              </p:ext>
            </p:extLst>
          </p:nvPr>
        </p:nvGraphicFramePr>
        <p:xfrm>
          <a:off x="98375" y="3248295"/>
          <a:ext cx="5393987" cy="21303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49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52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96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58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8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673196"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cat</a:t>
                      </a:r>
                      <a:endParaRPr sz="2400" dirty="0">
                        <a:latin typeface="Arial"/>
                        <a:cs typeface="Arial"/>
                      </a:endParaRPr>
                    </a:p>
                    <a:p>
                      <a:pPr marL="112395" marR="704215">
                        <a:lnSpc>
                          <a:spcPct val="157900"/>
                        </a:lnSpc>
                        <a:spcBef>
                          <a:spcPts val="15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car  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frog</a:t>
                      </a:r>
                    </a:p>
                  </a:txBody>
                  <a:tcPr marL="0" marR="0" marT="0" marB="0">
                    <a:lnB w="952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88595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3000" b="1" spc="-5" dirty="0">
                          <a:latin typeface="Arial"/>
                          <a:cs typeface="Arial"/>
                        </a:rPr>
                        <a:t>3.2</a:t>
                      </a:r>
                      <a:endParaRPr sz="3000">
                        <a:latin typeface="Arial"/>
                        <a:cs typeface="Arial"/>
                      </a:endParaRPr>
                    </a:p>
                    <a:p>
                      <a:pPr marR="188595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3000" spc="-5" dirty="0">
                          <a:latin typeface="Arial"/>
                          <a:cs typeface="Arial"/>
                        </a:rPr>
                        <a:t>5.1</a:t>
                      </a:r>
                      <a:endParaRPr sz="3000">
                        <a:latin typeface="Arial"/>
                        <a:cs typeface="Arial"/>
                      </a:endParaRPr>
                    </a:p>
                    <a:p>
                      <a:pPr marR="213995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3000" spc="-5" dirty="0">
                          <a:latin typeface="Arial"/>
                          <a:cs typeface="Arial"/>
                        </a:rPr>
                        <a:t>-1.7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180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3000" spc="-5" dirty="0">
                          <a:latin typeface="Arial"/>
                          <a:cs typeface="Arial"/>
                        </a:rPr>
                        <a:t>1.3</a:t>
                      </a:r>
                      <a:endParaRPr sz="3000">
                        <a:latin typeface="Arial"/>
                        <a:cs typeface="Arial"/>
                      </a:endParaRPr>
                    </a:p>
                    <a:p>
                      <a:pPr marL="4318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3000" b="1" spc="-5" dirty="0">
                          <a:latin typeface="Arial"/>
                          <a:cs typeface="Arial"/>
                        </a:rPr>
                        <a:t>4.9</a:t>
                      </a:r>
                      <a:endParaRPr sz="3000">
                        <a:latin typeface="Arial"/>
                        <a:cs typeface="Arial"/>
                      </a:endParaRPr>
                    </a:p>
                    <a:p>
                      <a:pPr marL="4318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3000" spc="-5" dirty="0">
                          <a:latin typeface="Arial"/>
                          <a:cs typeface="Arial"/>
                        </a:rPr>
                        <a:t>2.0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9049">
                      <a:solidFill>
                        <a:srgbClr val="0000FF"/>
                      </a:solidFill>
                      <a:prstDash val="solid"/>
                    </a:lnR>
                    <a:lnB w="952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465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3000" spc="-5" dirty="0">
                          <a:latin typeface="Arial"/>
                          <a:cs typeface="Arial"/>
                        </a:rPr>
                        <a:t>2.2</a:t>
                      </a:r>
                      <a:endParaRPr sz="3000">
                        <a:latin typeface="Arial"/>
                        <a:cs typeface="Arial"/>
                      </a:endParaRPr>
                    </a:p>
                    <a:p>
                      <a:pPr marL="41465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3000" spc="-5" dirty="0">
                          <a:latin typeface="Arial"/>
                          <a:cs typeface="Arial"/>
                        </a:rPr>
                        <a:t>2.5</a:t>
                      </a:r>
                      <a:endParaRPr sz="3000">
                        <a:latin typeface="Arial"/>
                        <a:cs typeface="Arial"/>
                      </a:endParaRPr>
                    </a:p>
                    <a:p>
                      <a:pPr marL="26225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3000" b="1" spc="-5" dirty="0">
                          <a:latin typeface="Arial"/>
                          <a:cs typeface="Arial"/>
                        </a:rPr>
                        <a:t>-3.1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49">
                      <a:solidFill>
                        <a:srgbClr val="0000FF"/>
                      </a:solidFill>
                      <a:prstDash val="solid"/>
                    </a:lnL>
                    <a:lnR w="19049">
                      <a:solidFill>
                        <a:srgbClr val="0000FF"/>
                      </a:solidFill>
                      <a:prstDash val="solid"/>
                    </a:lnR>
                    <a:lnT w="19049">
                      <a:solidFill>
                        <a:srgbClr val="0000FF"/>
                      </a:solidFill>
                      <a:prstDash val="solid"/>
                    </a:lnT>
                    <a:lnB w="952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49">
                      <a:solidFill>
                        <a:srgbClr val="0000FF"/>
                      </a:solidFill>
                      <a:prstDash val="solid"/>
                    </a:lnL>
                    <a:lnB w="9524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599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Losses: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9524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43535">
                        <a:lnSpc>
                          <a:spcPts val="3260"/>
                        </a:lnSpc>
                      </a:pPr>
                      <a:r>
                        <a:rPr sz="3000" spc="-5" dirty="0">
                          <a:latin typeface="Arial"/>
                          <a:cs typeface="Arial"/>
                        </a:rPr>
                        <a:t>2.9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9524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5400" algn="ctr">
                        <a:lnSpc>
                          <a:spcPts val="3260"/>
                        </a:lnSpc>
                      </a:pPr>
                      <a:r>
                        <a:rPr sz="3000" dirty="0">
                          <a:latin typeface="Arial"/>
                          <a:cs typeface="Arial"/>
                        </a:rPr>
                        <a:t>0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9049">
                      <a:solidFill>
                        <a:srgbClr val="0000FF"/>
                      </a:solidFill>
                      <a:prstDash val="solid"/>
                    </a:lnR>
                    <a:lnT w="9524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52729">
                        <a:lnSpc>
                          <a:spcPts val="3260"/>
                        </a:lnSpc>
                      </a:pPr>
                      <a:r>
                        <a:rPr sz="3000" spc="-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lang="en-US" sz="3000" spc="-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sz="3000" spc="-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.9</a:t>
                      </a:r>
                      <a:endParaRPr sz="30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49">
                      <a:solidFill>
                        <a:srgbClr val="0000FF"/>
                      </a:solidFill>
                      <a:prstDash val="solid"/>
                    </a:lnL>
                    <a:lnR w="19049">
                      <a:solidFill>
                        <a:srgbClr val="0000FF"/>
                      </a:solidFill>
                      <a:prstDash val="solid"/>
                    </a:lnR>
                    <a:lnT w="9524">
                      <a:solidFill>
                        <a:srgbClr val="000000"/>
                      </a:solidFill>
                      <a:prstDash val="solid"/>
                    </a:lnT>
                    <a:lnB w="19049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49">
                      <a:solidFill>
                        <a:srgbClr val="0000FF"/>
                      </a:solidFill>
                      <a:prstDash val="solid"/>
                    </a:lnL>
                    <a:lnT w="9524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object 12"/>
          <p:cNvSpPr/>
          <p:nvPr/>
        </p:nvSpPr>
        <p:spPr>
          <a:xfrm>
            <a:off x="1404999" y="1863785"/>
            <a:ext cx="1140220" cy="12585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2" name="object 13"/>
          <p:cNvSpPr/>
          <p:nvPr/>
        </p:nvSpPr>
        <p:spPr>
          <a:xfrm>
            <a:off x="2670995" y="1863788"/>
            <a:ext cx="1258539" cy="12585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3" name="object 14"/>
          <p:cNvSpPr/>
          <p:nvPr/>
        </p:nvSpPr>
        <p:spPr>
          <a:xfrm>
            <a:off x="4049442" y="1863808"/>
            <a:ext cx="1211047" cy="121104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4" name="object 15"/>
          <p:cNvSpPr/>
          <p:nvPr/>
        </p:nvSpPr>
        <p:spPr>
          <a:xfrm>
            <a:off x="2975794" y="1336775"/>
            <a:ext cx="1449172" cy="3067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5" name="object 16"/>
          <p:cNvSpPr/>
          <p:nvPr/>
        </p:nvSpPr>
        <p:spPr>
          <a:xfrm>
            <a:off x="5679888" y="981274"/>
            <a:ext cx="0" cy="4439920"/>
          </a:xfrm>
          <a:custGeom>
            <a:avLst/>
            <a:gdLst/>
            <a:ahLst/>
            <a:cxnLst/>
            <a:rect l="l" t="t" r="r" b="b"/>
            <a:pathLst>
              <a:path h="4439920">
                <a:moveTo>
                  <a:pt x="0" y="0"/>
                </a:moveTo>
                <a:lnTo>
                  <a:pt x="0" y="4439691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6" name="object 17"/>
          <p:cNvSpPr/>
          <p:nvPr/>
        </p:nvSpPr>
        <p:spPr>
          <a:xfrm>
            <a:off x="7555385" y="1513452"/>
            <a:ext cx="723573" cy="30679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7" name="object 18"/>
          <p:cNvSpPr/>
          <p:nvPr/>
        </p:nvSpPr>
        <p:spPr>
          <a:xfrm>
            <a:off x="6547013" y="2000373"/>
            <a:ext cx="240049" cy="3067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8" name="object 19"/>
          <p:cNvSpPr/>
          <p:nvPr/>
        </p:nvSpPr>
        <p:spPr>
          <a:xfrm>
            <a:off x="6583387" y="1789424"/>
            <a:ext cx="240049" cy="30679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9" name="object 20"/>
          <p:cNvSpPr/>
          <p:nvPr/>
        </p:nvSpPr>
        <p:spPr>
          <a:xfrm>
            <a:off x="7179785" y="2639546"/>
            <a:ext cx="1099172" cy="22939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0" name="object 21"/>
          <p:cNvSpPr/>
          <p:nvPr/>
        </p:nvSpPr>
        <p:spPr>
          <a:xfrm>
            <a:off x="5748014" y="3603820"/>
            <a:ext cx="3316043" cy="35549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1" name="object 22"/>
          <p:cNvSpPr/>
          <p:nvPr/>
        </p:nvSpPr>
        <p:spPr>
          <a:xfrm>
            <a:off x="5738488" y="3594294"/>
            <a:ext cx="3335654" cy="374650"/>
          </a:xfrm>
          <a:custGeom>
            <a:avLst/>
            <a:gdLst/>
            <a:ahLst/>
            <a:cxnLst/>
            <a:rect l="l" t="t" r="r" b="b"/>
            <a:pathLst>
              <a:path w="3335654" h="374650">
                <a:moveTo>
                  <a:pt x="0" y="0"/>
                </a:moveTo>
                <a:lnTo>
                  <a:pt x="3335093" y="0"/>
                </a:lnTo>
                <a:lnTo>
                  <a:pt x="3335093" y="374549"/>
                </a:lnTo>
                <a:lnTo>
                  <a:pt x="0" y="37454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-1" y="6604084"/>
            <a:ext cx="200297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Adapted from Andrej </a:t>
            </a:r>
            <a:r>
              <a:rPr lang="en-US" sz="1050" dirty="0" err="1"/>
              <a:t>Karpathy</a:t>
            </a:r>
            <a:endParaRPr lang="en-US" sz="1050" dirty="0"/>
          </a:p>
        </p:txBody>
      </p:sp>
      <p:sp>
        <p:nvSpPr>
          <p:cNvPr id="23" name="灯片编号占位符 22">
            <a:extLst>
              <a:ext uri="{FF2B5EF4-FFF2-40B4-BE49-F238E27FC236}">
                <a16:creationId xmlns:a16="http://schemas.microsoft.com/office/drawing/2014/main" id="{A79FD693-9943-514B-8881-CC18A72E0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83017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classifier: Hinge loss </a:t>
            </a:r>
          </a:p>
        </p:txBody>
      </p:sp>
      <p:sp>
        <p:nvSpPr>
          <p:cNvPr id="3" name="object 4"/>
          <p:cNvSpPr/>
          <p:nvPr/>
        </p:nvSpPr>
        <p:spPr>
          <a:xfrm>
            <a:off x="98375" y="4931016"/>
            <a:ext cx="5394325" cy="0"/>
          </a:xfrm>
          <a:custGeom>
            <a:avLst/>
            <a:gdLst/>
            <a:ahLst/>
            <a:cxnLst/>
            <a:rect l="l" t="t" r="r" b="b"/>
            <a:pathLst>
              <a:path w="5394325">
                <a:moveTo>
                  <a:pt x="0" y="0"/>
                </a:moveTo>
                <a:lnTo>
                  <a:pt x="5393989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" name="object 5"/>
          <p:cNvSpPr/>
          <p:nvPr/>
        </p:nvSpPr>
        <p:spPr>
          <a:xfrm>
            <a:off x="1404999" y="1863785"/>
            <a:ext cx="1140220" cy="12585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6"/>
          <p:cNvSpPr/>
          <p:nvPr/>
        </p:nvSpPr>
        <p:spPr>
          <a:xfrm>
            <a:off x="2670995" y="1863788"/>
            <a:ext cx="1258539" cy="12585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7"/>
          <p:cNvSpPr/>
          <p:nvPr/>
        </p:nvSpPr>
        <p:spPr>
          <a:xfrm>
            <a:off x="4049442" y="1863808"/>
            <a:ext cx="1211047" cy="121104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" name="object 8"/>
          <p:cNvSpPr txBox="1"/>
          <p:nvPr/>
        </p:nvSpPr>
        <p:spPr>
          <a:xfrm>
            <a:off x="198150" y="3137426"/>
            <a:ext cx="550545" cy="17456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5820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cat  car  frog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object 9"/>
          <p:cNvSpPr txBox="1"/>
          <p:nvPr/>
        </p:nvSpPr>
        <p:spPr>
          <a:xfrm>
            <a:off x="1648542" y="3318856"/>
            <a:ext cx="681990" cy="1532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 algn="ctr"/>
            <a:r>
              <a:rPr sz="3000" b="1" spc="-5" dirty="0">
                <a:solidFill>
                  <a:prstClr val="black"/>
                </a:solidFill>
                <a:latin typeface="Arial"/>
                <a:cs typeface="Arial"/>
              </a:rPr>
              <a:t>3.2</a:t>
            </a:r>
            <a:endParaRPr sz="3000">
              <a:solidFill>
                <a:prstClr val="black"/>
              </a:solidFill>
              <a:latin typeface="Arial"/>
              <a:cs typeface="Arial"/>
            </a:endParaRPr>
          </a:p>
          <a:p>
            <a:pPr marL="25400" algn="ctr">
              <a:spcBef>
                <a:spcPts val="600"/>
              </a:spcBef>
            </a:pPr>
            <a:r>
              <a:rPr sz="3000" spc="-5" dirty="0">
                <a:solidFill>
                  <a:prstClr val="black"/>
                </a:solidFill>
                <a:latin typeface="Arial"/>
                <a:cs typeface="Arial"/>
              </a:rPr>
              <a:t>5.1</a:t>
            </a:r>
            <a:endParaRPr sz="3000">
              <a:solidFill>
                <a:prstClr val="black"/>
              </a:solidFill>
              <a:latin typeface="Arial"/>
              <a:cs typeface="Arial"/>
            </a:endParaRPr>
          </a:p>
          <a:p>
            <a:pPr algn="ctr">
              <a:spcBef>
                <a:spcPts val="600"/>
              </a:spcBef>
            </a:pPr>
            <a:r>
              <a:rPr sz="3000" spc="-5" dirty="0">
                <a:solidFill>
                  <a:prstClr val="black"/>
                </a:solidFill>
                <a:latin typeface="Arial"/>
                <a:cs typeface="Arial"/>
              </a:rPr>
              <a:t>-1.7</a:t>
            </a:r>
            <a:endParaRPr sz="30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9" name="object 10"/>
          <p:cNvSpPr txBox="1"/>
          <p:nvPr/>
        </p:nvSpPr>
        <p:spPr>
          <a:xfrm>
            <a:off x="3172539" y="3318856"/>
            <a:ext cx="554990" cy="1532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3000" spc="-5" dirty="0">
                <a:solidFill>
                  <a:prstClr val="black"/>
                </a:solidFill>
                <a:latin typeface="Arial"/>
                <a:cs typeface="Arial"/>
              </a:rPr>
              <a:t>1.3</a:t>
            </a:r>
            <a:endParaRPr sz="30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600"/>
              </a:spcBef>
            </a:pPr>
            <a:r>
              <a:rPr sz="3000" b="1" spc="-5" dirty="0">
                <a:solidFill>
                  <a:prstClr val="black"/>
                </a:solidFill>
                <a:latin typeface="Arial"/>
                <a:cs typeface="Arial"/>
              </a:rPr>
              <a:t>4.9</a:t>
            </a:r>
            <a:endParaRPr sz="30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600"/>
              </a:spcBef>
            </a:pPr>
            <a:r>
              <a:rPr sz="3000" spc="-5" dirty="0">
                <a:solidFill>
                  <a:prstClr val="black"/>
                </a:solidFill>
                <a:latin typeface="Arial"/>
                <a:cs typeface="Arial"/>
              </a:rPr>
              <a:t>2.0</a:t>
            </a:r>
            <a:endParaRPr sz="30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0" name="object 11"/>
          <p:cNvSpPr txBox="1"/>
          <p:nvPr/>
        </p:nvSpPr>
        <p:spPr>
          <a:xfrm>
            <a:off x="4391736" y="3318856"/>
            <a:ext cx="707390" cy="1532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4465"/>
            <a:r>
              <a:rPr sz="3000" spc="-5" dirty="0">
                <a:solidFill>
                  <a:prstClr val="black"/>
                </a:solidFill>
                <a:latin typeface="Arial"/>
                <a:cs typeface="Arial"/>
              </a:rPr>
              <a:t>2.2</a:t>
            </a:r>
            <a:endParaRPr sz="3000">
              <a:solidFill>
                <a:prstClr val="black"/>
              </a:solidFill>
              <a:latin typeface="Arial"/>
              <a:cs typeface="Arial"/>
            </a:endParaRPr>
          </a:p>
          <a:p>
            <a:pPr marL="164465">
              <a:spcBef>
                <a:spcPts val="600"/>
              </a:spcBef>
            </a:pPr>
            <a:r>
              <a:rPr sz="3000" spc="-5" dirty="0">
                <a:solidFill>
                  <a:prstClr val="black"/>
                </a:solidFill>
                <a:latin typeface="Arial"/>
                <a:cs typeface="Arial"/>
              </a:rPr>
              <a:t>2.5</a:t>
            </a:r>
            <a:endParaRPr sz="30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600"/>
              </a:spcBef>
            </a:pPr>
            <a:r>
              <a:rPr sz="3000" b="1" spc="-5" dirty="0">
                <a:solidFill>
                  <a:prstClr val="black"/>
                </a:solidFill>
                <a:latin typeface="Arial"/>
                <a:cs typeface="Arial"/>
              </a:rPr>
              <a:t>-3.1</a:t>
            </a:r>
            <a:endParaRPr sz="30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1" name="object 12"/>
          <p:cNvSpPr/>
          <p:nvPr/>
        </p:nvSpPr>
        <p:spPr>
          <a:xfrm>
            <a:off x="2975794" y="1336775"/>
            <a:ext cx="1449172" cy="3067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2" name="object 13"/>
          <p:cNvSpPr/>
          <p:nvPr/>
        </p:nvSpPr>
        <p:spPr>
          <a:xfrm>
            <a:off x="5679888" y="981274"/>
            <a:ext cx="0" cy="4439920"/>
          </a:xfrm>
          <a:custGeom>
            <a:avLst/>
            <a:gdLst/>
            <a:ahLst/>
            <a:cxnLst/>
            <a:rect l="l" t="t" r="r" b="b"/>
            <a:pathLst>
              <a:path h="4439920">
                <a:moveTo>
                  <a:pt x="0" y="0"/>
                </a:moveTo>
                <a:lnTo>
                  <a:pt x="0" y="4439691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3" name="object 14"/>
          <p:cNvSpPr txBox="1"/>
          <p:nvPr/>
        </p:nvSpPr>
        <p:spPr>
          <a:xfrm>
            <a:off x="345848" y="1055935"/>
            <a:ext cx="4178300" cy="563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699"/>
              </a:lnSpc>
            </a:pPr>
            <a:r>
              <a:rPr spc="-5" dirty="0">
                <a:solidFill>
                  <a:prstClr val="black"/>
                </a:solidFill>
                <a:latin typeface="Arial"/>
                <a:cs typeface="Arial"/>
              </a:rPr>
              <a:t>Suppose: 3 training examples, 3 classes.  With some W the</a:t>
            </a:r>
            <a:r>
              <a:rPr spc="-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prstClr val="black"/>
                </a:solidFill>
                <a:latin typeface="Arial"/>
                <a:cs typeface="Arial"/>
              </a:rPr>
              <a:t>scores</a:t>
            </a:r>
            <a:endParaRPr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4" name="object 15"/>
          <p:cNvSpPr txBox="1"/>
          <p:nvPr/>
        </p:nvSpPr>
        <p:spPr>
          <a:xfrm>
            <a:off x="4530820" y="1334080"/>
            <a:ext cx="41910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 dirty="0">
                <a:solidFill>
                  <a:prstClr val="black"/>
                </a:solidFill>
                <a:latin typeface="Arial"/>
                <a:cs typeface="Arial"/>
              </a:rPr>
              <a:t>are:</a:t>
            </a:r>
            <a:endParaRPr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5" name="object 16"/>
          <p:cNvSpPr txBox="1"/>
          <p:nvPr/>
        </p:nvSpPr>
        <p:spPr>
          <a:xfrm>
            <a:off x="5976065" y="1108405"/>
            <a:ext cx="2284730" cy="692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n-US" b="1" spc="-30" dirty="0">
                <a:solidFill>
                  <a:prstClr val="black"/>
                </a:solidFill>
                <a:latin typeface="Arial"/>
                <a:cs typeface="Arial"/>
              </a:rPr>
              <a:t>Hinge</a:t>
            </a:r>
            <a:r>
              <a:rPr b="1" spc="-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b="1" spc="-5" dirty="0">
                <a:solidFill>
                  <a:prstClr val="black"/>
                </a:solidFill>
                <a:latin typeface="Arial"/>
                <a:cs typeface="Arial"/>
              </a:rPr>
              <a:t>loss:</a:t>
            </a:r>
            <a:endParaRPr dirty="0">
              <a:solidFill>
                <a:prstClr val="black"/>
              </a:solidFill>
              <a:latin typeface="Arial"/>
              <a:cs typeface="Arial"/>
            </a:endParaRPr>
          </a:p>
          <a:p>
            <a:pPr marL="30480">
              <a:spcBef>
                <a:spcPts val="1520"/>
              </a:spcBef>
            </a:pP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Given an</a:t>
            </a:r>
            <a:r>
              <a:rPr sz="140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example</a:t>
            </a:r>
            <a:endParaRPr sz="1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6" name="object 17"/>
          <p:cNvSpPr txBox="1"/>
          <p:nvPr/>
        </p:nvSpPr>
        <p:spPr>
          <a:xfrm>
            <a:off x="5994439" y="1795722"/>
            <a:ext cx="509905" cy="4360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1650"/>
              </a:lnSpc>
            </a:pP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where  where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7" name="object 18"/>
          <p:cNvSpPr txBox="1"/>
          <p:nvPr/>
        </p:nvSpPr>
        <p:spPr>
          <a:xfrm>
            <a:off x="6823343" y="1785561"/>
            <a:ext cx="1635125" cy="434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594">
              <a:lnSpc>
                <a:spcPts val="1664"/>
              </a:lnSpc>
            </a:pP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is the image</a:t>
            </a:r>
            <a:r>
              <a:rPr sz="1400" spc="-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and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1664"/>
              </a:lnSpc>
            </a:pP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is the (integer)</a:t>
            </a:r>
            <a:r>
              <a:rPr sz="14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label,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8" name="object 19"/>
          <p:cNvSpPr txBox="1"/>
          <p:nvPr/>
        </p:nvSpPr>
        <p:spPr>
          <a:xfrm>
            <a:off x="5994438" y="2424371"/>
            <a:ext cx="2485390" cy="4360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1650"/>
              </a:lnSpc>
            </a:pP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and using the shorthand for the  </a:t>
            </a:r>
            <a:r>
              <a:rPr sz="1400" dirty="0">
                <a:solidFill>
                  <a:prstClr val="black"/>
                </a:solidFill>
                <a:latin typeface="Arial"/>
                <a:cs typeface="Arial"/>
              </a:rPr>
              <a:t>scores</a:t>
            </a:r>
            <a:r>
              <a:rPr sz="1400" spc="-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vector: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object 20"/>
          <p:cNvSpPr txBox="1"/>
          <p:nvPr/>
        </p:nvSpPr>
        <p:spPr>
          <a:xfrm>
            <a:off x="5994439" y="3042858"/>
            <a:ext cx="2158365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the loss has the</a:t>
            </a:r>
            <a:r>
              <a:rPr sz="14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form:</a:t>
            </a:r>
            <a:endParaRPr sz="14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0" name="object 21"/>
          <p:cNvSpPr txBox="1"/>
          <p:nvPr/>
        </p:nvSpPr>
        <p:spPr>
          <a:xfrm>
            <a:off x="5994439" y="3681668"/>
            <a:ext cx="2968625" cy="4360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1650"/>
              </a:lnSpc>
            </a:pP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and the full training loss is the mean  over all examples in the training</a:t>
            </a:r>
            <a:r>
              <a:rPr sz="1400" spc="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prstClr val="black"/>
                </a:solidFill>
                <a:latin typeface="Arial"/>
                <a:cs typeface="Arial"/>
              </a:rPr>
              <a:t>data:</a:t>
            </a:r>
            <a:endParaRPr sz="1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1" name="object 22"/>
          <p:cNvSpPr/>
          <p:nvPr/>
        </p:nvSpPr>
        <p:spPr>
          <a:xfrm>
            <a:off x="7555385" y="1513452"/>
            <a:ext cx="723573" cy="30679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2" name="object 23"/>
          <p:cNvSpPr/>
          <p:nvPr/>
        </p:nvSpPr>
        <p:spPr>
          <a:xfrm>
            <a:off x="6547013" y="2000373"/>
            <a:ext cx="240049" cy="3067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3" name="object 24"/>
          <p:cNvSpPr/>
          <p:nvPr/>
        </p:nvSpPr>
        <p:spPr>
          <a:xfrm>
            <a:off x="6583387" y="1789424"/>
            <a:ext cx="240049" cy="30679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4" name="object 25"/>
          <p:cNvSpPr/>
          <p:nvPr/>
        </p:nvSpPr>
        <p:spPr>
          <a:xfrm>
            <a:off x="7179785" y="2639546"/>
            <a:ext cx="1099172" cy="22939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5" name="object 26"/>
          <p:cNvSpPr/>
          <p:nvPr/>
        </p:nvSpPr>
        <p:spPr>
          <a:xfrm>
            <a:off x="5970413" y="3299072"/>
            <a:ext cx="2861794" cy="30679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6" name="object 27"/>
          <p:cNvSpPr txBox="1"/>
          <p:nvPr/>
        </p:nvSpPr>
        <p:spPr>
          <a:xfrm>
            <a:off x="5823666" y="4722512"/>
            <a:ext cx="2639695" cy="345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200" spc="-5" dirty="0">
                <a:solidFill>
                  <a:srgbClr val="0000FF"/>
                </a:solidFill>
                <a:latin typeface="Arial"/>
                <a:cs typeface="Arial"/>
              </a:rPr>
              <a:t>L = (2.9 + 0 +</a:t>
            </a:r>
            <a:r>
              <a:rPr sz="2200"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r>
              <a:rPr lang="en-US" sz="2200" spc="-5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r>
              <a:rPr sz="2200" spc="-5" dirty="0">
                <a:solidFill>
                  <a:srgbClr val="0000FF"/>
                </a:solidFill>
                <a:latin typeface="Arial"/>
                <a:cs typeface="Arial"/>
              </a:rPr>
              <a:t>.9)/3</a:t>
            </a:r>
            <a:endParaRPr sz="22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7" name="object 28"/>
          <p:cNvSpPr/>
          <p:nvPr/>
        </p:nvSpPr>
        <p:spPr>
          <a:xfrm>
            <a:off x="6695411" y="4225169"/>
            <a:ext cx="1580096" cy="39359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8" name="object 29"/>
          <p:cNvSpPr txBox="1"/>
          <p:nvPr/>
        </p:nvSpPr>
        <p:spPr>
          <a:xfrm>
            <a:off x="1778691" y="4951877"/>
            <a:ext cx="554990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30"/>
              </a:lnSpc>
            </a:pPr>
            <a:r>
              <a:rPr sz="3000" spc="-5" dirty="0">
                <a:solidFill>
                  <a:srgbClr val="0000FF"/>
                </a:solidFill>
                <a:latin typeface="Arial"/>
                <a:cs typeface="Arial"/>
              </a:rPr>
              <a:t>2.9</a:t>
            </a:r>
            <a:endParaRPr sz="30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9" name="object 30"/>
          <p:cNvSpPr txBox="1"/>
          <p:nvPr/>
        </p:nvSpPr>
        <p:spPr>
          <a:xfrm>
            <a:off x="3302688" y="4951877"/>
            <a:ext cx="237490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30"/>
              </a:lnSpc>
            </a:pPr>
            <a:r>
              <a:rPr sz="3000" spc="-5" dirty="0">
                <a:solidFill>
                  <a:srgbClr val="0000FF"/>
                </a:solidFill>
                <a:latin typeface="Arial"/>
                <a:cs typeface="Arial"/>
              </a:rPr>
              <a:t>0</a:t>
            </a:r>
            <a:endParaRPr sz="30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0" name="object 31"/>
          <p:cNvSpPr txBox="1"/>
          <p:nvPr/>
        </p:nvSpPr>
        <p:spPr>
          <a:xfrm>
            <a:off x="4382317" y="4951868"/>
            <a:ext cx="766445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30"/>
              </a:lnSpc>
            </a:pPr>
            <a:r>
              <a:rPr sz="3000" spc="-5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r>
              <a:rPr lang="en-US" sz="3000" spc="-5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r>
              <a:rPr sz="3000" spc="-5" dirty="0">
                <a:solidFill>
                  <a:srgbClr val="0000FF"/>
                </a:solidFill>
                <a:latin typeface="Arial"/>
                <a:cs typeface="Arial"/>
              </a:rPr>
              <a:t>.9</a:t>
            </a:r>
            <a:endParaRPr sz="30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1" name="object 32"/>
          <p:cNvSpPr txBox="1"/>
          <p:nvPr/>
        </p:nvSpPr>
        <p:spPr>
          <a:xfrm>
            <a:off x="171399" y="5024311"/>
            <a:ext cx="107569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25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Losses: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2" name="object 33"/>
          <p:cNvSpPr txBox="1"/>
          <p:nvPr/>
        </p:nvSpPr>
        <p:spPr>
          <a:xfrm>
            <a:off x="5399117" y="5096185"/>
            <a:ext cx="2876389" cy="7694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69290">
              <a:lnSpc>
                <a:spcPts val="2325"/>
              </a:lnSpc>
            </a:pPr>
            <a:r>
              <a:rPr sz="2200" spc="-5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2200" spc="-8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en-US" sz="2200" spc="-80" dirty="0">
                <a:solidFill>
                  <a:srgbClr val="0000FF"/>
                </a:solidFill>
                <a:latin typeface="Arial"/>
                <a:cs typeface="Arial"/>
              </a:rPr>
              <a:t>15.8 / 3 = </a:t>
            </a:r>
            <a:r>
              <a:rPr lang="en-US" sz="2200" b="1" spc="-5" dirty="0">
                <a:solidFill>
                  <a:srgbClr val="0000FF"/>
                </a:solidFill>
                <a:latin typeface="Arial"/>
                <a:cs typeface="Arial"/>
              </a:rPr>
              <a:t>5.3</a:t>
            </a:r>
            <a:endParaRPr sz="22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1325"/>
              </a:spcBef>
            </a:pPr>
            <a:r>
              <a:rPr sz="3000" spc="-7" baseline="1388" dirty="0">
                <a:solidFill>
                  <a:srgbClr val="FFFFFF"/>
                </a:solidFill>
                <a:latin typeface="Arial"/>
                <a:cs typeface="Arial"/>
              </a:rPr>
              <a:t>Lecture 3 </a:t>
            </a:r>
            <a:r>
              <a:rPr sz="3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3000" spc="-225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12</a:t>
            </a:r>
            <a:endParaRPr sz="20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-1" y="6604084"/>
            <a:ext cx="25452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Adapted from Andrej </a:t>
            </a:r>
            <a:r>
              <a:rPr lang="en-US" sz="1050" dirty="0" err="1"/>
              <a:t>Karpathy</a:t>
            </a:r>
            <a:endParaRPr lang="en-US" sz="1050" dirty="0"/>
          </a:p>
        </p:txBody>
      </p:sp>
      <p:sp>
        <p:nvSpPr>
          <p:cNvPr id="34" name="灯片编号占位符 33">
            <a:extLst>
              <a:ext uri="{FF2B5EF4-FFF2-40B4-BE49-F238E27FC236}">
                <a16:creationId xmlns:a16="http://schemas.microsoft.com/office/drawing/2014/main" id="{F64BC08D-9047-3D47-8DF0-32AE0B66A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91938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classifier: Hinge loss </a:t>
            </a:r>
          </a:p>
        </p:txBody>
      </p:sp>
      <p:sp>
        <p:nvSpPr>
          <p:cNvPr id="3" name="object 4"/>
          <p:cNvSpPr/>
          <p:nvPr/>
        </p:nvSpPr>
        <p:spPr>
          <a:xfrm>
            <a:off x="425486" y="2217922"/>
            <a:ext cx="7201172" cy="5090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" name="object 5"/>
          <p:cNvSpPr/>
          <p:nvPr/>
        </p:nvSpPr>
        <p:spPr>
          <a:xfrm>
            <a:off x="425475" y="1636336"/>
            <a:ext cx="1952933" cy="4134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6604084"/>
            <a:ext cx="199926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Adapted from Andrej </a:t>
            </a:r>
            <a:r>
              <a:rPr lang="en-US" sz="1050" dirty="0" err="1"/>
              <a:t>Karpathy</a:t>
            </a:r>
            <a:endParaRPr lang="en-US" sz="1050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F526DD-04BD-4747-93BF-51AE6FA5A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15094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classifier: Hinge loss </a:t>
            </a:r>
          </a:p>
        </p:txBody>
      </p:sp>
      <p:sp>
        <p:nvSpPr>
          <p:cNvPr id="3" name="object 4"/>
          <p:cNvSpPr txBox="1"/>
          <p:nvPr/>
        </p:nvSpPr>
        <p:spPr>
          <a:xfrm>
            <a:off x="240350" y="1051409"/>
            <a:ext cx="3750945" cy="466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3000" spc="-5" dirty="0">
                <a:solidFill>
                  <a:srgbClr val="FF0000"/>
                </a:solidFill>
                <a:latin typeface="Arial"/>
                <a:cs typeface="Arial"/>
              </a:rPr>
              <a:t>Weight</a:t>
            </a:r>
            <a:r>
              <a:rPr sz="30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000" spc="-5" dirty="0">
                <a:solidFill>
                  <a:srgbClr val="FF0000"/>
                </a:solidFill>
                <a:latin typeface="Arial"/>
                <a:cs typeface="Arial"/>
              </a:rPr>
              <a:t>Regularization</a:t>
            </a:r>
            <a:endParaRPr sz="30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5"/>
          <p:cNvSpPr/>
          <p:nvPr/>
        </p:nvSpPr>
        <p:spPr>
          <a:xfrm>
            <a:off x="289009" y="1715798"/>
            <a:ext cx="8565972" cy="4934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6"/>
          <p:cNvSpPr/>
          <p:nvPr/>
        </p:nvSpPr>
        <p:spPr>
          <a:xfrm>
            <a:off x="7827310" y="1664348"/>
            <a:ext cx="1069975" cy="544830"/>
          </a:xfrm>
          <a:custGeom>
            <a:avLst/>
            <a:gdLst/>
            <a:ahLst/>
            <a:cxnLst/>
            <a:rect l="l" t="t" r="r" b="b"/>
            <a:pathLst>
              <a:path w="1069975" h="544830">
                <a:moveTo>
                  <a:pt x="0" y="0"/>
                </a:moveTo>
                <a:lnTo>
                  <a:pt x="1069497" y="0"/>
                </a:lnTo>
                <a:lnTo>
                  <a:pt x="1069497" y="544798"/>
                </a:lnTo>
                <a:lnTo>
                  <a:pt x="0" y="5447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7"/>
          <p:cNvSpPr/>
          <p:nvPr/>
        </p:nvSpPr>
        <p:spPr>
          <a:xfrm>
            <a:off x="7394709" y="1471972"/>
            <a:ext cx="481330" cy="263525"/>
          </a:xfrm>
          <a:custGeom>
            <a:avLst/>
            <a:gdLst/>
            <a:ahLst/>
            <a:cxnLst/>
            <a:rect l="l" t="t" r="r" b="b"/>
            <a:pathLst>
              <a:path w="481329" h="263525">
                <a:moveTo>
                  <a:pt x="0" y="0"/>
                </a:moveTo>
                <a:lnTo>
                  <a:pt x="480874" y="263534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" name="object 8"/>
          <p:cNvSpPr/>
          <p:nvPr/>
        </p:nvSpPr>
        <p:spPr>
          <a:xfrm>
            <a:off x="7868034" y="1721709"/>
            <a:ext cx="45720" cy="34925"/>
          </a:xfrm>
          <a:custGeom>
            <a:avLst/>
            <a:gdLst/>
            <a:ahLst/>
            <a:cxnLst/>
            <a:rect l="l" t="t" r="r" b="b"/>
            <a:pathLst>
              <a:path w="45720" h="34925">
                <a:moveTo>
                  <a:pt x="0" y="27594"/>
                </a:moveTo>
                <a:lnTo>
                  <a:pt x="45449" y="34572"/>
                </a:lnTo>
                <a:lnTo>
                  <a:pt x="15124" y="0"/>
                </a:lnTo>
                <a:lnTo>
                  <a:pt x="0" y="27594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8" name="object 9"/>
          <p:cNvSpPr txBox="1">
            <a:spLocks/>
          </p:cNvSpPr>
          <p:nvPr/>
        </p:nvSpPr>
        <p:spPr bwMode="auto">
          <a:xfrm>
            <a:off x="5305363" y="903186"/>
            <a:ext cx="3359150" cy="5632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9pPr>
          </a:lstStyle>
          <a:p>
            <a:pPr marL="12700" marR="5080">
              <a:lnSpc>
                <a:spcPct val="100699"/>
              </a:lnSpc>
            </a:pPr>
            <a:r>
              <a:rPr lang="el-GR" sz="1800" kern="0" spc="-5" dirty="0"/>
              <a:t>λ</a:t>
            </a:r>
            <a:r>
              <a:rPr lang="en-US" sz="1800" kern="0" spc="-5" dirty="0"/>
              <a:t> = regularization strength  (</a:t>
            </a:r>
            <a:r>
              <a:rPr lang="en-US" sz="1800" kern="0" spc="-5" dirty="0" err="1"/>
              <a:t>hyperparameter</a:t>
            </a:r>
            <a:r>
              <a:rPr lang="en-US" sz="1800" kern="0" spc="-5" dirty="0"/>
              <a:t>)</a:t>
            </a:r>
            <a:endParaRPr lang="en-US" sz="1800" kern="0" dirty="0"/>
          </a:p>
        </p:txBody>
      </p:sp>
      <p:sp>
        <p:nvSpPr>
          <p:cNvPr id="9" name="object 10"/>
          <p:cNvSpPr txBox="1"/>
          <p:nvPr/>
        </p:nvSpPr>
        <p:spPr>
          <a:xfrm>
            <a:off x="362025" y="2469904"/>
            <a:ext cx="6969125" cy="1846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3902710"/>
            <a:r>
              <a:rPr sz="3000" spc="-5" dirty="0">
                <a:solidFill>
                  <a:srgbClr val="38751C"/>
                </a:solidFill>
                <a:latin typeface="Arial"/>
                <a:cs typeface="Arial"/>
              </a:rPr>
              <a:t>In common use:  </a:t>
            </a:r>
            <a:r>
              <a:rPr sz="3000" b="1" spc="-5" dirty="0">
                <a:solidFill>
                  <a:prstClr val="black"/>
                </a:solidFill>
                <a:latin typeface="Arial"/>
                <a:cs typeface="Arial"/>
              </a:rPr>
              <a:t>L2</a:t>
            </a:r>
            <a:r>
              <a:rPr sz="3000" b="1" spc="-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000" b="1" spc="-5" dirty="0">
                <a:solidFill>
                  <a:prstClr val="black"/>
                </a:solidFill>
                <a:latin typeface="Arial"/>
                <a:cs typeface="Arial"/>
              </a:rPr>
              <a:t>regularization  </a:t>
            </a:r>
            <a:r>
              <a:rPr sz="3000" spc="-5" dirty="0">
                <a:solidFill>
                  <a:prstClr val="black"/>
                </a:solidFill>
                <a:latin typeface="Arial"/>
                <a:cs typeface="Arial"/>
              </a:rPr>
              <a:t>L1</a:t>
            </a:r>
            <a:r>
              <a:rPr sz="3000" spc="-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000" spc="-5" dirty="0">
                <a:solidFill>
                  <a:prstClr val="black"/>
                </a:solidFill>
                <a:latin typeface="Arial"/>
                <a:cs typeface="Arial"/>
              </a:rPr>
              <a:t>regularization</a:t>
            </a:r>
            <a:endParaRPr sz="30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12700" marR="5080"/>
            <a:r>
              <a:rPr sz="3000" spc="-5" dirty="0">
                <a:solidFill>
                  <a:prstClr val="black"/>
                </a:solidFill>
                <a:latin typeface="Arial"/>
                <a:cs typeface="Arial"/>
              </a:rPr>
              <a:t>Dropout </a:t>
            </a:r>
            <a:r>
              <a:rPr sz="3000" spc="-5" dirty="0">
                <a:solidFill>
                  <a:srgbClr val="999999"/>
                </a:solidFill>
                <a:latin typeface="Arial"/>
                <a:cs typeface="Arial"/>
              </a:rPr>
              <a:t>(will see</a:t>
            </a:r>
            <a:r>
              <a:rPr sz="3000" spc="-10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3000" spc="-5" dirty="0">
                <a:solidFill>
                  <a:srgbClr val="999999"/>
                </a:solidFill>
                <a:latin typeface="Arial"/>
                <a:cs typeface="Arial"/>
              </a:rPr>
              <a:t>later)</a:t>
            </a:r>
            <a:endParaRPr sz="30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0" name="object 11"/>
          <p:cNvSpPr/>
          <p:nvPr/>
        </p:nvSpPr>
        <p:spPr>
          <a:xfrm>
            <a:off x="4872590" y="2892920"/>
            <a:ext cx="2562044" cy="4384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1" name="object 12"/>
          <p:cNvSpPr/>
          <p:nvPr/>
        </p:nvSpPr>
        <p:spPr>
          <a:xfrm>
            <a:off x="4879265" y="3406945"/>
            <a:ext cx="2548694" cy="3935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0" y="6604084"/>
            <a:ext cx="199926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Adapted from Andrej </a:t>
            </a:r>
            <a:r>
              <a:rPr lang="en-US" sz="1050" dirty="0" err="1"/>
              <a:t>Karpathy</a:t>
            </a:r>
            <a:endParaRPr lang="en-US" sz="1050" dirty="0"/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B5F1EA2A-95A5-2F4A-9369-D9DCE6C7F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32978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2726123" y="3062506"/>
            <a:ext cx="5941695" cy="563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699"/>
              </a:lnSpc>
            </a:pPr>
            <a:r>
              <a:rPr spc="-5" dirty="0">
                <a:latin typeface="Arial"/>
                <a:cs typeface="Arial"/>
              </a:rPr>
              <a:t>Want to maximize the log likelihood, or (for a loss function)  to minimize the negative log likelihood of the correct</a:t>
            </a:r>
            <a:r>
              <a:rPr spc="135" dirty="0">
                <a:latin typeface="Arial"/>
                <a:cs typeface="Arial"/>
              </a:rPr>
              <a:t> </a:t>
            </a:r>
            <a:r>
              <a:rPr spc="-5" dirty="0">
                <a:latin typeface="Arial"/>
                <a:cs typeface="Arial"/>
              </a:rPr>
              <a:t>class:</a:t>
            </a:r>
            <a:endParaRPr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404999" y="1863785"/>
            <a:ext cx="1140220" cy="12585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98150" y="3137426"/>
            <a:ext cx="550545" cy="17456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58200"/>
              </a:lnSpc>
            </a:pPr>
            <a:r>
              <a:rPr sz="2400" spc="-5" dirty="0">
                <a:latin typeface="Arial"/>
                <a:cs typeface="Arial"/>
              </a:rPr>
              <a:t>cat  car  frog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48542" y="3318856"/>
            <a:ext cx="681990" cy="1532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 algn="ctr"/>
            <a:r>
              <a:rPr sz="3000" b="1" spc="-5" dirty="0">
                <a:latin typeface="Arial"/>
                <a:cs typeface="Arial"/>
              </a:rPr>
              <a:t>3.2</a:t>
            </a:r>
            <a:endParaRPr sz="3000">
              <a:latin typeface="Arial"/>
              <a:cs typeface="Arial"/>
            </a:endParaRPr>
          </a:p>
          <a:p>
            <a:pPr marL="25400" algn="ctr">
              <a:spcBef>
                <a:spcPts val="600"/>
              </a:spcBef>
            </a:pPr>
            <a:r>
              <a:rPr sz="3000" spc="-5" dirty="0">
                <a:latin typeface="Arial"/>
                <a:cs typeface="Arial"/>
              </a:rPr>
              <a:t>5.1</a:t>
            </a:r>
            <a:endParaRPr sz="3000">
              <a:latin typeface="Arial"/>
              <a:cs typeface="Arial"/>
            </a:endParaRPr>
          </a:p>
          <a:p>
            <a:pPr algn="ctr">
              <a:spcBef>
                <a:spcPts val="600"/>
              </a:spcBef>
            </a:pPr>
            <a:r>
              <a:rPr sz="3000" spc="-5" dirty="0">
                <a:latin typeface="Arial"/>
                <a:cs typeface="Arial"/>
              </a:rPr>
              <a:t>-1.7</a:t>
            </a:r>
            <a:endParaRPr sz="30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728542" y="3686845"/>
            <a:ext cx="3801042" cy="4421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723768" y="3682069"/>
            <a:ext cx="3810635" cy="452120"/>
          </a:xfrm>
          <a:custGeom>
            <a:avLst/>
            <a:gdLst/>
            <a:ahLst/>
            <a:cxnLst/>
            <a:rect l="l" t="t" r="r" b="b"/>
            <a:pathLst>
              <a:path w="3810634" h="452120">
                <a:moveTo>
                  <a:pt x="0" y="0"/>
                </a:moveTo>
                <a:lnTo>
                  <a:pt x="3810592" y="0"/>
                </a:lnTo>
                <a:lnTo>
                  <a:pt x="3810592" y="451699"/>
                </a:lnTo>
                <a:lnTo>
                  <a:pt x="0" y="4516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825287" y="2430310"/>
            <a:ext cx="1784893" cy="3554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820536" y="2425547"/>
            <a:ext cx="1794510" cy="365125"/>
          </a:xfrm>
          <a:custGeom>
            <a:avLst/>
            <a:gdLst/>
            <a:ahLst/>
            <a:cxnLst/>
            <a:rect l="l" t="t" r="r" b="b"/>
            <a:pathLst>
              <a:path w="1794509" h="365125">
                <a:moveTo>
                  <a:pt x="0" y="0"/>
                </a:moveTo>
                <a:lnTo>
                  <a:pt x="1794396" y="0"/>
                </a:lnTo>
                <a:lnTo>
                  <a:pt x="1794396" y="365024"/>
                </a:lnTo>
                <a:lnTo>
                  <a:pt x="0" y="365024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726123" y="1959528"/>
            <a:ext cx="5970905" cy="753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b="1" spc="-5" dirty="0">
                <a:latin typeface="Arial"/>
                <a:cs typeface="Arial"/>
              </a:rPr>
              <a:t>scores = unnormalized log probabilities of the</a:t>
            </a:r>
            <a:r>
              <a:rPr b="1" spc="90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classes.</a:t>
            </a:r>
            <a:endParaRPr>
              <a:latin typeface="Arial"/>
              <a:cs typeface="Arial"/>
            </a:endParaRPr>
          </a:p>
          <a:p>
            <a:pPr>
              <a:spcBef>
                <a:spcPts val="45"/>
              </a:spcBef>
            </a:pPr>
            <a:endParaRPr sz="1700">
              <a:latin typeface="Times New Roman"/>
              <a:cs typeface="Times New Roman"/>
            </a:endParaRPr>
          </a:p>
          <a:p>
            <a:pPr marL="1070610" algn="ctr"/>
            <a:r>
              <a:rPr sz="1400" spc="-5" dirty="0">
                <a:latin typeface="Arial"/>
                <a:cs typeface="Arial"/>
              </a:rPr>
              <a:t>where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749320" y="2361941"/>
            <a:ext cx="2886569" cy="49223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744545" y="2357179"/>
            <a:ext cx="2896235" cy="502284"/>
          </a:xfrm>
          <a:custGeom>
            <a:avLst/>
            <a:gdLst/>
            <a:ahLst/>
            <a:cxnLst/>
            <a:rect l="l" t="t" r="r" b="b"/>
            <a:pathLst>
              <a:path w="2896235" h="502285">
                <a:moveTo>
                  <a:pt x="0" y="0"/>
                </a:moveTo>
                <a:lnTo>
                  <a:pt x="2896094" y="0"/>
                </a:lnTo>
                <a:lnTo>
                  <a:pt x="2896094" y="501761"/>
                </a:lnTo>
                <a:lnTo>
                  <a:pt x="0" y="501761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Title 1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loss: </a:t>
            </a:r>
            <a:r>
              <a:rPr lang="en-US" dirty="0" err="1"/>
              <a:t>Softmax</a:t>
            </a:r>
            <a:r>
              <a:rPr lang="en-US" dirty="0"/>
              <a:t> (cross-entropy)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6604084"/>
            <a:ext cx="10727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Andrej </a:t>
            </a:r>
            <a:r>
              <a:rPr lang="en-US" sz="1050" dirty="0" err="1"/>
              <a:t>Karpathy</a:t>
            </a:r>
            <a:endParaRPr lang="en-US" sz="105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0B1A2A2-2932-3C4D-972E-5687F81AF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79086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98150" y="3137426"/>
            <a:ext cx="550545" cy="17456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58200"/>
              </a:lnSpc>
            </a:pPr>
            <a:r>
              <a:rPr sz="2400" spc="-5" dirty="0">
                <a:latin typeface="Arial"/>
                <a:cs typeface="Arial"/>
              </a:rPr>
              <a:t>cat  car  frog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4799" y="5058824"/>
            <a:ext cx="304863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 dirty="0">
                <a:solidFill>
                  <a:srgbClr val="0000FF"/>
                </a:solidFill>
                <a:latin typeface="Arial"/>
                <a:cs typeface="Arial"/>
              </a:rPr>
              <a:t>unnormalized log</a:t>
            </a:r>
            <a:r>
              <a:rPr spc="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0000FF"/>
                </a:solidFill>
                <a:latin typeface="Arial"/>
                <a:cs typeface="Arial"/>
              </a:rPr>
              <a:t>probabilities</a:t>
            </a:r>
            <a:endParaRPr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77338" y="3318856"/>
            <a:ext cx="995044" cy="1532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0665"/>
            <a:r>
              <a:rPr sz="3000" b="1" spc="-5" dirty="0">
                <a:latin typeface="Arial"/>
                <a:cs typeface="Arial"/>
              </a:rPr>
              <a:t>24.5</a:t>
            </a:r>
            <a:endParaRPr sz="3000">
              <a:latin typeface="Arial"/>
              <a:cs typeface="Arial"/>
            </a:endParaRPr>
          </a:p>
          <a:p>
            <a:pPr marR="8890" algn="ctr">
              <a:spcBef>
                <a:spcPts val="600"/>
              </a:spcBef>
            </a:pPr>
            <a:r>
              <a:rPr sz="3000" spc="-5" dirty="0">
                <a:latin typeface="Arial"/>
                <a:cs typeface="Arial"/>
              </a:rPr>
              <a:t>164.0</a:t>
            </a:r>
            <a:endParaRPr sz="3000">
              <a:latin typeface="Arial"/>
              <a:cs typeface="Arial"/>
            </a:endParaRPr>
          </a:p>
          <a:p>
            <a:pPr marL="75565" algn="ctr">
              <a:spcBef>
                <a:spcPts val="600"/>
              </a:spcBef>
            </a:pPr>
            <a:r>
              <a:rPr sz="3000" spc="-5" dirty="0">
                <a:latin typeface="Arial"/>
                <a:cs typeface="Arial"/>
              </a:rPr>
              <a:t>0.18</a:t>
            </a:r>
            <a:endParaRPr sz="3000">
              <a:latin typeface="Arial"/>
              <a:cs typeface="Arial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472648" y="3263120"/>
          <a:ext cx="1689295" cy="16703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28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63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5198">
                <a:tc rowSpan="2">
                  <a:txBody>
                    <a:bodyPr/>
                    <a:lstStyle/>
                    <a:p>
                      <a:pPr marR="1524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3000" b="1" spc="-5" dirty="0">
                          <a:latin typeface="Arial"/>
                          <a:cs typeface="Arial"/>
                        </a:rPr>
                        <a:t>3.2</a:t>
                      </a:r>
                      <a:endParaRPr sz="3000">
                        <a:latin typeface="Arial"/>
                        <a:cs typeface="Arial"/>
                      </a:endParaRPr>
                    </a:p>
                    <a:p>
                      <a:pPr marR="15240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3000" spc="-5" dirty="0">
                          <a:latin typeface="Arial"/>
                          <a:cs typeface="Arial"/>
                        </a:rPr>
                        <a:t>5.1</a:t>
                      </a:r>
                      <a:endParaRPr sz="3000">
                        <a:latin typeface="Arial"/>
                        <a:cs typeface="Arial"/>
                      </a:endParaRPr>
                    </a:p>
                    <a:p>
                      <a:pPr marR="40640" algn="ctr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3000" spc="-5" dirty="0">
                          <a:latin typeface="Arial"/>
                          <a:cs typeface="Arial"/>
                        </a:rPr>
                        <a:t>-1.7</a:t>
                      </a:r>
                      <a:endParaRPr sz="3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49">
                      <a:solidFill>
                        <a:srgbClr val="0000FF"/>
                      </a:solidFill>
                      <a:prstDash val="solid"/>
                    </a:lnL>
                    <a:lnR w="19049">
                      <a:solidFill>
                        <a:srgbClr val="0000FF"/>
                      </a:solidFill>
                      <a:prstDash val="solid"/>
                    </a:lnR>
                    <a:lnT w="19049">
                      <a:solidFill>
                        <a:srgbClr val="0000FF"/>
                      </a:solidFill>
                      <a:prstDash val="solid"/>
                    </a:lnT>
                    <a:lnB w="19049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68275">
                        <a:lnSpc>
                          <a:spcPct val="100000"/>
                        </a:lnSpc>
                        <a:spcBef>
                          <a:spcPts val="145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exp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49">
                      <a:solidFill>
                        <a:srgbClr val="0000FF"/>
                      </a:solidFill>
                      <a:prstDash val="solid"/>
                    </a:lnL>
                    <a:lnB w="19049">
                      <a:solidFill>
                        <a:srgbClr val="66666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519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49">
                      <a:solidFill>
                        <a:srgbClr val="0000FF"/>
                      </a:solidFill>
                      <a:prstDash val="solid"/>
                    </a:lnL>
                    <a:lnR w="19049">
                      <a:solidFill>
                        <a:srgbClr val="0000FF"/>
                      </a:solidFill>
                      <a:prstDash val="solid"/>
                    </a:lnR>
                    <a:lnT w="19049">
                      <a:solidFill>
                        <a:srgbClr val="0000FF"/>
                      </a:solidFill>
                      <a:prstDash val="solid"/>
                    </a:lnT>
                    <a:lnB w="19049">
                      <a:solidFill>
                        <a:srgbClr val="0000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49">
                      <a:solidFill>
                        <a:srgbClr val="0000FF"/>
                      </a:solidFill>
                      <a:prstDash val="solid"/>
                    </a:lnL>
                    <a:lnT w="19049">
                      <a:solidFill>
                        <a:srgbClr val="666666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1404999" y="1863785"/>
            <a:ext cx="1140220" cy="12585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437966" y="1824086"/>
            <a:ext cx="2614019" cy="6575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171469" y="4076368"/>
            <a:ext cx="86995" cy="63500"/>
          </a:xfrm>
          <a:custGeom>
            <a:avLst/>
            <a:gdLst/>
            <a:ahLst/>
            <a:cxnLst/>
            <a:rect l="l" t="t" r="r" b="b"/>
            <a:pathLst>
              <a:path w="86995" h="63500">
                <a:moveTo>
                  <a:pt x="0" y="62949"/>
                </a:moveTo>
                <a:lnTo>
                  <a:pt x="86449" y="31474"/>
                </a:lnTo>
                <a:lnTo>
                  <a:pt x="0" y="0"/>
                </a:lnTo>
                <a:lnTo>
                  <a:pt x="0" y="62949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463368" y="3272646"/>
            <a:ext cx="1062990" cy="1670685"/>
          </a:xfrm>
          <a:custGeom>
            <a:avLst/>
            <a:gdLst/>
            <a:ahLst/>
            <a:cxnLst/>
            <a:rect l="l" t="t" r="r" b="b"/>
            <a:pathLst>
              <a:path w="1062989" h="1670685">
                <a:moveTo>
                  <a:pt x="0" y="0"/>
                </a:moveTo>
                <a:lnTo>
                  <a:pt x="1062897" y="0"/>
                </a:lnTo>
                <a:lnTo>
                  <a:pt x="1062897" y="1670396"/>
                </a:lnTo>
                <a:lnTo>
                  <a:pt x="0" y="1670396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526266" y="4107843"/>
            <a:ext cx="967105" cy="0"/>
          </a:xfrm>
          <a:custGeom>
            <a:avLst/>
            <a:gdLst/>
            <a:ahLst/>
            <a:cxnLst/>
            <a:rect l="l" t="t" r="r" b="b"/>
            <a:pathLst>
              <a:path w="967104">
                <a:moveTo>
                  <a:pt x="0" y="0"/>
                </a:moveTo>
                <a:lnTo>
                  <a:pt x="966598" y="0"/>
                </a:lnTo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492864" y="4076368"/>
            <a:ext cx="86995" cy="63500"/>
          </a:xfrm>
          <a:custGeom>
            <a:avLst/>
            <a:gdLst/>
            <a:ahLst/>
            <a:cxnLst/>
            <a:rect l="l" t="t" r="r" b="b"/>
            <a:pathLst>
              <a:path w="86995" h="63500">
                <a:moveTo>
                  <a:pt x="0" y="62949"/>
                </a:moveTo>
                <a:lnTo>
                  <a:pt x="86449" y="31474"/>
                </a:lnTo>
                <a:lnTo>
                  <a:pt x="0" y="0"/>
                </a:lnTo>
                <a:lnTo>
                  <a:pt x="0" y="62949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674791" y="3704400"/>
            <a:ext cx="101663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 dirty="0">
                <a:latin typeface="Arial"/>
                <a:cs typeface="Arial"/>
              </a:rPr>
              <a:t>normalize</a:t>
            </a:r>
            <a:endParaRPr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72069" y="2825102"/>
            <a:ext cx="268033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 dirty="0">
                <a:solidFill>
                  <a:srgbClr val="FF0000"/>
                </a:solidFill>
                <a:latin typeface="Arial"/>
                <a:cs typeface="Arial"/>
              </a:rPr>
              <a:t>unnormalized</a:t>
            </a:r>
            <a:r>
              <a:rPr spc="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FF0000"/>
                </a:solidFill>
                <a:latin typeface="Arial"/>
                <a:cs typeface="Arial"/>
              </a:rPr>
              <a:t>probabilities</a:t>
            </a:r>
            <a:endParaRPr dirty="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825563" y="3272646"/>
            <a:ext cx="1062990" cy="1575431"/>
          </a:xfrm>
          <a:prstGeom prst="rect">
            <a:avLst/>
          </a:prstGeom>
          <a:ln w="19049">
            <a:solidFill>
              <a:srgbClr val="38751C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169545">
              <a:spcBef>
                <a:spcPts val="285"/>
              </a:spcBef>
            </a:pPr>
            <a:r>
              <a:rPr sz="3000" b="1" spc="-5" dirty="0">
                <a:solidFill>
                  <a:srgbClr val="9900FF"/>
                </a:solidFill>
                <a:latin typeface="Arial"/>
                <a:cs typeface="Arial"/>
              </a:rPr>
              <a:t>0.13</a:t>
            </a:r>
            <a:endParaRPr sz="3000">
              <a:latin typeface="Arial"/>
              <a:cs typeface="Arial"/>
            </a:endParaRPr>
          </a:p>
          <a:p>
            <a:pPr marL="169545">
              <a:spcBef>
                <a:spcPts val="600"/>
              </a:spcBef>
            </a:pPr>
            <a:r>
              <a:rPr sz="3000" spc="-5" dirty="0">
                <a:latin typeface="Arial"/>
                <a:cs typeface="Arial"/>
              </a:rPr>
              <a:t>0.87</a:t>
            </a:r>
            <a:endParaRPr sz="3000">
              <a:latin typeface="Arial"/>
              <a:cs typeface="Arial"/>
            </a:endParaRPr>
          </a:p>
          <a:p>
            <a:pPr marL="169545">
              <a:spcBef>
                <a:spcPts val="600"/>
              </a:spcBef>
            </a:pPr>
            <a:r>
              <a:rPr sz="3000" spc="-5" dirty="0">
                <a:latin typeface="Arial"/>
                <a:cs typeface="Arial"/>
              </a:rPr>
              <a:t>0.00</a:t>
            </a:r>
            <a:endParaRPr sz="3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737436" y="5058824"/>
            <a:ext cx="124523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 dirty="0">
                <a:solidFill>
                  <a:srgbClr val="38751C"/>
                </a:solidFill>
                <a:latin typeface="Arial"/>
                <a:cs typeface="Arial"/>
              </a:rPr>
              <a:t>probabilities</a:t>
            </a:r>
            <a:endParaRPr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942561" y="3578494"/>
            <a:ext cx="170815" cy="0"/>
          </a:xfrm>
          <a:custGeom>
            <a:avLst/>
            <a:gdLst/>
            <a:ahLst/>
            <a:cxnLst/>
            <a:rect l="l" t="t" r="r" b="b"/>
            <a:pathLst>
              <a:path w="170815">
                <a:moveTo>
                  <a:pt x="0" y="0"/>
                </a:moveTo>
                <a:lnTo>
                  <a:pt x="170249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112811" y="3562769"/>
            <a:ext cx="43815" cy="31750"/>
          </a:xfrm>
          <a:custGeom>
            <a:avLst/>
            <a:gdLst/>
            <a:ahLst/>
            <a:cxnLst/>
            <a:rect l="l" t="t" r="r" b="b"/>
            <a:pathLst>
              <a:path w="43815" h="31750">
                <a:moveTo>
                  <a:pt x="0" y="31449"/>
                </a:moveTo>
                <a:lnTo>
                  <a:pt x="43224" y="15724"/>
                </a:lnTo>
                <a:lnTo>
                  <a:pt x="0" y="0"/>
                </a:lnTo>
                <a:lnTo>
                  <a:pt x="0" y="31449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320382" y="3356055"/>
            <a:ext cx="1739900" cy="619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5" dirty="0">
                <a:solidFill>
                  <a:srgbClr val="9900FF"/>
                </a:solidFill>
                <a:latin typeface="Arial"/>
                <a:cs typeface="Arial"/>
              </a:rPr>
              <a:t>L_i =</a:t>
            </a:r>
            <a:r>
              <a:rPr sz="2000" spc="-45" dirty="0">
                <a:solidFill>
                  <a:srgbClr val="9900FF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9900FF"/>
                </a:solidFill>
                <a:latin typeface="Arial"/>
                <a:cs typeface="Arial"/>
              </a:rPr>
              <a:t>-log(0.13)</a:t>
            </a:r>
            <a:endParaRPr sz="2000">
              <a:latin typeface="Arial"/>
              <a:cs typeface="Arial"/>
            </a:endParaRPr>
          </a:p>
          <a:p>
            <a:pPr marL="434340"/>
            <a:r>
              <a:rPr sz="2000" spc="-5" dirty="0">
                <a:solidFill>
                  <a:srgbClr val="9900FF"/>
                </a:solidFill>
                <a:latin typeface="Arial"/>
                <a:cs typeface="Arial"/>
              </a:rPr>
              <a:t>=</a:t>
            </a:r>
            <a:r>
              <a:rPr sz="2000" spc="-70" dirty="0">
                <a:solidFill>
                  <a:srgbClr val="9900FF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9900FF"/>
                </a:solidFill>
                <a:latin typeface="Arial"/>
                <a:cs typeface="Arial"/>
              </a:rPr>
              <a:t>0.89</a:t>
            </a:r>
            <a:endParaRPr sz="2000">
              <a:latin typeface="Arial"/>
              <a:cs typeface="Arial"/>
            </a:endParaRPr>
          </a:p>
        </p:txBody>
      </p:sp>
      <p:sp>
        <p:nvSpPr>
          <p:cNvPr id="25" name="Title 2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loss: </a:t>
            </a:r>
            <a:r>
              <a:rPr lang="en-US" dirty="0" err="1"/>
              <a:t>Softmax</a:t>
            </a:r>
            <a:r>
              <a:rPr lang="en-US" dirty="0"/>
              <a:t> (cross-entropy)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-1" y="6604084"/>
            <a:ext cx="254522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Adapted from Andrej </a:t>
            </a:r>
            <a:r>
              <a:rPr lang="en-US" sz="1050" dirty="0" err="1"/>
              <a:t>Karpathy</a:t>
            </a:r>
            <a:endParaRPr lang="en-US" sz="105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7504E55-F99B-B840-8ADF-BDA30ACCE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66715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D6A55-2270-4CEE-99B4-D2D6E7217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losses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7894580-A562-4E12-886C-07FA1E1CA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Triplet loss (</a:t>
            </a:r>
            <a:r>
              <a:rPr lang="en-US" dirty="0" err="1"/>
              <a:t>Schroff</a:t>
            </a:r>
            <a:r>
              <a:rPr lang="en-US" dirty="0"/>
              <a:t>, </a:t>
            </a:r>
            <a:r>
              <a:rPr lang="en-US" dirty="0" err="1"/>
              <a:t>FaceNet</a:t>
            </a:r>
            <a:r>
              <a:rPr lang="en-US" dirty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Anything you want!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44310" t="38690" r="24655" b="52759"/>
          <a:stretch/>
        </p:blipFill>
        <p:spPr>
          <a:xfrm>
            <a:off x="2378063" y="1505143"/>
            <a:ext cx="4387874" cy="75568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6810" t="47932" r="58104" b="28069"/>
          <a:stretch/>
        </p:blipFill>
        <p:spPr>
          <a:xfrm>
            <a:off x="2091633" y="2556171"/>
            <a:ext cx="4960735" cy="212080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196" y="1594446"/>
            <a:ext cx="1326004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a denotes anchor</a:t>
            </a:r>
          </a:p>
          <a:p>
            <a:r>
              <a:rPr lang="en-US" sz="1050" dirty="0"/>
              <a:t>p denotes positive</a:t>
            </a:r>
          </a:p>
          <a:p>
            <a:r>
              <a:rPr lang="en-US" sz="1050" dirty="0"/>
              <a:t>n denotes negative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CB8A862-F047-BF43-B182-34DCDD758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6527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minimize the loss function? </a:t>
            </a:r>
          </a:p>
        </p:txBody>
      </p:sp>
      <p:sp>
        <p:nvSpPr>
          <p:cNvPr id="3" name="object 4"/>
          <p:cNvSpPr/>
          <p:nvPr/>
        </p:nvSpPr>
        <p:spPr>
          <a:xfrm>
            <a:off x="685800" y="1442755"/>
            <a:ext cx="7209285" cy="45139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" name="object 5"/>
          <p:cNvSpPr/>
          <p:nvPr/>
        </p:nvSpPr>
        <p:spPr>
          <a:xfrm>
            <a:off x="1547922" y="4068475"/>
            <a:ext cx="548698" cy="7344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6604084"/>
            <a:ext cx="10727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Andrej </a:t>
            </a:r>
            <a:r>
              <a:rPr lang="en-US" sz="1050" dirty="0" err="1"/>
              <a:t>Karpathy</a:t>
            </a:r>
            <a:endParaRPr lang="en-US" sz="1050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ED58C2-641C-144E-80B3-0D1637AE6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33858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minimize the loss function? </a:t>
            </a:r>
          </a:p>
        </p:txBody>
      </p:sp>
      <p:sp>
        <p:nvSpPr>
          <p:cNvPr id="3" name="object 5"/>
          <p:cNvSpPr txBox="1"/>
          <p:nvPr/>
        </p:nvSpPr>
        <p:spPr>
          <a:xfrm>
            <a:off x="547649" y="1783180"/>
            <a:ext cx="583247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In 1-dimension, the derivative of a</a:t>
            </a:r>
            <a:r>
              <a:rPr sz="2400" spc="6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function: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6"/>
          <p:cNvSpPr/>
          <p:nvPr/>
        </p:nvSpPr>
        <p:spPr>
          <a:xfrm>
            <a:off x="2053520" y="2850220"/>
            <a:ext cx="3638542" cy="8572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7"/>
          <p:cNvSpPr txBox="1"/>
          <p:nvPr/>
        </p:nvSpPr>
        <p:spPr>
          <a:xfrm>
            <a:off x="382999" y="4565203"/>
            <a:ext cx="8109584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5" dirty="0">
                <a:solidFill>
                  <a:prstClr val="black"/>
                </a:solidFill>
                <a:latin typeface="Arial"/>
                <a:cs typeface="Arial"/>
              </a:rPr>
              <a:t>In multiple dimensions, the </a:t>
            </a:r>
            <a:r>
              <a:rPr sz="2000" b="1" spc="-5" dirty="0">
                <a:solidFill>
                  <a:prstClr val="black"/>
                </a:solidFill>
                <a:latin typeface="Arial"/>
                <a:cs typeface="Arial"/>
              </a:rPr>
              <a:t>gradient </a:t>
            </a:r>
            <a:r>
              <a:rPr sz="2000" spc="-5" dirty="0">
                <a:solidFill>
                  <a:prstClr val="black"/>
                </a:solidFill>
                <a:latin typeface="Arial"/>
                <a:cs typeface="Arial"/>
              </a:rPr>
              <a:t>is the vector of (partial</a:t>
            </a:r>
            <a:r>
              <a:rPr sz="2000" spc="204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prstClr val="black"/>
                </a:solidFill>
                <a:latin typeface="Arial"/>
                <a:cs typeface="Arial"/>
              </a:rPr>
              <a:t>derivatives).</a:t>
            </a:r>
            <a:endParaRPr sz="20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6604084"/>
            <a:ext cx="10727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Andrej </a:t>
            </a:r>
            <a:r>
              <a:rPr lang="en-US" sz="1050" dirty="0" err="1"/>
              <a:t>Karpathy</a:t>
            </a:r>
            <a:endParaRPr lang="en-US" sz="1050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2D33E1E-BD60-FD4D-8EFF-3D9E2EA22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81169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270050" y="968081"/>
            <a:ext cx="154876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b="1" spc="-5" dirty="0">
                <a:solidFill>
                  <a:prstClr val="black"/>
                </a:solidFill>
                <a:latin typeface="Arial"/>
                <a:cs typeface="Arial"/>
              </a:rPr>
              <a:t>current</a:t>
            </a:r>
            <a:r>
              <a:rPr sz="2400" b="1" spc="-7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prstClr val="black"/>
                </a:solidFill>
                <a:latin typeface="Arial"/>
                <a:cs typeface="Arial"/>
              </a:rPr>
              <a:t>W: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0050" y="1691981"/>
            <a:ext cx="1820545" cy="37189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65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[0.34,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-1.11,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0.78,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0.12,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0.55,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2.81,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-3.1,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-1.5,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0.33,…]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65"/>
              </a:lnSpc>
            </a:pP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loss</a:t>
            </a:r>
            <a:r>
              <a:rPr sz="2400" b="1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1.25347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326795" y="921101"/>
            <a:ext cx="0" cy="4398645"/>
          </a:xfrm>
          <a:custGeom>
            <a:avLst/>
            <a:gdLst/>
            <a:ahLst/>
            <a:cxnLst/>
            <a:rect l="l" t="t" r="r" b="b"/>
            <a:pathLst>
              <a:path h="4398645">
                <a:moveTo>
                  <a:pt x="0" y="0"/>
                </a:moveTo>
                <a:lnTo>
                  <a:pt x="0" y="439829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76310" y="1015906"/>
            <a:ext cx="188595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b="1" spc="-5" dirty="0">
                <a:solidFill>
                  <a:srgbClr val="0000FF"/>
                </a:solidFill>
                <a:latin typeface="Arial"/>
                <a:cs typeface="Arial"/>
              </a:rPr>
              <a:t>gradient</a:t>
            </a:r>
            <a:r>
              <a:rPr sz="2400" b="1" spc="-6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0000FF"/>
                </a:solidFill>
                <a:latin typeface="Arial"/>
                <a:cs typeface="Arial"/>
              </a:rPr>
              <a:t>dW: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76311" y="1739805"/>
            <a:ext cx="668655" cy="3347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65"/>
              </a:lnSpc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[?,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?,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?,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?,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?,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?,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?,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?,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65"/>
              </a:lnSpc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?,…]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271689" y="942375"/>
            <a:ext cx="0" cy="4426585"/>
          </a:xfrm>
          <a:custGeom>
            <a:avLst/>
            <a:gdLst/>
            <a:ahLst/>
            <a:cxnLst/>
            <a:rect l="l" t="t" r="r" b="b"/>
            <a:pathLst>
              <a:path h="4426585">
                <a:moveTo>
                  <a:pt x="0" y="0"/>
                </a:moveTo>
                <a:lnTo>
                  <a:pt x="0" y="4426491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6604084"/>
            <a:ext cx="10727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Andrej </a:t>
            </a:r>
            <a:r>
              <a:rPr lang="en-US" sz="1050" dirty="0" err="1"/>
              <a:t>Karpathy</a:t>
            </a:r>
            <a:endParaRPr lang="en-US" sz="105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22F9D89-4754-3549-91FB-94B102A56E0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39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9912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270050" y="968081"/>
            <a:ext cx="154876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b="1" spc="-5" dirty="0">
                <a:solidFill>
                  <a:prstClr val="black"/>
                </a:solidFill>
                <a:latin typeface="Arial"/>
                <a:cs typeface="Arial"/>
              </a:rPr>
              <a:t>current</a:t>
            </a:r>
            <a:r>
              <a:rPr sz="2400" b="1" spc="-7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prstClr val="black"/>
                </a:solidFill>
                <a:latin typeface="Arial"/>
                <a:cs typeface="Arial"/>
              </a:rPr>
              <a:t>W: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0050" y="1691981"/>
            <a:ext cx="1820545" cy="37189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65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[0.34,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-1.11,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0.78,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0.12,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0.55,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2.81,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-3.1,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-1.5,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0.33,…]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65"/>
              </a:lnSpc>
            </a:pP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loss</a:t>
            </a:r>
            <a:r>
              <a:rPr sz="2400" b="1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1.25347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326795" y="921101"/>
            <a:ext cx="0" cy="4398645"/>
          </a:xfrm>
          <a:custGeom>
            <a:avLst/>
            <a:gdLst/>
            <a:ahLst/>
            <a:cxnLst/>
            <a:rect l="l" t="t" r="r" b="b"/>
            <a:pathLst>
              <a:path h="4398645">
                <a:moveTo>
                  <a:pt x="0" y="0"/>
                </a:moveTo>
                <a:lnTo>
                  <a:pt x="0" y="439829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84644" y="968081"/>
            <a:ext cx="23031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b="1" spc="-5" dirty="0">
                <a:solidFill>
                  <a:prstClr val="black"/>
                </a:solidFill>
                <a:latin typeface="Arial"/>
                <a:cs typeface="Arial"/>
              </a:rPr>
              <a:t>W + h </a:t>
            </a: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(first</a:t>
            </a:r>
            <a:r>
              <a:rPr sz="2400" spc="-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dim)</a:t>
            </a:r>
            <a:r>
              <a:rPr sz="2400" b="1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84643" y="1691981"/>
            <a:ext cx="2067560" cy="37189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65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[0.34 +</a:t>
            </a:r>
            <a:r>
              <a:rPr sz="2400" spc="-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prstClr val="black"/>
                </a:solidFill>
                <a:latin typeface="Arial"/>
                <a:cs typeface="Arial"/>
              </a:rPr>
              <a:t>0.0001</a:t>
            </a: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-1.11,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0.78,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0.12,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0.55,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2.81,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-3.1,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-1.5,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0.33,…]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65"/>
              </a:lnSpc>
            </a:pP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loss</a:t>
            </a:r>
            <a:r>
              <a:rPr sz="2400" b="1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1.25322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271689" y="942375"/>
            <a:ext cx="0" cy="4426585"/>
          </a:xfrm>
          <a:custGeom>
            <a:avLst/>
            <a:gdLst/>
            <a:ahLst/>
            <a:cxnLst/>
            <a:rect l="l" t="t" r="r" b="b"/>
            <a:pathLst>
              <a:path h="4426585">
                <a:moveTo>
                  <a:pt x="0" y="0"/>
                </a:moveTo>
                <a:lnTo>
                  <a:pt x="0" y="4426491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76310" y="1015906"/>
            <a:ext cx="188595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b="1" spc="-5" dirty="0">
                <a:solidFill>
                  <a:srgbClr val="0000FF"/>
                </a:solidFill>
                <a:latin typeface="Arial"/>
                <a:cs typeface="Arial"/>
              </a:rPr>
              <a:t>gradient</a:t>
            </a:r>
            <a:r>
              <a:rPr sz="2400" b="1" spc="-6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0000FF"/>
                </a:solidFill>
                <a:latin typeface="Arial"/>
                <a:cs typeface="Arial"/>
              </a:rPr>
              <a:t>dW: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76311" y="1739805"/>
            <a:ext cx="668655" cy="3347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65"/>
              </a:lnSpc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[?,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?,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?,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?,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?,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?,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?,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?,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65"/>
              </a:lnSpc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?,…]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0" y="6604084"/>
            <a:ext cx="10727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Andrej </a:t>
            </a:r>
            <a:r>
              <a:rPr lang="en-US" sz="1050" dirty="0" err="1"/>
              <a:t>Karpathy</a:t>
            </a:r>
            <a:endParaRPr lang="en-US" sz="105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48C8CA1-93E2-9847-8A7F-259C74DB053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40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84256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6576310" y="1015906"/>
            <a:ext cx="188595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b="1" spc="-5" dirty="0">
                <a:solidFill>
                  <a:srgbClr val="0000FF"/>
                </a:solidFill>
                <a:latin typeface="Arial"/>
                <a:cs typeface="Arial"/>
              </a:rPr>
              <a:t>gradient</a:t>
            </a:r>
            <a:r>
              <a:rPr sz="2400" b="1" spc="-6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0000FF"/>
                </a:solidFill>
                <a:latin typeface="Arial"/>
                <a:cs typeface="Arial"/>
              </a:rPr>
              <a:t>dW: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76310" y="1739805"/>
            <a:ext cx="720090" cy="1115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65"/>
              </a:lnSpc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[</a:t>
            </a:r>
            <a:r>
              <a:rPr sz="2400" b="1" spc="-5" dirty="0">
                <a:solidFill>
                  <a:srgbClr val="38751C"/>
                </a:solidFill>
                <a:latin typeface="Arial"/>
                <a:cs typeface="Arial"/>
              </a:rPr>
              <a:t>-2.5</a:t>
            </a: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?,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65"/>
              </a:lnSpc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?,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78638" y="2871897"/>
            <a:ext cx="3394710" cy="1490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09955">
              <a:lnSpc>
                <a:spcPts val="2500"/>
              </a:lnSpc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?,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909955">
              <a:lnSpc>
                <a:spcPts val="2850"/>
              </a:lnSpc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?,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909955">
              <a:lnSpc>
                <a:spcPts val="2850"/>
              </a:lnSpc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?,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909955">
              <a:lnSpc>
                <a:spcPts val="2865"/>
              </a:lnSpc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?,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76311" y="4273450"/>
            <a:ext cx="668655" cy="737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65"/>
              </a:lnSpc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?,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65"/>
              </a:lnSpc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?,…]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678638" y="2871897"/>
            <a:ext cx="3394710" cy="1490345"/>
          </a:xfrm>
          <a:custGeom>
            <a:avLst/>
            <a:gdLst/>
            <a:ahLst/>
            <a:cxnLst/>
            <a:rect l="l" t="t" r="r" b="b"/>
            <a:pathLst>
              <a:path w="3394709" h="1490345">
                <a:moveTo>
                  <a:pt x="0" y="0"/>
                </a:moveTo>
                <a:lnTo>
                  <a:pt x="3394493" y="0"/>
                </a:lnTo>
                <a:lnTo>
                  <a:pt x="3394493" y="1489796"/>
                </a:lnTo>
                <a:lnTo>
                  <a:pt x="0" y="148979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6281387" y="3633895"/>
            <a:ext cx="2289970" cy="5395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271863" y="3624369"/>
            <a:ext cx="2309495" cy="558800"/>
          </a:xfrm>
          <a:custGeom>
            <a:avLst/>
            <a:gdLst/>
            <a:ahLst/>
            <a:cxnLst/>
            <a:rect l="l" t="t" r="r" b="b"/>
            <a:pathLst>
              <a:path w="2309495" h="558800">
                <a:moveTo>
                  <a:pt x="0" y="0"/>
                </a:moveTo>
                <a:lnTo>
                  <a:pt x="2309020" y="0"/>
                </a:lnTo>
                <a:lnTo>
                  <a:pt x="2309020" y="558573"/>
                </a:lnTo>
                <a:lnTo>
                  <a:pt x="0" y="558573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78638" y="2871897"/>
            <a:ext cx="3394710" cy="675185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59055" rIns="0" bIns="0" rtlCol="0">
            <a:spAutoFit/>
          </a:bodyPr>
          <a:lstStyle/>
          <a:p>
            <a:pPr marL="80645">
              <a:spcBef>
                <a:spcPts val="465"/>
              </a:spcBef>
            </a:pPr>
            <a:r>
              <a:rPr sz="2000" spc="-5" dirty="0">
                <a:solidFill>
                  <a:srgbClr val="38751C"/>
                </a:solidFill>
                <a:latin typeface="Arial"/>
                <a:cs typeface="Arial"/>
              </a:rPr>
              <a:t>(</a:t>
            </a:r>
            <a:r>
              <a:rPr sz="2000" spc="-5" dirty="0">
                <a:solidFill>
                  <a:srgbClr val="FF0000"/>
                </a:solidFill>
                <a:latin typeface="Arial"/>
                <a:cs typeface="Arial"/>
              </a:rPr>
              <a:t>1.25322 </a:t>
            </a:r>
            <a:r>
              <a:rPr sz="2000" dirty="0">
                <a:solidFill>
                  <a:srgbClr val="38751C"/>
                </a:solidFill>
                <a:latin typeface="Arial"/>
                <a:cs typeface="Arial"/>
              </a:rPr>
              <a:t>-</a:t>
            </a:r>
            <a:r>
              <a:rPr sz="2000" spc="-5" dirty="0">
                <a:solidFill>
                  <a:srgbClr val="38751C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Arial"/>
                <a:cs typeface="Arial"/>
              </a:rPr>
              <a:t>1.25347</a:t>
            </a:r>
            <a:r>
              <a:rPr sz="2000" spc="-5" dirty="0">
                <a:solidFill>
                  <a:srgbClr val="38751C"/>
                </a:solidFill>
                <a:latin typeface="Arial"/>
                <a:cs typeface="Arial"/>
              </a:rPr>
              <a:t>)/0.0001</a:t>
            </a:r>
            <a:endParaRPr sz="2000">
              <a:solidFill>
                <a:prstClr val="black"/>
              </a:solidFill>
              <a:latin typeface="Arial"/>
              <a:cs typeface="Arial"/>
            </a:endParaRPr>
          </a:p>
          <a:p>
            <a:pPr marL="80645"/>
            <a:r>
              <a:rPr sz="2000" spc="-5" dirty="0">
                <a:solidFill>
                  <a:srgbClr val="38751C"/>
                </a:solidFill>
                <a:latin typeface="Arial"/>
                <a:cs typeface="Arial"/>
              </a:rPr>
              <a:t>=</a:t>
            </a:r>
            <a:r>
              <a:rPr sz="2000" spc="-85" dirty="0">
                <a:solidFill>
                  <a:srgbClr val="38751C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8751C"/>
                </a:solidFill>
                <a:latin typeface="Arial"/>
                <a:cs typeface="Arial"/>
              </a:rPr>
              <a:t>-2.5</a:t>
            </a:r>
            <a:endParaRPr sz="20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090485" y="2223237"/>
            <a:ext cx="666750" cy="637540"/>
          </a:xfrm>
          <a:custGeom>
            <a:avLst/>
            <a:gdLst/>
            <a:ahLst/>
            <a:cxnLst/>
            <a:rect l="l" t="t" r="r" b="b"/>
            <a:pathLst>
              <a:path w="666750" h="637539">
                <a:moveTo>
                  <a:pt x="666398" y="637008"/>
                </a:moveTo>
                <a:lnTo>
                  <a:pt x="0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059261" y="2193370"/>
            <a:ext cx="42545" cy="41275"/>
          </a:xfrm>
          <a:custGeom>
            <a:avLst/>
            <a:gdLst/>
            <a:ahLst/>
            <a:cxnLst/>
            <a:rect l="l" t="t" r="r" b="b"/>
            <a:pathLst>
              <a:path w="42545" h="41275">
                <a:moveTo>
                  <a:pt x="42099" y="18494"/>
                </a:moveTo>
                <a:lnTo>
                  <a:pt x="0" y="0"/>
                </a:lnTo>
                <a:lnTo>
                  <a:pt x="20374" y="41239"/>
                </a:lnTo>
                <a:lnTo>
                  <a:pt x="42099" y="18494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04649" y="970694"/>
            <a:ext cx="8934700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7800"/>
            <a:r>
              <a:rPr sz="2400" b="1" spc="-5" dirty="0"/>
              <a:t>current</a:t>
            </a:r>
            <a:r>
              <a:rPr sz="2400" b="1" spc="-70" dirty="0"/>
              <a:t> </a:t>
            </a:r>
            <a:r>
              <a:rPr sz="2400" b="1" spc="-5" dirty="0"/>
              <a:t>W:</a:t>
            </a:r>
            <a:endParaRPr sz="2400"/>
          </a:p>
        </p:txBody>
      </p:sp>
      <p:sp>
        <p:nvSpPr>
          <p:cNvPr id="15" name="object 15"/>
          <p:cNvSpPr txBox="1"/>
          <p:nvPr/>
        </p:nvSpPr>
        <p:spPr>
          <a:xfrm>
            <a:off x="270050" y="1691981"/>
            <a:ext cx="1820545" cy="37189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65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[0.34,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-1.11,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0.78,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0.12,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0.55,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2.81,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-3.1,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-1.5,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0.33,…]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65"/>
              </a:lnSpc>
            </a:pP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loss</a:t>
            </a:r>
            <a:r>
              <a:rPr sz="2400" b="1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1.25347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326795" y="921101"/>
            <a:ext cx="0" cy="4398645"/>
          </a:xfrm>
          <a:custGeom>
            <a:avLst/>
            <a:gdLst/>
            <a:ahLst/>
            <a:cxnLst/>
            <a:rect l="l" t="t" r="r" b="b"/>
            <a:pathLst>
              <a:path h="4398645">
                <a:moveTo>
                  <a:pt x="0" y="0"/>
                </a:moveTo>
                <a:lnTo>
                  <a:pt x="0" y="439829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784644" y="968081"/>
            <a:ext cx="23031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b="1" spc="-5" dirty="0">
                <a:solidFill>
                  <a:prstClr val="black"/>
                </a:solidFill>
                <a:latin typeface="Arial"/>
                <a:cs typeface="Arial"/>
              </a:rPr>
              <a:t>W + h </a:t>
            </a: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(first</a:t>
            </a:r>
            <a:r>
              <a:rPr sz="2400" spc="-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dim)</a:t>
            </a:r>
            <a:r>
              <a:rPr sz="2400" b="1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784643" y="1691981"/>
            <a:ext cx="2067560" cy="37189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65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[0.34 +</a:t>
            </a:r>
            <a:r>
              <a:rPr sz="2400" spc="-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prstClr val="black"/>
                </a:solidFill>
                <a:latin typeface="Arial"/>
                <a:cs typeface="Arial"/>
              </a:rPr>
              <a:t>0.0001</a:t>
            </a: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-1.11,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0.78,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0.12,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0.55,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2.81,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-3.1,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-1.5,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0.33,…]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65"/>
              </a:lnSpc>
            </a:pP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loss</a:t>
            </a:r>
            <a:r>
              <a:rPr sz="2400" b="1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1.25322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271689" y="942375"/>
            <a:ext cx="0" cy="4426585"/>
          </a:xfrm>
          <a:custGeom>
            <a:avLst/>
            <a:gdLst/>
            <a:ahLst/>
            <a:cxnLst/>
            <a:rect l="l" t="t" r="r" b="b"/>
            <a:pathLst>
              <a:path h="4426585">
                <a:moveTo>
                  <a:pt x="0" y="0"/>
                </a:moveTo>
                <a:lnTo>
                  <a:pt x="0" y="4426491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0" y="6604084"/>
            <a:ext cx="10727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Andrej </a:t>
            </a:r>
            <a:r>
              <a:rPr lang="en-US" sz="1050" dirty="0" err="1"/>
              <a:t>Karpathy</a:t>
            </a:r>
            <a:endParaRPr lang="en-US" sz="105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FFF6898-61F2-FB44-B62B-A241AB7150D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41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16299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6576310" y="1015906"/>
            <a:ext cx="188595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b="1" spc="-5" dirty="0">
                <a:solidFill>
                  <a:srgbClr val="0000FF"/>
                </a:solidFill>
                <a:latin typeface="Arial"/>
                <a:cs typeface="Arial"/>
              </a:rPr>
              <a:t>gradient</a:t>
            </a:r>
            <a:r>
              <a:rPr sz="2400" b="1" spc="-6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0000FF"/>
                </a:solidFill>
                <a:latin typeface="Arial"/>
                <a:cs typeface="Arial"/>
              </a:rPr>
              <a:t>dW: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76311" y="1739805"/>
            <a:ext cx="719455" cy="3347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65"/>
              </a:lnSpc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[-2.5,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?,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?,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?,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?,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?,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?,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?,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65"/>
              </a:lnSpc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?,…]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0050" y="968081"/>
            <a:ext cx="154876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b="1" spc="-5" dirty="0">
                <a:solidFill>
                  <a:prstClr val="black"/>
                </a:solidFill>
                <a:latin typeface="Arial"/>
                <a:cs typeface="Arial"/>
              </a:rPr>
              <a:t>current</a:t>
            </a:r>
            <a:r>
              <a:rPr sz="2400" b="1" spc="-7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prstClr val="black"/>
                </a:solidFill>
                <a:latin typeface="Arial"/>
                <a:cs typeface="Arial"/>
              </a:rPr>
              <a:t>W: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0050" y="1691981"/>
            <a:ext cx="1820545" cy="37189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65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[0.34,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-1.11,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0.78,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0.12,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0.55,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2.81,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-3.1,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-1.5,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0.33,…]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65"/>
              </a:lnSpc>
            </a:pP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loss</a:t>
            </a:r>
            <a:r>
              <a:rPr sz="2400" b="1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1.25347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326795" y="921101"/>
            <a:ext cx="0" cy="4398645"/>
          </a:xfrm>
          <a:custGeom>
            <a:avLst/>
            <a:gdLst/>
            <a:ahLst/>
            <a:cxnLst/>
            <a:rect l="l" t="t" r="r" b="b"/>
            <a:pathLst>
              <a:path h="4398645">
                <a:moveTo>
                  <a:pt x="0" y="0"/>
                </a:moveTo>
                <a:lnTo>
                  <a:pt x="0" y="439829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79845" y="968081"/>
            <a:ext cx="279463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b="1" spc="-5" dirty="0">
                <a:solidFill>
                  <a:prstClr val="black"/>
                </a:solidFill>
                <a:latin typeface="Arial"/>
                <a:cs typeface="Arial"/>
              </a:rPr>
              <a:t>W + h </a:t>
            </a: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(second</a:t>
            </a:r>
            <a:r>
              <a:rPr sz="2400" spc="-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dim)</a:t>
            </a:r>
            <a:r>
              <a:rPr sz="2400" b="1" spc="-5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79845" y="1691981"/>
            <a:ext cx="2084705" cy="37189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65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[0.34,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-1.11 +</a:t>
            </a:r>
            <a:r>
              <a:rPr sz="2400" spc="-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prstClr val="black"/>
                </a:solidFill>
                <a:latin typeface="Arial"/>
                <a:cs typeface="Arial"/>
              </a:rPr>
              <a:t>0.0001</a:t>
            </a: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0.78,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0.12,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0.55,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2.81,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-3.1,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-1.5,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0.33,…]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65"/>
              </a:lnSpc>
            </a:pP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loss</a:t>
            </a:r>
            <a:r>
              <a:rPr sz="2400" b="1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1.25353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424089" y="942375"/>
            <a:ext cx="0" cy="4426585"/>
          </a:xfrm>
          <a:custGeom>
            <a:avLst/>
            <a:gdLst/>
            <a:ahLst/>
            <a:cxnLst/>
            <a:rect l="l" t="t" r="r" b="b"/>
            <a:pathLst>
              <a:path h="4426585">
                <a:moveTo>
                  <a:pt x="0" y="0"/>
                </a:moveTo>
                <a:lnTo>
                  <a:pt x="0" y="4426491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0" y="6604084"/>
            <a:ext cx="10727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Andrej </a:t>
            </a:r>
            <a:r>
              <a:rPr lang="en-US" sz="1050" dirty="0" err="1"/>
              <a:t>Karpathy</a:t>
            </a:r>
            <a:endParaRPr lang="en-US" sz="105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D4970E6-639D-164F-A5F4-1C3E177D4FA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42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617098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6576310" y="1015906"/>
            <a:ext cx="188595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b="1" spc="-5" dirty="0">
                <a:solidFill>
                  <a:srgbClr val="0000FF"/>
                </a:solidFill>
                <a:latin typeface="Arial"/>
                <a:cs typeface="Arial"/>
              </a:rPr>
              <a:t>gradient</a:t>
            </a:r>
            <a:r>
              <a:rPr sz="2400" b="1" spc="-6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0000FF"/>
                </a:solidFill>
                <a:latin typeface="Arial"/>
                <a:cs typeface="Arial"/>
              </a:rPr>
              <a:t>dW: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76311" y="1739806"/>
            <a:ext cx="719455" cy="14875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65"/>
              </a:lnSpc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[-2.5,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b="1" spc="-5" dirty="0">
                <a:solidFill>
                  <a:srgbClr val="38751C"/>
                </a:solidFill>
                <a:latin typeface="Arial"/>
                <a:cs typeface="Arial"/>
              </a:rPr>
              <a:t>0.6</a:t>
            </a: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?,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65"/>
              </a:lnSpc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?,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78638" y="3176696"/>
            <a:ext cx="3394710" cy="14903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909955">
              <a:lnSpc>
                <a:spcPts val="2865"/>
              </a:lnSpc>
              <a:spcBef>
                <a:spcPts val="85"/>
              </a:spcBef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?,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909955">
              <a:lnSpc>
                <a:spcPts val="2850"/>
              </a:lnSpc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?,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909955">
              <a:lnSpc>
                <a:spcPts val="2850"/>
              </a:lnSpc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?,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909955">
              <a:lnSpc>
                <a:spcPts val="2865"/>
              </a:lnSpc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?,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76311" y="4635400"/>
            <a:ext cx="66865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?,…]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678638" y="3176696"/>
            <a:ext cx="3394710" cy="1490345"/>
          </a:xfrm>
          <a:custGeom>
            <a:avLst/>
            <a:gdLst/>
            <a:ahLst/>
            <a:cxnLst/>
            <a:rect l="l" t="t" r="r" b="b"/>
            <a:pathLst>
              <a:path w="3394709" h="1490345">
                <a:moveTo>
                  <a:pt x="0" y="0"/>
                </a:moveTo>
                <a:lnTo>
                  <a:pt x="3394493" y="0"/>
                </a:lnTo>
                <a:lnTo>
                  <a:pt x="3394493" y="1489796"/>
                </a:lnTo>
                <a:lnTo>
                  <a:pt x="0" y="148979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6281387" y="3938694"/>
            <a:ext cx="2289970" cy="5395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271863" y="3929168"/>
            <a:ext cx="2309495" cy="558800"/>
          </a:xfrm>
          <a:custGeom>
            <a:avLst/>
            <a:gdLst/>
            <a:ahLst/>
            <a:cxnLst/>
            <a:rect l="l" t="t" r="r" b="b"/>
            <a:pathLst>
              <a:path w="2309495" h="558800">
                <a:moveTo>
                  <a:pt x="0" y="0"/>
                </a:moveTo>
                <a:lnTo>
                  <a:pt x="2309020" y="0"/>
                </a:lnTo>
                <a:lnTo>
                  <a:pt x="2309020" y="558573"/>
                </a:lnTo>
                <a:lnTo>
                  <a:pt x="0" y="558573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204436" y="2369594"/>
            <a:ext cx="329565" cy="665480"/>
          </a:xfrm>
          <a:custGeom>
            <a:avLst/>
            <a:gdLst/>
            <a:ahLst/>
            <a:cxnLst/>
            <a:rect l="l" t="t" r="r" b="b"/>
            <a:pathLst>
              <a:path w="329565" h="665480">
                <a:moveTo>
                  <a:pt x="329249" y="665476"/>
                </a:moveTo>
                <a:lnTo>
                  <a:pt x="0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185261" y="2330852"/>
            <a:ext cx="33655" cy="45720"/>
          </a:xfrm>
          <a:custGeom>
            <a:avLst/>
            <a:gdLst/>
            <a:ahLst/>
            <a:cxnLst/>
            <a:rect l="l" t="t" r="r" b="b"/>
            <a:pathLst>
              <a:path w="33654" h="45719">
                <a:moveTo>
                  <a:pt x="33274" y="31767"/>
                </a:moveTo>
                <a:lnTo>
                  <a:pt x="0" y="0"/>
                </a:lnTo>
                <a:lnTo>
                  <a:pt x="5074" y="45719"/>
                </a:lnTo>
                <a:lnTo>
                  <a:pt x="33274" y="31767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04649" y="970694"/>
            <a:ext cx="8934700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7800"/>
            <a:r>
              <a:rPr sz="2400" b="1" spc="-5" dirty="0"/>
              <a:t>current</a:t>
            </a:r>
            <a:r>
              <a:rPr sz="2400" b="1" spc="-70" dirty="0"/>
              <a:t> </a:t>
            </a:r>
            <a:r>
              <a:rPr sz="2400" b="1" spc="-5" dirty="0"/>
              <a:t>W:</a:t>
            </a:r>
            <a:endParaRPr sz="2400"/>
          </a:p>
        </p:txBody>
      </p:sp>
      <p:sp>
        <p:nvSpPr>
          <p:cNvPr id="14" name="object 14"/>
          <p:cNvSpPr txBox="1"/>
          <p:nvPr/>
        </p:nvSpPr>
        <p:spPr>
          <a:xfrm>
            <a:off x="270050" y="1691981"/>
            <a:ext cx="1820545" cy="37189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65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[0.34,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-1.11,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0.78,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0.12,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0.55,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2.81,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-3.1,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-1.5,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0.33,…]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65"/>
              </a:lnSpc>
            </a:pP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loss</a:t>
            </a:r>
            <a:r>
              <a:rPr sz="2400" b="1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1.25347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326795" y="921101"/>
            <a:ext cx="0" cy="4398645"/>
          </a:xfrm>
          <a:custGeom>
            <a:avLst/>
            <a:gdLst/>
            <a:ahLst/>
            <a:cxnLst/>
            <a:rect l="l" t="t" r="r" b="b"/>
            <a:pathLst>
              <a:path h="4398645">
                <a:moveTo>
                  <a:pt x="0" y="0"/>
                </a:moveTo>
                <a:lnTo>
                  <a:pt x="0" y="439829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479845" y="968081"/>
            <a:ext cx="279463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b="1" spc="-5" dirty="0">
                <a:solidFill>
                  <a:prstClr val="black"/>
                </a:solidFill>
                <a:latin typeface="Arial"/>
                <a:cs typeface="Arial"/>
              </a:rPr>
              <a:t>W + h </a:t>
            </a: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(second</a:t>
            </a:r>
            <a:r>
              <a:rPr sz="2400" spc="-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dim)</a:t>
            </a:r>
            <a:r>
              <a:rPr sz="2400" b="1" spc="-5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479845" y="1691981"/>
            <a:ext cx="2084705" cy="37189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65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[0.34,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-1.11 +</a:t>
            </a:r>
            <a:r>
              <a:rPr sz="2400" spc="-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prstClr val="black"/>
                </a:solidFill>
                <a:latin typeface="Arial"/>
                <a:cs typeface="Arial"/>
              </a:rPr>
              <a:t>0.0001</a:t>
            </a: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0.78,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0.12,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0.55,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2.81,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-3.1,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-1.5,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0.33,…]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65"/>
              </a:lnSpc>
            </a:pP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loss</a:t>
            </a:r>
            <a:r>
              <a:rPr sz="2400" b="1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1.25353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424089" y="942375"/>
            <a:ext cx="0" cy="4426585"/>
          </a:xfrm>
          <a:custGeom>
            <a:avLst/>
            <a:gdLst/>
            <a:ahLst/>
            <a:cxnLst/>
            <a:rect l="l" t="t" r="r" b="b"/>
            <a:pathLst>
              <a:path h="4426585">
                <a:moveTo>
                  <a:pt x="0" y="0"/>
                </a:moveTo>
                <a:lnTo>
                  <a:pt x="0" y="4426491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78638" y="3176696"/>
            <a:ext cx="3394710" cy="675185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59055" rIns="0" bIns="0" rtlCol="0">
            <a:spAutoFit/>
          </a:bodyPr>
          <a:lstStyle/>
          <a:p>
            <a:pPr marL="80645">
              <a:spcBef>
                <a:spcPts val="465"/>
              </a:spcBef>
            </a:pPr>
            <a:r>
              <a:rPr sz="2000" spc="-5" dirty="0">
                <a:solidFill>
                  <a:srgbClr val="38751C"/>
                </a:solidFill>
                <a:latin typeface="Arial"/>
                <a:cs typeface="Arial"/>
              </a:rPr>
              <a:t>(</a:t>
            </a:r>
            <a:r>
              <a:rPr sz="2000" spc="-5" dirty="0">
                <a:solidFill>
                  <a:srgbClr val="FF0000"/>
                </a:solidFill>
                <a:latin typeface="Arial"/>
                <a:cs typeface="Arial"/>
              </a:rPr>
              <a:t>1.25353 </a:t>
            </a:r>
            <a:r>
              <a:rPr sz="2000" dirty="0">
                <a:solidFill>
                  <a:srgbClr val="38751C"/>
                </a:solidFill>
                <a:latin typeface="Arial"/>
                <a:cs typeface="Arial"/>
              </a:rPr>
              <a:t>-</a:t>
            </a:r>
            <a:r>
              <a:rPr sz="2000" spc="-5" dirty="0">
                <a:solidFill>
                  <a:srgbClr val="38751C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Arial"/>
                <a:cs typeface="Arial"/>
              </a:rPr>
              <a:t>1.25347</a:t>
            </a:r>
            <a:r>
              <a:rPr sz="2000" spc="-5" dirty="0">
                <a:solidFill>
                  <a:srgbClr val="38751C"/>
                </a:solidFill>
                <a:latin typeface="Arial"/>
                <a:cs typeface="Arial"/>
              </a:rPr>
              <a:t>)/0.0001</a:t>
            </a:r>
            <a:endParaRPr sz="2000">
              <a:solidFill>
                <a:prstClr val="black"/>
              </a:solidFill>
              <a:latin typeface="Arial"/>
              <a:cs typeface="Arial"/>
            </a:endParaRPr>
          </a:p>
          <a:p>
            <a:pPr marL="80645"/>
            <a:r>
              <a:rPr sz="2000" spc="-5" dirty="0">
                <a:solidFill>
                  <a:srgbClr val="38751C"/>
                </a:solidFill>
                <a:latin typeface="Arial"/>
                <a:cs typeface="Arial"/>
              </a:rPr>
              <a:t>=</a:t>
            </a:r>
            <a:r>
              <a:rPr sz="2000" spc="-90" dirty="0">
                <a:solidFill>
                  <a:srgbClr val="38751C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8751C"/>
                </a:solidFill>
                <a:latin typeface="Arial"/>
                <a:cs typeface="Arial"/>
              </a:rPr>
              <a:t>0.6</a:t>
            </a:r>
            <a:endParaRPr sz="20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0" y="6604084"/>
            <a:ext cx="10727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Andrej </a:t>
            </a:r>
            <a:r>
              <a:rPr lang="en-US" sz="1050" dirty="0" err="1"/>
              <a:t>Karpathy</a:t>
            </a:r>
            <a:endParaRPr lang="en-US" sz="105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3064BF9-CDE1-3948-A200-CBE06400CD4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43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661232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6576310" y="1015906"/>
            <a:ext cx="188595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b="1" spc="-5" dirty="0">
                <a:solidFill>
                  <a:srgbClr val="0000FF"/>
                </a:solidFill>
                <a:latin typeface="Arial"/>
                <a:cs typeface="Arial"/>
              </a:rPr>
              <a:t>gradient</a:t>
            </a:r>
            <a:r>
              <a:rPr sz="2400" b="1" spc="-6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0000FF"/>
                </a:solidFill>
                <a:latin typeface="Arial"/>
                <a:cs typeface="Arial"/>
              </a:rPr>
              <a:t>dW: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76311" y="1739805"/>
            <a:ext cx="719455" cy="3347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65"/>
              </a:lnSpc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[-2.5,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0.6,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?,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?,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?,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?,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?,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?,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65"/>
              </a:lnSpc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?,…]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0050" y="968081"/>
            <a:ext cx="154876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b="1" spc="-5" dirty="0">
                <a:solidFill>
                  <a:prstClr val="black"/>
                </a:solidFill>
                <a:latin typeface="Arial"/>
                <a:cs typeface="Arial"/>
              </a:rPr>
              <a:t>current</a:t>
            </a:r>
            <a:r>
              <a:rPr sz="2400" b="1" spc="-7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prstClr val="black"/>
                </a:solidFill>
                <a:latin typeface="Arial"/>
                <a:cs typeface="Arial"/>
              </a:rPr>
              <a:t>W: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0050" y="1691981"/>
            <a:ext cx="1820545" cy="37189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65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[0.34,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-1.11,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0.78,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0.12,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0.55,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2.81,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-3.1,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-1.5,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0.33,…]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65"/>
              </a:lnSpc>
            </a:pP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loss</a:t>
            </a:r>
            <a:r>
              <a:rPr sz="2400" b="1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1.25347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326795" y="921101"/>
            <a:ext cx="0" cy="4398645"/>
          </a:xfrm>
          <a:custGeom>
            <a:avLst/>
            <a:gdLst/>
            <a:ahLst/>
            <a:cxnLst/>
            <a:rect l="l" t="t" r="r" b="b"/>
            <a:pathLst>
              <a:path h="4398645">
                <a:moveTo>
                  <a:pt x="0" y="0"/>
                </a:moveTo>
                <a:lnTo>
                  <a:pt x="0" y="439829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79845" y="968081"/>
            <a:ext cx="24047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b="1" spc="-5" dirty="0">
                <a:solidFill>
                  <a:prstClr val="black"/>
                </a:solidFill>
                <a:latin typeface="Arial"/>
                <a:cs typeface="Arial"/>
              </a:rPr>
              <a:t>W + h </a:t>
            </a: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(third</a:t>
            </a:r>
            <a:r>
              <a:rPr sz="2400" spc="-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dim)</a:t>
            </a:r>
            <a:r>
              <a:rPr sz="2400" b="1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79845" y="1691981"/>
            <a:ext cx="1983105" cy="37189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65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[0.34,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-1.11,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0.78 +</a:t>
            </a:r>
            <a:r>
              <a:rPr sz="2400" spc="-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prstClr val="black"/>
                </a:solidFill>
                <a:latin typeface="Arial"/>
                <a:cs typeface="Arial"/>
              </a:rPr>
              <a:t>0.0001</a:t>
            </a: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0.12,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0.55,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2.81,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-3.1,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-1.5,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0.33,…]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65"/>
              </a:lnSpc>
            </a:pP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loss</a:t>
            </a:r>
            <a:r>
              <a:rPr sz="2400" b="1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1.25347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424089" y="942375"/>
            <a:ext cx="0" cy="4426585"/>
          </a:xfrm>
          <a:custGeom>
            <a:avLst/>
            <a:gdLst/>
            <a:ahLst/>
            <a:cxnLst/>
            <a:rect l="l" t="t" r="r" b="b"/>
            <a:pathLst>
              <a:path h="4426585">
                <a:moveTo>
                  <a:pt x="0" y="0"/>
                </a:moveTo>
                <a:lnTo>
                  <a:pt x="0" y="4426491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0" y="6604084"/>
            <a:ext cx="10727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Andrej </a:t>
            </a:r>
            <a:r>
              <a:rPr lang="en-US" sz="1050" dirty="0" err="1"/>
              <a:t>Karpathy</a:t>
            </a:r>
            <a:endParaRPr lang="en-US" sz="105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FA141B1-9F8F-6D40-A753-E8AB33C6E7E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44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5886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4649" y="970695"/>
            <a:ext cx="8934700" cy="654655"/>
          </a:xfrm>
          <a:prstGeom prst="rect">
            <a:avLst/>
          </a:prstGeom>
        </p:spPr>
        <p:txBody>
          <a:bodyPr vert="horz" wrap="square" lIns="0" tIns="191124" rIns="0" bIns="0" rtlCol="0">
            <a:spAutoFit/>
          </a:bodyPr>
          <a:lstStyle/>
          <a:p>
            <a:pPr marL="392430"/>
            <a:r>
              <a:rPr spc="-5" dirty="0"/>
              <a:t>This is silly. The loss is just a function of</a:t>
            </a:r>
            <a:r>
              <a:rPr spc="50" dirty="0"/>
              <a:t> </a:t>
            </a:r>
            <a:r>
              <a:rPr spc="-5" dirty="0"/>
              <a:t>W:</a:t>
            </a:r>
          </a:p>
        </p:txBody>
      </p:sp>
      <p:sp>
        <p:nvSpPr>
          <p:cNvPr id="5" name="object 5"/>
          <p:cNvSpPr/>
          <p:nvPr/>
        </p:nvSpPr>
        <p:spPr>
          <a:xfrm>
            <a:off x="475299" y="2417521"/>
            <a:ext cx="4459816" cy="4781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475299" y="2973296"/>
            <a:ext cx="2606244" cy="4306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516598" y="1779449"/>
            <a:ext cx="3443718" cy="5604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71847" y="3654870"/>
            <a:ext cx="867588" cy="3935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2448" y="3630104"/>
            <a:ext cx="66929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want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6604084"/>
            <a:ext cx="10727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Andrej </a:t>
            </a:r>
            <a:r>
              <a:rPr lang="en-US" sz="1050" dirty="0" err="1"/>
              <a:t>Karpathy</a:t>
            </a:r>
            <a:endParaRPr lang="en-US" sz="105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DD1335D-6D1B-A84E-95DF-421D369E76D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45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358513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4649" y="970695"/>
            <a:ext cx="8934700" cy="654655"/>
          </a:xfrm>
          <a:prstGeom prst="rect">
            <a:avLst/>
          </a:prstGeom>
        </p:spPr>
        <p:txBody>
          <a:bodyPr vert="horz" wrap="square" lIns="0" tIns="191124" rIns="0" bIns="0" rtlCol="0">
            <a:spAutoFit/>
          </a:bodyPr>
          <a:lstStyle/>
          <a:p>
            <a:pPr marL="392430"/>
            <a:r>
              <a:rPr spc="-5" dirty="0"/>
              <a:t>This is silly. The loss is just a function of</a:t>
            </a:r>
            <a:r>
              <a:rPr spc="50" dirty="0"/>
              <a:t> </a:t>
            </a:r>
            <a:r>
              <a:rPr spc="-5" dirty="0"/>
              <a:t>W:</a:t>
            </a:r>
          </a:p>
        </p:txBody>
      </p:sp>
      <p:sp>
        <p:nvSpPr>
          <p:cNvPr id="5" name="object 5"/>
          <p:cNvSpPr/>
          <p:nvPr/>
        </p:nvSpPr>
        <p:spPr>
          <a:xfrm>
            <a:off x="475299" y="2417521"/>
            <a:ext cx="4459816" cy="4781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475299" y="2973296"/>
            <a:ext cx="2606244" cy="4306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516598" y="1779449"/>
            <a:ext cx="3443718" cy="5604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5453914" y="2334098"/>
            <a:ext cx="3529267" cy="304929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2964045" y="2929731"/>
            <a:ext cx="2747645" cy="1279525"/>
          </a:xfrm>
          <a:custGeom>
            <a:avLst/>
            <a:gdLst/>
            <a:ahLst/>
            <a:cxnLst/>
            <a:rect l="l" t="t" r="r" b="b"/>
            <a:pathLst>
              <a:path w="2747645" h="1279525">
                <a:moveTo>
                  <a:pt x="0" y="1279012"/>
                </a:moveTo>
                <a:lnTo>
                  <a:pt x="2747144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684639" y="2856757"/>
            <a:ext cx="183515" cy="130175"/>
          </a:xfrm>
          <a:custGeom>
            <a:avLst/>
            <a:gdLst/>
            <a:ahLst/>
            <a:cxnLst/>
            <a:rect l="l" t="t" r="r" b="b"/>
            <a:pathLst>
              <a:path w="183514" h="130175">
                <a:moveTo>
                  <a:pt x="53124" y="130027"/>
                </a:moveTo>
                <a:lnTo>
                  <a:pt x="183299" y="0"/>
                </a:lnTo>
                <a:lnTo>
                  <a:pt x="0" y="15924"/>
                </a:lnTo>
                <a:lnTo>
                  <a:pt x="53124" y="130027"/>
                </a:lnTo>
                <a:close/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171847" y="3654870"/>
            <a:ext cx="867588" cy="39359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2448" y="3630105"/>
            <a:ext cx="3342640" cy="11387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want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5"/>
              </a:spcBef>
            </a:pPr>
            <a:endParaRPr sz="2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868805"/>
            <a:r>
              <a:rPr sz="3000" spc="-5" dirty="0">
                <a:solidFill>
                  <a:prstClr val="black"/>
                </a:solidFill>
                <a:latin typeface="Arial"/>
                <a:cs typeface="Arial"/>
              </a:rPr>
              <a:t>Calculus</a:t>
            </a:r>
            <a:endParaRPr sz="30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6" name="object 8"/>
          <p:cNvSpPr/>
          <p:nvPr/>
        </p:nvSpPr>
        <p:spPr>
          <a:xfrm>
            <a:off x="2284021" y="5278439"/>
            <a:ext cx="867588" cy="39359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7" name="object 9"/>
          <p:cNvSpPr txBox="1"/>
          <p:nvPr/>
        </p:nvSpPr>
        <p:spPr>
          <a:xfrm>
            <a:off x="3274467" y="5291567"/>
            <a:ext cx="54102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=</a:t>
            </a:r>
            <a:r>
              <a:rPr sz="2400" spc="-9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...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0" y="6604084"/>
            <a:ext cx="10727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Andrej </a:t>
            </a:r>
            <a:r>
              <a:rPr lang="en-US" sz="1050" dirty="0" err="1"/>
              <a:t>Karpathy</a:t>
            </a:r>
            <a:endParaRPr lang="en-US" sz="105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35AF22E-8D11-D642-B2BF-09616132879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46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791560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6576310" y="1015906"/>
            <a:ext cx="188595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b="1" spc="-5" dirty="0">
                <a:solidFill>
                  <a:srgbClr val="0000FF"/>
                </a:solidFill>
                <a:latin typeface="Arial"/>
                <a:cs typeface="Arial"/>
              </a:rPr>
              <a:t>gradient</a:t>
            </a:r>
            <a:r>
              <a:rPr sz="2400" b="1" spc="-6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0000FF"/>
                </a:solidFill>
                <a:latin typeface="Arial"/>
                <a:cs typeface="Arial"/>
              </a:rPr>
              <a:t>dW: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76311" y="1739805"/>
            <a:ext cx="1024255" cy="3347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65"/>
              </a:lnSpc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[-2.5,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0.6,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0,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0.2,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0.7,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-0.5,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1.1,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1.3,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65"/>
              </a:lnSpc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-2.1,…]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0050" y="968081"/>
            <a:ext cx="154876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b="1" spc="-5" dirty="0">
                <a:solidFill>
                  <a:prstClr val="black"/>
                </a:solidFill>
                <a:latin typeface="Arial"/>
                <a:cs typeface="Arial"/>
              </a:rPr>
              <a:t>current</a:t>
            </a:r>
            <a:r>
              <a:rPr sz="2400" b="1" spc="-7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prstClr val="black"/>
                </a:solidFill>
                <a:latin typeface="Arial"/>
                <a:cs typeface="Arial"/>
              </a:rPr>
              <a:t>W: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0050" y="1691981"/>
            <a:ext cx="1820545" cy="37189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65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[0.34,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-1.11,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0.78,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0.12,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0.55,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2.81,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-3.1,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-1.5,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50"/>
              </a:lnSpc>
            </a:pP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0.33,…]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865"/>
              </a:lnSpc>
            </a:pP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loss</a:t>
            </a:r>
            <a:r>
              <a:rPr sz="2400" b="1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1.25347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326795" y="921101"/>
            <a:ext cx="0" cy="4398645"/>
          </a:xfrm>
          <a:custGeom>
            <a:avLst/>
            <a:gdLst/>
            <a:ahLst/>
            <a:cxnLst/>
            <a:rect l="l" t="t" r="r" b="b"/>
            <a:pathLst>
              <a:path h="4398645">
                <a:moveTo>
                  <a:pt x="0" y="0"/>
                </a:moveTo>
                <a:lnTo>
                  <a:pt x="0" y="439829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00049" y="1973577"/>
            <a:ext cx="2023745" cy="11285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65"/>
              </a:lnSpc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dW =</a:t>
            </a:r>
            <a:r>
              <a:rPr sz="2400" spc="-9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...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 marR="5080">
              <a:lnSpc>
                <a:spcPts val="2850"/>
              </a:lnSpc>
              <a:spcBef>
                <a:spcPts val="105"/>
              </a:spcBef>
            </a:pP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(some</a:t>
            </a:r>
            <a:r>
              <a:rPr sz="2400" spc="-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function  data and</a:t>
            </a:r>
            <a:r>
              <a:rPr sz="2400" spc="-7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Arial"/>
                <a:cs typeface="Arial"/>
              </a:rPr>
              <a:t>W)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036417" y="3311721"/>
            <a:ext cx="2172335" cy="560705"/>
          </a:xfrm>
          <a:custGeom>
            <a:avLst/>
            <a:gdLst/>
            <a:ahLst/>
            <a:cxnLst/>
            <a:rect l="l" t="t" r="r" b="b"/>
            <a:pathLst>
              <a:path w="2172335" h="560705">
                <a:moveTo>
                  <a:pt x="0" y="0"/>
                </a:moveTo>
                <a:lnTo>
                  <a:pt x="2172145" y="560223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204638" y="3856719"/>
            <a:ext cx="46355" cy="30480"/>
          </a:xfrm>
          <a:custGeom>
            <a:avLst/>
            <a:gdLst/>
            <a:ahLst/>
            <a:cxnLst/>
            <a:rect l="l" t="t" r="r" b="b"/>
            <a:pathLst>
              <a:path w="46354" h="30480">
                <a:moveTo>
                  <a:pt x="0" y="30449"/>
                </a:moveTo>
                <a:lnTo>
                  <a:pt x="45799" y="26024"/>
                </a:lnTo>
                <a:lnTo>
                  <a:pt x="7874" y="0"/>
                </a:lnTo>
                <a:lnTo>
                  <a:pt x="0" y="30449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0" y="6604084"/>
            <a:ext cx="10727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Andrej </a:t>
            </a:r>
            <a:r>
              <a:rPr lang="en-US" sz="1050" dirty="0" err="1"/>
              <a:t>Karpathy</a:t>
            </a:r>
            <a:endParaRPr lang="en-US" sz="105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F3EB10B-F592-AA49-9983-1C8163C4063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47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535354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 gradients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Denoted as (diff notations):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i.e. how does the loss change as a function of the weights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We want to change the weights in such a way that makes the loss decrease as fast as possible 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/>
          <a:srcRect r="80363"/>
          <a:stretch/>
        </p:blipFill>
        <p:spPr>
          <a:xfrm>
            <a:off x="5998778" y="914400"/>
            <a:ext cx="961696" cy="1032743"/>
          </a:xfrm>
          <a:prstGeom prst="rect">
            <a:avLst/>
          </a:prstGeom>
        </p:spPr>
      </p:pic>
      <p:sp>
        <p:nvSpPr>
          <p:cNvPr id="5" name="object 8"/>
          <p:cNvSpPr/>
          <p:nvPr/>
        </p:nvSpPr>
        <p:spPr>
          <a:xfrm>
            <a:off x="7391343" y="1233972"/>
            <a:ext cx="867588" cy="3935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026" name="Picture 2" descr="https://upload.wikimedia.org/wikipedia/commons/thumb/d/d2/Tangent-calculus.svg/823px-Tangent-calculus.svg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1600" y="3767020"/>
            <a:ext cx="3942639" cy="2807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 bwMode="auto">
          <a:xfrm>
            <a:off x="6560175" y="1152412"/>
            <a:ext cx="161509" cy="161509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F10D94-F673-AB4A-9DED-E36C6545D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3546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Gradient descent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We’ll update weights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Move in direction opposite to gradient: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/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558923" y="2329886"/>
            <a:ext cx="290084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2241000" y="2068905"/>
            <a:ext cx="4662001" cy="1188259"/>
            <a:chOff x="2241000" y="2210799"/>
            <a:chExt cx="4662001" cy="1188259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41000" y="2210799"/>
              <a:ext cx="4662001" cy="699840"/>
            </a:xfrm>
            <a:prstGeom prst="rect">
              <a:avLst/>
            </a:prstGeom>
          </p:spPr>
        </p:pic>
        <p:grpSp>
          <p:nvGrpSpPr>
            <p:cNvPr id="9" name="Group 8"/>
            <p:cNvGrpSpPr/>
            <p:nvPr/>
          </p:nvGrpSpPr>
          <p:grpSpPr>
            <a:xfrm>
              <a:off x="4374929" y="2825687"/>
              <a:ext cx="1544012" cy="573371"/>
              <a:chOff x="4469525" y="2754740"/>
              <a:chExt cx="1544012" cy="573371"/>
            </a:xfrm>
          </p:grpSpPr>
          <p:sp>
            <p:nvSpPr>
              <p:cNvPr id="4" name="TextBox 3"/>
              <p:cNvSpPr txBox="1"/>
              <p:nvPr/>
            </p:nvSpPr>
            <p:spPr>
              <a:xfrm>
                <a:off x="4469525" y="2958779"/>
                <a:ext cx="15440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Learning rate</a:t>
                </a:r>
              </a:p>
            </p:txBody>
          </p:sp>
          <p:cxnSp>
            <p:nvCxnSpPr>
              <p:cNvPr id="8" name="Straight Arrow Connector 7"/>
              <p:cNvCxnSpPr/>
              <p:nvPr/>
            </p:nvCxnSpPr>
            <p:spPr bwMode="auto">
              <a:xfrm flipV="1">
                <a:off x="5218386" y="2754740"/>
                <a:ext cx="0" cy="274986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  <p:grpSp>
          <p:nvGrpSpPr>
            <p:cNvPr id="13" name="Group 12"/>
            <p:cNvGrpSpPr/>
            <p:nvPr/>
          </p:nvGrpSpPr>
          <p:grpSpPr>
            <a:xfrm>
              <a:off x="2648843" y="2654560"/>
              <a:ext cx="689035" cy="552112"/>
              <a:chOff x="2648843" y="2693975"/>
              <a:chExt cx="689035" cy="552112"/>
            </a:xfrm>
          </p:grpSpPr>
          <p:cxnSp>
            <p:nvCxnSpPr>
              <p:cNvPr id="11" name="Straight Arrow Connector 10"/>
              <p:cNvCxnSpPr/>
              <p:nvPr/>
            </p:nvCxnSpPr>
            <p:spPr bwMode="auto">
              <a:xfrm flipV="1">
                <a:off x="3003332" y="2693975"/>
                <a:ext cx="0" cy="26161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12" name="TextBox 11"/>
              <p:cNvSpPr txBox="1"/>
              <p:nvPr/>
            </p:nvSpPr>
            <p:spPr>
              <a:xfrm>
                <a:off x="2648843" y="2876755"/>
                <a:ext cx="6890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Time</a:t>
                </a:r>
              </a:p>
            </p:txBody>
          </p:sp>
        </p:grpSp>
      </p:grpSp>
      <p:sp>
        <p:nvSpPr>
          <p:cNvPr id="27" name="TextBox 26"/>
          <p:cNvSpPr txBox="1"/>
          <p:nvPr/>
        </p:nvSpPr>
        <p:spPr>
          <a:xfrm>
            <a:off x="0" y="6604084"/>
            <a:ext cx="187904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Figure from Andrej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Karpathy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725215" y="3496663"/>
            <a:ext cx="8048297" cy="2965528"/>
            <a:chOff x="409903" y="3638557"/>
            <a:chExt cx="8048297" cy="2965528"/>
          </a:xfrm>
        </p:grpSpPr>
        <p:grpSp>
          <p:nvGrpSpPr>
            <p:cNvPr id="10" name="Group 9"/>
            <p:cNvGrpSpPr/>
            <p:nvPr/>
          </p:nvGrpSpPr>
          <p:grpSpPr>
            <a:xfrm>
              <a:off x="685800" y="3727214"/>
              <a:ext cx="7772400" cy="2743632"/>
              <a:chOff x="-1461888" y="1274330"/>
              <a:chExt cx="11527324" cy="4069108"/>
            </a:xfrm>
          </p:grpSpPr>
          <p:sp>
            <p:nvSpPr>
              <p:cNvPr id="14" name="object 4"/>
              <p:cNvSpPr/>
              <p:nvPr/>
            </p:nvSpPr>
            <p:spPr>
              <a:xfrm>
                <a:off x="3100369" y="1532698"/>
                <a:ext cx="2943219" cy="2914644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5" name="object 5"/>
              <p:cNvSpPr/>
              <p:nvPr/>
            </p:nvSpPr>
            <p:spPr>
              <a:xfrm>
                <a:off x="5218915" y="4111893"/>
                <a:ext cx="161988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619884">
                    <a:moveTo>
                      <a:pt x="1619696" y="0"/>
                    </a:moveTo>
                    <a:lnTo>
                      <a:pt x="0" y="0"/>
                    </a:lnTo>
                  </a:path>
                </a:pathLst>
              </a:custGeom>
              <a:ln w="19049">
                <a:solidFill>
                  <a:srgbClr val="666666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6" name="object 6"/>
              <p:cNvSpPr/>
              <p:nvPr/>
            </p:nvSpPr>
            <p:spPr>
              <a:xfrm>
                <a:off x="5132465" y="4080418"/>
                <a:ext cx="86995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86995" h="63500">
                    <a:moveTo>
                      <a:pt x="86449" y="0"/>
                    </a:moveTo>
                    <a:lnTo>
                      <a:pt x="0" y="31474"/>
                    </a:lnTo>
                    <a:lnTo>
                      <a:pt x="86449" y="62949"/>
                    </a:lnTo>
                    <a:lnTo>
                      <a:pt x="86449" y="0"/>
                    </a:lnTo>
                    <a:close/>
                  </a:path>
                </a:pathLst>
              </a:custGeom>
              <a:ln w="19049">
                <a:solidFill>
                  <a:srgbClr val="666666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7" name="object 7"/>
              <p:cNvSpPr txBox="1"/>
              <p:nvPr/>
            </p:nvSpPr>
            <p:spPr>
              <a:xfrm>
                <a:off x="7047236" y="4078876"/>
                <a:ext cx="3018200" cy="547760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127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400" b="0" i="0" u="none" strike="noStrike" kern="1200" cap="none" spc="-5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original</a:t>
                </a:r>
                <a:r>
                  <a:rPr kumimoji="0" sz="2400" b="0" i="0" u="none" strike="noStrike" kern="1200" cap="none" spc="-65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 </a:t>
                </a:r>
                <a:r>
                  <a:rPr kumimoji="0" sz="2400" b="0" i="0" u="none" strike="noStrike" kern="1200" cap="none" spc="-5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W</a:t>
                </a:r>
                <a:endParaRPr kumimoji="0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</p:txBody>
          </p:sp>
          <p:sp>
            <p:nvSpPr>
              <p:cNvPr id="18" name="object 8"/>
              <p:cNvSpPr/>
              <p:nvPr/>
            </p:nvSpPr>
            <p:spPr>
              <a:xfrm>
                <a:off x="1491698" y="4058694"/>
                <a:ext cx="2901315" cy="634365"/>
              </a:xfrm>
              <a:custGeom>
                <a:avLst/>
                <a:gdLst/>
                <a:ahLst/>
                <a:cxnLst/>
                <a:rect l="l" t="t" r="r" b="b"/>
                <a:pathLst>
                  <a:path w="2901315" h="634364">
                    <a:moveTo>
                      <a:pt x="0" y="634373"/>
                    </a:moveTo>
                    <a:lnTo>
                      <a:pt x="2900944" y="0"/>
                    </a:lnTo>
                  </a:path>
                </a:pathLst>
              </a:custGeom>
              <a:ln w="19049">
                <a:solidFill>
                  <a:srgbClr val="666666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9" name="object 9"/>
              <p:cNvSpPr/>
              <p:nvPr/>
            </p:nvSpPr>
            <p:spPr>
              <a:xfrm>
                <a:off x="4385916" y="4027943"/>
                <a:ext cx="91440" cy="61594"/>
              </a:xfrm>
              <a:custGeom>
                <a:avLst/>
                <a:gdLst/>
                <a:ahLst/>
                <a:cxnLst/>
                <a:rect l="l" t="t" r="r" b="b"/>
                <a:pathLst>
                  <a:path w="91439" h="61594">
                    <a:moveTo>
                      <a:pt x="13424" y="61474"/>
                    </a:moveTo>
                    <a:lnTo>
                      <a:pt x="91174" y="12274"/>
                    </a:lnTo>
                    <a:lnTo>
                      <a:pt x="0" y="0"/>
                    </a:lnTo>
                    <a:lnTo>
                      <a:pt x="13424" y="61474"/>
                    </a:lnTo>
                    <a:close/>
                  </a:path>
                </a:pathLst>
              </a:custGeom>
              <a:ln w="19049">
                <a:solidFill>
                  <a:srgbClr val="666666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0" name="object 10"/>
              <p:cNvSpPr txBox="1"/>
              <p:nvPr/>
            </p:nvSpPr>
            <p:spPr>
              <a:xfrm>
                <a:off x="-1461888" y="4795678"/>
                <a:ext cx="5318142" cy="547760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127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400" b="0" i="0" u="none" strike="noStrike" kern="1200" cap="none" spc="-5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negative gradient</a:t>
                </a:r>
                <a:r>
                  <a:rPr kumimoji="0" sz="2400" b="0" i="0" u="none" strike="noStrike" kern="1200" cap="none" spc="5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 </a:t>
                </a:r>
                <a:r>
                  <a:rPr kumimoji="0" sz="2400" b="0" i="0" u="none" strike="noStrike" kern="1200" cap="none" spc="-5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direction</a:t>
                </a:r>
                <a:endParaRPr kumimoji="0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</p:txBody>
          </p:sp>
          <p:sp>
            <p:nvSpPr>
              <p:cNvPr id="21" name="object 11"/>
              <p:cNvSpPr/>
              <p:nvPr/>
            </p:nvSpPr>
            <p:spPr>
              <a:xfrm>
                <a:off x="3100018" y="4560242"/>
                <a:ext cx="324866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248660">
                    <a:moveTo>
                      <a:pt x="0" y="0"/>
                    </a:moveTo>
                    <a:lnTo>
                      <a:pt x="3248543" y="0"/>
                    </a:lnTo>
                  </a:path>
                </a:pathLst>
              </a:custGeom>
              <a:ln w="952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2" name="object 12"/>
              <p:cNvSpPr/>
              <p:nvPr/>
            </p:nvSpPr>
            <p:spPr>
              <a:xfrm>
                <a:off x="6348563" y="4544517"/>
                <a:ext cx="4381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43814" h="31750">
                    <a:moveTo>
                      <a:pt x="0" y="31449"/>
                    </a:moveTo>
                    <a:lnTo>
                      <a:pt x="43224" y="15724"/>
                    </a:lnTo>
                    <a:lnTo>
                      <a:pt x="0" y="0"/>
                    </a:lnTo>
                    <a:lnTo>
                      <a:pt x="0" y="31449"/>
                    </a:lnTo>
                    <a:close/>
                  </a:path>
                </a:pathLst>
              </a:custGeom>
              <a:ln w="952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3" name="object 13"/>
              <p:cNvSpPr txBox="1"/>
              <p:nvPr/>
            </p:nvSpPr>
            <p:spPr>
              <a:xfrm>
                <a:off x="5396661" y="4576649"/>
                <a:ext cx="1024096" cy="410820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127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1800" b="0" i="0" u="none" strike="noStrike" kern="1200" cap="none" spc="-5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W_1</a:t>
                </a: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</p:txBody>
          </p:sp>
          <p:sp>
            <p:nvSpPr>
              <p:cNvPr id="24" name="object 14"/>
              <p:cNvSpPr/>
              <p:nvPr/>
            </p:nvSpPr>
            <p:spPr>
              <a:xfrm>
                <a:off x="3032493" y="1403799"/>
                <a:ext cx="0" cy="3156585"/>
              </a:xfrm>
              <a:custGeom>
                <a:avLst/>
                <a:gdLst/>
                <a:ahLst/>
                <a:cxnLst/>
                <a:rect l="l" t="t" r="r" b="b"/>
                <a:pathLst>
                  <a:path h="3156585">
                    <a:moveTo>
                      <a:pt x="0" y="3156443"/>
                    </a:moveTo>
                    <a:lnTo>
                      <a:pt x="0" y="0"/>
                    </a:lnTo>
                  </a:path>
                </a:pathLst>
              </a:custGeom>
              <a:ln w="952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5" name="object 15"/>
              <p:cNvSpPr/>
              <p:nvPr/>
            </p:nvSpPr>
            <p:spPr>
              <a:xfrm>
                <a:off x="3016768" y="1360574"/>
                <a:ext cx="31750" cy="43815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43815">
                    <a:moveTo>
                      <a:pt x="31449" y="43224"/>
                    </a:moveTo>
                    <a:lnTo>
                      <a:pt x="15724" y="0"/>
                    </a:lnTo>
                    <a:lnTo>
                      <a:pt x="0" y="43224"/>
                    </a:lnTo>
                    <a:lnTo>
                      <a:pt x="31449" y="43224"/>
                    </a:lnTo>
                    <a:close/>
                  </a:path>
                </a:pathLst>
              </a:custGeom>
              <a:ln w="952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6" name="object 16"/>
              <p:cNvSpPr txBox="1"/>
              <p:nvPr/>
            </p:nvSpPr>
            <p:spPr>
              <a:xfrm>
                <a:off x="1975267" y="1274330"/>
                <a:ext cx="852354" cy="410820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127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1800" b="0" i="0" u="none" strike="noStrike" kern="1200" cap="none" spc="-5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W_2</a:t>
                </a: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</p:txBody>
          </p:sp>
        </p:grpSp>
        <p:sp>
          <p:nvSpPr>
            <p:cNvPr id="28" name="Rectangle 27"/>
            <p:cNvSpPr/>
            <p:nvPr/>
          </p:nvSpPr>
          <p:spPr bwMode="auto">
            <a:xfrm>
              <a:off x="409903" y="3638557"/>
              <a:ext cx="7709338" cy="2965528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</p:grpSp>
      <p:sp>
        <p:nvSpPr>
          <p:cNvPr id="6" name="Right Brace 5">
            <a:extLst>
              <a:ext uri="{FF2B5EF4-FFF2-40B4-BE49-F238E27FC236}">
                <a16:creationId xmlns:a16="http://schemas.microsoft.com/office/drawing/2014/main" id="{1BB066DB-D39A-40F2-84BE-9FB7AA2BE44F}"/>
              </a:ext>
            </a:extLst>
          </p:cNvPr>
          <p:cNvSpPr/>
          <p:nvPr/>
        </p:nvSpPr>
        <p:spPr bwMode="auto">
          <a:xfrm rot="16200000">
            <a:off x="5815337" y="1296476"/>
            <a:ext cx="413824" cy="1630872"/>
          </a:xfrm>
          <a:prstGeom prst="rightBrace">
            <a:avLst>
              <a:gd name="adj1" fmla="val 8333"/>
              <a:gd name="adj2" fmla="val 64194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31" name="灯片编号占位符 30">
            <a:extLst>
              <a:ext uri="{FF2B5EF4-FFF2-40B4-BE49-F238E27FC236}">
                <a16:creationId xmlns:a16="http://schemas.microsoft.com/office/drawing/2014/main" id="{0A66D44D-4A2E-7B45-BBEA-1C74D9A38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338025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Gradient descent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Iteratively </a:t>
            </a:r>
            <a:r>
              <a:rPr lang="en-US" i="1" dirty="0"/>
              <a:t>subtract </a:t>
            </a:r>
            <a:r>
              <a:rPr lang="en-US" dirty="0"/>
              <a:t>the gradient with respect to the model parameters (w)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I.e. we’re moving in a direction opposite to the gradient of  the loss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I.e. we’re moving towards </a:t>
            </a:r>
            <a:r>
              <a:rPr lang="en-US" i="1" dirty="0"/>
              <a:t>smaller </a:t>
            </a:r>
            <a:r>
              <a:rPr lang="en-US" dirty="0"/>
              <a:t>loss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196CFBC-350E-034F-AF6D-2F125B0FF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251052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Mini-batch gradient descent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In classic gradient descent, we compute the gradient from the loss for all training examples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Could also only use </a:t>
            </a:r>
            <a:r>
              <a:rPr lang="en-US" i="1" dirty="0"/>
              <a:t>some</a:t>
            </a:r>
            <a:r>
              <a:rPr lang="en-US" dirty="0"/>
              <a:t> of the data for each gradient update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We cycle through all the training examples multiple times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Each time we’ve cycled through all of them once is called an ‘epoch’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Allows faster training (e.g. on GPUs), parallelization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A427B7-CA38-8F4B-8B95-FA7774140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8995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4627640" y="1613960"/>
            <a:ext cx="4371966" cy="394334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184225" y="1877234"/>
            <a:ext cx="4405491" cy="352294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604084"/>
            <a:ext cx="10727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Andrej </a:t>
            </a:r>
            <a:r>
              <a:rPr lang="en-US" sz="1050" dirty="0" err="1"/>
              <a:t>Karpathy</a:t>
            </a:r>
            <a:endParaRPr lang="en-US" sz="105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Learning rate selection</a:t>
            </a:r>
          </a:p>
        </p:txBody>
      </p:sp>
      <p:sp>
        <p:nvSpPr>
          <p:cNvPr id="10" name="object 6"/>
          <p:cNvSpPr txBox="1">
            <a:spLocks/>
          </p:cNvSpPr>
          <p:nvPr/>
        </p:nvSpPr>
        <p:spPr bwMode="auto">
          <a:xfrm>
            <a:off x="4830686" y="1338742"/>
            <a:ext cx="4278630" cy="285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9pPr>
          </a:lstStyle>
          <a:p>
            <a:pPr marL="12700"/>
            <a:r>
              <a:rPr lang="en-US" sz="1800" kern="0" spc="-5"/>
              <a:t>The effects of step size (or “learning</a:t>
            </a:r>
            <a:r>
              <a:rPr lang="en-US" sz="1800" kern="0" spc="65"/>
              <a:t> </a:t>
            </a:r>
            <a:r>
              <a:rPr lang="en-US" sz="1800" kern="0" spc="-5"/>
              <a:t>rate”)</a:t>
            </a:r>
            <a:endParaRPr lang="en-US" sz="1800" kern="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A33F462-74F1-9746-839B-0B3676D7F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03354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Gradient descent in multi-layer nets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We’ll update weights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Move in direction opposite to gradient: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How to update the weights at all layers?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Answer: backpropagation of error from higher layers to lower layers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41000" y="2210799"/>
            <a:ext cx="4662001" cy="69984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88212A-EB55-A049-BC44-953B79964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570410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51" name="Line 23"/>
          <p:cNvSpPr>
            <a:spLocks noChangeShapeType="1"/>
          </p:cNvSpPr>
          <p:nvPr/>
        </p:nvSpPr>
        <p:spPr bwMode="auto">
          <a:xfrm flipH="1">
            <a:off x="3425825" y="3165475"/>
            <a:ext cx="498475" cy="10398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2971" name="Line 43"/>
          <p:cNvSpPr>
            <a:spLocks noChangeShapeType="1"/>
          </p:cNvSpPr>
          <p:nvPr/>
        </p:nvSpPr>
        <p:spPr bwMode="auto">
          <a:xfrm flipH="1">
            <a:off x="3443288" y="3171825"/>
            <a:ext cx="498475" cy="103981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2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Backpropagation: Graphic example</a:t>
            </a:r>
          </a:p>
        </p:txBody>
      </p:sp>
      <p:sp>
        <p:nvSpPr>
          <p:cNvPr id="252931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371600"/>
            <a:ext cx="7772400" cy="1116013"/>
          </a:xfrm>
        </p:spPr>
        <p:txBody>
          <a:bodyPr/>
          <a:lstStyle/>
          <a:p>
            <a:r>
              <a:rPr lang="en-US" altLang="en-US" sz="2800" dirty="0"/>
              <a:t>First calculate error of output units and use this to change the top layer of weights.</a:t>
            </a:r>
          </a:p>
        </p:txBody>
      </p:sp>
      <p:sp>
        <p:nvSpPr>
          <p:cNvPr id="252933" name="Text Box 5"/>
          <p:cNvSpPr txBox="1">
            <a:spLocks noChangeArrowheads="1"/>
          </p:cNvSpPr>
          <p:nvPr/>
        </p:nvSpPr>
        <p:spPr bwMode="auto">
          <a:xfrm>
            <a:off x="5094288" y="2881313"/>
            <a:ext cx="828675" cy="395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output</a:t>
            </a:r>
          </a:p>
        </p:txBody>
      </p:sp>
      <p:sp>
        <p:nvSpPr>
          <p:cNvPr id="252934" name="Text Box 6"/>
          <p:cNvSpPr txBox="1">
            <a:spLocks noChangeArrowheads="1"/>
          </p:cNvSpPr>
          <p:nvPr/>
        </p:nvSpPr>
        <p:spPr bwMode="auto">
          <a:xfrm>
            <a:off x="5494338" y="3984625"/>
            <a:ext cx="871537" cy="398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hidden</a:t>
            </a:r>
          </a:p>
        </p:txBody>
      </p:sp>
      <p:sp>
        <p:nvSpPr>
          <p:cNvPr id="252935" name="Text Box 7"/>
          <p:cNvSpPr txBox="1">
            <a:spLocks noChangeArrowheads="1"/>
          </p:cNvSpPr>
          <p:nvPr/>
        </p:nvSpPr>
        <p:spPr bwMode="auto">
          <a:xfrm>
            <a:off x="6057900" y="5064125"/>
            <a:ext cx="7032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input</a:t>
            </a:r>
          </a:p>
        </p:txBody>
      </p:sp>
      <p:sp>
        <p:nvSpPr>
          <p:cNvPr id="252936" name="Line 8"/>
          <p:cNvSpPr>
            <a:spLocks noChangeShapeType="1"/>
          </p:cNvSpPr>
          <p:nvPr/>
        </p:nvSpPr>
        <p:spPr bwMode="auto">
          <a:xfrm flipH="1">
            <a:off x="3117850" y="4205288"/>
            <a:ext cx="284163" cy="10906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2937" name="Line 9"/>
          <p:cNvSpPr>
            <a:spLocks noChangeShapeType="1"/>
          </p:cNvSpPr>
          <p:nvPr/>
        </p:nvSpPr>
        <p:spPr bwMode="auto">
          <a:xfrm>
            <a:off x="3425825" y="4232275"/>
            <a:ext cx="379413" cy="1041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2938" name="Line 10"/>
          <p:cNvSpPr>
            <a:spLocks noChangeShapeType="1"/>
          </p:cNvSpPr>
          <p:nvPr/>
        </p:nvSpPr>
        <p:spPr bwMode="auto">
          <a:xfrm>
            <a:off x="3425825" y="4259263"/>
            <a:ext cx="973138" cy="9604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2939" name="Line 11"/>
          <p:cNvSpPr>
            <a:spLocks noChangeShapeType="1"/>
          </p:cNvSpPr>
          <p:nvPr/>
        </p:nvSpPr>
        <p:spPr bwMode="auto">
          <a:xfrm>
            <a:off x="3425825" y="4281488"/>
            <a:ext cx="1682750" cy="10144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2940" name="Line 12"/>
          <p:cNvSpPr>
            <a:spLocks noChangeShapeType="1"/>
          </p:cNvSpPr>
          <p:nvPr/>
        </p:nvSpPr>
        <p:spPr bwMode="auto">
          <a:xfrm>
            <a:off x="3425825" y="4281488"/>
            <a:ext cx="2373313" cy="9382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2941" name="Line 13"/>
          <p:cNvSpPr>
            <a:spLocks noChangeShapeType="1"/>
          </p:cNvSpPr>
          <p:nvPr/>
        </p:nvSpPr>
        <p:spPr bwMode="auto">
          <a:xfrm flipH="1">
            <a:off x="3117850" y="4232275"/>
            <a:ext cx="1162050" cy="1041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2942" name="Line 14"/>
          <p:cNvSpPr>
            <a:spLocks noChangeShapeType="1"/>
          </p:cNvSpPr>
          <p:nvPr/>
        </p:nvSpPr>
        <p:spPr bwMode="auto">
          <a:xfrm flipH="1">
            <a:off x="3781425" y="4205288"/>
            <a:ext cx="522288" cy="1041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2943" name="Line 15"/>
          <p:cNvSpPr>
            <a:spLocks noChangeShapeType="1"/>
          </p:cNvSpPr>
          <p:nvPr/>
        </p:nvSpPr>
        <p:spPr bwMode="auto">
          <a:xfrm>
            <a:off x="4303713" y="4179888"/>
            <a:ext cx="117475" cy="1066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2944" name="Line 16"/>
          <p:cNvSpPr>
            <a:spLocks noChangeShapeType="1"/>
          </p:cNvSpPr>
          <p:nvPr/>
        </p:nvSpPr>
        <p:spPr bwMode="auto">
          <a:xfrm>
            <a:off x="4327525" y="4205288"/>
            <a:ext cx="808038" cy="10683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2945" name="Line 17"/>
          <p:cNvSpPr>
            <a:spLocks noChangeShapeType="1"/>
          </p:cNvSpPr>
          <p:nvPr/>
        </p:nvSpPr>
        <p:spPr bwMode="auto">
          <a:xfrm>
            <a:off x="4327525" y="4281488"/>
            <a:ext cx="1446213" cy="9382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2946" name="Line 18"/>
          <p:cNvSpPr>
            <a:spLocks noChangeShapeType="1"/>
          </p:cNvSpPr>
          <p:nvPr/>
        </p:nvSpPr>
        <p:spPr bwMode="auto">
          <a:xfrm flipH="1">
            <a:off x="3141663" y="4232275"/>
            <a:ext cx="1993900" cy="1041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2947" name="Line 19"/>
          <p:cNvSpPr>
            <a:spLocks noChangeShapeType="1"/>
          </p:cNvSpPr>
          <p:nvPr/>
        </p:nvSpPr>
        <p:spPr bwMode="auto">
          <a:xfrm flipH="1">
            <a:off x="3781425" y="4232275"/>
            <a:ext cx="1327150" cy="1041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2948" name="Line 20"/>
          <p:cNvSpPr>
            <a:spLocks noChangeShapeType="1"/>
          </p:cNvSpPr>
          <p:nvPr/>
        </p:nvSpPr>
        <p:spPr bwMode="auto">
          <a:xfrm flipH="1">
            <a:off x="4445000" y="4259263"/>
            <a:ext cx="714375" cy="9874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2949" name="Line 21"/>
          <p:cNvSpPr>
            <a:spLocks noChangeShapeType="1"/>
          </p:cNvSpPr>
          <p:nvPr/>
        </p:nvSpPr>
        <p:spPr bwMode="auto">
          <a:xfrm flipH="1">
            <a:off x="5062538" y="4179888"/>
            <a:ext cx="142875" cy="1066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2950" name="Line 22"/>
          <p:cNvSpPr>
            <a:spLocks noChangeShapeType="1"/>
          </p:cNvSpPr>
          <p:nvPr/>
        </p:nvSpPr>
        <p:spPr bwMode="auto">
          <a:xfrm>
            <a:off x="5181600" y="4205288"/>
            <a:ext cx="546100" cy="9921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2952" name="Line 24"/>
          <p:cNvSpPr>
            <a:spLocks noChangeShapeType="1"/>
          </p:cNvSpPr>
          <p:nvPr/>
        </p:nvSpPr>
        <p:spPr bwMode="auto">
          <a:xfrm>
            <a:off x="3948113" y="3165475"/>
            <a:ext cx="355600" cy="10398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2953" name="Line 25"/>
          <p:cNvSpPr>
            <a:spLocks noChangeShapeType="1"/>
          </p:cNvSpPr>
          <p:nvPr/>
        </p:nvSpPr>
        <p:spPr bwMode="auto">
          <a:xfrm>
            <a:off x="3924300" y="3165475"/>
            <a:ext cx="1257300" cy="9921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2954" name="Line 26"/>
          <p:cNvSpPr>
            <a:spLocks noChangeShapeType="1"/>
          </p:cNvSpPr>
          <p:nvPr/>
        </p:nvSpPr>
        <p:spPr bwMode="auto">
          <a:xfrm flipH="1">
            <a:off x="3425825" y="3190875"/>
            <a:ext cx="1303338" cy="10144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2955" name="Line 27"/>
          <p:cNvSpPr>
            <a:spLocks noChangeShapeType="1"/>
          </p:cNvSpPr>
          <p:nvPr/>
        </p:nvSpPr>
        <p:spPr bwMode="auto">
          <a:xfrm flipH="1">
            <a:off x="4279900" y="3190875"/>
            <a:ext cx="449263" cy="9667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2956" name="Line 28"/>
          <p:cNvSpPr>
            <a:spLocks noChangeShapeType="1"/>
          </p:cNvSpPr>
          <p:nvPr/>
        </p:nvSpPr>
        <p:spPr bwMode="auto">
          <a:xfrm>
            <a:off x="4754563" y="3216275"/>
            <a:ext cx="404812" cy="914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2957" name="Oval 29"/>
          <p:cNvSpPr>
            <a:spLocks noChangeArrowheads="1"/>
          </p:cNvSpPr>
          <p:nvPr/>
        </p:nvSpPr>
        <p:spPr bwMode="auto">
          <a:xfrm>
            <a:off x="3049588" y="5183188"/>
            <a:ext cx="214312" cy="255587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2958" name="Oval 30"/>
          <p:cNvSpPr>
            <a:spLocks noChangeArrowheads="1"/>
          </p:cNvSpPr>
          <p:nvPr/>
        </p:nvSpPr>
        <p:spPr bwMode="auto">
          <a:xfrm>
            <a:off x="3703638" y="5172075"/>
            <a:ext cx="214312" cy="2540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2959" name="Oval 31"/>
          <p:cNvSpPr>
            <a:spLocks noChangeArrowheads="1"/>
          </p:cNvSpPr>
          <p:nvPr/>
        </p:nvSpPr>
        <p:spPr bwMode="auto">
          <a:xfrm>
            <a:off x="4359275" y="5157788"/>
            <a:ext cx="212725" cy="2540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2960" name="Oval 32"/>
          <p:cNvSpPr>
            <a:spLocks noChangeArrowheads="1"/>
          </p:cNvSpPr>
          <p:nvPr/>
        </p:nvSpPr>
        <p:spPr bwMode="auto">
          <a:xfrm>
            <a:off x="5013325" y="5145088"/>
            <a:ext cx="214313" cy="255587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2961" name="Oval 33"/>
          <p:cNvSpPr>
            <a:spLocks noChangeArrowheads="1"/>
          </p:cNvSpPr>
          <p:nvPr/>
        </p:nvSpPr>
        <p:spPr bwMode="auto">
          <a:xfrm>
            <a:off x="5667375" y="5130800"/>
            <a:ext cx="214313" cy="25558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2962" name="Oval 34"/>
          <p:cNvSpPr>
            <a:spLocks noChangeArrowheads="1"/>
          </p:cNvSpPr>
          <p:nvPr/>
        </p:nvSpPr>
        <p:spPr bwMode="auto">
          <a:xfrm>
            <a:off x="3336925" y="4079875"/>
            <a:ext cx="212725" cy="2540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2965" name="Oval 37"/>
          <p:cNvSpPr>
            <a:spLocks noChangeArrowheads="1"/>
          </p:cNvSpPr>
          <p:nvPr/>
        </p:nvSpPr>
        <p:spPr bwMode="auto">
          <a:xfrm>
            <a:off x="3830638" y="3051175"/>
            <a:ext cx="212725" cy="2540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2966" name="Oval 38"/>
          <p:cNvSpPr>
            <a:spLocks noChangeArrowheads="1"/>
          </p:cNvSpPr>
          <p:nvPr/>
        </p:nvSpPr>
        <p:spPr bwMode="auto">
          <a:xfrm>
            <a:off x="4673600" y="3051175"/>
            <a:ext cx="214313" cy="2540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2969" name="Oval 41"/>
          <p:cNvSpPr>
            <a:spLocks noChangeArrowheads="1"/>
          </p:cNvSpPr>
          <p:nvPr/>
        </p:nvSpPr>
        <p:spPr bwMode="auto">
          <a:xfrm>
            <a:off x="3836988" y="3055938"/>
            <a:ext cx="212725" cy="254000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2972" name="Line 44"/>
          <p:cNvSpPr>
            <a:spLocks noChangeShapeType="1"/>
          </p:cNvSpPr>
          <p:nvPr/>
        </p:nvSpPr>
        <p:spPr bwMode="auto">
          <a:xfrm>
            <a:off x="3978275" y="3208338"/>
            <a:ext cx="355600" cy="103981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2963" name="Oval 35"/>
          <p:cNvSpPr>
            <a:spLocks noChangeArrowheads="1"/>
          </p:cNvSpPr>
          <p:nvPr/>
        </p:nvSpPr>
        <p:spPr bwMode="auto">
          <a:xfrm>
            <a:off x="4203700" y="4079875"/>
            <a:ext cx="214313" cy="2540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2973" name="Line 45"/>
          <p:cNvSpPr>
            <a:spLocks noChangeShapeType="1"/>
          </p:cNvSpPr>
          <p:nvPr/>
        </p:nvSpPr>
        <p:spPr bwMode="auto">
          <a:xfrm>
            <a:off x="3967163" y="3184525"/>
            <a:ext cx="1257300" cy="99218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2964" name="Oval 36"/>
          <p:cNvSpPr>
            <a:spLocks noChangeArrowheads="1"/>
          </p:cNvSpPr>
          <p:nvPr/>
        </p:nvSpPr>
        <p:spPr bwMode="auto">
          <a:xfrm>
            <a:off x="5072063" y="4079875"/>
            <a:ext cx="214312" cy="2540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2970" name="Text Box 42"/>
          <p:cNvSpPr txBox="1">
            <a:spLocks noChangeArrowheads="1"/>
          </p:cNvSpPr>
          <p:nvPr/>
        </p:nvSpPr>
        <p:spPr bwMode="auto">
          <a:xfrm>
            <a:off x="711504" y="3356992"/>
            <a:ext cx="23574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Update weights into </a:t>
            </a:r>
            <a:r>
              <a:rPr kumimoji="0" lang="en-US" alt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j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0" y="6604084"/>
            <a:ext cx="33746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Adapted from Ray Mooney, equations from Chris Bishop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884368" y="2887776"/>
            <a:ext cx="300082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j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</a:p>
        </p:txBody>
      </p:sp>
      <p:sp>
        <p:nvSpPr>
          <p:cNvPr id="3" name="Rectangle 2"/>
          <p:cNvSpPr/>
          <p:nvPr/>
        </p:nvSpPr>
        <p:spPr bwMode="auto">
          <a:xfrm>
            <a:off x="1186147" y="4019715"/>
            <a:ext cx="161509" cy="161509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CE1A96-70D5-45AE-A11F-93F1407E376C}"/>
              </a:ext>
            </a:extLst>
          </p:cNvPr>
          <p:cNvSpPr txBox="1"/>
          <p:nvPr/>
        </p:nvSpPr>
        <p:spPr>
          <a:xfrm>
            <a:off x="7108723" y="3274140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  <a:r>
              <a:rPr lang="en-US" baseline="30000" dirty="0"/>
              <a:t>(2)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3E7B75F-7B03-449B-B003-CB6D80BAAD59}"/>
              </a:ext>
            </a:extLst>
          </p:cNvPr>
          <p:cNvSpPr txBox="1"/>
          <p:nvPr/>
        </p:nvSpPr>
        <p:spPr>
          <a:xfrm>
            <a:off x="7108723" y="4604028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  <a:r>
              <a:rPr lang="en-US" baseline="30000" dirty="0"/>
              <a:t>(1)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CF612CF-4E2B-F24E-A1DF-84A0CFD97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6529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2971" grpId="0" animBg="1"/>
      <p:bldP spid="252969" grpId="0" animBg="1"/>
      <p:bldP spid="252972" grpId="0" animBg="1"/>
      <p:bldP spid="252973" grpId="0" animBg="1"/>
      <p:bldP spid="252970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Line 2"/>
          <p:cNvSpPr>
            <a:spLocks noChangeShapeType="1"/>
          </p:cNvSpPr>
          <p:nvPr/>
        </p:nvSpPr>
        <p:spPr bwMode="auto">
          <a:xfrm flipH="1">
            <a:off x="3425825" y="3165475"/>
            <a:ext cx="498475" cy="10398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395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Backpropagation: Graphic example</a:t>
            </a:r>
          </a:p>
        </p:txBody>
      </p:sp>
      <p:sp>
        <p:nvSpPr>
          <p:cNvPr id="253957" name="Rectangle 5"/>
          <p:cNvSpPr>
            <a:spLocks noGrp="1" noChangeArrowheads="1"/>
          </p:cNvSpPr>
          <p:nvPr>
            <p:ph idx="1"/>
          </p:nvPr>
        </p:nvSpPr>
        <p:spPr>
          <a:xfrm>
            <a:off x="685800" y="1371600"/>
            <a:ext cx="7772400" cy="1116013"/>
          </a:xfrm>
        </p:spPr>
        <p:txBody>
          <a:bodyPr/>
          <a:lstStyle/>
          <a:p>
            <a:r>
              <a:rPr lang="en-US" altLang="en-US" sz="2800"/>
              <a:t>Next calculate error for hidden units based on errors on the output units it feeds into.</a:t>
            </a:r>
          </a:p>
        </p:txBody>
      </p:sp>
      <p:sp>
        <p:nvSpPr>
          <p:cNvPr id="253958" name="Text Box 6"/>
          <p:cNvSpPr txBox="1">
            <a:spLocks noChangeArrowheads="1"/>
          </p:cNvSpPr>
          <p:nvPr/>
        </p:nvSpPr>
        <p:spPr bwMode="auto">
          <a:xfrm>
            <a:off x="5094288" y="2881313"/>
            <a:ext cx="828675" cy="395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output</a:t>
            </a:r>
          </a:p>
        </p:txBody>
      </p:sp>
      <p:sp>
        <p:nvSpPr>
          <p:cNvPr id="253959" name="Text Box 7"/>
          <p:cNvSpPr txBox="1">
            <a:spLocks noChangeArrowheads="1"/>
          </p:cNvSpPr>
          <p:nvPr/>
        </p:nvSpPr>
        <p:spPr bwMode="auto">
          <a:xfrm>
            <a:off x="5494338" y="3984625"/>
            <a:ext cx="871537" cy="398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hidden</a:t>
            </a:r>
          </a:p>
        </p:txBody>
      </p:sp>
      <p:sp>
        <p:nvSpPr>
          <p:cNvPr id="253960" name="Text Box 8"/>
          <p:cNvSpPr txBox="1">
            <a:spLocks noChangeArrowheads="1"/>
          </p:cNvSpPr>
          <p:nvPr/>
        </p:nvSpPr>
        <p:spPr bwMode="auto">
          <a:xfrm>
            <a:off x="6057900" y="5064125"/>
            <a:ext cx="7032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input</a:t>
            </a:r>
          </a:p>
        </p:txBody>
      </p:sp>
      <p:sp>
        <p:nvSpPr>
          <p:cNvPr id="253961" name="Line 9"/>
          <p:cNvSpPr>
            <a:spLocks noChangeShapeType="1"/>
          </p:cNvSpPr>
          <p:nvPr/>
        </p:nvSpPr>
        <p:spPr bwMode="auto">
          <a:xfrm flipH="1">
            <a:off x="3117850" y="4205288"/>
            <a:ext cx="284163" cy="10906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3962" name="Line 10"/>
          <p:cNvSpPr>
            <a:spLocks noChangeShapeType="1"/>
          </p:cNvSpPr>
          <p:nvPr/>
        </p:nvSpPr>
        <p:spPr bwMode="auto">
          <a:xfrm>
            <a:off x="3425825" y="4232275"/>
            <a:ext cx="379413" cy="1041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3963" name="Line 11"/>
          <p:cNvSpPr>
            <a:spLocks noChangeShapeType="1"/>
          </p:cNvSpPr>
          <p:nvPr/>
        </p:nvSpPr>
        <p:spPr bwMode="auto">
          <a:xfrm>
            <a:off x="3425825" y="4259263"/>
            <a:ext cx="973138" cy="9604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3964" name="Line 12"/>
          <p:cNvSpPr>
            <a:spLocks noChangeShapeType="1"/>
          </p:cNvSpPr>
          <p:nvPr/>
        </p:nvSpPr>
        <p:spPr bwMode="auto">
          <a:xfrm>
            <a:off x="3425825" y="4281488"/>
            <a:ext cx="1682750" cy="10144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3965" name="Line 13"/>
          <p:cNvSpPr>
            <a:spLocks noChangeShapeType="1"/>
          </p:cNvSpPr>
          <p:nvPr/>
        </p:nvSpPr>
        <p:spPr bwMode="auto">
          <a:xfrm>
            <a:off x="3425825" y="4281488"/>
            <a:ext cx="2373313" cy="9382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3966" name="Line 14"/>
          <p:cNvSpPr>
            <a:spLocks noChangeShapeType="1"/>
          </p:cNvSpPr>
          <p:nvPr/>
        </p:nvSpPr>
        <p:spPr bwMode="auto">
          <a:xfrm flipH="1">
            <a:off x="3117850" y="4232275"/>
            <a:ext cx="1162050" cy="1041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3967" name="Line 15"/>
          <p:cNvSpPr>
            <a:spLocks noChangeShapeType="1"/>
          </p:cNvSpPr>
          <p:nvPr/>
        </p:nvSpPr>
        <p:spPr bwMode="auto">
          <a:xfrm flipH="1">
            <a:off x="3781425" y="4205288"/>
            <a:ext cx="522288" cy="1041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3968" name="Line 16"/>
          <p:cNvSpPr>
            <a:spLocks noChangeShapeType="1"/>
          </p:cNvSpPr>
          <p:nvPr/>
        </p:nvSpPr>
        <p:spPr bwMode="auto">
          <a:xfrm>
            <a:off x="4303713" y="4179888"/>
            <a:ext cx="117475" cy="1066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3969" name="Line 17"/>
          <p:cNvSpPr>
            <a:spLocks noChangeShapeType="1"/>
          </p:cNvSpPr>
          <p:nvPr/>
        </p:nvSpPr>
        <p:spPr bwMode="auto">
          <a:xfrm>
            <a:off x="4327525" y="4205288"/>
            <a:ext cx="808038" cy="10683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3970" name="Line 18"/>
          <p:cNvSpPr>
            <a:spLocks noChangeShapeType="1"/>
          </p:cNvSpPr>
          <p:nvPr/>
        </p:nvSpPr>
        <p:spPr bwMode="auto">
          <a:xfrm>
            <a:off x="4327525" y="4281488"/>
            <a:ext cx="1446213" cy="9382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3971" name="Line 19"/>
          <p:cNvSpPr>
            <a:spLocks noChangeShapeType="1"/>
          </p:cNvSpPr>
          <p:nvPr/>
        </p:nvSpPr>
        <p:spPr bwMode="auto">
          <a:xfrm flipH="1">
            <a:off x="3141663" y="4232275"/>
            <a:ext cx="1993900" cy="1041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3972" name="Line 20"/>
          <p:cNvSpPr>
            <a:spLocks noChangeShapeType="1"/>
          </p:cNvSpPr>
          <p:nvPr/>
        </p:nvSpPr>
        <p:spPr bwMode="auto">
          <a:xfrm flipH="1">
            <a:off x="3781425" y="4232275"/>
            <a:ext cx="1327150" cy="1041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3973" name="Line 21"/>
          <p:cNvSpPr>
            <a:spLocks noChangeShapeType="1"/>
          </p:cNvSpPr>
          <p:nvPr/>
        </p:nvSpPr>
        <p:spPr bwMode="auto">
          <a:xfrm flipH="1">
            <a:off x="4445000" y="4259263"/>
            <a:ext cx="714375" cy="9874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3974" name="Line 22"/>
          <p:cNvSpPr>
            <a:spLocks noChangeShapeType="1"/>
          </p:cNvSpPr>
          <p:nvPr/>
        </p:nvSpPr>
        <p:spPr bwMode="auto">
          <a:xfrm flipH="1">
            <a:off x="5062538" y="4179888"/>
            <a:ext cx="142875" cy="1066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3975" name="Line 23"/>
          <p:cNvSpPr>
            <a:spLocks noChangeShapeType="1"/>
          </p:cNvSpPr>
          <p:nvPr/>
        </p:nvSpPr>
        <p:spPr bwMode="auto">
          <a:xfrm>
            <a:off x="5181600" y="4205288"/>
            <a:ext cx="546100" cy="9921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3976" name="Line 24"/>
          <p:cNvSpPr>
            <a:spLocks noChangeShapeType="1"/>
          </p:cNvSpPr>
          <p:nvPr/>
        </p:nvSpPr>
        <p:spPr bwMode="auto">
          <a:xfrm>
            <a:off x="3948113" y="3165475"/>
            <a:ext cx="355600" cy="10398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3977" name="Line 25"/>
          <p:cNvSpPr>
            <a:spLocks noChangeShapeType="1"/>
          </p:cNvSpPr>
          <p:nvPr/>
        </p:nvSpPr>
        <p:spPr bwMode="auto">
          <a:xfrm>
            <a:off x="3924300" y="3165475"/>
            <a:ext cx="1257300" cy="9921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3978" name="Line 26"/>
          <p:cNvSpPr>
            <a:spLocks noChangeShapeType="1"/>
          </p:cNvSpPr>
          <p:nvPr/>
        </p:nvSpPr>
        <p:spPr bwMode="auto">
          <a:xfrm flipH="1">
            <a:off x="3425825" y="3190875"/>
            <a:ext cx="1303338" cy="10144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3979" name="Line 27"/>
          <p:cNvSpPr>
            <a:spLocks noChangeShapeType="1"/>
          </p:cNvSpPr>
          <p:nvPr/>
        </p:nvSpPr>
        <p:spPr bwMode="auto">
          <a:xfrm flipH="1">
            <a:off x="4279900" y="3190875"/>
            <a:ext cx="449263" cy="9667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3980" name="Line 28"/>
          <p:cNvSpPr>
            <a:spLocks noChangeShapeType="1"/>
          </p:cNvSpPr>
          <p:nvPr/>
        </p:nvSpPr>
        <p:spPr bwMode="auto">
          <a:xfrm>
            <a:off x="4754563" y="3216275"/>
            <a:ext cx="404812" cy="914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3981" name="Oval 29"/>
          <p:cNvSpPr>
            <a:spLocks noChangeArrowheads="1"/>
          </p:cNvSpPr>
          <p:nvPr/>
        </p:nvSpPr>
        <p:spPr bwMode="auto">
          <a:xfrm>
            <a:off x="3049588" y="5183188"/>
            <a:ext cx="214312" cy="255587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3982" name="Oval 30"/>
          <p:cNvSpPr>
            <a:spLocks noChangeArrowheads="1"/>
          </p:cNvSpPr>
          <p:nvPr/>
        </p:nvSpPr>
        <p:spPr bwMode="auto">
          <a:xfrm>
            <a:off x="3703638" y="5172075"/>
            <a:ext cx="214312" cy="2540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3983" name="Oval 31"/>
          <p:cNvSpPr>
            <a:spLocks noChangeArrowheads="1"/>
          </p:cNvSpPr>
          <p:nvPr/>
        </p:nvSpPr>
        <p:spPr bwMode="auto">
          <a:xfrm>
            <a:off x="4359275" y="5157788"/>
            <a:ext cx="212725" cy="2540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3984" name="Oval 32"/>
          <p:cNvSpPr>
            <a:spLocks noChangeArrowheads="1"/>
          </p:cNvSpPr>
          <p:nvPr/>
        </p:nvSpPr>
        <p:spPr bwMode="auto">
          <a:xfrm>
            <a:off x="5013325" y="5145088"/>
            <a:ext cx="214313" cy="255587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3985" name="Oval 33"/>
          <p:cNvSpPr>
            <a:spLocks noChangeArrowheads="1"/>
          </p:cNvSpPr>
          <p:nvPr/>
        </p:nvSpPr>
        <p:spPr bwMode="auto">
          <a:xfrm>
            <a:off x="5667375" y="5130800"/>
            <a:ext cx="214313" cy="25558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3986" name="Oval 34"/>
          <p:cNvSpPr>
            <a:spLocks noChangeArrowheads="1"/>
          </p:cNvSpPr>
          <p:nvPr/>
        </p:nvSpPr>
        <p:spPr bwMode="auto">
          <a:xfrm>
            <a:off x="3336925" y="4079875"/>
            <a:ext cx="212725" cy="2540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3990" name="Oval 38"/>
          <p:cNvSpPr>
            <a:spLocks noChangeArrowheads="1"/>
          </p:cNvSpPr>
          <p:nvPr/>
        </p:nvSpPr>
        <p:spPr bwMode="auto">
          <a:xfrm>
            <a:off x="3336925" y="4067175"/>
            <a:ext cx="212725" cy="254000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3992" name="Oval 40"/>
          <p:cNvSpPr>
            <a:spLocks noChangeArrowheads="1"/>
          </p:cNvSpPr>
          <p:nvPr/>
        </p:nvSpPr>
        <p:spPr bwMode="auto">
          <a:xfrm>
            <a:off x="4203700" y="4079875"/>
            <a:ext cx="214313" cy="2540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3994" name="Oval 42"/>
          <p:cNvSpPr>
            <a:spLocks noChangeArrowheads="1"/>
          </p:cNvSpPr>
          <p:nvPr/>
        </p:nvSpPr>
        <p:spPr bwMode="auto">
          <a:xfrm>
            <a:off x="5072063" y="4079875"/>
            <a:ext cx="214312" cy="2540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3998" name="Text Box 46"/>
          <p:cNvSpPr txBox="1">
            <a:spLocks noChangeArrowheads="1"/>
          </p:cNvSpPr>
          <p:nvPr/>
        </p:nvSpPr>
        <p:spPr bwMode="auto">
          <a:xfrm>
            <a:off x="823913" y="3744913"/>
            <a:ext cx="1809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4000" name="Line 48"/>
          <p:cNvSpPr>
            <a:spLocks noChangeShapeType="1"/>
          </p:cNvSpPr>
          <p:nvPr/>
        </p:nvSpPr>
        <p:spPr bwMode="auto">
          <a:xfrm flipH="1">
            <a:off x="3419475" y="3186113"/>
            <a:ext cx="498475" cy="103981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4001" name="Line 49"/>
          <p:cNvSpPr>
            <a:spLocks noChangeShapeType="1"/>
          </p:cNvSpPr>
          <p:nvPr/>
        </p:nvSpPr>
        <p:spPr bwMode="auto">
          <a:xfrm flipH="1">
            <a:off x="3481388" y="3173413"/>
            <a:ext cx="1303337" cy="101441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3988" name="Oval 36"/>
          <p:cNvSpPr>
            <a:spLocks noChangeArrowheads="1"/>
          </p:cNvSpPr>
          <p:nvPr/>
        </p:nvSpPr>
        <p:spPr bwMode="auto">
          <a:xfrm>
            <a:off x="4673600" y="3051175"/>
            <a:ext cx="214313" cy="2540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3987" name="Oval 35"/>
          <p:cNvSpPr>
            <a:spLocks noChangeArrowheads="1"/>
          </p:cNvSpPr>
          <p:nvPr/>
        </p:nvSpPr>
        <p:spPr bwMode="auto">
          <a:xfrm>
            <a:off x="3830638" y="3051175"/>
            <a:ext cx="212725" cy="2540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4002" name="Oval 50"/>
          <p:cNvSpPr>
            <a:spLocks noChangeArrowheads="1"/>
          </p:cNvSpPr>
          <p:nvPr/>
        </p:nvSpPr>
        <p:spPr bwMode="auto">
          <a:xfrm>
            <a:off x="3829050" y="3060700"/>
            <a:ext cx="212725" cy="254000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4003" name="Oval 51"/>
          <p:cNvSpPr>
            <a:spLocks noChangeArrowheads="1"/>
          </p:cNvSpPr>
          <p:nvPr/>
        </p:nvSpPr>
        <p:spPr bwMode="auto">
          <a:xfrm>
            <a:off x="4662488" y="3054350"/>
            <a:ext cx="212725" cy="254000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884368" y="2887776"/>
            <a:ext cx="300082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j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0" y="6604084"/>
            <a:ext cx="33746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Adapted from Ray Mooney, equations from Chris Bishop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1F57606-8BCF-F944-A481-4D0C6272A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7810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990" grpId="0" animBg="1"/>
      <p:bldP spid="254000" grpId="0" animBg="1"/>
      <p:bldP spid="254001" grpId="0" animBg="1"/>
      <p:bldP spid="254002" grpId="0" animBg="1"/>
      <p:bldP spid="254003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Line 2"/>
          <p:cNvSpPr>
            <a:spLocks noChangeShapeType="1"/>
          </p:cNvSpPr>
          <p:nvPr/>
        </p:nvSpPr>
        <p:spPr bwMode="auto">
          <a:xfrm flipH="1">
            <a:off x="3425825" y="3165475"/>
            <a:ext cx="498475" cy="10398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497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Backpropagation: Graphic example</a:t>
            </a:r>
          </a:p>
        </p:txBody>
      </p:sp>
      <p:sp>
        <p:nvSpPr>
          <p:cNvPr id="254980" name="Rectangle 4"/>
          <p:cNvSpPr>
            <a:spLocks noGrp="1" noChangeArrowheads="1"/>
          </p:cNvSpPr>
          <p:nvPr>
            <p:ph idx="1"/>
          </p:nvPr>
        </p:nvSpPr>
        <p:spPr>
          <a:xfrm>
            <a:off x="685800" y="1371600"/>
            <a:ext cx="7772400" cy="1116013"/>
          </a:xfrm>
        </p:spPr>
        <p:txBody>
          <a:bodyPr/>
          <a:lstStyle/>
          <a:p>
            <a:r>
              <a:rPr lang="en-US" altLang="en-US" sz="2800"/>
              <a:t>Finally update bottom layer of weights based on errors calculated for hidden units.</a:t>
            </a:r>
          </a:p>
        </p:txBody>
      </p:sp>
      <p:sp>
        <p:nvSpPr>
          <p:cNvPr id="254981" name="Text Box 5"/>
          <p:cNvSpPr txBox="1">
            <a:spLocks noChangeArrowheads="1"/>
          </p:cNvSpPr>
          <p:nvPr/>
        </p:nvSpPr>
        <p:spPr bwMode="auto">
          <a:xfrm>
            <a:off x="5094288" y="2881313"/>
            <a:ext cx="828675" cy="395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output</a:t>
            </a:r>
          </a:p>
        </p:txBody>
      </p:sp>
      <p:sp>
        <p:nvSpPr>
          <p:cNvPr id="254982" name="Text Box 6"/>
          <p:cNvSpPr txBox="1">
            <a:spLocks noChangeArrowheads="1"/>
          </p:cNvSpPr>
          <p:nvPr/>
        </p:nvSpPr>
        <p:spPr bwMode="auto">
          <a:xfrm>
            <a:off x="5494338" y="3984625"/>
            <a:ext cx="871537" cy="398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hidden</a:t>
            </a:r>
          </a:p>
        </p:txBody>
      </p:sp>
      <p:sp>
        <p:nvSpPr>
          <p:cNvPr id="254983" name="Text Box 7"/>
          <p:cNvSpPr txBox="1">
            <a:spLocks noChangeArrowheads="1"/>
          </p:cNvSpPr>
          <p:nvPr/>
        </p:nvSpPr>
        <p:spPr bwMode="auto">
          <a:xfrm>
            <a:off x="6057900" y="5064125"/>
            <a:ext cx="7032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input</a:t>
            </a:r>
          </a:p>
        </p:txBody>
      </p:sp>
      <p:sp>
        <p:nvSpPr>
          <p:cNvPr id="254984" name="Line 8"/>
          <p:cNvSpPr>
            <a:spLocks noChangeShapeType="1"/>
          </p:cNvSpPr>
          <p:nvPr/>
        </p:nvSpPr>
        <p:spPr bwMode="auto">
          <a:xfrm flipH="1">
            <a:off x="3117850" y="4205288"/>
            <a:ext cx="284163" cy="10906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4985" name="Line 9"/>
          <p:cNvSpPr>
            <a:spLocks noChangeShapeType="1"/>
          </p:cNvSpPr>
          <p:nvPr/>
        </p:nvSpPr>
        <p:spPr bwMode="auto">
          <a:xfrm>
            <a:off x="3425825" y="4232275"/>
            <a:ext cx="379413" cy="1041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4986" name="Line 10"/>
          <p:cNvSpPr>
            <a:spLocks noChangeShapeType="1"/>
          </p:cNvSpPr>
          <p:nvPr/>
        </p:nvSpPr>
        <p:spPr bwMode="auto">
          <a:xfrm>
            <a:off x="3425825" y="4259263"/>
            <a:ext cx="973138" cy="9604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4987" name="Line 11"/>
          <p:cNvSpPr>
            <a:spLocks noChangeShapeType="1"/>
          </p:cNvSpPr>
          <p:nvPr/>
        </p:nvSpPr>
        <p:spPr bwMode="auto">
          <a:xfrm>
            <a:off x="3425825" y="4281488"/>
            <a:ext cx="1682750" cy="10144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4988" name="Line 12"/>
          <p:cNvSpPr>
            <a:spLocks noChangeShapeType="1"/>
          </p:cNvSpPr>
          <p:nvPr/>
        </p:nvSpPr>
        <p:spPr bwMode="auto">
          <a:xfrm>
            <a:off x="3425825" y="4281488"/>
            <a:ext cx="2373313" cy="9382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4989" name="Line 13"/>
          <p:cNvSpPr>
            <a:spLocks noChangeShapeType="1"/>
          </p:cNvSpPr>
          <p:nvPr/>
        </p:nvSpPr>
        <p:spPr bwMode="auto">
          <a:xfrm flipH="1">
            <a:off x="3117850" y="4232275"/>
            <a:ext cx="1162050" cy="1041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4990" name="Line 14"/>
          <p:cNvSpPr>
            <a:spLocks noChangeShapeType="1"/>
          </p:cNvSpPr>
          <p:nvPr/>
        </p:nvSpPr>
        <p:spPr bwMode="auto">
          <a:xfrm flipH="1">
            <a:off x="3781425" y="4205288"/>
            <a:ext cx="522288" cy="1041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4991" name="Line 15"/>
          <p:cNvSpPr>
            <a:spLocks noChangeShapeType="1"/>
          </p:cNvSpPr>
          <p:nvPr/>
        </p:nvSpPr>
        <p:spPr bwMode="auto">
          <a:xfrm>
            <a:off x="4303713" y="4179888"/>
            <a:ext cx="117475" cy="1066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4992" name="Line 16"/>
          <p:cNvSpPr>
            <a:spLocks noChangeShapeType="1"/>
          </p:cNvSpPr>
          <p:nvPr/>
        </p:nvSpPr>
        <p:spPr bwMode="auto">
          <a:xfrm>
            <a:off x="4327525" y="4205288"/>
            <a:ext cx="808038" cy="10683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4993" name="Line 17"/>
          <p:cNvSpPr>
            <a:spLocks noChangeShapeType="1"/>
          </p:cNvSpPr>
          <p:nvPr/>
        </p:nvSpPr>
        <p:spPr bwMode="auto">
          <a:xfrm>
            <a:off x="4327525" y="4281488"/>
            <a:ext cx="1446213" cy="9382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4994" name="Line 18"/>
          <p:cNvSpPr>
            <a:spLocks noChangeShapeType="1"/>
          </p:cNvSpPr>
          <p:nvPr/>
        </p:nvSpPr>
        <p:spPr bwMode="auto">
          <a:xfrm flipH="1">
            <a:off x="3141663" y="4232275"/>
            <a:ext cx="1993900" cy="1041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4995" name="Line 19"/>
          <p:cNvSpPr>
            <a:spLocks noChangeShapeType="1"/>
          </p:cNvSpPr>
          <p:nvPr/>
        </p:nvSpPr>
        <p:spPr bwMode="auto">
          <a:xfrm flipH="1">
            <a:off x="3781425" y="4232275"/>
            <a:ext cx="1327150" cy="1041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4996" name="Line 20"/>
          <p:cNvSpPr>
            <a:spLocks noChangeShapeType="1"/>
          </p:cNvSpPr>
          <p:nvPr/>
        </p:nvSpPr>
        <p:spPr bwMode="auto">
          <a:xfrm flipH="1">
            <a:off x="4445000" y="4259263"/>
            <a:ext cx="714375" cy="9874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4997" name="Line 21"/>
          <p:cNvSpPr>
            <a:spLocks noChangeShapeType="1"/>
          </p:cNvSpPr>
          <p:nvPr/>
        </p:nvSpPr>
        <p:spPr bwMode="auto">
          <a:xfrm flipH="1">
            <a:off x="5062538" y="4179888"/>
            <a:ext cx="142875" cy="1066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4998" name="Line 22"/>
          <p:cNvSpPr>
            <a:spLocks noChangeShapeType="1"/>
          </p:cNvSpPr>
          <p:nvPr/>
        </p:nvSpPr>
        <p:spPr bwMode="auto">
          <a:xfrm>
            <a:off x="5181600" y="4205288"/>
            <a:ext cx="546100" cy="9921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4999" name="Line 23"/>
          <p:cNvSpPr>
            <a:spLocks noChangeShapeType="1"/>
          </p:cNvSpPr>
          <p:nvPr/>
        </p:nvSpPr>
        <p:spPr bwMode="auto">
          <a:xfrm>
            <a:off x="3948113" y="3165475"/>
            <a:ext cx="355600" cy="10398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5000" name="Line 24"/>
          <p:cNvSpPr>
            <a:spLocks noChangeShapeType="1"/>
          </p:cNvSpPr>
          <p:nvPr/>
        </p:nvSpPr>
        <p:spPr bwMode="auto">
          <a:xfrm>
            <a:off x="3924300" y="3165475"/>
            <a:ext cx="1257300" cy="9921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5001" name="Line 25"/>
          <p:cNvSpPr>
            <a:spLocks noChangeShapeType="1"/>
          </p:cNvSpPr>
          <p:nvPr/>
        </p:nvSpPr>
        <p:spPr bwMode="auto">
          <a:xfrm flipH="1">
            <a:off x="3425825" y="3190875"/>
            <a:ext cx="1303338" cy="10144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5002" name="Line 26"/>
          <p:cNvSpPr>
            <a:spLocks noChangeShapeType="1"/>
          </p:cNvSpPr>
          <p:nvPr/>
        </p:nvSpPr>
        <p:spPr bwMode="auto">
          <a:xfrm flipH="1">
            <a:off x="4279900" y="3190875"/>
            <a:ext cx="449263" cy="9667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5003" name="Line 27"/>
          <p:cNvSpPr>
            <a:spLocks noChangeShapeType="1"/>
          </p:cNvSpPr>
          <p:nvPr/>
        </p:nvSpPr>
        <p:spPr bwMode="auto">
          <a:xfrm>
            <a:off x="4754563" y="3216275"/>
            <a:ext cx="404812" cy="914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5009" name="Oval 33"/>
          <p:cNvSpPr>
            <a:spLocks noChangeArrowheads="1"/>
          </p:cNvSpPr>
          <p:nvPr/>
        </p:nvSpPr>
        <p:spPr bwMode="auto">
          <a:xfrm>
            <a:off x="3336925" y="4079875"/>
            <a:ext cx="212725" cy="2540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5010" name="Oval 34"/>
          <p:cNvSpPr>
            <a:spLocks noChangeArrowheads="1"/>
          </p:cNvSpPr>
          <p:nvPr/>
        </p:nvSpPr>
        <p:spPr bwMode="auto">
          <a:xfrm>
            <a:off x="3336925" y="4067175"/>
            <a:ext cx="212725" cy="254000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5011" name="Oval 35"/>
          <p:cNvSpPr>
            <a:spLocks noChangeArrowheads="1"/>
          </p:cNvSpPr>
          <p:nvPr/>
        </p:nvSpPr>
        <p:spPr bwMode="auto">
          <a:xfrm>
            <a:off x="4203700" y="4079875"/>
            <a:ext cx="214313" cy="2540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5012" name="Oval 36"/>
          <p:cNvSpPr>
            <a:spLocks noChangeArrowheads="1"/>
          </p:cNvSpPr>
          <p:nvPr/>
        </p:nvSpPr>
        <p:spPr bwMode="auto">
          <a:xfrm>
            <a:off x="5072063" y="4079875"/>
            <a:ext cx="214312" cy="2540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5013" name="Text Box 37"/>
          <p:cNvSpPr txBox="1">
            <a:spLocks noChangeArrowheads="1"/>
          </p:cNvSpPr>
          <p:nvPr/>
        </p:nvSpPr>
        <p:spPr bwMode="auto">
          <a:xfrm>
            <a:off x="823913" y="3744913"/>
            <a:ext cx="1809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5017" name="Oval 41"/>
          <p:cNvSpPr>
            <a:spLocks noChangeArrowheads="1"/>
          </p:cNvSpPr>
          <p:nvPr/>
        </p:nvSpPr>
        <p:spPr bwMode="auto">
          <a:xfrm>
            <a:off x="4673600" y="3051175"/>
            <a:ext cx="214313" cy="2540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5018" name="Oval 42"/>
          <p:cNvSpPr>
            <a:spLocks noChangeArrowheads="1"/>
          </p:cNvSpPr>
          <p:nvPr/>
        </p:nvSpPr>
        <p:spPr bwMode="auto">
          <a:xfrm>
            <a:off x="3830638" y="3051175"/>
            <a:ext cx="212725" cy="2540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5021" name="Line 45"/>
          <p:cNvSpPr>
            <a:spLocks noChangeShapeType="1"/>
          </p:cNvSpPr>
          <p:nvPr/>
        </p:nvSpPr>
        <p:spPr bwMode="auto">
          <a:xfrm flipH="1">
            <a:off x="3124200" y="4211638"/>
            <a:ext cx="284163" cy="109061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5022" name="Line 46"/>
          <p:cNvSpPr>
            <a:spLocks noChangeShapeType="1"/>
          </p:cNvSpPr>
          <p:nvPr/>
        </p:nvSpPr>
        <p:spPr bwMode="auto">
          <a:xfrm>
            <a:off x="3419475" y="4264025"/>
            <a:ext cx="379413" cy="10414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5004" name="Oval 28"/>
          <p:cNvSpPr>
            <a:spLocks noChangeArrowheads="1"/>
          </p:cNvSpPr>
          <p:nvPr/>
        </p:nvSpPr>
        <p:spPr bwMode="auto">
          <a:xfrm>
            <a:off x="3049588" y="5183188"/>
            <a:ext cx="214312" cy="255587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5005" name="Oval 29"/>
          <p:cNvSpPr>
            <a:spLocks noChangeArrowheads="1"/>
          </p:cNvSpPr>
          <p:nvPr/>
        </p:nvSpPr>
        <p:spPr bwMode="auto">
          <a:xfrm>
            <a:off x="3703638" y="5172075"/>
            <a:ext cx="214312" cy="2540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5023" name="Line 47"/>
          <p:cNvSpPr>
            <a:spLocks noChangeShapeType="1"/>
          </p:cNvSpPr>
          <p:nvPr/>
        </p:nvSpPr>
        <p:spPr bwMode="auto">
          <a:xfrm>
            <a:off x="3479800" y="4313238"/>
            <a:ext cx="973138" cy="96043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5024" name="Line 48"/>
          <p:cNvSpPr>
            <a:spLocks noChangeShapeType="1"/>
          </p:cNvSpPr>
          <p:nvPr/>
        </p:nvSpPr>
        <p:spPr bwMode="auto">
          <a:xfrm>
            <a:off x="3468688" y="4298950"/>
            <a:ext cx="1682750" cy="101441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5025" name="Line 49"/>
          <p:cNvSpPr>
            <a:spLocks noChangeShapeType="1"/>
          </p:cNvSpPr>
          <p:nvPr/>
        </p:nvSpPr>
        <p:spPr bwMode="auto">
          <a:xfrm>
            <a:off x="3468688" y="4311650"/>
            <a:ext cx="2373312" cy="93821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5008" name="Oval 32"/>
          <p:cNvSpPr>
            <a:spLocks noChangeArrowheads="1"/>
          </p:cNvSpPr>
          <p:nvPr/>
        </p:nvSpPr>
        <p:spPr bwMode="auto">
          <a:xfrm>
            <a:off x="5667375" y="5130800"/>
            <a:ext cx="214313" cy="25558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5007" name="Oval 31"/>
          <p:cNvSpPr>
            <a:spLocks noChangeArrowheads="1"/>
          </p:cNvSpPr>
          <p:nvPr/>
        </p:nvSpPr>
        <p:spPr bwMode="auto">
          <a:xfrm>
            <a:off x="5013325" y="5145088"/>
            <a:ext cx="214313" cy="255587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5006" name="Oval 30"/>
          <p:cNvSpPr>
            <a:spLocks noChangeArrowheads="1"/>
          </p:cNvSpPr>
          <p:nvPr/>
        </p:nvSpPr>
        <p:spPr bwMode="auto">
          <a:xfrm>
            <a:off x="4359275" y="5157788"/>
            <a:ext cx="212725" cy="2540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5027" name="Text Box 51"/>
          <p:cNvSpPr txBox="1">
            <a:spLocks noChangeArrowheads="1"/>
          </p:cNvSpPr>
          <p:nvPr/>
        </p:nvSpPr>
        <p:spPr bwMode="auto">
          <a:xfrm>
            <a:off x="755576" y="3968229"/>
            <a:ext cx="2323370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Update weights into </a:t>
            </a:r>
            <a:r>
              <a:rPr kumimoji="0" lang="en-US" altLang="en-US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  <a:endParaRPr kumimoji="0" lang="en-US" altLang="en-US" sz="18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884368" y="2887776"/>
            <a:ext cx="300082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j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</a:p>
        </p:txBody>
      </p:sp>
      <p:sp>
        <p:nvSpPr>
          <p:cNvPr id="54" name="Rectangle 53"/>
          <p:cNvSpPr/>
          <p:nvPr/>
        </p:nvSpPr>
        <p:spPr bwMode="auto">
          <a:xfrm>
            <a:off x="1234275" y="4693491"/>
            <a:ext cx="161509" cy="161509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0" y="6604084"/>
            <a:ext cx="33746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Adapted from Ray Mooney, equations from Chris Bishop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CACD369-70CB-5549-B76B-C8CE2AB67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4112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5021" grpId="0" animBg="1"/>
      <p:bldP spid="255022" grpId="0" animBg="1"/>
      <p:bldP spid="255023" grpId="0" animBg="1"/>
      <p:bldP spid="255024" grpId="0" animBg="1"/>
      <p:bldP spid="255025" grpId="0" animBg="1"/>
      <p:bldP spid="255027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5481366"/>
            <a:ext cx="9144000" cy="359073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57480">
              <a:spcBef>
                <a:spcPts val="400"/>
              </a:spcBef>
              <a:tabLst>
                <a:tab pos="5411470" algn="l"/>
                <a:tab pos="7621270" algn="l"/>
              </a:tabLst>
            </a:pP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Fei-Fei Li &amp; Andrej Karpathy &amp;</a:t>
            </a:r>
            <a:r>
              <a:rPr spc="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Justin</a:t>
            </a:r>
            <a:r>
              <a:rPr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Johnson	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sz="3000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3000" baseline="-4166" dirty="0">
                <a:solidFill>
                  <a:srgbClr val="FFFFFF"/>
                </a:solidFill>
                <a:latin typeface="Arial"/>
                <a:cs typeface="Arial"/>
              </a:rPr>
              <a:t> -	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13 Jan</a:t>
            </a:r>
            <a:r>
              <a:rPr sz="3000" spc="-97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2016</a:t>
            </a:r>
            <a:endParaRPr sz="3000" baseline="-4166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0550" y="1165875"/>
            <a:ext cx="2847969" cy="4381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505940" y="1011924"/>
            <a:ext cx="4510690" cy="205672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501191" y="1007163"/>
            <a:ext cx="4520565" cy="2066289"/>
          </a:xfrm>
          <a:custGeom>
            <a:avLst/>
            <a:gdLst/>
            <a:ahLst/>
            <a:cxnLst/>
            <a:rect l="l" t="t" r="r" b="b"/>
            <a:pathLst>
              <a:path w="4520565" h="2066289">
                <a:moveTo>
                  <a:pt x="0" y="0"/>
                </a:moveTo>
                <a:lnTo>
                  <a:pt x="4520215" y="0"/>
                </a:lnTo>
                <a:lnTo>
                  <a:pt x="4520215" y="2066245"/>
                </a:lnTo>
                <a:lnTo>
                  <a:pt x="0" y="2066245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702041" y="1313250"/>
            <a:ext cx="375285" cy="263525"/>
          </a:xfrm>
          <a:custGeom>
            <a:avLst/>
            <a:gdLst/>
            <a:ahLst/>
            <a:cxnLst/>
            <a:rect l="l" t="t" r="r" b="b"/>
            <a:pathLst>
              <a:path w="375285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774666" y="2072048"/>
            <a:ext cx="375285" cy="263525"/>
          </a:xfrm>
          <a:custGeom>
            <a:avLst/>
            <a:gdLst/>
            <a:ahLst/>
            <a:cxnLst/>
            <a:rect l="l" t="t" r="r" b="b"/>
            <a:pathLst>
              <a:path w="375285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642537" y="1713799"/>
            <a:ext cx="375285" cy="263525"/>
          </a:xfrm>
          <a:custGeom>
            <a:avLst/>
            <a:gdLst/>
            <a:ahLst/>
            <a:cxnLst/>
            <a:rect l="l" t="t" r="r" b="b"/>
            <a:pathLst>
              <a:path w="375284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470559" y="2257173"/>
            <a:ext cx="375285" cy="263525"/>
          </a:xfrm>
          <a:custGeom>
            <a:avLst/>
            <a:gdLst/>
            <a:ahLst/>
            <a:cxnLst/>
            <a:rect l="l" t="t" r="r" b="b"/>
            <a:pathLst>
              <a:path w="375284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702041" y="2869171"/>
            <a:ext cx="375285" cy="158115"/>
          </a:xfrm>
          <a:custGeom>
            <a:avLst/>
            <a:gdLst/>
            <a:ahLst/>
            <a:cxnLst/>
            <a:rect l="l" t="t" r="r" b="b"/>
            <a:pathLst>
              <a:path w="375285" h="158114">
                <a:moveTo>
                  <a:pt x="0" y="0"/>
                </a:moveTo>
                <a:lnTo>
                  <a:pt x="374999" y="0"/>
                </a:lnTo>
                <a:lnTo>
                  <a:pt x="374999" y="158099"/>
                </a:lnTo>
                <a:lnTo>
                  <a:pt x="0" y="1580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331950" y="1711930"/>
            <a:ext cx="316420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spc="-5" dirty="0">
                <a:solidFill>
                  <a:srgbClr val="38751C"/>
                </a:solidFill>
              </a:rPr>
              <a:t>e.g. </a:t>
            </a:r>
            <a:r>
              <a:rPr sz="2400" dirty="0">
                <a:solidFill>
                  <a:srgbClr val="38751C"/>
                </a:solidFill>
              </a:rPr>
              <a:t>x </a:t>
            </a:r>
            <a:r>
              <a:rPr sz="2400" spc="-5" dirty="0">
                <a:solidFill>
                  <a:srgbClr val="38751C"/>
                </a:solidFill>
              </a:rPr>
              <a:t>= -2, </a:t>
            </a:r>
            <a:r>
              <a:rPr sz="2400" dirty="0">
                <a:solidFill>
                  <a:srgbClr val="38751C"/>
                </a:solidFill>
              </a:rPr>
              <a:t>y </a:t>
            </a:r>
            <a:r>
              <a:rPr sz="2400" spc="-5" dirty="0">
                <a:solidFill>
                  <a:srgbClr val="38751C"/>
                </a:solidFill>
              </a:rPr>
              <a:t>= 5, </a:t>
            </a:r>
            <a:r>
              <a:rPr sz="2400" dirty="0">
                <a:solidFill>
                  <a:srgbClr val="38751C"/>
                </a:solidFill>
              </a:rPr>
              <a:t>z </a:t>
            </a:r>
            <a:r>
              <a:rPr sz="2400" spc="-5" dirty="0">
                <a:solidFill>
                  <a:srgbClr val="38751C"/>
                </a:solidFill>
              </a:rPr>
              <a:t>=</a:t>
            </a:r>
            <a:r>
              <a:rPr sz="2400" spc="-70" dirty="0">
                <a:solidFill>
                  <a:srgbClr val="38751C"/>
                </a:solidFill>
              </a:rPr>
              <a:t> </a:t>
            </a:r>
            <a:r>
              <a:rPr sz="2400" spc="-5" dirty="0">
                <a:solidFill>
                  <a:srgbClr val="38751C"/>
                </a:solidFill>
              </a:rPr>
              <a:t>-4</a:t>
            </a:r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6434288" y="1374999"/>
            <a:ext cx="244475" cy="263525"/>
          </a:xfrm>
          <a:custGeom>
            <a:avLst/>
            <a:gdLst/>
            <a:ahLst/>
            <a:cxnLst/>
            <a:rect l="l" t="t" r="r" b="b"/>
            <a:pathLst>
              <a:path w="244475" h="263525">
                <a:moveTo>
                  <a:pt x="0" y="0"/>
                </a:moveTo>
                <a:lnTo>
                  <a:pt x="244199" y="0"/>
                </a:lnTo>
                <a:lnTo>
                  <a:pt x="2441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99118" y="5586262"/>
            <a:ext cx="1579880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90"/>
              </a:lnSpc>
            </a:pPr>
            <a:r>
              <a:rPr sz="3000" spc="-7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3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3000" spc="-225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endParaRPr sz="20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5D253A-4C2F-4660-BEFA-BFFAF075816A}"/>
              </a:ext>
            </a:extLst>
          </p:cNvPr>
          <p:cNvSpPr txBox="1"/>
          <p:nvPr/>
        </p:nvSpPr>
        <p:spPr>
          <a:xfrm>
            <a:off x="0" y="6604084"/>
            <a:ext cx="10727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Andrej </a:t>
            </a:r>
            <a:r>
              <a:rPr lang="en-US" sz="1050" dirty="0" err="1"/>
              <a:t>Karpathy</a:t>
            </a:r>
            <a:endParaRPr lang="en-US" sz="105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940BB52-8BB2-0844-9C97-B363191E389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066049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5481366"/>
            <a:ext cx="9144000" cy="359073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57480">
              <a:spcBef>
                <a:spcPts val="400"/>
              </a:spcBef>
              <a:tabLst>
                <a:tab pos="5411470" algn="l"/>
                <a:tab pos="7621270" algn="l"/>
              </a:tabLst>
            </a:pP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Fei-Fei Li &amp; Andrej Karpathy &amp;</a:t>
            </a:r>
            <a:r>
              <a:rPr spc="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Justin</a:t>
            </a:r>
            <a:r>
              <a:rPr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Johnson	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sz="3000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3000" baseline="-4166" dirty="0">
                <a:solidFill>
                  <a:srgbClr val="FFFFFF"/>
                </a:solidFill>
                <a:latin typeface="Arial"/>
                <a:cs typeface="Arial"/>
              </a:rPr>
              <a:t> -	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13 Jan</a:t>
            </a:r>
            <a:r>
              <a:rPr sz="3000" spc="-97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2016</a:t>
            </a:r>
            <a:endParaRPr sz="3000" baseline="-4166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0600" y="3355395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5">
                <a:moveTo>
                  <a:pt x="0" y="0"/>
                </a:moveTo>
                <a:lnTo>
                  <a:pt x="4166091" y="0"/>
                </a:lnTo>
                <a:lnTo>
                  <a:pt x="4166091" y="785398"/>
                </a:lnTo>
                <a:lnTo>
                  <a:pt x="0" y="7853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0100" y="2447822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4">
                <a:moveTo>
                  <a:pt x="0" y="0"/>
                </a:moveTo>
                <a:lnTo>
                  <a:pt x="4166091" y="0"/>
                </a:lnTo>
                <a:lnTo>
                  <a:pt x="4166091" y="785398"/>
                </a:lnTo>
                <a:lnTo>
                  <a:pt x="0" y="7853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90550" y="1165875"/>
            <a:ext cx="2847969" cy="4381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05940" y="1011924"/>
            <a:ext cx="4510690" cy="20567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501191" y="1007163"/>
            <a:ext cx="4520565" cy="2066289"/>
          </a:xfrm>
          <a:custGeom>
            <a:avLst/>
            <a:gdLst/>
            <a:ahLst/>
            <a:cxnLst/>
            <a:rect l="l" t="t" r="r" b="b"/>
            <a:pathLst>
              <a:path w="4520565" h="2066289">
                <a:moveTo>
                  <a:pt x="0" y="0"/>
                </a:moveTo>
                <a:lnTo>
                  <a:pt x="4520215" y="0"/>
                </a:lnTo>
                <a:lnTo>
                  <a:pt x="4520215" y="2066245"/>
                </a:lnTo>
                <a:lnTo>
                  <a:pt x="0" y="2066245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702041" y="1313250"/>
            <a:ext cx="375285" cy="263525"/>
          </a:xfrm>
          <a:custGeom>
            <a:avLst/>
            <a:gdLst/>
            <a:ahLst/>
            <a:cxnLst/>
            <a:rect l="l" t="t" r="r" b="b"/>
            <a:pathLst>
              <a:path w="375285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774666" y="2072048"/>
            <a:ext cx="375285" cy="263525"/>
          </a:xfrm>
          <a:custGeom>
            <a:avLst/>
            <a:gdLst/>
            <a:ahLst/>
            <a:cxnLst/>
            <a:rect l="l" t="t" r="r" b="b"/>
            <a:pathLst>
              <a:path w="375285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642537" y="1713799"/>
            <a:ext cx="375285" cy="263525"/>
          </a:xfrm>
          <a:custGeom>
            <a:avLst/>
            <a:gdLst/>
            <a:ahLst/>
            <a:cxnLst/>
            <a:rect l="l" t="t" r="r" b="b"/>
            <a:pathLst>
              <a:path w="375284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470559" y="2257173"/>
            <a:ext cx="375285" cy="263525"/>
          </a:xfrm>
          <a:custGeom>
            <a:avLst/>
            <a:gdLst/>
            <a:ahLst/>
            <a:cxnLst/>
            <a:rect l="l" t="t" r="r" b="b"/>
            <a:pathLst>
              <a:path w="375284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702041" y="2869171"/>
            <a:ext cx="375285" cy="158115"/>
          </a:xfrm>
          <a:custGeom>
            <a:avLst/>
            <a:gdLst/>
            <a:ahLst/>
            <a:cxnLst/>
            <a:rect l="l" t="t" r="r" b="b"/>
            <a:pathLst>
              <a:path w="375285" h="158114">
                <a:moveTo>
                  <a:pt x="0" y="0"/>
                </a:moveTo>
                <a:lnTo>
                  <a:pt x="374999" y="0"/>
                </a:lnTo>
                <a:lnTo>
                  <a:pt x="374999" y="158099"/>
                </a:lnTo>
                <a:lnTo>
                  <a:pt x="0" y="1580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331950" y="1711930"/>
            <a:ext cx="316420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spc="-5" dirty="0">
                <a:solidFill>
                  <a:srgbClr val="38751C"/>
                </a:solidFill>
              </a:rPr>
              <a:t>e.g. </a:t>
            </a:r>
            <a:r>
              <a:rPr sz="2400" dirty="0">
                <a:solidFill>
                  <a:srgbClr val="38751C"/>
                </a:solidFill>
              </a:rPr>
              <a:t>x </a:t>
            </a:r>
            <a:r>
              <a:rPr sz="2400" spc="-5" dirty="0">
                <a:solidFill>
                  <a:srgbClr val="38751C"/>
                </a:solidFill>
              </a:rPr>
              <a:t>= -2, </a:t>
            </a:r>
            <a:r>
              <a:rPr sz="2400" dirty="0">
                <a:solidFill>
                  <a:srgbClr val="38751C"/>
                </a:solidFill>
              </a:rPr>
              <a:t>y </a:t>
            </a:r>
            <a:r>
              <a:rPr sz="2400" spc="-5" dirty="0">
                <a:solidFill>
                  <a:srgbClr val="38751C"/>
                </a:solidFill>
              </a:rPr>
              <a:t>= 5, </a:t>
            </a:r>
            <a:r>
              <a:rPr sz="2400" dirty="0">
                <a:solidFill>
                  <a:srgbClr val="38751C"/>
                </a:solidFill>
              </a:rPr>
              <a:t>z </a:t>
            </a:r>
            <a:r>
              <a:rPr sz="2400" spc="-5" dirty="0">
                <a:solidFill>
                  <a:srgbClr val="38751C"/>
                </a:solidFill>
              </a:rPr>
              <a:t>=</a:t>
            </a:r>
            <a:r>
              <a:rPr sz="2400" spc="-70" dirty="0">
                <a:solidFill>
                  <a:srgbClr val="38751C"/>
                </a:solidFill>
              </a:rPr>
              <a:t> </a:t>
            </a:r>
            <a:r>
              <a:rPr sz="2400" spc="-5" dirty="0">
                <a:solidFill>
                  <a:srgbClr val="38751C"/>
                </a:solidFill>
              </a:rPr>
              <a:t>-4</a:t>
            </a:r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207187" y="2626996"/>
            <a:ext cx="1409697" cy="3905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53000" y="3520870"/>
            <a:ext cx="942973" cy="4571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000570" y="3454194"/>
            <a:ext cx="2047870" cy="5905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971033" y="2512697"/>
            <a:ext cx="2085958" cy="61912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3300" y="4609120"/>
            <a:ext cx="82105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Want: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528596" y="4478667"/>
            <a:ext cx="1609916" cy="61919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399118" y="5586262"/>
            <a:ext cx="1579880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90"/>
              </a:lnSpc>
            </a:pPr>
            <a:r>
              <a:rPr sz="3000" spc="-7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3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3000" spc="-225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11</a:t>
            </a:r>
            <a:endParaRPr sz="20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9730C2-54F5-4F1A-A399-AE9CF0C57D81}"/>
              </a:ext>
            </a:extLst>
          </p:cNvPr>
          <p:cNvSpPr txBox="1"/>
          <p:nvPr/>
        </p:nvSpPr>
        <p:spPr>
          <a:xfrm>
            <a:off x="0" y="6604084"/>
            <a:ext cx="10727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Andrej </a:t>
            </a:r>
            <a:r>
              <a:rPr lang="en-US" sz="1050" dirty="0" err="1"/>
              <a:t>Karpathy</a:t>
            </a:r>
            <a:endParaRPr lang="en-US" sz="105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D6BF255-88A3-C545-8651-F817301ECCF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517315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5481366"/>
            <a:ext cx="9144000" cy="359073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57480">
              <a:spcBef>
                <a:spcPts val="400"/>
              </a:spcBef>
              <a:tabLst>
                <a:tab pos="5411470" algn="l"/>
                <a:tab pos="7621270" algn="l"/>
              </a:tabLst>
            </a:pP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Fei-Fei Li &amp; Andrej Karpathy &amp;</a:t>
            </a:r>
            <a:r>
              <a:rPr spc="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Justin</a:t>
            </a:r>
            <a:r>
              <a:rPr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Johnson	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sz="3000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3000" baseline="-4166" dirty="0">
                <a:solidFill>
                  <a:srgbClr val="FFFFFF"/>
                </a:solidFill>
                <a:latin typeface="Arial"/>
                <a:cs typeface="Arial"/>
              </a:rPr>
              <a:t> -	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13 Jan</a:t>
            </a:r>
            <a:r>
              <a:rPr sz="3000" spc="-97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2016</a:t>
            </a:r>
            <a:endParaRPr sz="3000" baseline="-4166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0600" y="3355395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5">
                <a:moveTo>
                  <a:pt x="0" y="0"/>
                </a:moveTo>
                <a:lnTo>
                  <a:pt x="4166091" y="0"/>
                </a:lnTo>
                <a:lnTo>
                  <a:pt x="4166091" y="785398"/>
                </a:lnTo>
                <a:lnTo>
                  <a:pt x="0" y="7853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0100" y="2447822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4">
                <a:moveTo>
                  <a:pt x="0" y="0"/>
                </a:moveTo>
                <a:lnTo>
                  <a:pt x="4166091" y="0"/>
                </a:lnTo>
                <a:lnTo>
                  <a:pt x="4166091" y="785398"/>
                </a:lnTo>
                <a:lnTo>
                  <a:pt x="0" y="7853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90550" y="1165875"/>
            <a:ext cx="2847969" cy="4381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05940" y="1011924"/>
            <a:ext cx="4510690" cy="20567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501191" y="1007163"/>
            <a:ext cx="4520565" cy="2066289"/>
          </a:xfrm>
          <a:custGeom>
            <a:avLst/>
            <a:gdLst/>
            <a:ahLst/>
            <a:cxnLst/>
            <a:rect l="l" t="t" r="r" b="b"/>
            <a:pathLst>
              <a:path w="4520565" h="2066289">
                <a:moveTo>
                  <a:pt x="0" y="0"/>
                </a:moveTo>
                <a:lnTo>
                  <a:pt x="4520215" y="0"/>
                </a:lnTo>
                <a:lnTo>
                  <a:pt x="4520215" y="2066245"/>
                </a:lnTo>
                <a:lnTo>
                  <a:pt x="0" y="2066245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702041" y="1313250"/>
            <a:ext cx="375285" cy="263525"/>
          </a:xfrm>
          <a:custGeom>
            <a:avLst/>
            <a:gdLst/>
            <a:ahLst/>
            <a:cxnLst/>
            <a:rect l="l" t="t" r="r" b="b"/>
            <a:pathLst>
              <a:path w="375285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774666" y="2072048"/>
            <a:ext cx="375285" cy="263525"/>
          </a:xfrm>
          <a:custGeom>
            <a:avLst/>
            <a:gdLst/>
            <a:ahLst/>
            <a:cxnLst/>
            <a:rect l="l" t="t" r="r" b="b"/>
            <a:pathLst>
              <a:path w="375285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642537" y="1713799"/>
            <a:ext cx="375285" cy="263525"/>
          </a:xfrm>
          <a:custGeom>
            <a:avLst/>
            <a:gdLst/>
            <a:ahLst/>
            <a:cxnLst/>
            <a:rect l="l" t="t" r="r" b="b"/>
            <a:pathLst>
              <a:path w="375284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470559" y="2257173"/>
            <a:ext cx="375285" cy="263525"/>
          </a:xfrm>
          <a:custGeom>
            <a:avLst/>
            <a:gdLst/>
            <a:ahLst/>
            <a:cxnLst/>
            <a:rect l="l" t="t" r="r" b="b"/>
            <a:pathLst>
              <a:path w="375284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702041" y="2869171"/>
            <a:ext cx="375285" cy="158115"/>
          </a:xfrm>
          <a:custGeom>
            <a:avLst/>
            <a:gdLst/>
            <a:ahLst/>
            <a:cxnLst/>
            <a:rect l="l" t="t" r="r" b="b"/>
            <a:pathLst>
              <a:path w="375285" h="158114">
                <a:moveTo>
                  <a:pt x="0" y="0"/>
                </a:moveTo>
                <a:lnTo>
                  <a:pt x="374999" y="0"/>
                </a:lnTo>
                <a:lnTo>
                  <a:pt x="374999" y="158099"/>
                </a:lnTo>
                <a:lnTo>
                  <a:pt x="0" y="1580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331950" y="1711930"/>
            <a:ext cx="316420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spc="-5" dirty="0">
                <a:solidFill>
                  <a:srgbClr val="38751C"/>
                </a:solidFill>
              </a:rPr>
              <a:t>e.g. </a:t>
            </a:r>
            <a:r>
              <a:rPr sz="2400" dirty="0">
                <a:solidFill>
                  <a:srgbClr val="38751C"/>
                </a:solidFill>
              </a:rPr>
              <a:t>x </a:t>
            </a:r>
            <a:r>
              <a:rPr sz="2400" spc="-5" dirty="0">
                <a:solidFill>
                  <a:srgbClr val="38751C"/>
                </a:solidFill>
              </a:rPr>
              <a:t>= -2, </a:t>
            </a:r>
            <a:r>
              <a:rPr sz="2400" dirty="0">
                <a:solidFill>
                  <a:srgbClr val="38751C"/>
                </a:solidFill>
              </a:rPr>
              <a:t>y </a:t>
            </a:r>
            <a:r>
              <a:rPr sz="2400" spc="-5" dirty="0">
                <a:solidFill>
                  <a:srgbClr val="38751C"/>
                </a:solidFill>
              </a:rPr>
              <a:t>= 5, </a:t>
            </a:r>
            <a:r>
              <a:rPr sz="2400" dirty="0">
                <a:solidFill>
                  <a:srgbClr val="38751C"/>
                </a:solidFill>
              </a:rPr>
              <a:t>z </a:t>
            </a:r>
            <a:r>
              <a:rPr sz="2400" spc="-5" dirty="0">
                <a:solidFill>
                  <a:srgbClr val="38751C"/>
                </a:solidFill>
              </a:rPr>
              <a:t>=</a:t>
            </a:r>
            <a:r>
              <a:rPr sz="2400" spc="-70" dirty="0">
                <a:solidFill>
                  <a:srgbClr val="38751C"/>
                </a:solidFill>
              </a:rPr>
              <a:t> </a:t>
            </a:r>
            <a:r>
              <a:rPr sz="2400" spc="-5" dirty="0">
                <a:solidFill>
                  <a:srgbClr val="38751C"/>
                </a:solidFill>
              </a:rPr>
              <a:t>-4</a:t>
            </a:r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207187" y="2626996"/>
            <a:ext cx="1409697" cy="3905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53000" y="3520870"/>
            <a:ext cx="942973" cy="4571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000570" y="3454194"/>
            <a:ext cx="2047870" cy="5905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971033" y="2512697"/>
            <a:ext cx="2085958" cy="61912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3300" y="4609120"/>
            <a:ext cx="82105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Want: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528596" y="4478667"/>
            <a:ext cx="1609916" cy="61919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282633" y="3293370"/>
            <a:ext cx="346946" cy="59054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273109" y="3283845"/>
            <a:ext cx="366395" cy="609600"/>
          </a:xfrm>
          <a:custGeom>
            <a:avLst/>
            <a:gdLst/>
            <a:ahLst/>
            <a:cxnLst/>
            <a:rect l="l" t="t" r="r" b="b"/>
            <a:pathLst>
              <a:path w="366395" h="609600">
                <a:moveTo>
                  <a:pt x="0" y="0"/>
                </a:moveTo>
                <a:lnTo>
                  <a:pt x="365999" y="0"/>
                </a:lnTo>
                <a:lnTo>
                  <a:pt x="365999" y="609598"/>
                </a:lnTo>
                <a:lnTo>
                  <a:pt x="0" y="6095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456108" y="2631159"/>
            <a:ext cx="173355" cy="662305"/>
          </a:xfrm>
          <a:custGeom>
            <a:avLst/>
            <a:gdLst/>
            <a:ahLst/>
            <a:cxnLst/>
            <a:rect l="l" t="t" r="r" b="b"/>
            <a:pathLst>
              <a:path w="173354" h="662305">
                <a:moveTo>
                  <a:pt x="0" y="662211"/>
                </a:moveTo>
                <a:lnTo>
                  <a:pt x="172999" y="0"/>
                </a:lnTo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598657" y="2547517"/>
            <a:ext cx="60960" cy="92075"/>
          </a:xfrm>
          <a:custGeom>
            <a:avLst/>
            <a:gdLst/>
            <a:ahLst/>
            <a:cxnLst/>
            <a:rect l="l" t="t" r="r" b="b"/>
            <a:pathLst>
              <a:path w="60959" h="92075">
                <a:moveTo>
                  <a:pt x="60899" y="91597"/>
                </a:moveTo>
                <a:lnTo>
                  <a:pt x="52299" y="0"/>
                </a:lnTo>
                <a:lnTo>
                  <a:pt x="0" y="75689"/>
                </a:lnTo>
                <a:lnTo>
                  <a:pt x="60899" y="91597"/>
                </a:lnTo>
                <a:close/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399118" y="5586262"/>
            <a:ext cx="1579880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90"/>
              </a:lnSpc>
            </a:pPr>
            <a:r>
              <a:rPr sz="3000" spc="-7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3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3000" spc="-225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12</a:t>
            </a:r>
            <a:endParaRPr sz="20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3D71C8E-5C12-4189-AE17-F4339B491FB6}"/>
              </a:ext>
            </a:extLst>
          </p:cNvPr>
          <p:cNvSpPr txBox="1"/>
          <p:nvPr/>
        </p:nvSpPr>
        <p:spPr>
          <a:xfrm>
            <a:off x="0" y="6604084"/>
            <a:ext cx="10727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Andrej </a:t>
            </a:r>
            <a:r>
              <a:rPr lang="en-US" sz="1050" dirty="0" err="1"/>
              <a:t>Karpathy</a:t>
            </a:r>
            <a:endParaRPr lang="en-US" sz="105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D248C7D-1662-274A-8710-45DAE2780D9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792799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5481366"/>
            <a:ext cx="9144000" cy="359073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57480">
              <a:spcBef>
                <a:spcPts val="400"/>
              </a:spcBef>
              <a:tabLst>
                <a:tab pos="5411470" algn="l"/>
                <a:tab pos="7621270" algn="l"/>
              </a:tabLst>
            </a:pP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Fei-Fei Li &amp; Andrej Karpathy &amp;</a:t>
            </a:r>
            <a:r>
              <a:rPr spc="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Justin</a:t>
            </a:r>
            <a:r>
              <a:rPr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Johnson	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sz="3000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3000" baseline="-4166" dirty="0">
                <a:solidFill>
                  <a:srgbClr val="FFFFFF"/>
                </a:solidFill>
                <a:latin typeface="Arial"/>
                <a:cs typeface="Arial"/>
              </a:rPr>
              <a:t> -	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13 Jan</a:t>
            </a:r>
            <a:r>
              <a:rPr sz="3000" spc="-97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2016</a:t>
            </a:r>
            <a:endParaRPr sz="3000" baseline="-4166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0600" y="3355395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5">
                <a:moveTo>
                  <a:pt x="0" y="0"/>
                </a:moveTo>
                <a:lnTo>
                  <a:pt x="4166091" y="0"/>
                </a:lnTo>
                <a:lnTo>
                  <a:pt x="4166091" y="785398"/>
                </a:lnTo>
                <a:lnTo>
                  <a:pt x="0" y="7853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0100" y="2447822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4">
                <a:moveTo>
                  <a:pt x="0" y="0"/>
                </a:moveTo>
                <a:lnTo>
                  <a:pt x="4166091" y="0"/>
                </a:lnTo>
                <a:lnTo>
                  <a:pt x="4166091" y="785398"/>
                </a:lnTo>
                <a:lnTo>
                  <a:pt x="0" y="7853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90550" y="1165875"/>
            <a:ext cx="2847969" cy="4381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05940" y="1011924"/>
            <a:ext cx="4510690" cy="20567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501191" y="1007163"/>
            <a:ext cx="4520565" cy="2066289"/>
          </a:xfrm>
          <a:custGeom>
            <a:avLst/>
            <a:gdLst/>
            <a:ahLst/>
            <a:cxnLst/>
            <a:rect l="l" t="t" r="r" b="b"/>
            <a:pathLst>
              <a:path w="4520565" h="2066289">
                <a:moveTo>
                  <a:pt x="0" y="0"/>
                </a:moveTo>
                <a:lnTo>
                  <a:pt x="4520215" y="0"/>
                </a:lnTo>
                <a:lnTo>
                  <a:pt x="4520215" y="2066245"/>
                </a:lnTo>
                <a:lnTo>
                  <a:pt x="0" y="2066245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702041" y="1313250"/>
            <a:ext cx="375285" cy="263525"/>
          </a:xfrm>
          <a:custGeom>
            <a:avLst/>
            <a:gdLst/>
            <a:ahLst/>
            <a:cxnLst/>
            <a:rect l="l" t="t" r="r" b="b"/>
            <a:pathLst>
              <a:path w="375285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774666" y="2072048"/>
            <a:ext cx="375285" cy="263525"/>
          </a:xfrm>
          <a:custGeom>
            <a:avLst/>
            <a:gdLst/>
            <a:ahLst/>
            <a:cxnLst/>
            <a:rect l="l" t="t" r="r" b="b"/>
            <a:pathLst>
              <a:path w="375285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642537" y="1713799"/>
            <a:ext cx="375285" cy="263525"/>
          </a:xfrm>
          <a:custGeom>
            <a:avLst/>
            <a:gdLst/>
            <a:ahLst/>
            <a:cxnLst/>
            <a:rect l="l" t="t" r="r" b="b"/>
            <a:pathLst>
              <a:path w="375284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702041" y="2869171"/>
            <a:ext cx="375285" cy="158115"/>
          </a:xfrm>
          <a:custGeom>
            <a:avLst/>
            <a:gdLst/>
            <a:ahLst/>
            <a:cxnLst/>
            <a:rect l="l" t="t" r="r" b="b"/>
            <a:pathLst>
              <a:path w="375285" h="158114">
                <a:moveTo>
                  <a:pt x="0" y="0"/>
                </a:moveTo>
                <a:lnTo>
                  <a:pt x="374999" y="0"/>
                </a:lnTo>
                <a:lnTo>
                  <a:pt x="374999" y="158099"/>
                </a:lnTo>
                <a:lnTo>
                  <a:pt x="0" y="1580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331950" y="1711930"/>
            <a:ext cx="316420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spc="-5" dirty="0">
                <a:solidFill>
                  <a:srgbClr val="38751C"/>
                </a:solidFill>
              </a:rPr>
              <a:t>e.g. </a:t>
            </a:r>
            <a:r>
              <a:rPr sz="2400" dirty="0">
                <a:solidFill>
                  <a:srgbClr val="38751C"/>
                </a:solidFill>
              </a:rPr>
              <a:t>x </a:t>
            </a:r>
            <a:r>
              <a:rPr sz="2400" spc="-5" dirty="0">
                <a:solidFill>
                  <a:srgbClr val="38751C"/>
                </a:solidFill>
              </a:rPr>
              <a:t>= -2, </a:t>
            </a:r>
            <a:r>
              <a:rPr sz="2400" dirty="0">
                <a:solidFill>
                  <a:srgbClr val="38751C"/>
                </a:solidFill>
              </a:rPr>
              <a:t>y </a:t>
            </a:r>
            <a:r>
              <a:rPr sz="2400" spc="-5" dirty="0">
                <a:solidFill>
                  <a:srgbClr val="38751C"/>
                </a:solidFill>
              </a:rPr>
              <a:t>= 5, </a:t>
            </a:r>
            <a:r>
              <a:rPr sz="2400" dirty="0">
                <a:solidFill>
                  <a:srgbClr val="38751C"/>
                </a:solidFill>
              </a:rPr>
              <a:t>z </a:t>
            </a:r>
            <a:r>
              <a:rPr sz="2400" spc="-5" dirty="0">
                <a:solidFill>
                  <a:srgbClr val="38751C"/>
                </a:solidFill>
              </a:rPr>
              <a:t>=</a:t>
            </a:r>
            <a:r>
              <a:rPr sz="2400" spc="-70" dirty="0">
                <a:solidFill>
                  <a:srgbClr val="38751C"/>
                </a:solidFill>
              </a:rPr>
              <a:t> </a:t>
            </a:r>
            <a:r>
              <a:rPr sz="2400" spc="-5" dirty="0">
                <a:solidFill>
                  <a:srgbClr val="38751C"/>
                </a:solidFill>
              </a:rPr>
              <a:t>-4</a:t>
            </a:r>
            <a:endParaRPr sz="2400"/>
          </a:p>
        </p:txBody>
      </p:sp>
      <p:sp>
        <p:nvSpPr>
          <p:cNvPr id="14" name="object 14"/>
          <p:cNvSpPr/>
          <p:nvPr/>
        </p:nvSpPr>
        <p:spPr>
          <a:xfrm>
            <a:off x="207187" y="2626996"/>
            <a:ext cx="1409697" cy="3905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53000" y="3520870"/>
            <a:ext cx="942973" cy="4571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000570" y="3454194"/>
            <a:ext cx="2047870" cy="5905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971033" y="2512697"/>
            <a:ext cx="2085958" cy="61912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23300" y="4609120"/>
            <a:ext cx="82105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Want: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528596" y="4478667"/>
            <a:ext cx="1609916" cy="61919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282633" y="3293370"/>
            <a:ext cx="346946" cy="59054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273109" y="3283845"/>
            <a:ext cx="366395" cy="609600"/>
          </a:xfrm>
          <a:custGeom>
            <a:avLst/>
            <a:gdLst/>
            <a:ahLst/>
            <a:cxnLst/>
            <a:rect l="l" t="t" r="r" b="b"/>
            <a:pathLst>
              <a:path w="366395" h="609600">
                <a:moveTo>
                  <a:pt x="0" y="0"/>
                </a:moveTo>
                <a:lnTo>
                  <a:pt x="365999" y="0"/>
                </a:lnTo>
                <a:lnTo>
                  <a:pt x="365999" y="609598"/>
                </a:lnTo>
                <a:lnTo>
                  <a:pt x="0" y="6095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456108" y="2631159"/>
            <a:ext cx="173355" cy="662305"/>
          </a:xfrm>
          <a:custGeom>
            <a:avLst/>
            <a:gdLst/>
            <a:ahLst/>
            <a:cxnLst/>
            <a:rect l="l" t="t" r="r" b="b"/>
            <a:pathLst>
              <a:path w="173354" h="662305">
                <a:moveTo>
                  <a:pt x="0" y="662211"/>
                </a:moveTo>
                <a:lnTo>
                  <a:pt x="172999" y="0"/>
                </a:lnTo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598657" y="2547517"/>
            <a:ext cx="60960" cy="92075"/>
          </a:xfrm>
          <a:custGeom>
            <a:avLst/>
            <a:gdLst/>
            <a:ahLst/>
            <a:cxnLst/>
            <a:rect l="l" t="t" r="r" b="b"/>
            <a:pathLst>
              <a:path w="60959" h="92075">
                <a:moveTo>
                  <a:pt x="60899" y="91597"/>
                </a:moveTo>
                <a:lnTo>
                  <a:pt x="52299" y="0"/>
                </a:lnTo>
                <a:lnTo>
                  <a:pt x="0" y="75689"/>
                </a:lnTo>
                <a:lnTo>
                  <a:pt x="60899" y="91597"/>
                </a:lnTo>
                <a:close/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399118" y="5586262"/>
            <a:ext cx="1579880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90"/>
              </a:lnSpc>
            </a:pPr>
            <a:r>
              <a:rPr sz="3000" spc="-7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3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3000" spc="-225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13</a:t>
            </a:r>
            <a:endParaRPr sz="20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212DAC1-CFFF-4F1F-A597-09223FE6F76F}"/>
              </a:ext>
            </a:extLst>
          </p:cNvPr>
          <p:cNvSpPr txBox="1"/>
          <p:nvPr/>
        </p:nvSpPr>
        <p:spPr>
          <a:xfrm>
            <a:off x="0" y="6604084"/>
            <a:ext cx="10727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Andrej </a:t>
            </a:r>
            <a:r>
              <a:rPr lang="en-US" sz="1050" dirty="0" err="1"/>
              <a:t>Karpathy</a:t>
            </a:r>
            <a:endParaRPr lang="en-US" sz="105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93B4D7D-FC81-C74F-B5B2-48930FBE4D7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777732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5481366"/>
            <a:ext cx="9144000" cy="359073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57480">
              <a:spcBef>
                <a:spcPts val="400"/>
              </a:spcBef>
              <a:tabLst>
                <a:tab pos="5411470" algn="l"/>
                <a:tab pos="7621270" algn="l"/>
              </a:tabLst>
            </a:pP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Fei-Fei Li &amp; Andrej Karpathy &amp;</a:t>
            </a:r>
            <a:r>
              <a:rPr spc="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Justin</a:t>
            </a:r>
            <a:r>
              <a:rPr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Johnson	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sz="3000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3000" baseline="-4166" dirty="0">
                <a:solidFill>
                  <a:srgbClr val="FFFFFF"/>
                </a:solidFill>
                <a:latin typeface="Arial"/>
                <a:cs typeface="Arial"/>
              </a:rPr>
              <a:t> -	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13 Jan</a:t>
            </a:r>
            <a:r>
              <a:rPr sz="3000" spc="-97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2016</a:t>
            </a:r>
            <a:endParaRPr sz="3000" baseline="-4166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0600" y="3355395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5">
                <a:moveTo>
                  <a:pt x="0" y="0"/>
                </a:moveTo>
                <a:lnTo>
                  <a:pt x="4166091" y="0"/>
                </a:lnTo>
                <a:lnTo>
                  <a:pt x="4166091" y="785398"/>
                </a:lnTo>
                <a:lnTo>
                  <a:pt x="0" y="7853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0100" y="2447822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4">
                <a:moveTo>
                  <a:pt x="0" y="0"/>
                </a:moveTo>
                <a:lnTo>
                  <a:pt x="4166091" y="0"/>
                </a:lnTo>
                <a:lnTo>
                  <a:pt x="4166091" y="785398"/>
                </a:lnTo>
                <a:lnTo>
                  <a:pt x="0" y="7853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90550" y="1165875"/>
            <a:ext cx="2847969" cy="4381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05940" y="1011924"/>
            <a:ext cx="4510690" cy="20567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501191" y="1007163"/>
            <a:ext cx="4520565" cy="2066289"/>
          </a:xfrm>
          <a:custGeom>
            <a:avLst/>
            <a:gdLst/>
            <a:ahLst/>
            <a:cxnLst/>
            <a:rect l="l" t="t" r="r" b="b"/>
            <a:pathLst>
              <a:path w="4520565" h="2066289">
                <a:moveTo>
                  <a:pt x="0" y="0"/>
                </a:moveTo>
                <a:lnTo>
                  <a:pt x="4520215" y="0"/>
                </a:lnTo>
                <a:lnTo>
                  <a:pt x="4520215" y="2066245"/>
                </a:lnTo>
                <a:lnTo>
                  <a:pt x="0" y="2066245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702041" y="1313250"/>
            <a:ext cx="375285" cy="263525"/>
          </a:xfrm>
          <a:custGeom>
            <a:avLst/>
            <a:gdLst/>
            <a:ahLst/>
            <a:cxnLst/>
            <a:rect l="l" t="t" r="r" b="b"/>
            <a:pathLst>
              <a:path w="375285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774666" y="2072048"/>
            <a:ext cx="375285" cy="263525"/>
          </a:xfrm>
          <a:custGeom>
            <a:avLst/>
            <a:gdLst/>
            <a:ahLst/>
            <a:cxnLst/>
            <a:rect l="l" t="t" r="r" b="b"/>
            <a:pathLst>
              <a:path w="375285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642537" y="1713799"/>
            <a:ext cx="375285" cy="263525"/>
          </a:xfrm>
          <a:custGeom>
            <a:avLst/>
            <a:gdLst/>
            <a:ahLst/>
            <a:cxnLst/>
            <a:rect l="l" t="t" r="r" b="b"/>
            <a:pathLst>
              <a:path w="375284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702041" y="2869171"/>
            <a:ext cx="375285" cy="158115"/>
          </a:xfrm>
          <a:custGeom>
            <a:avLst/>
            <a:gdLst/>
            <a:ahLst/>
            <a:cxnLst/>
            <a:rect l="l" t="t" r="r" b="b"/>
            <a:pathLst>
              <a:path w="375285" h="158114">
                <a:moveTo>
                  <a:pt x="0" y="0"/>
                </a:moveTo>
                <a:lnTo>
                  <a:pt x="374999" y="0"/>
                </a:lnTo>
                <a:lnTo>
                  <a:pt x="374999" y="158099"/>
                </a:lnTo>
                <a:lnTo>
                  <a:pt x="0" y="1580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331950" y="1711930"/>
            <a:ext cx="316420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spc="-5" dirty="0">
                <a:solidFill>
                  <a:srgbClr val="38751C"/>
                </a:solidFill>
              </a:rPr>
              <a:t>e.g. </a:t>
            </a:r>
            <a:r>
              <a:rPr sz="2400" dirty="0">
                <a:solidFill>
                  <a:srgbClr val="38751C"/>
                </a:solidFill>
              </a:rPr>
              <a:t>x </a:t>
            </a:r>
            <a:r>
              <a:rPr sz="2400" spc="-5" dirty="0">
                <a:solidFill>
                  <a:srgbClr val="38751C"/>
                </a:solidFill>
              </a:rPr>
              <a:t>= -2, </a:t>
            </a:r>
            <a:r>
              <a:rPr sz="2400" dirty="0">
                <a:solidFill>
                  <a:srgbClr val="38751C"/>
                </a:solidFill>
              </a:rPr>
              <a:t>y </a:t>
            </a:r>
            <a:r>
              <a:rPr sz="2400" spc="-5" dirty="0">
                <a:solidFill>
                  <a:srgbClr val="38751C"/>
                </a:solidFill>
              </a:rPr>
              <a:t>= 5, </a:t>
            </a:r>
            <a:r>
              <a:rPr sz="2400" dirty="0">
                <a:solidFill>
                  <a:srgbClr val="38751C"/>
                </a:solidFill>
              </a:rPr>
              <a:t>z </a:t>
            </a:r>
            <a:r>
              <a:rPr sz="2400" spc="-5" dirty="0">
                <a:solidFill>
                  <a:srgbClr val="38751C"/>
                </a:solidFill>
              </a:rPr>
              <a:t>=</a:t>
            </a:r>
            <a:r>
              <a:rPr sz="2400" spc="-70" dirty="0">
                <a:solidFill>
                  <a:srgbClr val="38751C"/>
                </a:solidFill>
              </a:rPr>
              <a:t> </a:t>
            </a:r>
            <a:r>
              <a:rPr sz="2400" spc="-5" dirty="0">
                <a:solidFill>
                  <a:srgbClr val="38751C"/>
                </a:solidFill>
              </a:rPr>
              <a:t>-4</a:t>
            </a:r>
            <a:endParaRPr sz="2400"/>
          </a:p>
        </p:txBody>
      </p:sp>
      <p:sp>
        <p:nvSpPr>
          <p:cNvPr id="14" name="object 14"/>
          <p:cNvSpPr/>
          <p:nvPr/>
        </p:nvSpPr>
        <p:spPr>
          <a:xfrm>
            <a:off x="207187" y="2626996"/>
            <a:ext cx="1409697" cy="3905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53000" y="3520870"/>
            <a:ext cx="942973" cy="4571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000570" y="3454194"/>
            <a:ext cx="2047870" cy="5905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971033" y="2512697"/>
            <a:ext cx="2085958" cy="61912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23300" y="4609120"/>
            <a:ext cx="82105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Want: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528596" y="4478667"/>
            <a:ext cx="1609916" cy="61919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411565" y="2944871"/>
            <a:ext cx="3044825" cy="348615"/>
          </a:xfrm>
          <a:custGeom>
            <a:avLst/>
            <a:gdLst/>
            <a:ahLst/>
            <a:cxnLst/>
            <a:rect l="l" t="t" r="r" b="b"/>
            <a:pathLst>
              <a:path w="3044825" h="348614">
                <a:moveTo>
                  <a:pt x="3044543" y="348499"/>
                </a:moveTo>
                <a:lnTo>
                  <a:pt x="0" y="0"/>
                </a:lnTo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325690" y="2913609"/>
            <a:ext cx="89535" cy="62865"/>
          </a:xfrm>
          <a:custGeom>
            <a:avLst/>
            <a:gdLst/>
            <a:ahLst/>
            <a:cxnLst/>
            <a:rect l="l" t="t" r="r" b="b"/>
            <a:pathLst>
              <a:path w="89535" h="62864">
                <a:moveTo>
                  <a:pt x="89449" y="0"/>
                </a:moveTo>
                <a:lnTo>
                  <a:pt x="0" y="21429"/>
                </a:lnTo>
                <a:lnTo>
                  <a:pt x="82299" y="62522"/>
                </a:lnTo>
                <a:lnTo>
                  <a:pt x="89449" y="0"/>
                </a:lnTo>
                <a:close/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78007" y="3301476"/>
            <a:ext cx="466314" cy="61919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68483" y="3291950"/>
            <a:ext cx="485775" cy="638810"/>
          </a:xfrm>
          <a:custGeom>
            <a:avLst/>
            <a:gdLst/>
            <a:ahLst/>
            <a:cxnLst/>
            <a:rect l="l" t="t" r="r" b="b"/>
            <a:pathLst>
              <a:path w="485775" h="638810">
                <a:moveTo>
                  <a:pt x="0" y="0"/>
                </a:moveTo>
                <a:lnTo>
                  <a:pt x="485374" y="0"/>
                </a:lnTo>
                <a:lnTo>
                  <a:pt x="485374" y="638243"/>
                </a:lnTo>
                <a:lnTo>
                  <a:pt x="0" y="638243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399118" y="5586262"/>
            <a:ext cx="1579880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90"/>
              </a:lnSpc>
            </a:pPr>
            <a:r>
              <a:rPr sz="3000" spc="-7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3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3000" spc="-225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14</a:t>
            </a:r>
            <a:endParaRPr sz="20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9E04AC4-488B-46AC-9555-31D037304264}"/>
              </a:ext>
            </a:extLst>
          </p:cNvPr>
          <p:cNvSpPr txBox="1"/>
          <p:nvPr/>
        </p:nvSpPr>
        <p:spPr>
          <a:xfrm>
            <a:off x="0" y="6604084"/>
            <a:ext cx="10727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Andrej </a:t>
            </a:r>
            <a:r>
              <a:rPr lang="en-US" sz="1050" dirty="0" err="1"/>
              <a:t>Karpathy</a:t>
            </a:r>
            <a:endParaRPr lang="en-US" sz="105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533611D-4A9C-8B4F-A0F4-121A30BC250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260644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5481366"/>
            <a:ext cx="9144000" cy="359073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57480">
              <a:spcBef>
                <a:spcPts val="400"/>
              </a:spcBef>
              <a:tabLst>
                <a:tab pos="5411470" algn="l"/>
                <a:tab pos="7621270" algn="l"/>
              </a:tabLst>
            </a:pP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Fei-Fei Li &amp; Andrej Karpathy &amp;</a:t>
            </a:r>
            <a:r>
              <a:rPr spc="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Justin</a:t>
            </a:r>
            <a:r>
              <a:rPr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Johnson	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sz="3000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3000" baseline="-4166" dirty="0">
                <a:solidFill>
                  <a:srgbClr val="FFFFFF"/>
                </a:solidFill>
                <a:latin typeface="Arial"/>
                <a:cs typeface="Arial"/>
              </a:rPr>
              <a:t> -	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13 Jan</a:t>
            </a:r>
            <a:r>
              <a:rPr sz="3000" spc="-97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2016</a:t>
            </a:r>
            <a:endParaRPr sz="3000" baseline="-4166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0600" y="3355395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5">
                <a:moveTo>
                  <a:pt x="0" y="0"/>
                </a:moveTo>
                <a:lnTo>
                  <a:pt x="4166091" y="0"/>
                </a:lnTo>
                <a:lnTo>
                  <a:pt x="4166091" y="785398"/>
                </a:lnTo>
                <a:lnTo>
                  <a:pt x="0" y="7853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0100" y="2447822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4">
                <a:moveTo>
                  <a:pt x="0" y="0"/>
                </a:moveTo>
                <a:lnTo>
                  <a:pt x="4166091" y="0"/>
                </a:lnTo>
                <a:lnTo>
                  <a:pt x="4166091" y="785398"/>
                </a:lnTo>
                <a:lnTo>
                  <a:pt x="0" y="7853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90550" y="1165875"/>
            <a:ext cx="2847969" cy="4381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05940" y="1011924"/>
            <a:ext cx="4510690" cy="20567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501191" y="1007163"/>
            <a:ext cx="4520565" cy="2066289"/>
          </a:xfrm>
          <a:custGeom>
            <a:avLst/>
            <a:gdLst/>
            <a:ahLst/>
            <a:cxnLst/>
            <a:rect l="l" t="t" r="r" b="b"/>
            <a:pathLst>
              <a:path w="4520565" h="2066289">
                <a:moveTo>
                  <a:pt x="0" y="0"/>
                </a:moveTo>
                <a:lnTo>
                  <a:pt x="4520215" y="0"/>
                </a:lnTo>
                <a:lnTo>
                  <a:pt x="4520215" y="2066245"/>
                </a:lnTo>
                <a:lnTo>
                  <a:pt x="0" y="2066245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702041" y="1313250"/>
            <a:ext cx="375285" cy="263525"/>
          </a:xfrm>
          <a:custGeom>
            <a:avLst/>
            <a:gdLst/>
            <a:ahLst/>
            <a:cxnLst/>
            <a:rect l="l" t="t" r="r" b="b"/>
            <a:pathLst>
              <a:path w="375285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774666" y="2072048"/>
            <a:ext cx="375285" cy="263525"/>
          </a:xfrm>
          <a:custGeom>
            <a:avLst/>
            <a:gdLst/>
            <a:ahLst/>
            <a:cxnLst/>
            <a:rect l="l" t="t" r="r" b="b"/>
            <a:pathLst>
              <a:path w="375285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642537" y="1713799"/>
            <a:ext cx="375285" cy="263525"/>
          </a:xfrm>
          <a:custGeom>
            <a:avLst/>
            <a:gdLst/>
            <a:ahLst/>
            <a:cxnLst/>
            <a:rect l="l" t="t" r="r" b="b"/>
            <a:pathLst>
              <a:path w="375284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331950" y="1711930"/>
            <a:ext cx="316420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spc="-5" dirty="0">
                <a:solidFill>
                  <a:srgbClr val="38751C"/>
                </a:solidFill>
              </a:rPr>
              <a:t>e.g. </a:t>
            </a:r>
            <a:r>
              <a:rPr sz="2400" dirty="0">
                <a:solidFill>
                  <a:srgbClr val="38751C"/>
                </a:solidFill>
              </a:rPr>
              <a:t>x </a:t>
            </a:r>
            <a:r>
              <a:rPr sz="2400" spc="-5" dirty="0">
                <a:solidFill>
                  <a:srgbClr val="38751C"/>
                </a:solidFill>
              </a:rPr>
              <a:t>= -2, </a:t>
            </a:r>
            <a:r>
              <a:rPr sz="2400" dirty="0">
                <a:solidFill>
                  <a:srgbClr val="38751C"/>
                </a:solidFill>
              </a:rPr>
              <a:t>y </a:t>
            </a:r>
            <a:r>
              <a:rPr sz="2400" spc="-5" dirty="0">
                <a:solidFill>
                  <a:srgbClr val="38751C"/>
                </a:solidFill>
              </a:rPr>
              <a:t>= 5, </a:t>
            </a:r>
            <a:r>
              <a:rPr sz="2400" dirty="0">
                <a:solidFill>
                  <a:srgbClr val="38751C"/>
                </a:solidFill>
              </a:rPr>
              <a:t>z </a:t>
            </a:r>
            <a:r>
              <a:rPr sz="2400" spc="-5" dirty="0">
                <a:solidFill>
                  <a:srgbClr val="38751C"/>
                </a:solidFill>
              </a:rPr>
              <a:t>=</a:t>
            </a:r>
            <a:r>
              <a:rPr sz="2400" spc="-70" dirty="0">
                <a:solidFill>
                  <a:srgbClr val="38751C"/>
                </a:solidFill>
              </a:rPr>
              <a:t> </a:t>
            </a:r>
            <a:r>
              <a:rPr sz="2400" spc="-5" dirty="0">
                <a:solidFill>
                  <a:srgbClr val="38751C"/>
                </a:solidFill>
              </a:rPr>
              <a:t>-4</a:t>
            </a:r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207187" y="2626996"/>
            <a:ext cx="1409697" cy="3905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53000" y="3520870"/>
            <a:ext cx="942973" cy="4571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000570" y="3454194"/>
            <a:ext cx="2047870" cy="5905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971033" y="2512697"/>
            <a:ext cx="2085958" cy="61912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3300" y="4609120"/>
            <a:ext cx="82105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Want: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528596" y="4478667"/>
            <a:ext cx="1609916" cy="61919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78007" y="3301476"/>
            <a:ext cx="466314" cy="61919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68483" y="3291950"/>
            <a:ext cx="485775" cy="638810"/>
          </a:xfrm>
          <a:custGeom>
            <a:avLst/>
            <a:gdLst/>
            <a:ahLst/>
            <a:cxnLst/>
            <a:rect l="l" t="t" r="r" b="b"/>
            <a:pathLst>
              <a:path w="485775" h="638810">
                <a:moveTo>
                  <a:pt x="0" y="0"/>
                </a:moveTo>
                <a:lnTo>
                  <a:pt x="485374" y="0"/>
                </a:lnTo>
                <a:lnTo>
                  <a:pt x="485374" y="638243"/>
                </a:lnTo>
                <a:lnTo>
                  <a:pt x="0" y="638243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411565" y="2944871"/>
            <a:ext cx="3044825" cy="348615"/>
          </a:xfrm>
          <a:custGeom>
            <a:avLst/>
            <a:gdLst/>
            <a:ahLst/>
            <a:cxnLst/>
            <a:rect l="l" t="t" r="r" b="b"/>
            <a:pathLst>
              <a:path w="3044825" h="348614">
                <a:moveTo>
                  <a:pt x="3044543" y="348499"/>
                </a:moveTo>
                <a:lnTo>
                  <a:pt x="0" y="0"/>
                </a:lnTo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325690" y="2913609"/>
            <a:ext cx="89535" cy="62865"/>
          </a:xfrm>
          <a:custGeom>
            <a:avLst/>
            <a:gdLst/>
            <a:ahLst/>
            <a:cxnLst/>
            <a:rect l="l" t="t" r="r" b="b"/>
            <a:pathLst>
              <a:path w="89535" h="62864">
                <a:moveTo>
                  <a:pt x="89449" y="0"/>
                </a:moveTo>
                <a:lnTo>
                  <a:pt x="0" y="21429"/>
                </a:lnTo>
                <a:lnTo>
                  <a:pt x="82299" y="62522"/>
                </a:lnTo>
                <a:lnTo>
                  <a:pt x="89449" y="0"/>
                </a:lnTo>
                <a:close/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399118" y="5586262"/>
            <a:ext cx="1579880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90"/>
              </a:lnSpc>
            </a:pPr>
            <a:r>
              <a:rPr sz="3000" spc="-7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3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3000" spc="-225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15</a:t>
            </a:r>
            <a:endParaRPr sz="20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882E6D0-2E32-40FE-949B-3664A06E115A}"/>
              </a:ext>
            </a:extLst>
          </p:cNvPr>
          <p:cNvSpPr txBox="1"/>
          <p:nvPr/>
        </p:nvSpPr>
        <p:spPr>
          <a:xfrm>
            <a:off x="0" y="6604084"/>
            <a:ext cx="10727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Andrej </a:t>
            </a:r>
            <a:r>
              <a:rPr lang="en-US" sz="1050" dirty="0" err="1"/>
              <a:t>Karpathy</a:t>
            </a:r>
            <a:endParaRPr lang="en-US" sz="105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F94C745-3FE3-D64A-9E41-F3863BFC08E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111018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5481366"/>
            <a:ext cx="9144000" cy="359073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57480">
              <a:spcBef>
                <a:spcPts val="400"/>
              </a:spcBef>
              <a:tabLst>
                <a:tab pos="5411470" algn="l"/>
                <a:tab pos="7621270" algn="l"/>
              </a:tabLst>
            </a:pP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Fei-Fei Li &amp; Andrej Karpathy &amp;</a:t>
            </a:r>
            <a:r>
              <a:rPr spc="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Justin</a:t>
            </a:r>
            <a:r>
              <a:rPr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Johnson	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sz="3000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3000" baseline="-4166" dirty="0">
                <a:solidFill>
                  <a:srgbClr val="FFFFFF"/>
                </a:solidFill>
                <a:latin typeface="Arial"/>
                <a:cs typeface="Arial"/>
              </a:rPr>
              <a:t> -	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13 Jan</a:t>
            </a:r>
            <a:r>
              <a:rPr sz="3000" spc="-97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2016</a:t>
            </a:r>
            <a:endParaRPr sz="3000" baseline="-4166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0600" y="3355395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5">
                <a:moveTo>
                  <a:pt x="0" y="0"/>
                </a:moveTo>
                <a:lnTo>
                  <a:pt x="4166091" y="0"/>
                </a:lnTo>
                <a:lnTo>
                  <a:pt x="4166091" y="785398"/>
                </a:lnTo>
                <a:lnTo>
                  <a:pt x="0" y="7853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0100" y="2447822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4">
                <a:moveTo>
                  <a:pt x="0" y="0"/>
                </a:moveTo>
                <a:lnTo>
                  <a:pt x="4166091" y="0"/>
                </a:lnTo>
                <a:lnTo>
                  <a:pt x="4166091" y="785398"/>
                </a:lnTo>
                <a:lnTo>
                  <a:pt x="0" y="7853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90550" y="1165875"/>
            <a:ext cx="2847969" cy="4381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05940" y="1011924"/>
            <a:ext cx="4510690" cy="20567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501191" y="1007163"/>
            <a:ext cx="4520565" cy="2066289"/>
          </a:xfrm>
          <a:custGeom>
            <a:avLst/>
            <a:gdLst/>
            <a:ahLst/>
            <a:cxnLst/>
            <a:rect l="l" t="t" r="r" b="b"/>
            <a:pathLst>
              <a:path w="4520565" h="2066289">
                <a:moveTo>
                  <a:pt x="0" y="0"/>
                </a:moveTo>
                <a:lnTo>
                  <a:pt x="4520215" y="0"/>
                </a:lnTo>
                <a:lnTo>
                  <a:pt x="4520215" y="2066245"/>
                </a:lnTo>
                <a:lnTo>
                  <a:pt x="0" y="2066245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702041" y="1313250"/>
            <a:ext cx="375285" cy="263525"/>
          </a:xfrm>
          <a:custGeom>
            <a:avLst/>
            <a:gdLst/>
            <a:ahLst/>
            <a:cxnLst/>
            <a:rect l="l" t="t" r="r" b="b"/>
            <a:pathLst>
              <a:path w="375285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774666" y="2072048"/>
            <a:ext cx="375285" cy="263525"/>
          </a:xfrm>
          <a:custGeom>
            <a:avLst/>
            <a:gdLst/>
            <a:ahLst/>
            <a:cxnLst/>
            <a:rect l="l" t="t" r="r" b="b"/>
            <a:pathLst>
              <a:path w="375285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642537" y="1713799"/>
            <a:ext cx="375285" cy="263525"/>
          </a:xfrm>
          <a:custGeom>
            <a:avLst/>
            <a:gdLst/>
            <a:ahLst/>
            <a:cxnLst/>
            <a:rect l="l" t="t" r="r" b="b"/>
            <a:pathLst>
              <a:path w="375284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331950" y="1711930"/>
            <a:ext cx="316420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spc="-5" dirty="0">
                <a:solidFill>
                  <a:srgbClr val="38751C"/>
                </a:solidFill>
              </a:rPr>
              <a:t>e.g. </a:t>
            </a:r>
            <a:r>
              <a:rPr sz="2400" dirty="0">
                <a:solidFill>
                  <a:srgbClr val="38751C"/>
                </a:solidFill>
              </a:rPr>
              <a:t>x </a:t>
            </a:r>
            <a:r>
              <a:rPr sz="2400" spc="-5" dirty="0">
                <a:solidFill>
                  <a:srgbClr val="38751C"/>
                </a:solidFill>
              </a:rPr>
              <a:t>= -2, </a:t>
            </a:r>
            <a:r>
              <a:rPr sz="2400" dirty="0">
                <a:solidFill>
                  <a:srgbClr val="38751C"/>
                </a:solidFill>
              </a:rPr>
              <a:t>y </a:t>
            </a:r>
            <a:r>
              <a:rPr sz="2400" spc="-5" dirty="0">
                <a:solidFill>
                  <a:srgbClr val="38751C"/>
                </a:solidFill>
              </a:rPr>
              <a:t>= 5, </a:t>
            </a:r>
            <a:r>
              <a:rPr sz="2400" dirty="0">
                <a:solidFill>
                  <a:srgbClr val="38751C"/>
                </a:solidFill>
              </a:rPr>
              <a:t>z </a:t>
            </a:r>
            <a:r>
              <a:rPr sz="2400" spc="-5" dirty="0">
                <a:solidFill>
                  <a:srgbClr val="38751C"/>
                </a:solidFill>
              </a:rPr>
              <a:t>=</a:t>
            </a:r>
            <a:r>
              <a:rPr sz="2400" spc="-70" dirty="0">
                <a:solidFill>
                  <a:srgbClr val="38751C"/>
                </a:solidFill>
              </a:rPr>
              <a:t> </a:t>
            </a:r>
            <a:r>
              <a:rPr sz="2400" spc="-5" dirty="0">
                <a:solidFill>
                  <a:srgbClr val="38751C"/>
                </a:solidFill>
              </a:rPr>
              <a:t>-4</a:t>
            </a:r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207187" y="2626996"/>
            <a:ext cx="1409697" cy="3905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53000" y="3520870"/>
            <a:ext cx="942973" cy="4571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000570" y="3454194"/>
            <a:ext cx="2047870" cy="5905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971033" y="2512697"/>
            <a:ext cx="2085958" cy="61912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3300" y="4609120"/>
            <a:ext cx="82105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Want: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528596" y="4478667"/>
            <a:ext cx="1609916" cy="61919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261108" y="3293370"/>
            <a:ext cx="457198" cy="74294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251583" y="3283845"/>
            <a:ext cx="476250" cy="762000"/>
          </a:xfrm>
          <a:custGeom>
            <a:avLst/>
            <a:gdLst/>
            <a:ahLst/>
            <a:cxnLst/>
            <a:rect l="l" t="t" r="r" b="b"/>
            <a:pathLst>
              <a:path w="476250" h="762000">
                <a:moveTo>
                  <a:pt x="0" y="0"/>
                </a:moveTo>
                <a:lnTo>
                  <a:pt x="476249" y="0"/>
                </a:lnTo>
                <a:lnTo>
                  <a:pt x="476249" y="761998"/>
                </a:lnTo>
                <a:lnTo>
                  <a:pt x="0" y="7619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035335" y="2034186"/>
            <a:ext cx="1421130" cy="1259205"/>
          </a:xfrm>
          <a:custGeom>
            <a:avLst/>
            <a:gdLst/>
            <a:ahLst/>
            <a:cxnLst/>
            <a:rect l="l" t="t" r="r" b="b"/>
            <a:pathLst>
              <a:path w="1421129" h="1259205">
                <a:moveTo>
                  <a:pt x="1420772" y="1259184"/>
                </a:moveTo>
                <a:lnTo>
                  <a:pt x="0" y="0"/>
                </a:lnTo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970636" y="1976845"/>
            <a:ext cx="85725" cy="81280"/>
          </a:xfrm>
          <a:custGeom>
            <a:avLst/>
            <a:gdLst/>
            <a:ahLst/>
            <a:cxnLst/>
            <a:rect l="l" t="t" r="r" b="b"/>
            <a:pathLst>
              <a:path w="85725" h="81280">
                <a:moveTo>
                  <a:pt x="85574" y="33789"/>
                </a:moveTo>
                <a:lnTo>
                  <a:pt x="0" y="0"/>
                </a:lnTo>
                <a:lnTo>
                  <a:pt x="43849" y="80887"/>
                </a:lnTo>
                <a:lnTo>
                  <a:pt x="85574" y="33789"/>
                </a:lnTo>
                <a:close/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399118" y="5586262"/>
            <a:ext cx="1579880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90"/>
              </a:lnSpc>
            </a:pPr>
            <a:r>
              <a:rPr sz="3000" spc="-7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3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3000" spc="-225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16</a:t>
            </a:r>
            <a:endParaRPr sz="20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F2200C5-8034-44F1-B475-9DD12B482098}"/>
              </a:ext>
            </a:extLst>
          </p:cNvPr>
          <p:cNvSpPr txBox="1"/>
          <p:nvPr/>
        </p:nvSpPr>
        <p:spPr>
          <a:xfrm>
            <a:off x="0" y="6604084"/>
            <a:ext cx="10727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Andrej </a:t>
            </a:r>
            <a:r>
              <a:rPr lang="en-US" sz="1050" dirty="0" err="1"/>
              <a:t>Karpathy</a:t>
            </a:r>
            <a:endParaRPr lang="en-US" sz="105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D499A5C-85EB-304C-BA25-AD09E37948C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598113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5481366"/>
            <a:ext cx="9144000" cy="359073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57480">
              <a:spcBef>
                <a:spcPts val="400"/>
              </a:spcBef>
              <a:tabLst>
                <a:tab pos="5411470" algn="l"/>
                <a:tab pos="7621270" algn="l"/>
              </a:tabLst>
            </a:pP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Fei-Fei Li &amp; Andrej Karpathy &amp;</a:t>
            </a:r>
            <a:r>
              <a:rPr spc="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Justin</a:t>
            </a:r>
            <a:r>
              <a:rPr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Johnson	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sz="3000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3000" baseline="-4166" dirty="0">
                <a:solidFill>
                  <a:srgbClr val="FFFFFF"/>
                </a:solidFill>
                <a:latin typeface="Arial"/>
                <a:cs typeface="Arial"/>
              </a:rPr>
              <a:t> -	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13 Jan</a:t>
            </a:r>
            <a:r>
              <a:rPr sz="3000" spc="-97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2016</a:t>
            </a:r>
            <a:endParaRPr sz="3000" baseline="-4166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0600" y="3355395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5">
                <a:moveTo>
                  <a:pt x="0" y="0"/>
                </a:moveTo>
                <a:lnTo>
                  <a:pt x="4166091" y="0"/>
                </a:lnTo>
                <a:lnTo>
                  <a:pt x="4166091" y="785398"/>
                </a:lnTo>
                <a:lnTo>
                  <a:pt x="0" y="7853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0100" y="2447822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4">
                <a:moveTo>
                  <a:pt x="0" y="0"/>
                </a:moveTo>
                <a:lnTo>
                  <a:pt x="4166091" y="0"/>
                </a:lnTo>
                <a:lnTo>
                  <a:pt x="4166091" y="785398"/>
                </a:lnTo>
                <a:lnTo>
                  <a:pt x="0" y="7853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90550" y="1165875"/>
            <a:ext cx="2847969" cy="4381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05940" y="1011924"/>
            <a:ext cx="4510690" cy="20567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501191" y="1007163"/>
            <a:ext cx="4520565" cy="2066289"/>
          </a:xfrm>
          <a:custGeom>
            <a:avLst/>
            <a:gdLst/>
            <a:ahLst/>
            <a:cxnLst/>
            <a:rect l="l" t="t" r="r" b="b"/>
            <a:pathLst>
              <a:path w="4520565" h="2066289">
                <a:moveTo>
                  <a:pt x="0" y="0"/>
                </a:moveTo>
                <a:lnTo>
                  <a:pt x="4520215" y="0"/>
                </a:lnTo>
                <a:lnTo>
                  <a:pt x="4520215" y="2066245"/>
                </a:lnTo>
                <a:lnTo>
                  <a:pt x="0" y="2066245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702041" y="1313250"/>
            <a:ext cx="375285" cy="263525"/>
          </a:xfrm>
          <a:custGeom>
            <a:avLst/>
            <a:gdLst/>
            <a:ahLst/>
            <a:cxnLst/>
            <a:rect l="l" t="t" r="r" b="b"/>
            <a:pathLst>
              <a:path w="375285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774666" y="2072048"/>
            <a:ext cx="375285" cy="263525"/>
          </a:xfrm>
          <a:custGeom>
            <a:avLst/>
            <a:gdLst/>
            <a:ahLst/>
            <a:cxnLst/>
            <a:rect l="l" t="t" r="r" b="b"/>
            <a:pathLst>
              <a:path w="375285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31950" y="1711930"/>
            <a:ext cx="316420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spc="-5" dirty="0">
                <a:solidFill>
                  <a:srgbClr val="38751C"/>
                </a:solidFill>
              </a:rPr>
              <a:t>e.g. </a:t>
            </a:r>
            <a:r>
              <a:rPr sz="2400" dirty="0">
                <a:solidFill>
                  <a:srgbClr val="38751C"/>
                </a:solidFill>
              </a:rPr>
              <a:t>x </a:t>
            </a:r>
            <a:r>
              <a:rPr sz="2400" spc="-5" dirty="0">
                <a:solidFill>
                  <a:srgbClr val="38751C"/>
                </a:solidFill>
              </a:rPr>
              <a:t>= -2, </a:t>
            </a:r>
            <a:r>
              <a:rPr sz="2400" dirty="0">
                <a:solidFill>
                  <a:srgbClr val="38751C"/>
                </a:solidFill>
              </a:rPr>
              <a:t>y </a:t>
            </a:r>
            <a:r>
              <a:rPr sz="2400" spc="-5" dirty="0">
                <a:solidFill>
                  <a:srgbClr val="38751C"/>
                </a:solidFill>
              </a:rPr>
              <a:t>= 5, </a:t>
            </a:r>
            <a:r>
              <a:rPr sz="2400" dirty="0">
                <a:solidFill>
                  <a:srgbClr val="38751C"/>
                </a:solidFill>
              </a:rPr>
              <a:t>z </a:t>
            </a:r>
            <a:r>
              <a:rPr sz="2400" spc="-5" dirty="0">
                <a:solidFill>
                  <a:srgbClr val="38751C"/>
                </a:solidFill>
              </a:rPr>
              <a:t>=</a:t>
            </a:r>
            <a:r>
              <a:rPr sz="2400" spc="-70" dirty="0">
                <a:solidFill>
                  <a:srgbClr val="38751C"/>
                </a:solidFill>
              </a:rPr>
              <a:t> </a:t>
            </a:r>
            <a:r>
              <a:rPr sz="2400" spc="-5" dirty="0">
                <a:solidFill>
                  <a:srgbClr val="38751C"/>
                </a:solidFill>
              </a:rPr>
              <a:t>-4</a:t>
            </a:r>
            <a:endParaRPr sz="2400"/>
          </a:p>
        </p:txBody>
      </p:sp>
      <p:sp>
        <p:nvSpPr>
          <p:cNvPr id="12" name="object 12"/>
          <p:cNvSpPr/>
          <p:nvPr/>
        </p:nvSpPr>
        <p:spPr>
          <a:xfrm>
            <a:off x="207187" y="2626996"/>
            <a:ext cx="1409697" cy="3905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53000" y="3520870"/>
            <a:ext cx="942973" cy="4571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000570" y="3454194"/>
            <a:ext cx="2047870" cy="5905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971033" y="2512697"/>
            <a:ext cx="2085958" cy="61912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3300" y="4609120"/>
            <a:ext cx="82105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Want: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528596" y="4478667"/>
            <a:ext cx="1609916" cy="61919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035335" y="2034186"/>
            <a:ext cx="1421130" cy="1259205"/>
          </a:xfrm>
          <a:custGeom>
            <a:avLst/>
            <a:gdLst/>
            <a:ahLst/>
            <a:cxnLst/>
            <a:rect l="l" t="t" r="r" b="b"/>
            <a:pathLst>
              <a:path w="1421129" h="1259205">
                <a:moveTo>
                  <a:pt x="1420772" y="1259184"/>
                </a:moveTo>
                <a:lnTo>
                  <a:pt x="0" y="0"/>
                </a:lnTo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970636" y="1976845"/>
            <a:ext cx="85725" cy="81280"/>
          </a:xfrm>
          <a:custGeom>
            <a:avLst/>
            <a:gdLst/>
            <a:ahLst/>
            <a:cxnLst/>
            <a:rect l="l" t="t" r="r" b="b"/>
            <a:pathLst>
              <a:path w="85725" h="81280">
                <a:moveTo>
                  <a:pt x="85574" y="33789"/>
                </a:moveTo>
                <a:lnTo>
                  <a:pt x="0" y="0"/>
                </a:lnTo>
                <a:lnTo>
                  <a:pt x="43849" y="80887"/>
                </a:lnTo>
                <a:lnTo>
                  <a:pt x="85574" y="33789"/>
                </a:lnTo>
                <a:close/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261108" y="3293370"/>
            <a:ext cx="457198" cy="74294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251583" y="3283845"/>
            <a:ext cx="476250" cy="762000"/>
          </a:xfrm>
          <a:custGeom>
            <a:avLst/>
            <a:gdLst/>
            <a:ahLst/>
            <a:cxnLst/>
            <a:rect l="l" t="t" r="r" b="b"/>
            <a:pathLst>
              <a:path w="476250" h="762000">
                <a:moveTo>
                  <a:pt x="0" y="0"/>
                </a:moveTo>
                <a:lnTo>
                  <a:pt x="476249" y="0"/>
                </a:lnTo>
                <a:lnTo>
                  <a:pt x="476249" y="761998"/>
                </a:lnTo>
                <a:lnTo>
                  <a:pt x="0" y="7619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399118" y="5586262"/>
            <a:ext cx="1579880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90"/>
              </a:lnSpc>
            </a:pPr>
            <a:r>
              <a:rPr sz="3000" spc="-7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3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3000" spc="-225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17</a:t>
            </a:r>
            <a:endParaRPr sz="20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0D735E0-74EB-45CF-8BDF-1607957671C3}"/>
              </a:ext>
            </a:extLst>
          </p:cNvPr>
          <p:cNvSpPr txBox="1"/>
          <p:nvPr/>
        </p:nvSpPr>
        <p:spPr>
          <a:xfrm>
            <a:off x="0" y="6604084"/>
            <a:ext cx="10727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Andrej </a:t>
            </a:r>
            <a:r>
              <a:rPr lang="en-US" sz="1050" dirty="0" err="1"/>
              <a:t>Karpathy</a:t>
            </a:r>
            <a:endParaRPr lang="en-US" sz="105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6C71FD8-EC85-A04B-886A-5B5ECF8A3A8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299948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5481366"/>
            <a:ext cx="9144000" cy="359073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57480">
              <a:spcBef>
                <a:spcPts val="400"/>
              </a:spcBef>
              <a:tabLst>
                <a:tab pos="5411470" algn="l"/>
                <a:tab pos="7621270" algn="l"/>
              </a:tabLst>
            </a:pP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Fei-Fei Li &amp; Andrej Karpathy &amp;</a:t>
            </a:r>
            <a:r>
              <a:rPr spc="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Justin</a:t>
            </a:r>
            <a:r>
              <a:rPr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Johnson	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sz="3000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3000" baseline="-4166" dirty="0">
                <a:solidFill>
                  <a:srgbClr val="FFFFFF"/>
                </a:solidFill>
                <a:latin typeface="Arial"/>
                <a:cs typeface="Arial"/>
              </a:rPr>
              <a:t> -	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13 Jan</a:t>
            </a:r>
            <a:r>
              <a:rPr sz="3000" spc="-97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2016</a:t>
            </a:r>
            <a:endParaRPr sz="3000" baseline="-4166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0600" y="3355395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5">
                <a:moveTo>
                  <a:pt x="0" y="0"/>
                </a:moveTo>
                <a:lnTo>
                  <a:pt x="4166091" y="0"/>
                </a:lnTo>
                <a:lnTo>
                  <a:pt x="4166091" y="785398"/>
                </a:lnTo>
                <a:lnTo>
                  <a:pt x="0" y="7853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0100" y="2447822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4">
                <a:moveTo>
                  <a:pt x="0" y="0"/>
                </a:moveTo>
                <a:lnTo>
                  <a:pt x="4166091" y="0"/>
                </a:lnTo>
                <a:lnTo>
                  <a:pt x="4166091" y="785398"/>
                </a:lnTo>
                <a:lnTo>
                  <a:pt x="0" y="7853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90550" y="1165875"/>
            <a:ext cx="2847969" cy="4381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05940" y="1011924"/>
            <a:ext cx="4510690" cy="20567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501191" y="1007163"/>
            <a:ext cx="4520565" cy="2066289"/>
          </a:xfrm>
          <a:custGeom>
            <a:avLst/>
            <a:gdLst/>
            <a:ahLst/>
            <a:cxnLst/>
            <a:rect l="l" t="t" r="r" b="b"/>
            <a:pathLst>
              <a:path w="4520565" h="2066289">
                <a:moveTo>
                  <a:pt x="0" y="0"/>
                </a:moveTo>
                <a:lnTo>
                  <a:pt x="4520215" y="0"/>
                </a:lnTo>
                <a:lnTo>
                  <a:pt x="4520215" y="2066245"/>
                </a:lnTo>
                <a:lnTo>
                  <a:pt x="0" y="2066245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702041" y="1313250"/>
            <a:ext cx="375285" cy="263525"/>
          </a:xfrm>
          <a:custGeom>
            <a:avLst/>
            <a:gdLst/>
            <a:ahLst/>
            <a:cxnLst/>
            <a:rect l="l" t="t" r="r" b="b"/>
            <a:pathLst>
              <a:path w="375285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774666" y="2072048"/>
            <a:ext cx="375285" cy="263525"/>
          </a:xfrm>
          <a:custGeom>
            <a:avLst/>
            <a:gdLst/>
            <a:ahLst/>
            <a:cxnLst/>
            <a:rect l="l" t="t" r="r" b="b"/>
            <a:pathLst>
              <a:path w="375285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31950" y="1711930"/>
            <a:ext cx="316420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spc="-5" dirty="0">
                <a:solidFill>
                  <a:srgbClr val="38751C"/>
                </a:solidFill>
              </a:rPr>
              <a:t>e.g. </a:t>
            </a:r>
            <a:r>
              <a:rPr sz="2400" dirty="0">
                <a:solidFill>
                  <a:srgbClr val="38751C"/>
                </a:solidFill>
              </a:rPr>
              <a:t>x </a:t>
            </a:r>
            <a:r>
              <a:rPr sz="2400" spc="-5" dirty="0">
                <a:solidFill>
                  <a:srgbClr val="38751C"/>
                </a:solidFill>
              </a:rPr>
              <a:t>= -2, </a:t>
            </a:r>
            <a:r>
              <a:rPr sz="2400" dirty="0">
                <a:solidFill>
                  <a:srgbClr val="38751C"/>
                </a:solidFill>
              </a:rPr>
              <a:t>y </a:t>
            </a:r>
            <a:r>
              <a:rPr sz="2400" spc="-5" dirty="0">
                <a:solidFill>
                  <a:srgbClr val="38751C"/>
                </a:solidFill>
              </a:rPr>
              <a:t>= 5, </a:t>
            </a:r>
            <a:r>
              <a:rPr sz="2400" dirty="0">
                <a:solidFill>
                  <a:srgbClr val="38751C"/>
                </a:solidFill>
              </a:rPr>
              <a:t>z </a:t>
            </a:r>
            <a:r>
              <a:rPr sz="2400" spc="-5" dirty="0">
                <a:solidFill>
                  <a:srgbClr val="38751C"/>
                </a:solidFill>
              </a:rPr>
              <a:t>=</a:t>
            </a:r>
            <a:r>
              <a:rPr sz="2400" spc="-70" dirty="0">
                <a:solidFill>
                  <a:srgbClr val="38751C"/>
                </a:solidFill>
              </a:rPr>
              <a:t> </a:t>
            </a:r>
            <a:r>
              <a:rPr sz="2400" spc="-5" dirty="0">
                <a:solidFill>
                  <a:srgbClr val="38751C"/>
                </a:solidFill>
              </a:rPr>
              <a:t>-4</a:t>
            </a:r>
            <a:endParaRPr sz="2400"/>
          </a:p>
        </p:txBody>
      </p:sp>
      <p:sp>
        <p:nvSpPr>
          <p:cNvPr id="12" name="object 12"/>
          <p:cNvSpPr/>
          <p:nvPr/>
        </p:nvSpPr>
        <p:spPr>
          <a:xfrm>
            <a:off x="207187" y="2626996"/>
            <a:ext cx="1409697" cy="3905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53000" y="3520870"/>
            <a:ext cx="942973" cy="4571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000570" y="3454194"/>
            <a:ext cx="2047870" cy="5905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971033" y="2512697"/>
            <a:ext cx="2085958" cy="61912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3300" y="4609120"/>
            <a:ext cx="82105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Want: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528596" y="4478667"/>
            <a:ext cx="1609916" cy="61919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258214" y="2239522"/>
            <a:ext cx="3197860" cy="1054100"/>
          </a:xfrm>
          <a:custGeom>
            <a:avLst/>
            <a:gdLst/>
            <a:ahLst/>
            <a:cxnLst/>
            <a:rect l="l" t="t" r="r" b="b"/>
            <a:pathLst>
              <a:path w="3197859" h="1054100">
                <a:moveTo>
                  <a:pt x="3197743" y="1053822"/>
                </a:moveTo>
                <a:lnTo>
                  <a:pt x="0" y="0"/>
                </a:lnTo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176115" y="2209638"/>
            <a:ext cx="92075" cy="60325"/>
          </a:xfrm>
          <a:custGeom>
            <a:avLst/>
            <a:gdLst/>
            <a:ahLst/>
            <a:cxnLst/>
            <a:rect l="l" t="t" r="r" b="b"/>
            <a:pathLst>
              <a:path w="92075" h="60325">
                <a:moveTo>
                  <a:pt x="91949" y="0"/>
                </a:moveTo>
                <a:lnTo>
                  <a:pt x="0" y="2827"/>
                </a:lnTo>
                <a:lnTo>
                  <a:pt x="72249" y="59769"/>
                </a:lnTo>
                <a:lnTo>
                  <a:pt x="91949" y="0"/>
                </a:lnTo>
                <a:close/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271859" y="3293370"/>
            <a:ext cx="457199" cy="61919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262333" y="3283845"/>
            <a:ext cx="476250" cy="638810"/>
          </a:xfrm>
          <a:custGeom>
            <a:avLst/>
            <a:gdLst/>
            <a:ahLst/>
            <a:cxnLst/>
            <a:rect l="l" t="t" r="r" b="b"/>
            <a:pathLst>
              <a:path w="476250" h="638810">
                <a:moveTo>
                  <a:pt x="0" y="0"/>
                </a:moveTo>
                <a:lnTo>
                  <a:pt x="476249" y="0"/>
                </a:lnTo>
                <a:lnTo>
                  <a:pt x="476249" y="638248"/>
                </a:lnTo>
                <a:lnTo>
                  <a:pt x="0" y="63824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399118" y="5586262"/>
            <a:ext cx="1579880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90"/>
              </a:lnSpc>
            </a:pPr>
            <a:r>
              <a:rPr sz="3000" spc="-7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3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3000" spc="-225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18</a:t>
            </a:r>
            <a:endParaRPr sz="20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436E51E-748E-46E7-A53C-148400A88522}"/>
              </a:ext>
            </a:extLst>
          </p:cNvPr>
          <p:cNvSpPr txBox="1"/>
          <p:nvPr/>
        </p:nvSpPr>
        <p:spPr>
          <a:xfrm>
            <a:off x="0" y="6604084"/>
            <a:ext cx="10727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Andrej </a:t>
            </a:r>
            <a:r>
              <a:rPr lang="en-US" sz="1050" dirty="0" err="1"/>
              <a:t>Karpathy</a:t>
            </a:r>
            <a:endParaRPr lang="en-US" sz="105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C8FB328-5E27-184C-B2FF-3A949A0F2EE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317909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5481366"/>
            <a:ext cx="9144000" cy="359073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57480">
              <a:spcBef>
                <a:spcPts val="400"/>
              </a:spcBef>
              <a:tabLst>
                <a:tab pos="5411470" algn="l"/>
                <a:tab pos="7621270" algn="l"/>
              </a:tabLst>
            </a:pP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Fei-Fei Li &amp; Andrej Karpathy &amp;</a:t>
            </a:r>
            <a:r>
              <a:rPr spc="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Justin</a:t>
            </a:r>
            <a:r>
              <a:rPr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Johnson	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sz="3000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3000" baseline="-4166" dirty="0">
                <a:solidFill>
                  <a:srgbClr val="FFFFFF"/>
                </a:solidFill>
                <a:latin typeface="Arial"/>
                <a:cs typeface="Arial"/>
              </a:rPr>
              <a:t> -	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13 Jan</a:t>
            </a:r>
            <a:r>
              <a:rPr sz="3000" spc="-97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2016</a:t>
            </a:r>
            <a:endParaRPr sz="3000" baseline="-4166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0600" y="3355395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5">
                <a:moveTo>
                  <a:pt x="0" y="0"/>
                </a:moveTo>
                <a:lnTo>
                  <a:pt x="4166091" y="0"/>
                </a:lnTo>
                <a:lnTo>
                  <a:pt x="4166091" y="785398"/>
                </a:lnTo>
                <a:lnTo>
                  <a:pt x="0" y="7853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0100" y="2447822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4">
                <a:moveTo>
                  <a:pt x="0" y="0"/>
                </a:moveTo>
                <a:lnTo>
                  <a:pt x="4166091" y="0"/>
                </a:lnTo>
                <a:lnTo>
                  <a:pt x="4166091" y="785398"/>
                </a:lnTo>
                <a:lnTo>
                  <a:pt x="0" y="7853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90550" y="1165875"/>
            <a:ext cx="2847969" cy="4381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05940" y="1011924"/>
            <a:ext cx="4510690" cy="20567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501191" y="1007163"/>
            <a:ext cx="4520565" cy="2066289"/>
          </a:xfrm>
          <a:custGeom>
            <a:avLst/>
            <a:gdLst/>
            <a:ahLst/>
            <a:cxnLst/>
            <a:rect l="l" t="t" r="r" b="b"/>
            <a:pathLst>
              <a:path w="4520565" h="2066289">
                <a:moveTo>
                  <a:pt x="0" y="0"/>
                </a:moveTo>
                <a:lnTo>
                  <a:pt x="4520215" y="0"/>
                </a:lnTo>
                <a:lnTo>
                  <a:pt x="4520215" y="2066245"/>
                </a:lnTo>
                <a:lnTo>
                  <a:pt x="0" y="2066245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702041" y="1313250"/>
            <a:ext cx="375285" cy="263525"/>
          </a:xfrm>
          <a:custGeom>
            <a:avLst/>
            <a:gdLst/>
            <a:ahLst/>
            <a:cxnLst/>
            <a:rect l="l" t="t" r="r" b="b"/>
            <a:pathLst>
              <a:path w="375285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31950" y="1711930"/>
            <a:ext cx="316420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spc="-5" dirty="0">
                <a:solidFill>
                  <a:srgbClr val="38751C"/>
                </a:solidFill>
              </a:rPr>
              <a:t>e.g. </a:t>
            </a:r>
            <a:r>
              <a:rPr sz="2400" dirty="0">
                <a:solidFill>
                  <a:srgbClr val="38751C"/>
                </a:solidFill>
              </a:rPr>
              <a:t>x </a:t>
            </a:r>
            <a:r>
              <a:rPr sz="2400" spc="-5" dirty="0">
                <a:solidFill>
                  <a:srgbClr val="38751C"/>
                </a:solidFill>
              </a:rPr>
              <a:t>= -2, </a:t>
            </a:r>
            <a:r>
              <a:rPr sz="2400" dirty="0">
                <a:solidFill>
                  <a:srgbClr val="38751C"/>
                </a:solidFill>
              </a:rPr>
              <a:t>y </a:t>
            </a:r>
            <a:r>
              <a:rPr sz="2400" spc="-5" dirty="0">
                <a:solidFill>
                  <a:srgbClr val="38751C"/>
                </a:solidFill>
              </a:rPr>
              <a:t>= 5, </a:t>
            </a:r>
            <a:r>
              <a:rPr sz="2400" dirty="0">
                <a:solidFill>
                  <a:srgbClr val="38751C"/>
                </a:solidFill>
              </a:rPr>
              <a:t>z </a:t>
            </a:r>
            <a:r>
              <a:rPr sz="2400" spc="-5" dirty="0">
                <a:solidFill>
                  <a:srgbClr val="38751C"/>
                </a:solidFill>
              </a:rPr>
              <a:t>=</a:t>
            </a:r>
            <a:r>
              <a:rPr sz="2400" spc="-70" dirty="0">
                <a:solidFill>
                  <a:srgbClr val="38751C"/>
                </a:solidFill>
              </a:rPr>
              <a:t> </a:t>
            </a:r>
            <a:r>
              <a:rPr sz="2400" spc="-5" dirty="0">
                <a:solidFill>
                  <a:srgbClr val="38751C"/>
                </a:solidFill>
              </a:rPr>
              <a:t>-4</a:t>
            </a:r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207187" y="2626996"/>
            <a:ext cx="1409697" cy="3905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53000" y="3520870"/>
            <a:ext cx="942973" cy="4571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000570" y="3454194"/>
            <a:ext cx="2047870" cy="5905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971033" y="2512697"/>
            <a:ext cx="2085958" cy="61912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528596" y="4478667"/>
            <a:ext cx="1609916" cy="61919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455615" y="4004694"/>
            <a:ext cx="1956895" cy="74717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446088" y="3995169"/>
            <a:ext cx="1976120" cy="766445"/>
          </a:xfrm>
          <a:custGeom>
            <a:avLst/>
            <a:gdLst/>
            <a:ahLst/>
            <a:cxnLst/>
            <a:rect l="l" t="t" r="r" b="b"/>
            <a:pathLst>
              <a:path w="1976120" h="766445">
                <a:moveTo>
                  <a:pt x="0" y="0"/>
                </a:moveTo>
                <a:lnTo>
                  <a:pt x="1975946" y="0"/>
                </a:lnTo>
                <a:lnTo>
                  <a:pt x="1975946" y="766223"/>
                </a:lnTo>
                <a:lnTo>
                  <a:pt x="0" y="766223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23300" y="3601301"/>
            <a:ext cx="6690995" cy="14209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04460"/>
            <a:r>
              <a:rPr sz="2400" spc="-5" dirty="0">
                <a:solidFill>
                  <a:srgbClr val="38751C"/>
                </a:solidFill>
                <a:latin typeface="Arial"/>
                <a:cs typeface="Arial"/>
              </a:rPr>
              <a:t>Chain</a:t>
            </a:r>
            <a:r>
              <a:rPr sz="2400" spc="-65" dirty="0">
                <a:solidFill>
                  <a:srgbClr val="38751C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8751C"/>
                </a:solidFill>
                <a:latin typeface="Arial"/>
                <a:cs typeface="Arial"/>
              </a:rPr>
              <a:t>rule: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>
              <a:spcBef>
                <a:spcPts val="50"/>
              </a:spcBef>
            </a:pPr>
            <a:endParaRPr sz="19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Want: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258214" y="2239522"/>
            <a:ext cx="3197860" cy="1054100"/>
          </a:xfrm>
          <a:custGeom>
            <a:avLst/>
            <a:gdLst/>
            <a:ahLst/>
            <a:cxnLst/>
            <a:rect l="l" t="t" r="r" b="b"/>
            <a:pathLst>
              <a:path w="3197859" h="1054100">
                <a:moveTo>
                  <a:pt x="3197743" y="1053822"/>
                </a:moveTo>
                <a:lnTo>
                  <a:pt x="0" y="0"/>
                </a:lnTo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176115" y="2209638"/>
            <a:ext cx="92075" cy="60325"/>
          </a:xfrm>
          <a:custGeom>
            <a:avLst/>
            <a:gdLst/>
            <a:ahLst/>
            <a:cxnLst/>
            <a:rect l="l" t="t" r="r" b="b"/>
            <a:pathLst>
              <a:path w="92075" h="60325">
                <a:moveTo>
                  <a:pt x="91949" y="0"/>
                </a:moveTo>
                <a:lnTo>
                  <a:pt x="0" y="2827"/>
                </a:lnTo>
                <a:lnTo>
                  <a:pt x="72249" y="59769"/>
                </a:lnTo>
                <a:lnTo>
                  <a:pt x="91949" y="0"/>
                </a:lnTo>
                <a:close/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271859" y="3293370"/>
            <a:ext cx="457199" cy="61919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262333" y="3283845"/>
            <a:ext cx="476250" cy="638810"/>
          </a:xfrm>
          <a:custGeom>
            <a:avLst/>
            <a:gdLst/>
            <a:ahLst/>
            <a:cxnLst/>
            <a:rect l="l" t="t" r="r" b="b"/>
            <a:pathLst>
              <a:path w="476250" h="638810">
                <a:moveTo>
                  <a:pt x="0" y="0"/>
                </a:moveTo>
                <a:lnTo>
                  <a:pt x="476249" y="0"/>
                </a:lnTo>
                <a:lnTo>
                  <a:pt x="476249" y="638248"/>
                </a:lnTo>
                <a:lnTo>
                  <a:pt x="0" y="63824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510314" y="4028618"/>
            <a:ext cx="504448" cy="68319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900085" y="4043168"/>
            <a:ext cx="504448" cy="68319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399118" y="5586262"/>
            <a:ext cx="1579880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90"/>
              </a:lnSpc>
            </a:pPr>
            <a:r>
              <a:rPr sz="3000" spc="-7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3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3000" spc="-225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19</a:t>
            </a:r>
            <a:endParaRPr sz="20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D91419-D10C-4DFD-8FE9-5F4B2EE1941C}"/>
              </a:ext>
            </a:extLst>
          </p:cNvPr>
          <p:cNvSpPr txBox="1"/>
          <p:nvPr/>
        </p:nvSpPr>
        <p:spPr>
          <a:xfrm>
            <a:off x="0" y="6604084"/>
            <a:ext cx="10727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Andrej </a:t>
            </a:r>
            <a:r>
              <a:rPr lang="en-US" sz="1050" dirty="0" err="1"/>
              <a:t>Karpathy</a:t>
            </a:r>
            <a:endParaRPr lang="en-US" sz="105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CFCF62C-8902-5949-8BF2-CA41900D8EF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932862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5481366"/>
            <a:ext cx="9144000" cy="359073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57480">
              <a:spcBef>
                <a:spcPts val="400"/>
              </a:spcBef>
              <a:tabLst>
                <a:tab pos="5411470" algn="l"/>
                <a:tab pos="7621270" algn="l"/>
              </a:tabLst>
            </a:pP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Fei-Fei Li &amp; Andrej Karpathy &amp;</a:t>
            </a:r>
            <a:r>
              <a:rPr spc="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Justin</a:t>
            </a:r>
            <a:r>
              <a:rPr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Johnson	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sz="3000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3000" baseline="-4166" dirty="0">
                <a:solidFill>
                  <a:srgbClr val="FFFFFF"/>
                </a:solidFill>
                <a:latin typeface="Arial"/>
                <a:cs typeface="Arial"/>
              </a:rPr>
              <a:t> -	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13 Jan</a:t>
            </a:r>
            <a:r>
              <a:rPr sz="3000" spc="-97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2016</a:t>
            </a:r>
            <a:endParaRPr sz="3000" baseline="-4166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0600" y="3355395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5">
                <a:moveTo>
                  <a:pt x="0" y="0"/>
                </a:moveTo>
                <a:lnTo>
                  <a:pt x="4166091" y="0"/>
                </a:lnTo>
                <a:lnTo>
                  <a:pt x="4166091" y="785398"/>
                </a:lnTo>
                <a:lnTo>
                  <a:pt x="0" y="7853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0100" y="2447822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4">
                <a:moveTo>
                  <a:pt x="0" y="0"/>
                </a:moveTo>
                <a:lnTo>
                  <a:pt x="4166091" y="0"/>
                </a:lnTo>
                <a:lnTo>
                  <a:pt x="4166091" y="785398"/>
                </a:lnTo>
                <a:lnTo>
                  <a:pt x="0" y="7853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90550" y="1165875"/>
            <a:ext cx="2847969" cy="4381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05940" y="1011924"/>
            <a:ext cx="4510690" cy="20567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501191" y="1007163"/>
            <a:ext cx="4520565" cy="2066289"/>
          </a:xfrm>
          <a:custGeom>
            <a:avLst/>
            <a:gdLst/>
            <a:ahLst/>
            <a:cxnLst/>
            <a:rect l="l" t="t" r="r" b="b"/>
            <a:pathLst>
              <a:path w="4520565" h="2066289">
                <a:moveTo>
                  <a:pt x="0" y="0"/>
                </a:moveTo>
                <a:lnTo>
                  <a:pt x="4520215" y="0"/>
                </a:lnTo>
                <a:lnTo>
                  <a:pt x="4520215" y="2066245"/>
                </a:lnTo>
                <a:lnTo>
                  <a:pt x="0" y="2066245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702041" y="1313250"/>
            <a:ext cx="375285" cy="263525"/>
          </a:xfrm>
          <a:custGeom>
            <a:avLst/>
            <a:gdLst/>
            <a:ahLst/>
            <a:cxnLst/>
            <a:rect l="l" t="t" r="r" b="b"/>
            <a:pathLst>
              <a:path w="375285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31950" y="1711930"/>
            <a:ext cx="316420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spc="-5" dirty="0">
                <a:solidFill>
                  <a:srgbClr val="38751C"/>
                </a:solidFill>
              </a:rPr>
              <a:t>e.g. </a:t>
            </a:r>
            <a:r>
              <a:rPr sz="2400" dirty="0">
                <a:solidFill>
                  <a:srgbClr val="38751C"/>
                </a:solidFill>
              </a:rPr>
              <a:t>x </a:t>
            </a:r>
            <a:r>
              <a:rPr sz="2400" spc="-5" dirty="0">
                <a:solidFill>
                  <a:srgbClr val="38751C"/>
                </a:solidFill>
              </a:rPr>
              <a:t>= -2, </a:t>
            </a:r>
            <a:r>
              <a:rPr sz="2400" dirty="0">
                <a:solidFill>
                  <a:srgbClr val="38751C"/>
                </a:solidFill>
              </a:rPr>
              <a:t>y </a:t>
            </a:r>
            <a:r>
              <a:rPr sz="2400" spc="-5" dirty="0">
                <a:solidFill>
                  <a:srgbClr val="38751C"/>
                </a:solidFill>
              </a:rPr>
              <a:t>= 5, </a:t>
            </a:r>
            <a:r>
              <a:rPr sz="2400" dirty="0">
                <a:solidFill>
                  <a:srgbClr val="38751C"/>
                </a:solidFill>
              </a:rPr>
              <a:t>z </a:t>
            </a:r>
            <a:r>
              <a:rPr sz="2400" spc="-5" dirty="0">
                <a:solidFill>
                  <a:srgbClr val="38751C"/>
                </a:solidFill>
              </a:rPr>
              <a:t>=</a:t>
            </a:r>
            <a:r>
              <a:rPr sz="2400" spc="-70" dirty="0">
                <a:solidFill>
                  <a:srgbClr val="38751C"/>
                </a:solidFill>
              </a:rPr>
              <a:t> </a:t>
            </a:r>
            <a:r>
              <a:rPr sz="2400" spc="-5" dirty="0">
                <a:solidFill>
                  <a:srgbClr val="38751C"/>
                </a:solidFill>
              </a:rPr>
              <a:t>-4</a:t>
            </a:r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207187" y="2626996"/>
            <a:ext cx="1409697" cy="3905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53000" y="3520870"/>
            <a:ext cx="942973" cy="4571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000570" y="3454194"/>
            <a:ext cx="2047870" cy="5905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971033" y="2512697"/>
            <a:ext cx="2085958" cy="61912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3300" y="4609120"/>
            <a:ext cx="82105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Want: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528596" y="4478667"/>
            <a:ext cx="1609916" cy="61919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177314" y="1499802"/>
            <a:ext cx="3279140" cy="1793875"/>
          </a:xfrm>
          <a:custGeom>
            <a:avLst/>
            <a:gdLst/>
            <a:ahLst/>
            <a:cxnLst/>
            <a:rect l="l" t="t" r="r" b="b"/>
            <a:pathLst>
              <a:path w="3279140" h="1793875">
                <a:moveTo>
                  <a:pt x="3278618" y="1793443"/>
                </a:moveTo>
                <a:lnTo>
                  <a:pt x="0" y="0"/>
                </a:lnTo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101464" y="1458314"/>
            <a:ext cx="91440" cy="69215"/>
          </a:xfrm>
          <a:custGeom>
            <a:avLst/>
            <a:gdLst/>
            <a:ahLst/>
            <a:cxnLst/>
            <a:rect l="l" t="t" r="r" b="b"/>
            <a:pathLst>
              <a:path w="91439" h="69215">
                <a:moveTo>
                  <a:pt x="90949" y="13882"/>
                </a:moveTo>
                <a:lnTo>
                  <a:pt x="0" y="0"/>
                </a:lnTo>
                <a:lnTo>
                  <a:pt x="60749" y="69092"/>
                </a:lnTo>
                <a:lnTo>
                  <a:pt x="90949" y="13882"/>
                </a:lnTo>
                <a:close/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262683" y="3293245"/>
            <a:ext cx="426474" cy="61919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253158" y="3283720"/>
            <a:ext cx="445770" cy="638810"/>
          </a:xfrm>
          <a:custGeom>
            <a:avLst/>
            <a:gdLst/>
            <a:ahLst/>
            <a:cxnLst/>
            <a:rect l="l" t="t" r="r" b="b"/>
            <a:pathLst>
              <a:path w="445770" h="638810">
                <a:moveTo>
                  <a:pt x="0" y="0"/>
                </a:moveTo>
                <a:lnTo>
                  <a:pt x="445524" y="0"/>
                </a:lnTo>
                <a:lnTo>
                  <a:pt x="445524" y="638248"/>
                </a:lnTo>
                <a:lnTo>
                  <a:pt x="0" y="63824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399118" y="5586262"/>
            <a:ext cx="1579880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90"/>
              </a:lnSpc>
            </a:pPr>
            <a:r>
              <a:rPr sz="3000" spc="-7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3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3000" spc="-225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20</a:t>
            </a:r>
            <a:endParaRPr sz="20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AF6EAE8-A0D9-42BF-899B-D2B6672E3012}"/>
              </a:ext>
            </a:extLst>
          </p:cNvPr>
          <p:cNvSpPr txBox="1"/>
          <p:nvPr/>
        </p:nvSpPr>
        <p:spPr>
          <a:xfrm>
            <a:off x="0" y="6604084"/>
            <a:ext cx="10727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Andrej </a:t>
            </a:r>
            <a:r>
              <a:rPr lang="en-US" sz="1050" dirty="0" err="1"/>
              <a:t>Karpathy</a:t>
            </a:r>
            <a:endParaRPr lang="en-US" sz="105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487A558-B04C-D147-90C4-664E25670E3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909609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5481366"/>
            <a:ext cx="9144000" cy="359073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57480">
              <a:spcBef>
                <a:spcPts val="400"/>
              </a:spcBef>
              <a:tabLst>
                <a:tab pos="5411470" algn="l"/>
                <a:tab pos="7621270" algn="l"/>
              </a:tabLst>
            </a:pP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Fei-Fei Li &amp; Andrej Karpathy &amp;</a:t>
            </a:r>
            <a:r>
              <a:rPr spc="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Justin</a:t>
            </a:r>
            <a:r>
              <a:rPr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Johnson	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sz="3000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3000" baseline="-4166" dirty="0">
                <a:solidFill>
                  <a:srgbClr val="FFFFFF"/>
                </a:solidFill>
                <a:latin typeface="Arial"/>
                <a:cs typeface="Arial"/>
              </a:rPr>
              <a:t> -	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13 Jan</a:t>
            </a:r>
            <a:r>
              <a:rPr sz="3000" spc="-97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2016</a:t>
            </a:r>
            <a:endParaRPr sz="3000" baseline="-4166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0600" y="3355395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5">
                <a:moveTo>
                  <a:pt x="0" y="0"/>
                </a:moveTo>
                <a:lnTo>
                  <a:pt x="4166091" y="0"/>
                </a:lnTo>
                <a:lnTo>
                  <a:pt x="4166091" y="785398"/>
                </a:lnTo>
                <a:lnTo>
                  <a:pt x="0" y="7853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0100" y="2447822"/>
            <a:ext cx="4166235" cy="785495"/>
          </a:xfrm>
          <a:custGeom>
            <a:avLst/>
            <a:gdLst/>
            <a:ahLst/>
            <a:cxnLst/>
            <a:rect l="l" t="t" r="r" b="b"/>
            <a:pathLst>
              <a:path w="4166235" h="785494">
                <a:moveTo>
                  <a:pt x="0" y="0"/>
                </a:moveTo>
                <a:lnTo>
                  <a:pt x="4166091" y="0"/>
                </a:lnTo>
                <a:lnTo>
                  <a:pt x="4166091" y="785398"/>
                </a:lnTo>
                <a:lnTo>
                  <a:pt x="0" y="7853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90550" y="1165875"/>
            <a:ext cx="2847969" cy="4381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05940" y="1011924"/>
            <a:ext cx="4510690" cy="20567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501191" y="1007163"/>
            <a:ext cx="4520565" cy="2066289"/>
          </a:xfrm>
          <a:custGeom>
            <a:avLst/>
            <a:gdLst/>
            <a:ahLst/>
            <a:cxnLst/>
            <a:rect l="l" t="t" r="r" b="b"/>
            <a:pathLst>
              <a:path w="4520565" h="2066289">
                <a:moveTo>
                  <a:pt x="0" y="0"/>
                </a:moveTo>
                <a:lnTo>
                  <a:pt x="4520215" y="0"/>
                </a:lnTo>
                <a:lnTo>
                  <a:pt x="4520215" y="2066245"/>
                </a:lnTo>
                <a:lnTo>
                  <a:pt x="0" y="2066245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31950" y="1711930"/>
            <a:ext cx="316420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spc="-5" dirty="0">
                <a:solidFill>
                  <a:srgbClr val="38751C"/>
                </a:solidFill>
              </a:rPr>
              <a:t>e.g. </a:t>
            </a:r>
            <a:r>
              <a:rPr sz="2400" dirty="0">
                <a:solidFill>
                  <a:srgbClr val="38751C"/>
                </a:solidFill>
              </a:rPr>
              <a:t>x </a:t>
            </a:r>
            <a:r>
              <a:rPr sz="2400" spc="-5" dirty="0">
                <a:solidFill>
                  <a:srgbClr val="38751C"/>
                </a:solidFill>
              </a:rPr>
              <a:t>= -2, </a:t>
            </a:r>
            <a:r>
              <a:rPr sz="2400" dirty="0">
                <a:solidFill>
                  <a:srgbClr val="38751C"/>
                </a:solidFill>
              </a:rPr>
              <a:t>y </a:t>
            </a:r>
            <a:r>
              <a:rPr sz="2400" spc="-5" dirty="0">
                <a:solidFill>
                  <a:srgbClr val="38751C"/>
                </a:solidFill>
              </a:rPr>
              <a:t>= 5, </a:t>
            </a:r>
            <a:r>
              <a:rPr sz="2400" dirty="0">
                <a:solidFill>
                  <a:srgbClr val="38751C"/>
                </a:solidFill>
              </a:rPr>
              <a:t>z </a:t>
            </a:r>
            <a:r>
              <a:rPr sz="2400" spc="-5" dirty="0">
                <a:solidFill>
                  <a:srgbClr val="38751C"/>
                </a:solidFill>
              </a:rPr>
              <a:t>=</a:t>
            </a:r>
            <a:r>
              <a:rPr sz="2400" spc="-70" dirty="0">
                <a:solidFill>
                  <a:srgbClr val="38751C"/>
                </a:solidFill>
              </a:rPr>
              <a:t> </a:t>
            </a:r>
            <a:r>
              <a:rPr sz="2400" spc="-5" dirty="0">
                <a:solidFill>
                  <a:srgbClr val="38751C"/>
                </a:solidFill>
              </a:rPr>
              <a:t>-4</a:t>
            </a:r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207187" y="2626996"/>
            <a:ext cx="1409697" cy="3905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53000" y="3520870"/>
            <a:ext cx="942973" cy="4571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000570" y="3454194"/>
            <a:ext cx="2047870" cy="5905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971033" y="2512697"/>
            <a:ext cx="2085958" cy="61912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528596" y="4478667"/>
            <a:ext cx="1609916" cy="61919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177314" y="1499802"/>
            <a:ext cx="3279140" cy="1793875"/>
          </a:xfrm>
          <a:custGeom>
            <a:avLst/>
            <a:gdLst/>
            <a:ahLst/>
            <a:cxnLst/>
            <a:rect l="l" t="t" r="r" b="b"/>
            <a:pathLst>
              <a:path w="3279140" h="1793875">
                <a:moveTo>
                  <a:pt x="3278618" y="1793443"/>
                </a:moveTo>
                <a:lnTo>
                  <a:pt x="0" y="0"/>
                </a:lnTo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101464" y="1458314"/>
            <a:ext cx="91440" cy="69215"/>
          </a:xfrm>
          <a:custGeom>
            <a:avLst/>
            <a:gdLst/>
            <a:ahLst/>
            <a:cxnLst/>
            <a:rect l="l" t="t" r="r" b="b"/>
            <a:pathLst>
              <a:path w="91439" h="69215">
                <a:moveTo>
                  <a:pt x="90949" y="13882"/>
                </a:moveTo>
                <a:lnTo>
                  <a:pt x="0" y="0"/>
                </a:lnTo>
                <a:lnTo>
                  <a:pt x="60749" y="69092"/>
                </a:lnTo>
                <a:lnTo>
                  <a:pt x="90949" y="13882"/>
                </a:lnTo>
                <a:close/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262683" y="3293245"/>
            <a:ext cx="426474" cy="61919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253158" y="3283720"/>
            <a:ext cx="445770" cy="638810"/>
          </a:xfrm>
          <a:custGeom>
            <a:avLst/>
            <a:gdLst/>
            <a:ahLst/>
            <a:cxnLst/>
            <a:rect l="l" t="t" r="r" b="b"/>
            <a:pathLst>
              <a:path w="445770" h="638810">
                <a:moveTo>
                  <a:pt x="0" y="0"/>
                </a:moveTo>
                <a:lnTo>
                  <a:pt x="445524" y="0"/>
                </a:lnTo>
                <a:lnTo>
                  <a:pt x="445524" y="638248"/>
                </a:lnTo>
                <a:lnTo>
                  <a:pt x="0" y="63824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455615" y="4012669"/>
            <a:ext cx="1956895" cy="74717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446088" y="4003144"/>
            <a:ext cx="1976120" cy="766445"/>
          </a:xfrm>
          <a:custGeom>
            <a:avLst/>
            <a:gdLst/>
            <a:ahLst/>
            <a:cxnLst/>
            <a:rect l="l" t="t" r="r" b="b"/>
            <a:pathLst>
              <a:path w="1976120" h="766445">
                <a:moveTo>
                  <a:pt x="0" y="0"/>
                </a:moveTo>
                <a:lnTo>
                  <a:pt x="1975946" y="0"/>
                </a:lnTo>
                <a:lnTo>
                  <a:pt x="1975946" y="766223"/>
                </a:lnTo>
                <a:lnTo>
                  <a:pt x="0" y="766223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23300" y="3601301"/>
            <a:ext cx="6690995" cy="14209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04460"/>
            <a:r>
              <a:rPr sz="2400" spc="-5" dirty="0">
                <a:solidFill>
                  <a:srgbClr val="38751C"/>
                </a:solidFill>
                <a:latin typeface="Arial"/>
                <a:cs typeface="Arial"/>
              </a:rPr>
              <a:t>Chain</a:t>
            </a:r>
            <a:r>
              <a:rPr sz="2400" spc="-65" dirty="0">
                <a:solidFill>
                  <a:srgbClr val="38751C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38751C"/>
                </a:solidFill>
                <a:latin typeface="Arial"/>
                <a:cs typeface="Arial"/>
              </a:rPr>
              <a:t>rule: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>
              <a:spcBef>
                <a:spcPts val="50"/>
              </a:spcBef>
            </a:pPr>
            <a:endParaRPr sz="19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Want: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399118" y="5586262"/>
            <a:ext cx="1579880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90"/>
              </a:lnSpc>
            </a:pPr>
            <a:r>
              <a:rPr sz="3000" spc="-7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3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3000" spc="-225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21</a:t>
            </a:r>
            <a:endParaRPr sz="20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E6A5B20-79D3-4D25-AF73-FDE52CBB5E31}"/>
              </a:ext>
            </a:extLst>
          </p:cNvPr>
          <p:cNvSpPr txBox="1"/>
          <p:nvPr/>
        </p:nvSpPr>
        <p:spPr>
          <a:xfrm>
            <a:off x="0" y="6604084"/>
            <a:ext cx="10727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Andrej </a:t>
            </a:r>
            <a:r>
              <a:rPr lang="en-US" sz="1050" dirty="0" err="1"/>
              <a:t>Karpathy</a:t>
            </a:r>
            <a:endParaRPr lang="en-US" sz="105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3E592D6-9C95-4D46-B6FE-F402F02CDC6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67920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5481366"/>
            <a:ext cx="9144000" cy="359073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57480">
              <a:spcBef>
                <a:spcPts val="400"/>
              </a:spcBef>
              <a:tabLst>
                <a:tab pos="5411470" algn="l"/>
                <a:tab pos="7621270" algn="l"/>
              </a:tabLst>
            </a:pP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Fei-Fei Li &amp; Andrej Karpathy &amp;</a:t>
            </a:r>
            <a:r>
              <a:rPr spc="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Justin</a:t>
            </a:r>
            <a:r>
              <a:rPr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Johnson	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sz="3000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3000" baseline="-4166" dirty="0">
                <a:solidFill>
                  <a:srgbClr val="FFFFFF"/>
                </a:solidFill>
                <a:latin typeface="Arial"/>
                <a:cs typeface="Arial"/>
              </a:rPr>
              <a:t> -	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13 Jan</a:t>
            </a:r>
            <a:r>
              <a:rPr sz="3000" spc="-97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2016</a:t>
            </a:r>
            <a:endParaRPr sz="3000" baseline="-4166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76193" y="1351999"/>
            <a:ext cx="3495040" cy="3495040"/>
          </a:xfrm>
          <a:custGeom>
            <a:avLst/>
            <a:gdLst/>
            <a:ahLst/>
            <a:cxnLst/>
            <a:rect l="l" t="t" r="r" b="b"/>
            <a:pathLst>
              <a:path w="3495040" h="3495040">
                <a:moveTo>
                  <a:pt x="0" y="1747346"/>
                </a:moveTo>
                <a:lnTo>
                  <a:pt x="649" y="1699249"/>
                </a:lnTo>
                <a:lnTo>
                  <a:pt x="2585" y="1651474"/>
                </a:lnTo>
                <a:lnTo>
                  <a:pt x="5792" y="1604036"/>
                </a:lnTo>
                <a:lnTo>
                  <a:pt x="10253" y="1556953"/>
                </a:lnTo>
                <a:lnTo>
                  <a:pt x="15951" y="1510241"/>
                </a:lnTo>
                <a:lnTo>
                  <a:pt x="22870" y="1463917"/>
                </a:lnTo>
                <a:lnTo>
                  <a:pt x="30992" y="1417998"/>
                </a:lnTo>
                <a:lnTo>
                  <a:pt x="40302" y="1372499"/>
                </a:lnTo>
                <a:lnTo>
                  <a:pt x="50783" y="1327438"/>
                </a:lnTo>
                <a:lnTo>
                  <a:pt x="62417" y="1282832"/>
                </a:lnTo>
                <a:lnTo>
                  <a:pt x="75189" y="1238697"/>
                </a:lnTo>
                <a:lnTo>
                  <a:pt x="89081" y="1195049"/>
                </a:lnTo>
                <a:lnTo>
                  <a:pt x="104078" y="1151906"/>
                </a:lnTo>
                <a:lnTo>
                  <a:pt x="120162" y="1109284"/>
                </a:lnTo>
                <a:lnTo>
                  <a:pt x="137316" y="1067200"/>
                </a:lnTo>
                <a:lnTo>
                  <a:pt x="155525" y="1025670"/>
                </a:lnTo>
                <a:lnTo>
                  <a:pt x="174770" y="984711"/>
                </a:lnTo>
                <a:lnTo>
                  <a:pt x="195037" y="944340"/>
                </a:lnTo>
                <a:lnTo>
                  <a:pt x="216308" y="904573"/>
                </a:lnTo>
                <a:lnTo>
                  <a:pt x="238566" y="865427"/>
                </a:lnTo>
                <a:lnTo>
                  <a:pt x="261794" y="826918"/>
                </a:lnTo>
                <a:lnTo>
                  <a:pt x="285977" y="789064"/>
                </a:lnTo>
                <a:lnTo>
                  <a:pt x="311098" y="751881"/>
                </a:lnTo>
                <a:lnTo>
                  <a:pt x="337139" y="715386"/>
                </a:lnTo>
                <a:lnTo>
                  <a:pt x="364084" y="679595"/>
                </a:lnTo>
                <a:lnTo>
                  <a:pt x="391917" y="644524"/>
                </a:lnTo>
                <a:lnTo>
                  <a:pt x="420620" y="610192"/>
                </a:lnTo>
                <a:lnTo>
                  <a:pt x="450178" y="576613"/>
                </a:lnTo>
                <a:lnTo>
                  <a:pt x="480573" y="543805"/>
                </a:lnTo>
                <a:lnTo>
                  <a:pt x="511789" y="511785"/>
                </a:lnTo>
                <a:lnTo>
                  <a:pt x="543809" y="480569"/>
                </a:lnTo>
                <a:lnTo>
                  <a:pt x="576617" y="450174"/>
                </a:lnTo>
                <a:lnTo>
                  <a:pt x="610196" y="420617"/>
                </a:lnTo>
                <a:lnTo>
                  <a:pt x="644528" y="391914"/>
                </a:lnTo>
                <a:lnTo>
                  <a:pt x="679599" y="364081"/>
                </a:lnTo>
                <a:lnTo>
                  <a:pt x="715390" y="337136"/>
                </a:lnTo>
                <a:lnTo>
                  <a:pt x="751886" y="311095"/>
                </a:lnTo>
                <a:lnTo>
                  <a:pt x="789069" y="285975"/>
                </a:lnTo>
                <a:lnTo>
                  <a:pt x="826923" y="261792"/>
                </a:lnTo>
                <a:lnTo>
                  <a:pt x="865431" y="238563"/>
                </a:lnTo>
                <a:lnTo>
                  <a:pt x="904577" y="216306"/>
                </a:lnTo>
                <a:lnTo>
                  <a:pt x="944344" y="195035"/>
                </a:lnTo>
                <a:lnTo>
                  <a:pt x="984715" y="174769"/>
                </a:lnTo>
                <a:lnTo>
                  <a:pt x="1025674" y="155523"/>
                </a:lnTo>
                <a:lnTo>
                  <a:pt x="1067204" y="137315"/>
                </a:lnTo>
                <a:lnTo>
                  <a:pt x="1109288" y="120160"/>
                </a:lnTo>
                <a:lnTo>
                  <a:pt x="1151910" y="104077"/>
                </a:lnTo>
                <a:lnTo>
                  <a:pt x="1195053" y="89080"/>
                </a:lnTo>
                <a:lnTo>
                  <a:pt x="1238700" y="75188"/>
                </a:lnTo>
                <a:lnTo>
                  <a:pt x="1282835" y="62416"/>
                </a:lnTo>
                <a:lnTo>
                  <a:pt x="1327442" y="50782"/>
                </a:lnTo>
                <a:lnTo>
                  <a:pt x="1372502" y="40302"/>
                </a:lnTo>
                <a:lnTo>
                  <a:pt x="1418000" y="30992"/>
                </a:lnTo>
                <a:lnTo>
                  <a:pt x="1463920" y="22869"/>
                </a:lnTo>
                <a:lnTo>
                  <a:pt x="1510243" y="15951"/>
                </a:lnTo>
                <a:lnTo>
                  <a:pt x="1556955" y="10253"/>
                </a:lnTo>
                <a:lnTo>
                  <a:pt x="1604038" y="5792"/>
                </a:lnTo>
                <a:lnTo>
                  <a:pt x="1651475" y="2585"/>
                </a:lnTo>
                <a:lnTo>
                  <a:pt x="1699250" y="649"/>
                </a:lnTo>
                <a:lnTo>
                  <a:pt x="1747346" y="0"/>
                </a:lnTo>
                <a:lnTo>
                  <a:pt x="1796921" y="702"/>
                </a:lnTo>
                <a:lnTo>
                  <a:pt x="1846325" y="2803"/>
                </a:lnTo>
                <a:lnTo>
                  <a:pt x="1895530" y="6290"/>
                </a:lnTo>
                <a:lnTo>
                  <a:pt x="1944510" y="11153"/>
                </a:lnTo>
                <a:lnTo>
                  <a:pt x="1993237" y="17380"/>
                </a:lnTo>
                <a:lnTo>
                  <a:pt x="2041685" y="24961"/>
                </a:lnTo>
                <a:lnTo>
                  <a:pt x="2089828" y="33884"/>
                </a:lnTo>
                <a:lnTo>
                  <a:pt x="2137639" y="44139"/>
                </a:lnTo>
                <a:lnTo>
                  <a:pt x="2185091" y="55715"/>
                </a:lnTo>
                <a:lnTo>
                  <a:pt x="2232157" y="68599"/>
                </a:lnTo>
                <a:lnTo>
                  <a:pt x="2278810" y="82782"/>
                </a:lnTo>
                <a:lnTo>
                  <a:pt x="2325025" y="98252"/>
                </a:lnTo>
                <a:lnTo>
                  <a:pt x="2370773" y="114997"/>
                </a:lnTo>
                <a:lnTo>
                  <a:pt x="2416029" y="133008"/>
                </a:lnTo>
                <a:lnTo>
                  <a:pt x="2460765" y="152273"/>
                </a:lnTo>
                <a:lnTo>
                  <a:pt x="2504956" y="172781"/>
                </a:lnTo>
                <a:lnTo>
                  <a:pt x="2548573" y="194520"/>
                </a:lnTo>
                <a:lnTo>
                  <a:pt x="2591591" y="217480"/>
                </a:lnTo>
                <a:lnTo>
                  <a:pt x="2633983" y="241650"/>
                </a:lnTo>
                <a:lnTo>
                  <a:pt x="2675722" y="267018"/>
                </a:lnTo>
                <a:lnTo>
                  <a:pt x="2716781" y="293574"/>
                </a:lnTo>
                <a:lnTo>
                  <a:pt x="2757134" y="321307"/>
                </a:lnTo>
                <a:lnTo>
                  <a:pt x="2796753" y="350204"/>
                </a:lnTo>
                <a:lnTo>
                  <a:pt x="2835613" y="380256"/>
                </a:lnTo>
                <a:lnTo>
                  <a:pt x="2873686" y="411452"/>
                </a:lnTo>
                <a:lnTo>
                  <a:pt x="2910946" y="443779"/>
                </a:lnTo>
                <a:lnTo>
                  <a:pt x="2947366" y="477227"/>
                </a:lnTo>
                <a:lnTo>
                  <a:pt x="2982918" y="511786"/>
                </a:lnTo>
                <a:lnTo>
                  <a:pt x="3017475" y="547338"/>
                </a:lnTo>
                <a:lnTo>
                  <a:pt x="3050922" y="583757"/>
                </a:lnTo>
                <a:lnTo>
                  <a:pt x="3083248" y="621015"/>
                </a:lnTo>
                <a:lnTo>
                  <a:pt x="3114442" y="659087"/>
                </a:lnTo>
                <a:lnTo>
                  <a:pt x="3144493" y="697946"/>
                </a:lnTo>
                <a:lnTo>
                  <a:pt x="3173389" y="737565"/>
                </a:lnTo>
                <a:lnTo>
                  <a:pt x="3201121" y="777917"/>
                </a:lnTo>
                <a:lnTo>
                  <a:pt x="3227676" y="818975"/>
                </a:lnTo>
                <a:lnTo>
                  <a:pt x="3253044" y="860713"/>
                </a:lnTo>
                <a:lnTo>
                  <a:pt x="3277213" y="903104"/>
                </a:lnTo>
                <a:lnTo>
                  <a:pt x="3300172" y="946122"/>
                </a:lnTo>
                <a:lnTo>
                  <a:pt x="3321911" y="989739"/>
                </a:lnTo>
                <a:lnTo>
                  <a:pt x="3342419" y="1033929"/>
                </a:lnTo>
                <a:lnTo>
                  <a:pt x="3361683" y="1078665"/>
                </a:lnTo>
                <a:lnTo>
                  <a:pt x="3379694" y="1123920"/>
                </a:lnTo>
                <a:lnTo>
                  <a:pt x="3396440" y="1169668"/>
                </a:lnTo>
                <a:lnTo>
                  <a:pt x="3411910" y="1215882"/>
                </a:lnTo>
                <a:lnTo>
                  <a:pt x="3426092" y="1262535"/>
                </a:lnTo>
                <a:lnTo>
                  <a:pt x="3438977" y="1309601"/>
                </a:lnTo>
                <a:lnTo>
                  <a:pt x="3450552" y="1357052"/>
                </a:lnTo>
                <a:lnTo>
                  <a:pt x="3460807" y="1404863"/>
                </a:lnTo>
                <a:lnTo>
                  <a:pt x="3469731" y="1453006"/>
                </a:lnTo>
                <a:lnTo>
                  <a:pt x="3477312" y="1501454"/>
                </a:lnTo>
                <a:lnTo>
                  <a:pt x="3483539" y="1550182"/>
                </a:lnTo>
                <a:lnTo>
                  <a:pt x="3488402" y="1599161"/>
                </a:lnTo>
                <a:lnTo>
                  <a:pt x="3491889" y="1648366"/>
                </a:lnTo>
                <a:lnTo>
                  <a:pt x="3493990" y="1697770"/>
                </a:lnTo>
                <a:lnTo>
                  <a:pt x="3494692" y="1747346"/>
                </a:lnTo>
                <a:lnTo>
                  <a:pt x="3494043" y="1795442"/>
                </a:lnTo>
                <a:lnTo>
                  <a:pt x="3492107" y="1843217"/>
                </a:lnTo>
                <a:lnTo>
                  <a:pt x="3488900" y="1890654"/>
                </a:lnTo>
                <a:lnTo>
                  <a:pt x="3484439" y="1937737"/>
                </a:lnTo>
                <a:lnTo>
                  <a:pt x="3478741" y="1984448"/>
                </a:lnTo>
                <a:lnTo>
                  <a:pt x="3471822" y="2030772"/>
                </a:lnTo>
                <a:lnTo>
                  <a:pt x="3463700" y="2076692"/>
                </a:lnTo>
                <a:lnTo>
                  <a:pt x="3454390" y="2122190"/>
                </a:lnTo>
                <a:lnTo>
                  <a:pt x="3443909" y="2167250"/>
                </a:lnTo>
                <a:lnTo>
                  <a:pt x="3432275" y="2211857"/>
                </a:lnTo>
                <a:lnTo>
                  <a:pt x="3419503" y="2255992"/>
                </a:lnTo>
                <a:lnTo>
                  <a:pt x="3405611" y="2299639"/>
                </a:lnTo>
                <a:lnTo>
                  <a:pt x="3390614" y="2342782"/>
                </a:lnTo>
                <a:lnTo>
                  <a:pt x="3374530" y="2385404"/>
                </a:lnTo>
                <a:lnTo>
                  <a:pt x="3357376" y="2427488"/>
                </a:lnTo>
                <a:lnTo>
                  <a:pt x="3339167" y="2469018"/>
                </a:lnTo>
                <a:lnTo>
                  <a:pt x="3319922" y="2509977"/>
                </a:lnTo>
                <a:lnTo>
                  <a:pt x="3299655" y="2550348"/>
                </a:lnTo>
                <a:lnTo>
                  <a:pt x="3278384" y="2590115"/>
                </a:lnTo>
                <a:lnTo>
                  <a:pt x="3256126" y="2629261"/>
                </a:lnTo>
                <a:lnTo>
                  <a:pt x="3232897" y="2667769"/>
                </a:lnTo>
                <a:lnTo>
                  <a:pt x="3208715" y="2705623"/>
                </a:lnTo>
                <a:lnTo>
                  <a:pt x="3183594" y="2742806"/>
                </a:lnTo>
                <a:lnTo>
                  <a:pt x="3157553" y="2779302"/>
                </a:lnTo>
                <a:lnTo>
                  <a:pt x="3130608" y="2815093"/>
                </a:lnTo>
                <a:lnTo>
                  <a:pt x="3102775" y="2850164"/>
                </a:lnTo>
                <a:lnTo>
                  <a:pt x="3074072" y="2884496"/>
                </a:lnTo>
                <a:lnTo>
                  <a:pt x="3044514" y="2918075"/>
                </a:lnTo>
                <a:lnTo>
                  <a:pt x="3014119" y="2950883"/>
                </a:lnTo>
                <a:lnTo>
                  <a:pt x="2982903" y="2982903"/>
                </a:lnTo>
                <a:lnTo>
                  <a:pt x="2950883" y="3014119"/>
                </a:lnTo>
                <a:lnTo>
                  <a:pt x="2918075" y="3044514"/>
                </a:lnTo>
                <a:lnTo>
                  <a:pt x="2884496" y="3074072"/>
                </a:lnTo>
                <a:lnTo>
                  <a:pt x="2850164" y="3102775"/>
                </a:lnTo>
                <a:lnTo>
                  <a:pt x="2815093" y="3130608"/>
                </a:lnTo>
                <a:lnTo>
                  <a:pt x="2779302" y="3157553"/>
                </a:lnTo>
                <a:lnTo>
                  <a:pt x="2742806" y="3183594"/>
                </a:lnTo>
                <a:lnTo>
                  <a:pt x="2705623" y="3208715"/>
                </a:lnTo>
                <a:lnTo>
                  <a:pt x="2667769" y="3232897"/>
                </a:lnTo>
                <a:lnTo>
                  <a:pt x="2629261" y="3256126"/>
                </a:lnTo>
                <a:lnTo>
                  <a:pt x="2590115" y="3278384"/>
                </a:lnTo>
                <a:lnTo>
                  <a:pt x="2550348" y="3299655"/>
                </a:lnTo>
                <a:lnTo>
                  <a:pt x="2509977" y="3319922"/>
                </a:lnTo>
                <a:lnTo>
                  <a:pt x="2469018" y="3339167"/>
                </a:lnTo>
                <a:lnTo>
                  <a:pt x="2427488" y="3357376"/>
                </a:lnTo>
                <a:lnTo>
                  <a:pt x="2385404" y="3374530"/>
                </a:lnTo>
                <a:lnTo>
                  <a:pt x="2342782" y="3390614"/>
                </a:lnTo>
                <a:lnTo>
                  <a:pt x="2299639" y="3405611"/>
                </a:lnTo>
                <a:lnTo>
                  <a:pt x="2255992" y="3419503"/>
                </a:lnTo>
                <a:lnTo>
                  <a:pt x="2211857" y="3432275"/>
                </a:lnTo>
                <a:lnTo>
                  <a:pt x="2167250" y="3443909"/>
                </a:lnTo>
                <a:lnTo>
                  <a:pt x="2122190" y="3454390"/>
                </a:lnTo>
                <a:lnTo>
                  <a:pt x="2076692" y="3463700"/>
                </a:lnTo>
                <a:lnTo>
                  <a:pt x="2030772" y="3471822"/>
                </a:lnTo>
                <a:lnTo>
                  <a:pt x="1984448" y="3478741"/>
                </a:lnTo>
                <a:lnTo>
                  <a:pt x="1937737" y="3484439"/>
                </a:lnTo>
                <a:lnTo>
                  <a:pt x="1890654" y="3488900"/>
                </a:lnTo>
                <a:lnTo>
                  <a:pt x="1843217" y="3492107"/>
                </a:lnTo>
                <a:lnTo>
                  <a:pt x="1795442" y="3494043"/>
                </a:lnTo>
                <a:lnTo>
                  <a:pt x="1747346" y="3494692"/>
                </a:lnTo>
                <a:lnTo>
                  <a:pt x="1699250" y="3494043"/>
                </a:lnTo>
                <a:lnTo>
                  <a:pt x="1651475" y="3492107"/>
                </a:lnTo>
                <a:lnTo>
                  <a:pt x="1604038" y="3488900"/>
                </a:lnTo>
                <a:lnTo>
                  <a:pt x="1556955" y="3484439"/>
                </a:lnTo>
                <a:lnTo>
                  <a:pt x="1510243" y="3478741"/>
                </a:lnTo>
                <a:lnTo>
                  <a:pt x="1463920" y="3471822"/>
                </a:lnTo>
                <a:lnTo>
                  <a:pt x="1418000" y="3463700"/>
                </a:lnTo>
                <a:lnTo>
                  <a:pt x="1372502" y="3454390"/>
                </a:lnTo>
                <a:lnTo>
                  <a:pt x="1327442" y="3443909"/>
                </a:lnTo>
                <a:lnTo>
                  <a:pt x="1282835" y="3432275"/>
                </a:lnTo>
                <a:lnTo>
                  <a:pt x="1238700" y="3419503"/>
                </a:lnTo>
                <a:lnTo>
                  <a:pt x="1195053" y="3405611"/>
                </a:lnTo>
                <a:lnTo>
                  <a:pt x="1151910" y="3390614"/>
                </a:lnTo>
                <a:lnTo>
                  <a:pt x="1109288" y="3374530"/>
                </a:lnTo>
                <a:lnTo>
                  <a:pt x="1067204" y="3357376"/>
                </a:lnTo>
                <a:lnTo>
                  <a:pt x="1025674" y="3339167"/>
                </a:lnTo>
                <a:lnTo>
                  <a:pt x="984715" y="3319922"/>
                </a:lnTo>
                <a:lnTo>
                  <a:pt x="944344" y="3299655"/>
                </a:lnTo>
                <a:lnTo>
                  <a:pt x="904577" y="3278384"/>
                </a:lnTo>
                <a:lnTo>
                  <a:pt x="865431" y="3256126"/>
                </a:lnTo>
                <a:lnTo>
                  <a:pt x="826923" y="3232897"/>
                </a:lnTo>
                <a:lnTo>
                  <a:pt x="789069" y="3208715"/>
                </a:lnTo>
                <a:lnTo>
                  <a:pt x="751886" y="3183594"/>
                </a:lnTo>
                <a:lnTo>
                  <a:pt x="715390" y="3157553"/>
                </a:lnTo>
                <a:lnTo>
                  <a:pt x="679599" y="3130608"/>
                </a:lnTo>
                <a:lnTo>
                  <a:pt x="644528" y="3102775"/>
                </a:lnTo>
                <a:lnTo>
                  <a:pt x="610196" y="3074072"/>
                </a:lnTo>
                <a:lnTo>
                  <a:pt x="576617" y="3044514"/>
                </a:lnTo>
                <a:lnTo>
                  <a:pt x="543809" y="3014119"/>
                </a:lnTo>
                <a:lnTo>
                  <a:pt x="511789" y="2982903"/>
                </a:lnTo>
                <a:lnTo>
                  <a:pt x="480573" y="2950883"/>
                </a:lnTo>
                <a:lnTo>
                  <a:pt x="450178" y="2918075"/>
                </a:lnTo>
                <a:lnTo>
                  <a:pt x="420620" y="2884496"/>
                </a:lnTo>
                <a:lnTo>
                  <a:pt x="391917" y="2850164"/>
                </a:lnTo>
                <a:lnTo>
                  <a:pt x="364084" y="2815093"/>
                </a:lnTo>
                <a:lnTo>
                  <a:pt x="337139" y="2779302"/>
                </a:lnTo>
                <a:lnTo>
                  <a:pt x="311098" y="2742806"/>
                </a:lnTo>
                <a:lnTo>
                  <a:pt x="285977" y="2705623"/>
                </a:lnTo>
                <a:lnTo>
                  <a:pt x="261794" y="2667769"/>
                </a:lnTo>
                <a:lnTo>
                  <a:pt x="238566" y="2629261"/>
                </a:lnTo>
                <a:lnTo>
                  <a:pt x="216308" y="2590115"/>
                </a:lnTo>
                <a:lnTo>
                  <a:pt x="195037" y="2550348"/>
                </a:lnTo>
                <a:lnTo>
                  <a:pt x="174770" y="2509977"/>
                </a:lnTo>
                <a:lnTo>
                  <a:pt x="155525" y="2469018"/>
                </a:lnTo>
                <a:lnTo>
                  <a:pt x="137316" y="2427488"/>
                </a:lnTo>
                <a:lnTo>
                  <a:pt x="120162" y="2385404"/>
                </a:lnTo>
                <a:lnTo>
                  <a:pt x="104078" y="2342782"/>
                </a:lnTo>
                <a:lnTo>
                  <a:pt x="89081" y="2299639"/>
                </a:lnTo>
                <a:lnTo>
                  <a:pt x="75189" y="2255992"/>
                </a:lnTo>
                <a:lnTo>
                  <a:pt x="62417" y="2211857"/>
                </a:lnTo>
                <a:lnTo>
                  <a:pt x="50783" y="2167250"/>
                </a:lnTo>
                <a:lnTo>
                  <a:pt x="40302" y="2122190"/>
                </a:lnTo>
                <a:lnTo>
                  <a:pt x="30992" y="2076692"/>
                </a:lnTo>
                <a:lnTo>
                  <a:pt x="22870" y="2030772"/>
                </a:lnTo>
                <a:lnTo>
                  <a:pt x="15951" y="1984448"/>
                </a:lnTo>
                <a:lnTo>
                  <a:pt x="10253" y="1937737"/>
                </a:lnTo>
                <a:lnTo>
                  <a:pt x="5792" y="1890654"/>
                </a:lnTo>
                <a:lnTo>
                  <a:pt x="2585" y="1843217"/>
                </a:lnTo>
                <a:lnTo>
                  <a:pt x="649" y="1795442"/>
                </a:lnTo>
                <a:lnTo>
                  <a:pt x="0" y="1747346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26156" y="2708248"/>
            <a:ext cx="194310" cy="738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4800" spc="-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endParaRPr sz="48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02174" y="3869995"/>
            <a:ext cx="2301875" cy="777875"/>
          </a:xfrm>
          <a:custGeom>
            <a:avLst/>
            <a:gdLst/>
            <a:ahLst/>
            <a:cxnLst/>
            <a:rect l="l" t="t" r="r" b="b"/>
            <a:pathLst>
              <a:path w="2301875" h="777875">
                <a:moveTo>
                  <a:pt x="0" y="777323"/>
                </a:moveTo>
                <a:lnTo>
                  <a:pt x="2301595" y="0"/>
                </a:lnTo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993720" y="3840168"/>
            <a:ext cx="92075" cy="59690"/>
          </a:xfrm>
          <a:custGeom>
            <a:avLst/>
            <a:gdLst/>
            <a:ahLst/>
            <a:cxnLst/>
            <a:rect l="l" t="t" r="r" b="b"/>
            <a:pathLst>
              <a:path w="92075" h="59689">
                <a:moveTo>
                  <a:pt x="20124" y="59624"/>
                </a:moveTo>
                <a:lnTo>
                  <a:pt x="91974" y="2149"/>
                </a:lnTo>
                <a:lnTo>
                  <a:pt x="0" y="0"/>
                </a:lnTo>
                <a:lnTo>
                  <a:pt x="20124" y="59624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89423" y="1328024"/>
            <a:ext cx="2089150" cy="889000"/>
          </a:xfrm>
          <a:custGeom>
            <a:avLst/>
            <a:gdLst/>
            <a:ahLst/>
            <a:cxnLst/>
            <a:rect l="l" t="t" r="r" b="b"/>
            <a:pathLst>
              <a:path w="2089150" h="889000">
                <a:moveTo>
                  <a:pt x="0" y="0"/>
                </a:moveTo>
                <a:lnTo>
                  <a:pt x="2089020" y="888848"/>
                </a:lnTo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066119" y="2187918"/>
            <a:ext cx="92075" cy="62865"/>
          </a:xfrm>
          <a:custGeom>
            <a:avLst/>
            <a:gdLst/>
            <a:ahLst/>
            <a:cxnLst/>
            <a:rect l="l" t="t" r="r" b="b"/>
            <a:pathLst>
              <a:path w="92075" h="62865">
                <a:moveTo>
                  <a:pt x="0" y="57907"/>
                </a:moveTo>
                <a:lnTo>
                  <a:pt x="91874" y="62802"/>
                </a:lnTo>
                <a:lnTo>
                  <a:pt x="24649" y="0"/>
                </a:lnTo>
                <a:lnTo>
                  <a:pt x="0" y="57907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470886" y="3099345"/>
            <a:ext cx="2160270" cy="0"/>
          </a:xfrm>
          <a:custGeom>
            <a:avLst/>
            <a:gdLst/>
            <a:ahLst/>
            <a:cxnLst/>
            <a:rect l="l" t="t" r="r" b="b"/>
            <a:pathLst>
              <a:path w="2160270">
                <a:moveTo>
                  <a:pt x="0" y="0"/>
                </a:moveTo>
                <a:lnTo>
                  <a:pt x="2159995" y="0"/>
                </a:lnTo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630883" y="3067880"/>
            <a:ext cx="86995" cy="63500"/>
          </a:xfrm>
          <a:custGeom>
            <a:avLst/>
            <a:gdLst/>
            <a:ahLst/>
            <a:cxnLst/>
            <a:rect l="l" t="t" r="r" b="b"/>
            <a:pathLst>
              <a:path w="86995" h="63500">
                <a:moveTo>
                  <a:pt x="0" y="62929"/>
                </a:moveTo>
                <a:lnTo>
                  <a:pt x="86449" y="31464"/>
                </a:lnTo>
                <a:lnTo>
                  <a:pt x="0" y="0"/>
                </a:lnTo>
                <a:lnTo>
                  <a:pt x="0" y="62929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80509" y="1090350"/>
            <a:ext cx="352424" cy="304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370985" y="1080824"/>
            <a:ext cx="371475" cy="323850"/>
          </a:xfrm>
          <a:custGeom>
            <a:avLst/>
            <a:gdLst/>
            <a:ahLst/>
            <a:cxnLst/>
            <a:rect l="l" t="t" r="r" b="b"/>
            <a:pathLst>
              <a:path w="371475" h="323850">
                <a:moveTo>
                  <a:pt x="0" y="0"/>
                </a:moveTo>
                <a:lnTo>
                  <a:pt x="371474" y="0"/>
                </a:lnTo>
                <a:lnTo>
                  <a:pt x="371474" y="323849"/>
                </a:lnTo>
                <a:lnTo>
                  <a:pt x="0" y="32384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300359" y="3918269"/>
            <a:ext cx="295274" cy="3619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290835" y="3908743"/>
            <a:ext cx="314325" cy="381000"/>
          </a:xfrm>
          <a:custGeom>
            <a:avLst/>
            <a:gdLst/>
            <a:ahLst/>
            <a:cxnLst/>
            <a:rect l="l" t="t" r="r" b="b"/>
            <a:pathLst>
              <a:path w="314325" h="381000">
                <a:moveTo>
                  <a:pt x="0" y="0"/>
                </a:moveTo>
                <a:lnTo>
                  <a:pt x="314324" y="0"/>
                </a:lnTo>
                <a:lnTo>
                  <a:pt x="314324" y="380999"/>
                </a:lnTo>
                <a:lnTo>
                  <a:pt x="0" y="3809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245910" y="2615947"/>
            <a:ext cx="352424" cy="3047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236386" y="2606421"/>
            <a:ext cx="371475" cy="323850"/>
          </a:xfrm>
          <a:custGeom>
            <a:avLst/>
            <a:gdLst/>
            <a:ahLst/>
            <a:cxnLst/>
            <a:rect l="l" t="t" r="r" b="b"/>
            <a:pathLst>
              <a:path w="371475" h="323850">
                <a:moveTo>
                  <a:pt x="0" y="0"/>
                </a:moveTo>
                <a:lnTo>
                  <a:pt x="371474" y="0"/>
                </a:lnTo>
                <a:lnTo>
                  <a:pt x="371474" y="323849"/>
                </a:lnTo>
                <a:lnTo>
                  <a:pt x="0" y="32384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2195267" y="857250"/>
            <a:ext cx="1824989" cy="466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3000" spc="-5" dirty="0">
                <a:solidFill>
                  <a:srgbClr val="38751C"/>
                </a:solidFill>
              </a:rPr>
              <a:t>activations</a:t>
            </a:r>
            <a:endParaRPr sz="3000"/>
          </a:p>
        </p:txBody>
      </p:sp>
      <p:sp>
        <p:nvSpPr>
          <p:cNvPr id="19" name="object 19"/>
          <p:cNvSpPr txBox="1"/>
          <p:nvPr/>
        </p:nvSpPr>
        <p:spPr>
          <a:xfrm>
            <a:off x="5399118" y="5586262"/>
            <a:ext cx="1579880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90"/>
              </a:lnSpc>
            </a:pPr>
            <a:r>
              <a:rPr sz="3000" spc="-7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3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3000" spc="-225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22</a:t>
            </a:r>
            <a:endParaRPr sz="20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84D0E67-07FA-4D6E-B162-4F5EB6CFC832}"/>
              </a:ext>
            </a:extLst>
          </p:cNvPr>
          <p:cNvSpPr txBox="1"/>
          <p:nvPr/>
        </p:nvSpPr>
        <p:spPr>
          <a:xfrm>
            <a:off x="0" y="6604084"/>
            <a:ext cx="10727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Andrej </a:t>
            </a:r>
            <a:r>
              <a:rPr lang="en-US" sz="1050" dirty="0" err="1"/>
              <a:t>Karpathy</a:t>
            </a:r>
            <a:endParaRPr lang="en-US" sz="105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4BD5FD9-FED1-9E46-855D-6C0E391E08D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614984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5481366"/>
            <a:ext cx="9144000" cy="359073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57480">
              <a:spcBef>
                <a:spcPts val="400"/>
              </a:spcBef>
              <a:tabLst>
                <a:tab pos="5411470" algn="l"/>
                <a:tab pos="7621270" algn="l"/>
              </a:tabLst>
            </a:pP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Fei-Fei Li &amp; Andrej Karpathy &amp;</a:t>
            </a:r>
            <a:r>
              <a:rPr spc="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Justin</a:t>
            </a:r>
            <a:r>
              <a:rPr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Johnson	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sz="3000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3000" baseline="-4166" dirty="0">
                <a:solidFill>
                  <a:srgbClr val="FFFFFF"/>
                </a:solidFill>
                <a:latin typeface="Arial"/>
                <a:cs typeface="Arial"/>
              </a:rPr>
              <a:t> -	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13 Jan</a:t>
            </a:r>
            <a:r>
              <a:rPr sz="3000" spc="-97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2016</a:t>
            </a:r>
            <a:endParaRPr sz="3000" baseline="-4166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76193" y="1351999"/>
            <a:ext cx="3495040" cy="3495040"/>
          </a:xfrm>
          <a:custGeom>
            <a:avLst/>
            <a:gdLst/>
            <a:ahLst/>
            <a:cxnLst/>
            <a:rect l="l" t="t" r="r" b="b"/>
            <a:pathLst>
              <a:path w="3495040" h="3495040">
                <a:moveTo>
                  <a:pt x="0" y="1747346"/>
                </a:moveTo>
                <a:lnTo>
                  <a:pt x="649" y="1699249"/>
                </a:lnTo>
                <a:lnTo>
                  <a:pt x="2585" y="1651474"/>
                </a:lnTo>
                <a:lnTo>
                  <a:pt x="5792" y="1604036"/>
                </a:lnTo>
                <a:lnTo>
                  <a:pt x="10253" y="1556953"/>
                </a:lnTo>
                <a:lnTo>
                  <a:pt x="15951" y="1510241"/>
                </a:lnTo>
                <a:lnTo>
                  <a:pt x="22870" y="1463917"/>
                </a:lnTo>
                <a:lnTo>
                  <a:pt x="30992" y="1417998"/>
                </a:lnTo>
                <a:lnTo>
                  <a:pt x="40302" y="1372499"/>
                </a:lnTo>
                <a:lnTo>
                  <a:pt x="50783" y="1327438"/>
                </a:lnTo>
                <a:lnTo>
                  <a:pt x="62417" y="1282832"/>
                </a:lnTo>
                <a:lnTo>
                  <a:pt x="75189" y="1238697"/>
                </a:lnTo>
                <a:lnTo>
                  <a:pt x="89081" y="1195049"/>
                </a:lnTo>
                <a:lnTo>
                  <a:pt x="104078" y="1151906"/>
                </a:lnTo>
                <a:lnTo>
                  <a:pt x="120162" y="1109284"/>
                </a:lnTo>
                <a:lnTo>
                  <a:pt x="137316" y="1067200"/>
                </a:lnTo>
                <a:lnTo>
                  <a:pt x="155525" y="1025670"/>
                </a:lnTo>
                <a:lnTo>
                  <a:pt x="174770" y="984711"/>
                </a:lnTo>
                <a:lnTo>
                  <a:pt x="195037" y="944340"/>
                </a:lnTo>
                <a:lnTo>
                  <a:pt x="216308" y="904573"/>
                </a:lnTo>
                <a:lnTo>
                  <a:pt x="238566" y="865427"/>
                </a:lnTo>
                <a:lnTo>
                  <a:pt x="261794" y="826918"/>
                </a:lnTo>
                <a:lnTo>
                  <a:pt x="285977" y="789064"/>
                </a:lnTo>
                <a:lnTo>
                  <a:pt x="311098" y="751881"/>
                </a:lnTo>
                <a:lnTo>
                  <a:pt x="337139" y="715386"/>
                </a:lnTo>
                <a:lnTo>
                  <a:pt x="364084" y="679595"/>
                </a:lnTo>
                <a:lnTo>
                  <a:pt x="391917" y="644524"/>
                </a:lnTo>
                <a:lnTo>
                  <a:pt x="420620" y="610192"/>
                </a:lnTo>
                <a:lnTo>
                  <a:pt x="450178" y="576613"/>
                </a:lnTo>
                <a:lnTo>
                  <a:pt x="480573" y="543805"/>
                </a:lnTo>
                <a:lnTo>
                  <a:pt x="511789" y="511785"/>
                </a:lnTo>
                <a:lnTo>
                  <a:pt x="543809" y="480569"/>
                </a:lnTo>
                <a:lnTo>
                  <a:pt x="576617" y="450174"/>
                </a:lnTo>
                <a:lnTo>
                  <a:pt x="610196" y="420617"/>
                </a:lnTo>
                <a:lnTo>
                  <a:pt x="644528" y="391914"/>
                </a:lnTo>
                <a:lnTo>
                  <a:pt x="679599" y="364081"/>
                </a:lnTo>
                <a:lnTo>
                  <a:pt x="715390" y="337136"/>
                </a:lnTo>
                <a:lnTo>
                  <a:pt x="751886" y="311095"/>
                </a:lnTo>
                <a:lnTo>
                  <a:pt x="789069" y="285975"/>
                </a:lnTo>
                <a:lnTo>
                  <a:pt x="826923" y="261792"/>
                </a:lnTo>
                <a:lnTo>
                  <a:pt x="865431" y="238563"/>
                </a:lnTo>
                <a:lnTo>
                  <a:pt x="904577" y="216306"/>
                </a:lnTo>
                <a:lnTo>
                  <a:pt x="944344" y="195035"/>
                </a:lnTo>
                <a:lnTo>
                  <a:pt x="984715" y="174769"/>
                </a:lnTo>
                <a:lnTo>
                  <a:pt x="1025674" y="155523"/>
                </a:lnTo>
                <a:lnTo>
                  <a:pt x="1067204" y="137315"/>
                </a:lnTo>
                <a:lnTo>
                  <a:pt x="1109288" y="120160"/>
                </a:lnTo>
                <a:lnTo>
                  <a:pt x="1151910" y="104077"/>
                </a:lnTo>
                <a:lnTo>
                  <a:pt x="1195053" y="89080"/>
                </a:lnTo>
                <a:lnTo>
                  <a:pt x="1238700" y="75188"/>
                </a:lnTo>
                <a:lnTo>
                  <a:pt x="1282835" y="62416"/>
                </a:lnTo>
                <a:lnTo>
                  <a:pt x="1327442" y="50782"/>
                </a:lnTo>
                <a:lnTo>
                  <a:pt x="1372502" y="40302"/>
                </a:lnTo>
                <a:lnTo>
                  <a:pt x="1418000" y="30992"/>
                </a:lnTo>
                <a:lnTo>
                  <a:pt x="1463920" y="22869"/>
                </a:lnTo>
                <a:lnTo>
                  <a:pt x="1510243" y="15951"/>
                </a:lnTo>
                <a:lnTo>
                  <a:pt x="1556955" y="10253"/>
                </a:lnTo>
                <a:lnTo>
                  <a:pt x="1604038" y="5792"/>
                </a:lnTo>
                <a:lnTo>
                  <a:pt x="1651475" y="2585"/>
                </a:lnTo>
                <a:lnTo>
                  <a:pt x="1699250" y="649"/>
                </a:lnTo>
                <a:lnTo>
                  <a:pt x="1747346" y="0"/>
                </a:lnTo>
                <a:lnTo>
                  <a:pt x="1796921" y="702"/>
                </a:lnTo>
                <a:lnTo>
                  <a:pt x="1846325" y="2803"/>
                </a:lnTo>
                <a:lnTo>
                  <a:pt x="1895530" y="6290"/>
                </a:lnTo>
                <a:lnTo>
                  <a:pt x="1944510" y="11153"/>
                </a:lnTo>
                <a:lnTo>
                  <a:pt x="1993237" y="17380"/>
                </a:lnTo>
                <a:lnTo>
                  <a:pt x="2041685" y="24961"/>
                </a:lnTo>
                <a:lnTo>
                  <a:pt x="2089828" y="33884"/>
                </a:lnTo>
                <a:lnTo>
                  <a:pt x="2137639" y="44139"/>
                </a:lnTo>
                <a:lnTo>
                  <a:pt x="2185091" y="55715"/>
                </a:lnTo>
                <a:lnTo>
                  <a:pt x="2232157" y="68599"/>
                </a:lnTo>
                <a:lnTo>
                  <a:pt x="2278810" y="82782"/>
                </a:lnTo>
                <a:lnTo>
                  <a:pt x="2325025" y="98252"/>
                </a:lnTo>
                <a:lnTo>
                  <a:pt x="2370773" y="114997"/>
                </a:lnTo>
                <a:lnTo>
                  <a:pt x="2416029" y="133008"/>
                </a:lnTo>
                <a:lnTo>
                  <a:pt x="2460765" y="152273"/>
                </a:lnTo>
                <a:lnTo>
                  <a:pt x="2504956" y="172781"/>
                </a:lnTo>
                <a:lnTo>
                  <a:pt x="2548573" y="194520"/>
                </a:lnTo>
                <a:lnTo>
                  <a:pt x="2591591" y="217480"/>
                </a:lnTo>
                <a:lnTo>
                  <a:pt x="2633983" y="241650"/>
                </a:lnTo>
                <a:lnTo>
                  <a:pt x="2675722" y="267018"/>
                </a:lnTo>
                <a:lnTo>
                  <a:pt x="2716781" y="293574"/>
                </a:lnTo>
                <a:lnTo>
                  <a:pt x="2757134" y="321307"/>
                </a:lnTo>
                <a:lnTo>
                  <a:pt x="2796753" y="350204"/>
                </a:lnTo>
                <a:lnTo>
                  <a:pt x="2835613" y="380256"/>
                </a:lnTo>
                <a:lnTo>
                  <a:pt x="2873686" y="411452"/>
                </a:lnTo>
                <a:lnTo>
                  <a:pt x="2910946" y="443779"/>
                </a:lnTo>
                <a:lnTo>
                  <a:pt x="2947366" y="477227"/>
                </a:lnTo>
                <a:lnTo>
                  <a:pt x="2982918" y="511786"/>
                </a:lnTo>
                <a:lnTo>
                  <a:pt x="3017475" y="547338"/>
                </a:lnTo>
                <a:lnTo>
                  <a:pt x="3050922" y="583757"/>
                </a:lnTo>
                <a:lnTo>
                  <a:pt x="3083248" y="621015"/>
                </a:lnTo>
                <a:lnTo>
                  <a:pt x="3114442" y="659087"/>
                </a:lnTo>
                <a:lnTo>
                  <a:pt x="3144493" y="697946"/>
                </a:lnTo>
                <a:lnTo>
                  <a:pt x="3173389" y="737565"/>
                </a:lnTo>
                <a:lnTo>
                  <a:pt x="3201121" y="777917"/>
                </a:lnTo>
                <a:lnTo>
                  <a:pt x="3227676" y="818975"/>
                </a:lnTo>
                <a:lnTo>
                  <a:pt x="3253044" y="860713"/>
                </a:lnTo>
                <a:lnTo>
                  <a:pt x="3277213" y="903104"/>
                </a:lnTo>
                <a:lnTo>
                  <a:pt x="3300172" y="946122"/>
                </a:lnTo>
                <a:lnTo>
                  <a:pt x="3321911" y="989739"/>
                </a:lnTo>
                <a:lnTo>
                  <a:pt x="3342419" y="1033929"/>
                </a:lnTo>
                <a:lnTo>
                  <a:pt x="3361683" y="1078665"/>
                </a:lnTo>
                <a:lnTo>
                  <a:pt x="3379694" y="1123920"/>
                </a:lnTo>
                <a:lnTo>
                  <a:pt x="3396440" y="1169668"/>
                </a:lnTo>
                <a:lnTo>
                  <a:pt x="3411910" y="1215882"/>
                </a:lnTo>
                <a:lnTo>
                  <a:pt x="3426092" y="1262535"/>
                </a:lnTo>
                <a:lnTo>
                  <a:pt x="3438977" y="1309601"/>
                </a:lnTo>
                <a:lnTo>
                  <a:pt x="3450552" y="1357052"/>
                </a:lnTo>
                <a:lnTo>
                  <a:pt x="3460807" y="1404863"/>
                </a:lnTo>
                <a:lnTo>
                  <a:pt x="3469731" y="1453006"/>
                </a:lnTo>
                <a:lnTo>
                  <a:pt x="3477312" y="1501454"/>
                </a:lnTo>
                <a:lnTo>
                  <a:pt x="3483539" y="1550182"/>
                </a:lnTo>
                <a:lnTo>
                  <a:pt x="3488402" y="1599161"/>
                </a:lnTo>
                <a:lnTo>
                  <a:pt x="3491889" y="1648366"/>
                </a:lnTo>
                <a:lnTo>
                  <a:pt x="3493990" y="1697770"/>
                </a:lnTo>
                <a:lnTo>
                  <a:pt x="3494692" y="1747346"/>
                </a:lnTo>
                <a:lnTo>
                  <a:pt x="3494043" y="1795442"/>
                </a:lnTo>
                <a:lnTo>
                  <a:pt x="3492107" y="1843217"/>
                </a:lnTo>
                <a:lnTo>
                  <a:pt x="3488900" y="1890654"/>
                </a:lnTo>
                <a:lnTo>
                  <a:pt x="3484439" y="1937737"/>
                </a:lnTo>
                <a:lnTo>
                  <a:pt x="3478741" y="1984448"/>
                </a:lnTo>
                <a:lnTo>
                  <a:pt x="3471822" y="2030772"/>
                </a:lnTo>
                <a:lnTo>
                  <a:pt x="3463700" y="2076692"/>
                </a:lnTo>
                <a:lnTo>
                  <a:pt x="3454390" y="2122190"/>
                </a:lnTo>
                <a:lnTo>
                  <a:pt x="3443909" y="2167250"/>
                </a:lnTo>
                <a:lnTo>
                  <a:pt x="3432275" y="2211857"/>
                </a:lnTo>
                <a:lnTo>
                  <a:pt x="3419503" y="2255992"/>
                </a:lnTo>
                <a:lnTo>
                  <a:pt x="3405611" y="2299639"/>
                </a:lnTo>
                <a:lnTo>
                  <a:pt x="3390614" y="2342782"/>
                </a:lnTo>
                <a:lnTo>
                  <a:pt x="3374530" y="2385404"/>
                </a:lnTo>
                <a:lnTo>
                  <a:pt x="3357376" y="2427488"/>
                </a:lnTo>
                <a:lnTo>
                  <a:pt x="3339167" y="2469018"/>
                </a:lnTo>
                <a:lnTo>
                  <a:pt x="3319922" y="2509977"/>
                </a:lnTo>
                <a:lnTo>
                  <a:pt x="3299655" y="2550348"/>
                </a:lnTo>
                <a:lnTo>
                  <a:pt x="3278384" y="2590115"/>
                </a:lnTo>
                <a:lnTo>
                  <a:pt x="3256126" y="2629261"/>
                </a:lnTo>
                <a:lnTo>
                  <a:pt x="3232897" y="2667769"/>
                </a:lnTo>
                <a:lnTo>
                  <a:pt x="3208715" y="2705623"/>
                </a:lnTo>
                <a:lnTo>
                  <a:pt x="3183594" y="2742806"/>
                </a:lnTo>
                <a:lnTo>
                  <a:pt x="3157553" y="2779302"/>
                </a:lnTo>
                <a:lnTo>
                  <a:pt x="3130608" y="2815093"/>
                </a:lnTo>
                <a:lnTo>
                  <a:pt x="3102775" y="2850164"/>
                </a:lnTo>
                <a:lnTo>
                  <a:pt x="3074072" y="2884496"/>
                </a:lnTo>
                <a:lnTo>
                  <a:pt x="3044514" y="2918075"/>
                </a:lnTo>
                <a:lnTo>
                  <a:pt x="3014119" y="2950883"/>
                </a:lnTo>
                <a:lnTo>
                  <a:pt x="2982903" y="2982903"/>
                </a:lnTo>
                <a:lnTo>
                  <a:pt x="2950883" y="3014119"/>
                </a:lnTo>
                <a:lnTo>
                  <a:pt x="2918075" y="3044514"/>
                </a:lnTo>
                <a:lnTo>
                  <a:pt x="2884496" y="3074072"/>
                </a:lnTo>
                <a:lnTo>
                  <a:pt x="2850164" y="3102775"/>
                </a:lnTo>
                <a:lnTo>
                  <a:pt x="2815093" y="3130608"/>
                </a:lnTo>
                <a:lnTo>
                  <a:pt x="2779302" y="3157553"/>
                </a:lnTo>
                <a:lnTo>
                  <a:pt x="2742806" y="3183594"/>
                </a:lnTo>
                <a:lnTo>
                  <a:pt x="2705623" y="3208715"/>
                </a:lnTo>
                <a:lnTo>
                  <a:pt x="2667769" y="3232897"/>
                </a:lnTo>
                <a:lnTo>
                  <a:pt x="2629261" y="3256126"/>
                </a:lnTo>
                <a:lnTo>
                  <a:pt x="2590115" y="3278384"/>
                </a:lnTo>
                <a:lnTo>
                  <a:pt x="2550348" y="3299655"/>
                </a:lnTo>
                <a:lnTo>
                  <a:pt x="2509977" y="3319922"/>
                </a:lnTo>
                <a:lnTo>
                  <a:pt x="2469018" y="3339167"/>
                </a:lnTo>
                <a:lnTo>
                  <a:pt x="2427488" y="3357376"/>
                </a:lnTo>
                <a:lnTo>
                  <a:pt x="2385404" y="3374530"/>
                </a:lnTo>
                <a:lnTo>
                  <a:pt x="2342782" y="3390614"/>
                </a:lnTo>
                <a:lnTo>
                  <a:pt x="2299639" y="3405611"/>
                </a:lnTo>
                <a:lnTo>
                  <a:pt x="2255992" y="3419503"/>
                </a:lnTo>
                <a:lnTo>
                  <a:pt x="2211857" y="3432275"/>
                </a:lnTo>
                <a:lnTo>
                  <a:pt x="2167250" y="3443909"/>
                </a:lnTo>
                <a:lnTo>
                  <a:pt x="2122190" y="3454390"/>
                </a:lnTo>
                <a:lnTo>
                  <a:pt x="2076692" y="3463700"/>
                </a:lnTo>
                <a:lnTo>
                  <a:pt x="2030772" y="3471822"/>
                </a:lnTo>
                <a:lnTo>
                  <a:pt x="1984448" y="3478741"/>
                </a:lnTo>
                <a:lnTo>
                  <a:pt x="1937737" y="3484439"/>
                </a:lnTo>
                <a:lnTo>
                  <a:pt x="1890654" y="3488900"/>
                </a:lnTo>
                <a:lnTo>
                  <a:pt x="1843217" y="3492107"/>
                </a:lnTo>
                <a:lnTo>
                  <a:pt x="1795442" y="3494043"/>
                </a:lnTo>
                <a:lnTo>
                  <a:pt x="1747346" y="3494692"/>
                </a:lnTo>
                <a:lnTo>
                  <a:pt x="1699250" y="3494043"/>
                </a:lnTo>
                <a:lnTo>
                  <a:pt x="1651475" y="3492107"/>
                </a:lnTo>
                <a:lnTo>
                  <a:pt x="1604038" y="3488900"/>
                </a:lnTo>
                <a:lnTo>
                  <a:pt x="1556955" y="3484439"/>
                </a:lnTo>
                <a:lnTo>
                  <a:pt x="1510243" y="3478741"/>
                </a:lnTo>
                <a:lnTo>
                  <a:pt x="1463920" y="3471822"/>
                </a:lnTo>
                <a:lnTo>
                  <a:pt x="1418000" y="3463700"/>
                </a:lnTo>
                <a:lnTo>
                  <a:pt x="1372502" y="3454390"/>
                </a:lnTo>
                <a:lnTo>
                  <a:pt x="1327442" y="3443909"/>
                </a:lnTo>
                <a:lnTo>
                  <a:pt x="1282835" y="3432275"/>
                </a:lnTo>
                <a:lnTo>
                  <a:pt x="1238700" y="3419503"/>
                </a:lnTo>
                <a:lnTo>
                  <a:pt x="1195053" y="3405611"/>
                </a:lnTo>
                <a:lnTo>
                  <a:pt x="1151910" y="3390614"/>
                </a:lnTo>
                <a:lnTo>
                  <a:pt x="1109288" y="3374530"/>
                </a:lnTo>
                <a:lnTo>
                  <a:pt x="1067204" y="3357376"/>
                </a:lnTo>
                <a:lnTo>
                  <a:pt x="1025674" y="3339167"/>
                </a:lnTo>
                <a:lnTo>
                  <a:pt x="984715" y="3319922"/>
                </a:lnTo>
                <a:lnTo>
                  <a:pt x="944344" y="3299655"/>
                </a:lnTo>
                <a:lnTo>
                  <a:pt x="904577" y="3278384"/>
                </a:lnTo>
                <a:lnTo>
                  <a:pt x="865431" y="3256126"/>
                </a:lnTo>
                <a:lnTo>
                  <a:pt x="826923" y="3232897"/>
                </a:lnTo>
                <a:lnTo>
                  <a:pt x="789069" y="3208715"/>
                </a:lnTo>
                <a:lnTo>
                  <a:pt x="751886" y="3183594"/>
                </a:lnTo>
                <a:lnTo>
                  <a:pt x="715390" y="3157553"/>
                </a:lnTo>
                <a:lnTo>
                  <a:pt x="679599" y="3130608"/>
                </a:lnTo>
                <a:lnTo>
                  <a:pt x="644528" y="3102775"/>
                </a:lnTo>
                <a:lnTo>
                  <a:pt x="610196" y="3074072"/>
                </a:lnTo>
                <a:lnTo>
                  <a:pt x="576617" y="3044514"/>
                </a:lnTo>
                <a:lnTo>
                  <a:pt x="543809" y="3014119"/>
                </a:lnTo>
                <a:lnTo>
                  <a:pt x="511789" y="2982903"/>
                </a:lnTo>
                <a:lnTo>
                  <a:pt x="480573" y="2950883"/>
                </a:lnTo>
                <a:lnTo>
                  <a:pt x="450178" y="2918075"/>
                </a:lnTo>
                <a:lnTo>
                  <a:pt x="420620" y="2884496"/>
                </a:lnTo>
                <a:lnTo>
                  <a:pt x="391917" y="2850164"/>
                </a:lnTo>
                <a:lnTo>
                  <a:pt x="364084" y="2815093"/>
                </a:lnTo>
                <a:lnTo>
                  <a:pt x="337139" y="2779302"/>
                </a:lnTo>
                <a:lnTo>
                  <a:pt x="311098" y="2742806"/>
                </a:lnTo>
                <a:lnTo>
                  <a:pt x="285977" y="2705623"/>
                </a:lnTo>
                <a:lnTo>
                  <a:pt x="261794" y="2667769"/>
                </a:lnTo>
                <a:lnTo>
                  <a:pt x="238566" y="2629261"/>
                </a:lnTo>
                <a:lnTo>
                  <a:pt x="216308" y="2590115"/>
                </a:lnTo>
                <a:lnTo>
                  <a:pt x="195037" y="2550348"/>
                </a:lnTo>
                <a:lnTo>
                  <a:pt x="174770" y="2509977"/>
                </a:lnTo>
                <a:lnTo>
                  <a:pt x="155525" y="2469018"/>
                </a:lnTo>
                <a:lnTo>
                  <a:pt x="137316" y="2427488"/>
                </a:lnTo>
                <a:lnTo>
                  <a:pt x="120162" y="2385404"/>
                </a:lnTo>
                <a:lnTo>
                  <a:pt x="104078" y="2342782"/>
                </a:lnTo>
                <a:lnTo>
                  <a:pt x="89081" y="2299639"/>
                </a:lnTo>
                <a:lnTo>
                  <a:pt x="75189" y="2255992"/>
                </a:lnTo>
                <a:lnTo>
                  <a:pt x="62417" y="2211857"/>
                </a:lnTo>
                <a:lnTo>
                  <a:pt x="50783" y="2167250"/>
                </a:lnTo>
                <a:lnTo>
                  <a:pt x="40302" y="2122190"/>
                </a:lnTo>
                <a:lnTo>
                  <a:pt x="30992" y="2076692"/>
                </a:lnTo>
                <a:lnTo>
                  <a:pt x="22870" y="2030772"/>
                </a:lnTo>
                <a:lnTo>
                  <a:pt x="15951" y="1984448"/>
                </a:lnTo>
                <a:lnTo>
                  <a:pt x="10253" y="1937737"/>
                </a:lnTo>
                <a:lnTo>
                  <a:pt x="5792" y="1890654"/>
                </a:lnTo>
                <a:lnTo>
                  <a:pt x="2585" y="1843217"/>
                </a:lnTo>
                <a:lnTo>
                  <a:pt x="649" y="1795442"/>
                </a:lnTo>
                <a:lnTo>
                  <a:pt x="0" y="1747346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02174" y="3869995"/>
            <a:ext cx="2301875" cy="777875"/>
          </a:xfrm>
          <a:custGeom>
            <a:avLst/>
            <a:gdLst/>
            <a:ahLst/>
            <a:cxnLst/>
            <a:rect l="l" t="t" r="r" b="b"/>
            <a:pathLst>
              <a:path w="2301875" h="777875">
                <a:moveTo>
                  <a:pt x="0" y="777323"/>
                </a:moveTo>
                <a:lnTo>
                  <a:pt x="2301595" y="0"/>
                </a:lnTo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993720" y="3840168"/>
            <a:ext cx="92075" cy="59690"/>
          </a:xfrm>
          <a:custGeom>
            <a:avLst/>
            <a:gdLst/>
            <a:ahLst/>
            <a:cxnLst/>
            <a:rect l="l" t="t" r="r" b="b"/>
            <a:pathLst>
              <a:path w="92075" h="59689">
                <a:moveTo>
                  <a:pt x="20124" y="59624"/>
                </a:moveTo>
                <a:lnTo>
                  <a:pt x="91974" y="2149"/>
                </a:lnTo>
                <a:lnTo>
                  <a:pt x="0" y="0"/>
                </a:lnTo>
                <a:lnTo>
                  <a:pt x="20124" y="59624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89423" y="1328024"/>
            <a:ext cx="2089150" cy="889000"/>
          </a:xfrm>
          <a:custGeom>
            <a:avLst/>
            <a:gdLst/>
            <a:ahLst/>
            <a:cxnLst/>
            <a:rect l="l" t="t" r="r" b="b"/>
            <a:pathLst>
              <a:path w="2089150" h="889000">
                <a:moveTo>
                  <a:pt x="0" y="0"/>
                </a:moveTo>
                <a:lnTo>
                  <a:pt x="2089020" y="888848"/>
                </a:lnTo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066119" y="2187918"/>
            <a:ext cx="92075" cy="62865"/>
          </a:xfrm>
          <a:custGeom>
            <a:avLst/>
            <a:gdLst/>
            <a:ahLst/>
            <a:cxnLst/>
            <a:rect l="l" t="t" r="r" b="b"/>
            <a:pathLst>
              <a:path w="92075" h="62865">
                <a:moveTo>
                  <a:pt x="0" y="57907"/>
                </a:moveTo>
                <a:lnTo>
                  <a:pt x="91874" y="62802"/>
                </a:lnTo>
                <a:lnTo>
                  <a:pt x="24649" y="0"/>
                </a:lnTo>
                <a:lnTo>
                  <a:pt x="0" y="57907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470886" y="3099345"/>
            <a:ext cx="2160270" cy="0"/>
          </a:xfrm>
          <a:custGeom>
            <a:avLst/>
            <a:gdLst/>
            <a:ahLst/>
            <a:cxnLst/>
            <a:rect l="l" t="t" r="r" b="b"/>
            <a:pathLst>
              <a:path w="2160270">
                <a:moveTo>
                  <a:pt x="0" y="0"/>
                </a:moveTo>
                <a:lnTo>
                  <a:pt x="2159995" y="0"/>
                </a:lnTo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630883" y="3067880"/>
            <a:ext cx="86995" cy="63500"/>
          </a:xfrm>
          <a:custGeom>
            <a:avLst/>
            <a:gdLst/>
            <a:ahLst/>
            <a:cxnLst/>
            <a:rect l="l" t="t" r="r" b="b"/>
            <a:pathLst>
              <a:path w="86995" h="63500">
                <a:moveTo>
                  <a:pt x="0" y="62929"/>
                </a:moveTo>
                <a:lnTo>
                  <a:pt x="86449" y="31464"/>
                </a:lnTo>
                <a:lnTo>
                  <a:pt x="0" y="0"/>
                </a:lnTo>
                <a:lnTo>
                  <a:pt x="0" y="62929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380509" y="1090350"/>
            <a:ext cx="352424" cy="304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70985" y="1080824"/>
            <a:ext cx="371475" cy="323850"/>
          </a:xfrm>
          <a:custGeom>
            <a:avLst/>
            <a:gdLst/>
            <a:ahLst/>
            <a:cxnLst/>
            <a:rect l="l" t="t" r="r" b="b"/>
            <a:pathLst>
              <a:path w="371475" h="323850">
                <a:moveTo>
                  <a:pt x="0" y="0"/>
                </a:moveTo>
                <a:lnTo>
                  <a:pt x="371474" y="0"/>
                </a:lnTo>
                <a:lnTo>
                  <a:pt x="371474" y="323849"/>
                </a:lnTo>
                <a:lnTo>
                  <a:pt x="0" y="32384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300359" y="3918269"/>
            <a:ext cx="295274" cy="3619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290835" y="3908743"/>
            <a:ext cx="314325" cy="381000"/>
          </a:xfrm>
          <a:custGeom>
            <a:avLst/>
            <a:gdLst/>
            <a:ahLst/>
            <a:cxnLst/>
            <a:rect l="l" t="t" r="r" b="b"/>
            <a:pathLst>
              <a:path w="314325" h="381000">
                <a:moveTo>
                  <a:pt x="0" y="0"/>
                </a:moveTo>
                <a:lnTo>
                  <a:pt x="314324" y="0"/>
                </a:lnTo>
                <a:lnTo>
                  <a:pt x="314324" y="380999"/>
                </a:lnTo>
                <a:lnTo>
                  <a:pt x="0" y="3809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245910" y="2615947"/>
            <a:ext cx="352424" cy="3047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236386" y="2606421"/>
            <a:ext cx="371475" cy="323850"/>
          </a:xfrm>
          <a:custGeom>
            <a:avLst/>
            <a:gdLst/>
            <a:ahLst/>
            <a:cxnLst/>
            <a:rect l="l" t="t" r="r" b="b"/>
            <a:pathLst>
              <a:path w="371475" h="323850">
                <a:moveTo>
                  <a:pt x="0" y="0"/>
                </a:moveTo>
                <a:lnTo>
                  <a:pt x="371474" y="0"/>
                </a:lnTo>
                <a:lnTo>
                  <a:pt x="371474" y="323849"/>
                </a:lnTo>
                <a:lnTo>
                  <a:pt x="0" y="32384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2195267" y="857250"/>
            <a:ext cx="1824989" cy="466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3000" spc="-5" dirty="0">
                <a:solidFill>
                  <a:srgbClr val="38751C"/>
                </a:solidFill>
              </a:rPr>
              <a:t>activations</a:t>
            </a:r>
            <a:endParaRPr sz="3000"/>
          </a:p>
        </p:txBody>
      </p:sp>
      <p:sp>
        <p:nvSpPr>
          <p:cNvPr id="18" name="object 18"/>
          <p:cNvSpPr/>
          <p:nvPr/>
        </p:nvSpPr>
        <p:spPr>
          <a:xfrm>
            <a:off x="3398744" y="2147685"/>
            <a:ext cx="485773" cy="63817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389244" y="2138160"/>
            <a:ext cx="504825" cy="657225"/>
          </a:xfrm>
          <a:custGeom>
            <a:avLst/>
            <a:gdLst/>
            <a:ahLst/>
            <a:cxnLst/>
            <a:rect l="l" t="t" r="r" b="b"/>
            <a:pathLst>
              <a:path w="504825" h="657225">
                <a:moveTo>
                  <a:pt x="0" y="0"/>
                </a:moveTo>
                <a:lnTo>
                  <a:pt x="504823" y="0"/>
                </a:lnTo>
                <a:lnTo>
                  <a:pt x="504823" y="657223"/>
                </a:lnTo>
                <a:lnTo>
                  <a:pt x="0" y="657223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398743" y="3350294"/>
            <a:ext cx="409574" cy="7048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389244" y="3340757"/>
            <a:ext cx="428625" cy="723900"/>
          </a:xfrm>
          <a:custGeom>
            <a:avLst/>
            <a:gdLst/>
            <a:ahLst/>
            <a:cxnLst/>
            <a:rect l="l" t="t" r="r" b="b"/>
            <a:pathLst>
              <a:path w="428625" h="723900">
                <a:moveTo>
                  <a:pt x="0" y="0"/>
                </a:moveTo>
                <a:lnTo>
                  <a:pt x="428599" y="0"/>
                </a:lnTo>
                <a:lnTo>
                  <a:pt x="428599" y="723886"/>
                </a:lnTo>
                <a:lnTo>
                  <a:pt x="0" y="723886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399118" y="5586262"/>
            <a:ext cx="1579880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90"/>
              </a:lnSpc>
            </a:pPr>
            <a:r>
              <a:rPr sz="3000" spc="-7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3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3000" spc="-225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23</a:t>
            </a:r>
            <a:endParaRPr sz="20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3A5671-3E29-4825-8113-6C2B2733EE14}"/>
              </a:ext>
            </a:extLst>
          </p:cNvPr>
          <p:cNvSpPr txBox="1"/>
          <p:nvPr/>
        </p:nvSpPr>
        <p:spPr>
          <a:xfrm>
            <a:off x="0" y="6604084"/>
            <a:ext cx="10727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Andrej </a:t>
            </a:r>
            <a:r>
              <a:rPr lang="en-US" sz="1050" dirty="0" err="1"/>
              <a:t>Karpathy</a:t>
            </a:r>
            <a:endParaRPr lang="en-US" sz="1050" dirty="0"/>
          </a:p>
        </p:txBody>
      </p:sp>
      <p:sp>
        <p:nvSpPr>
          <p:cNvPr id="27" name="object 26">
            <a:extLst>
              <a:ext uri="{FF2B5EF4-FFF2-40B4-BE49-F238E27FC236}">
                <a16:creationId xmlns:a16="http://schemas.microsoft.com/office/drawing/2014/main" id="{4ADC6376-1720-448C-8705-B0473F45A4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5798" y="2150921"/>
            <a:ext cx="7612402" cy="32008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52470" marR="2814955" algn="ctr"/>
            <a:r>
              <a:rPr spc="-5" dirty="0"/>
              <a:t>“local</a:t>
            </a:r>
            <a:r>
              <a:rPr spc="-35" dirty="0"/>
              <a:t> </a:t>
            </a:r>
            <a:r>
              <a:rPr spc="-5" dirty="0"/>
              <a:t>gradient”</a:t>
            </a:r>
          </a:p>
          <a:p>
            <a:pPr marL="3252470"/>
            <a:endParaRPr spc="-5" dirty="0"/>
          </a:p>
          <a:p>
            <a:pPr marL="3252470"/>
            <a:endParaRPr sz="2350" dirty="0">
              <a:latin typeface="Times New Roman"/>
              <a:cs typeface="Times New Roman"/>
            </a:endParaRPr>
          </a:p>
          <a:p>
            <a:pPr marL="3252470" marR="2941320" algn="ctr"/>
            <a:r>
              <a:rPr sz="4800" spc="-5" dirty="0">
                <a:solidFill>
                  <a:srgbClr val="000000"/>
                </a:solidFill>
              </a:rPr>
              <a:t>f</a:t>
            </a:r>
            <a:endParaRPr sz="4800" dirty="0"/>
          </a:p>
          <a:p>
            <a:pPr marL="3252470">
              <a:spcBef>
                <a:spcPts val="20"/>
              </a:spcBef>
            </a:pPr>
            <a:endParaRPr sz="7050" dirty="0">
              <a:latin typeface="Times New Roman"/>
              <a:cs typeface="Times New Roman"/>
            </a:endParaRPr>
          </a:p>
          <a:p>
            <a:pPr marL="6031865"/>
            <a:r>
              <a:rPr sz="3000" spc="-5" dirty="0"/>
              <a:t>gradients</a:t>
            </a:r>
            <a:endParaRPr sz="30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E06DFCD-45DB-1442-B363-8AC343764AC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077364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5481366"/>
            <a:ext cx="9144000" cy="359073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57480">
              <a:spcBef>
                <a:spcPts val="400"/>
              </a:spcBef>
              <a:tabLst>
                <a:tab pos="5411470" algn="l"/>
                <a:tab pos="7621270" algn="l"/>
              </a:tabLst>
            </a:pP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Fei-Fei Li &amp; Andrej Karpathy &amp;</a:t>
            </a:r>
            <a:r>
              <a:rPr spc="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Justin</a:t>
            </a:r>
            <a:r>
              <a:rPr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Johnson	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sz="3000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3000" baseline="-4166" dirty="0">
                <a:solidFill>
                  <a:srgbClr val="FFFFFF"/>
                </a:solidFill>
                <a:latin typeface="Arial"/>
                <a:cs typeface="Arial"/>
              </a:rPr>
              <a:t> -	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13 Jan</a:t>
            </a:r>
            <a:r>
              <a:rPr sz="3000" spc="-97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2016</a:t>
            </a:r>
            <a:endParaRPr sz="3000" baseline="-4166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76193" y="1351999"/>
            <a:ext cx="3495040" cy="3495040"/>
          </a:xfrm>
          <a:custGeom>
            <a:avLst/>
            <a:gdLst/>
            <a:ahLst/>
            <a:cxnLst/>
            <a:rect l="l" t="t" r="r" b="b"/>
            <a:pathLst>
              <a:path w="3495040" h="3495040">
                <a:moveTo>
                  <a:pt x="0" y="1747346"/>
                </a:moveTo>
                <a:lnTo>
                  <a:pt x="649" y="1699249"/>
                </a:lnTo>
                <a:lnTo>
                  <a:pt x="2585" y="1651474"/>
                </a:lnTo>
                <a:lnTo>
                  <a:pt x="5792" y="1604036"/>
                </a:lnTo>
                <a:lnTo>
                  <a:pt x="10253" y="1556953"/>
                </a:lnTo>
                <a:lnTo>
                  <a:pt x="15951" y="1510241"/>
                </a:lnTo>
                <a:lnTo>
                  <a:pt x="22870" y="1463917"/>
                </a:lnTo>
                <a:lnTo>
                  <a:pt x="30992" y="1417998"/>
                </a:lnTo>
                <a:lnTo>
                  <a:pt x="40302" y="1372499"/>
                </a:lnTo>
                <a:lnTo>
                  <a:pt x="50783" y="1327438"/>
                </a:lnTo>
                <a:lnTo>
                  <a:pt x="62417" y="1282832"/>
                </a:lnTo>
                <a:lnTo>
                  <a:pt x="75189" y="1238697"/>
                </a:lnTo>
                <a:lnTo>
                  <a:pt x="89081" y="1195049"/>
                </a:lnTo>
                <a:lnTo>
                  <a:pt x="104078" y="1151906"/>
                </a:lnTo>
                <a:lnTo>
                  <a:pt x="120162" y="1109284"/>
                </a:lnTo>
                <a:lnTo>
                  <a:pt x="137316" y="1067200"/>
                </a:lnTo>
                <a:lnTo>
                  <a:pt x="155525" y="1025670"/>
                </a:lnTo>
                <a:lnTo>
                  <a:pt x="174770" y="984711"/>
                </a:lnTo>
                <a:lnTo>
                  <a:pt x="195037" y="944340"/>
                </a:lnTo>
                <a:lnTo>
                  <a:pt x="216308" y="904573"/>
                </a:lnTo>
                <a:lnTo>
                  <a:pt x="238566" y="865427"/>
                </a:lnTo>
                <a:lnTo>
                  <a:pt x="261794" y="826918"/>
                </a:lnTo>
                <a:lnTo>
                  <a:pt x="285977" y="789064"/>
                </a:lnTo>
                <a:lnTo>
                  <a:pt x="311098" y="751881"/>
                </a:lnTo>
                <a:lnTo>
                  <a:pt x="337139" y="715386"/>
                </a:lnTo>
                <a:lnTo>
                  <a:pt x="364084" y="679595"/>
                </a:lnTo>
                <a:lnTo>
                  <a:pt x="391917" y="644524"/>
                </a:lnTo>
                <a:lnTo>
                  <a:pt x="420620" y="610192"/>
                </a:lnTo>
                <a:lnTo>
                  <a:pt x="450178" y="576613"/>
                </a:lnTo>
                <a:lnTo>
                  <a:pt x="480573" y="543805"/>
                </a:lnTo>
                <a:lnTo>
                  <a:pt x="511789" y="511785"/>
                </a:lnTo>
                <a:lnTo>
                  <a:pt x="543809" y="480569"/>
                </a:lnTo>
                <a:lnTo>
                  <a:pt x="576617" y="450174"/>
                </a:lnTo>
                <a:lnTo>
                  <a:pt x="610196" y="420617"/>
                </a:lnTo>
                <a:lnTo>
                  <a:pt x="644528" y="391914"/>
                </a:lnTo>
                <a:lnTo>
                  <a:pt x="679599" y="364081"/>
                </a:lnTo>
                <a:lnTo>
                  <a:pt x="715390" y="337136"/>
                </a:lnTo>
                <a:lnTo>
                  <a:pt x="751886" y="311095"/>
                </a:lnTo>
                <a:lnTo>
                  <a:pt x="789069" y="285975"/>
                </a:lnTo>
                <a:lnTo>
                  <a:pt x="826923" y="261792"/>
                </a:lnTo>
                <a:lnTo>
                  <a:pt x="865431" y="238563"/>
                </a:lnTo>
                <a:lnTo>
                  <a:pt x="904577" y="216306"/>
                </a:lnTo>
                <a:lnTo>
                  <a:pt x="944344" y="195035"/>
                </a:lnTo>
                <a:lnTo>
                  <a:pt x="984715" y="174769"/>
                </a:lnTo>
                <a:lnTo>
                  <a:pt x="1025674" y="155523"/>
                </a:lnTo>
                <a:lnTo>
                  <a:pt x="1067204" y="137315"/>
                </a:lnTo>
                <a:lnTo>
                  <a:pt x="1109288" y="120160"/>
                </a:lnTo>
                <a:lnTo>
                  <a:pt x="1151910" y="104077"/>
                </a:lnTo>
                <a:lnTo>
                  <a:pt x="1195053" y="89080"/>
                </a:lnTo>
                <a:lnTo>
                  <a:pt x="1238700" y="75188"/>
                </a:lnTo>
                <a:lnTo>
                  <a:pt x="1282835" y="62416"/>
                </a:lnTo>
                <a:lnTo>
                  <a:pt x="1327442" y="50782"/>
                </a:lnTo>
                <a:lnTo>
                  <a:pt x="1372502" y="40302"/>
                </a:lnTo>
                <a:lnTo>
                  <a:pt x="1418000" y="30992"/>
                </a:lnTo>
                <a:lnTo>
                  <a:pt x="1463920" y="22869"/>
                </a:lnTo>
                <a:lnTo>
                  <a:pt x="1510243" y="15951"/>
                </a:lnTo>
                <a:lnTo>
                  <a:pt x="1556955" y="10253"/>
                </a:lnTo>
                <a:lnTo>
                  <a:pt x="1604038" y="5792"/>
                </a:lnTo>
                <a:lnTo>
                  <a:pt x="1651475" y="2585"/>
                </a:lnTo>
                <a:lnTo>
                  <a:pt x="1699250" y="649"/>
                </a:lnTo>
                <a:lnTo>
                  <a:pt x="1747346" y="0"/>
                </a:lnTo>
                <a:lnTo>
                  <a:pt x="1796921" y="702"/>
                </a:lnTo>
                <a:lnTo>
                  <a:pt x="1846325" y="2803"/>
                </a:lnTo>
                <a:lnTo>
                  <a:pt x="1895530" y="6290"/>
                </a:lnTo>
                <a:lnTo>
                  <a:pt x="1944510" y="11153"/>
                </a:lnTo>
                <a:lnTo>
                  <a:pt x="1993237" y="17380"/>
                </a:lnTo>
                <a:lnTo>
                  <a:pt x="2041685" y="24961"/>
                </a:lnTo>
                <a:lnTo>
                  <a:pt x="2089828" y="33884"/>
                </a:lnTo>
                <a:lnTo>
                  <a:pt x="2137639" y="44139"/>
                </a:lnTo>
                <a:lnTo>
                  <a:pt x="2185091" y="55715"/>
                </a:lnTo>
                <a:lnTo>
                  <a:pt x="2232157" y="68599"/>
                </a:lnTo>
                <a:lnTo>
                  <a:pt x="2278810" y="82782"/>
                </a:lnTo>
                <a:lnTo>
                  <a:pt x="2325025" y="98252"/>
                </a:lnTo>
                <a:lnTo>
                  <a:pt x="2370773" y="114997"/>
                </a:lnTo>
                <a:lnTo>
                  <a:pt x="2416029" y="133008"/>
                </a:lnTo>
                <a:lnTo>
                  <a:pt x="2460765" y="152273"/>
                </a:lnTo>
                <a:lnTo>
                  <a:pt x="2504956" y="172781"/>
                </a:lnTo>
                <a:lnTo>
                  <a:pt x="2548573" y="194520"/>
                </a:lnTo>
                <a:lnTo>
                  <a:pt x="2591591" y="217480"/>
                </a:lnTo>
                <a:lnTo>
                  <a:pt x="2633983" y="241650"/>
                </a:lnTo>
                <a:lnTo>
                  <a:pt x="2675722" y="267018"/>
                </a:lnTo>
                <a:lnTo>
                  <a:pt x="2716781" y="293574"/>
                </a:lnTo>
                <a:lnTo>
                  <a:pt x="2757134" y="321307"/>
                </a:lnTo>
                <a:lnTo>
                  <a:pt x="2796753" y="350204"/>
                </a:lnTo>
                <a:lnTo>
                  <a:pt x="2835613" y="380256"/>
                </a:lnTo>
                <a:lnTo>
                  <a:pt x="2873686" y="411452"/>
                </a:lnTo>
                <a:lnTo>
                  <a:pt x="2910946" y="443779"/>
                </a:lnTo>
                <a:lnTo>
                  <a:pt x="2947366" y="477227"/>
                </a:lnTo>
                <a:lnTo>
                  <a:pt x="2982918" y="511786"/>
                </a:lnTo>
                <a:lnTo>
                  <a:pt x="3017475" y="547338"/>
                </a:lnTo>
                <a:lnTo>
                  <a:pt x="3050922" y="583757"/>
                </a:lnTo>
                <a:lnTo>
                  <a:pt x="3083248" y="621015"/>
                </a:lnTo>
                <a:lnTo>
                  <a:pt x="3114442" y="659087"/>
                </a:lnTo>
                <a:lnTo>
                  <a:pt x="3144493" y="697946"/>
                </a:lnTo>
                <a:lnTo>
                  <a:pt x="3173389" y="737565"/>
                </a:lnTo>
                <a:lnTo>
                  <a:pt x="3201121" y="777917"/>
                </a:lnTo>
                <a:lnTo>
                  <a:pt x="3227676" y="818975"/>
                </a:lnTo>
                <a:lnTo>
                  <a:pt x="3253044" y="860713"/>
                </a:lnTo>
                <a:lnTo>
                  <a:pt x="3277213" y="903104"/>
                </a:lnTo>
                <a:lnTo>
                  <a:pt x="3300172" y="946122"/>
                </a:lnTo>
                <a:lnTo>
                  <a:pt x="3321911" y="989739"/>
                </a:lnTo>
                <a:lnTo>
                  <a:pt x="3342419" y="1033929"/>
                </a:lnTo>
                <a:lnTo>
                  <a:pt x="3361683" y="1078665"/>
                </a:lnTo>
                <a:lnTo>
                  <a:pt x="3379694" y="1123920"/>
                </a:lnTo>
                <a:lnTo>
                  <a:pt x="3396440" y="1169668"/>
                </a:lnTo>
                <a:lnTo>
                  <a:pt x="3411910" y="1215882"/>
                </a:lnTo>
                <a:lnTo>
                  <a:pt x="3426092" y="1262535"/>
                </a:lnTo>
                <a:lnTo>
                  <a:pt x="3438977" y="1309601"/>
                </a:lnTo>
                <a:lnTo>
                  <a:pt x="3450552" y="1357052"/>
                </a:lnTo>
                <a:lnTo>
                  <a:pt x="3460807" y="1404863"/>
                </a:lnTo>
                <a:lnTo>
                  <a:pt x="3469731" y="1453006"/>
                </a:lnTo>
                <a:lnTo>
                  <a:pt x="3477312" y="1501454"/>
                </a:lnTo>
                <a:lnTo>
                  <a:pt x="3483539" y="1550182"/>
                </a:lnTo>
                <a:lnTo>
                  <a:pt x="3488402" y="1599161"/>
                </a:lnTo>
                <a:lnTo>
                  <a:pt x="3491889" y="1648366"/>
                </a:lnTo>
                <a:lnTo>
                  <a:pt x="3493990" y="1697770"/>
                </a:lnTo>
                <a:lnTo>
                  <a:pt x="3494692" y="1747346"/>
                </a:lnTo>
                <a:lnTo>
                  <a:pt x="3494043" y="1795442"/>
                </a:lnTo>
                <a:lnTo>
                  <a:pt x="3492107" y="1843217"/>
                </a:lnTo>
                <a:lnTo>
                  <a:pt x="3488900" y="1890654"/>
                </a:lnTo>
                <a:lnTo>
                  <a:pt x="3484439" y="1937737"/>
                </a:lnTo>
                <a:lnTo>
                  <a:pt x="3478741" y="1984448"/>
                </a:lnTo>
                <a:lnTo>
                  <a:pt x="3471822" y="2030772"/>
                </a:lnTo>
                <a:lnTo>
                  <a:pt x="3463700" y="2076692"/>
                </a:lnTo>
                <a:lnTo>
                  <a:pt x="3454390" y="2122190"/>
                </a:lnTo>
                <a:lnTo>
                  <a:pt x="3443909" y="2167250"/>
                </a:lnTo>
                <a:lnTo>
                  <a:pt x="3432275" y="2211857"/>
                </a:lnTo>
                <a:lnTo>
                  <a:pt x="3419503" y="2255992"/>
                </a:lnTo>
                <a:lnTo>
                  <a:pt x="3405611" y="2299639"/>
                </a:lnTo>
                <a:lnTo>
                  <a:pt x="3390614" y="2342782"/>
                </a:lnTo>
                <a:lnTo>
                  <a:pt x="3374530" y="2385404"/>
                </a:lnTo>
                <a:lnTo>
                  <a:pt x="3357376" y="2427488"/>
                </a:lnTo>
                <a:lnTo>
                  <a:pt x="3339167" y="2469018"/>
                </a:lnTo>
                <a:lnTo>
                  <a:pt x="3319922" y="2509977"/>
                </a:lnTo>
                <a:lnTo>
                  <a:pt x="3299655" y="2550348"/>
                </a:lnTo>
                <a:lnTo>
                  <a:pt x="3278384" y="2590115"/>
                </a:lnTo>
                <a:lnTo>
                  <a:pt x="3256126" y="2629261"/>
                </a:lnTo>
                <a:lnTo>
                  <a:pt x="3232897" y="2667769"/>
                </a:lnTo>
                <a:lnTo>
                  <a:pt x="3208715" y="2705623"/>
                </a:lnTo>
                <a:lnTo>
                  <a:pt x="3183594" y="2742806"/>
                </a:lnTo>
                <a:lnTo>
                  <a:pt x="3157553" y="2779302"/>
                </a:lnTo>
                <a:lnTo>
                  <a:pt x="3130608" y="2815093"/>
                </a:lnTo>
                <a:lnTo>
                  <a:pt x="3102775" y="2850164"/>
                </a:lnTo>
                <a:lnTo>
                  <a:pt x="3074072" y="2884496"/>
                </a:lnTo>
                <a:lnTo>
                  <a:pt x="3044514" y="2918075"/>
                </a:lnTo>
                <a:lnTo>
                  <a:pt x="3014119" y="2950883"/>
                </a:lnTo>
                <a:lnTo>
                  <a:pt x="2982903" y="2982903"/>
                </a:lnTo>
                <a:lnTo>
                  <a:pt x="2950883" y="3014119"/>
                </a:lnTo>
                <a:lnTo>
                  <a:pt x="2918075" y="3044514"/>
                </a:lnTo>
                <a:lnTo>
                  <a:pt x="2884496" y="3074072"/>
                </a:lnTo>
                <a:lnTo>
                  <a:pt x="2850164" y="3102775"/>
                </a:lnTo>
                <a:lnTo>
                  <a:pt x="2815093" y="3130608"/>
                </a:lnTo>
                <a:lnTo>
                  <a:pt x="2779302" y="3157553"/>
                </a:lnTo>
                <a:lnTo>
                  <a:pt x="2742806" y="3183594"/>
                </a:lnTo>
                <a:lnTo>
                  <a:pt x="2705623" y="3208715"/>
                </a:lnTo>
                <a:lnTo>
                  <a:pt x="2667769" y="3232897"/>
                </a:lnTo>
                <a:lnTo>
                  <a:pt x="2629261" y="3256126"/>
                </a:lnTo>
                <a:lnTo>
                  <a:pt x="2590115" y="3278384"/>
                </a:lnTo>
                <a:lnTo>
                  <a:pt x="2550348" y="3299655"/>
                </a:lnTo>
                <a:lnTo>
                  <a:pt x="2509977" y="3319922"/>
                </a:lnTo>
                <a:lnTo>
                  <a:pt x="2469018" y="3339167"/>
                </a:lnTo>
                <a:lnTo>
                  <a:pt x="2427488" y="3357376"/>
                </a:lnTo>
                <a:lnTo>
                  <a:pt x="2385404" y="3374530"/>
                </a:lnTo>
                <a:lnTo>
                  <a:pt x="2342782" y="3390614"/>
                </a:lnTo>
                <a:lnTo>
                  <a:pt x="2299639" y="3405611"/>
                </a:lnTo>
                <a:lnTo>
                  <a:pt x="2255992" y="3419503"/>
                </a:lnTo>
                <a:lnTo>
                  <a:pt x="2211857" y="3432275"/>
                </a:lnTo>
                <a:lnTo>
                  <a:pt x="2167250" y="3443909"/>
                </a:lnTo>
                <a:lnTo>
                  <a:pt x="2122190" y="3454390"/>
                </a:lnTo>
                <a:lnTo>
                  <a:pt x="2076692" y="3463700"/>
                </a:lnTo>
                <a:lnTo>
                  <a:pt x="2030772" y="3471822"/>
                </a:lnTo>
                <a:lnTo>
                  <a:pt x="1984448" y="3478741"/>
                </a:lnTo>
                <a:lnTo>
                  <a:pt x="1937737" y="3484439"/>
                </a:lnTo>
                <a:lnTo>
                  <a:pt x="1890654" y="3488900"/>
                </a:lnTo>
                <a:lnTo>
                  <a:pt x="1843217" y="3492107"/>
                </a:lnTo>
                <a:lnTo>
                  <a:pt x="1795442" y="3494043"/>
                </a:lnTo>
                <a:lnTo>
                  <a:pt x="1747346" y="3494692"/>
                </a:lnTo>
                <a:lnTo>
                  <a:pt x="1699250" y="3494043"/>
                </a:lnTo>
                <a:lnTo>
                  <a:pt x="1651475" y="3492107"/>
                </a:lnTo>
                <a:lnTo>
                  <a:pt x="1604038" y="3488900"/>
                </a:lnTo>
                <a:lnTo>
                  <a:pt x="1556955" y="3484439"/>
                </a:lnTo>
                <a:lnTo>
                  <a:pt x="1510243" y="3478741"/>
                </a:lnTo>
                <a:lnTo>
                  <a:pt x="1463920" y="3471822"/>
                </a:lnTo>
                <a:lnTo>
                  <a:pt x="1418000" y="3463700"/>
                </a:lnTo>
                <a:lnTo>
                  <a:pt x="1372502" y="3454390"/>
                </a:lnTo>
                <a:lnTo>
                  <a:pt x="1327442" y="3443909"/>
                </a:lnTo>
                <a:lnTo>
                  <a:pt x="1282835" y="3432275"/>
                </a:lnTo>
                <a:lnTo>
                  <a:pt x="1238700" y="3419503"/>
                </a:lnTo>
                <a:lnTo>
                  <a:pt x="1195053" y="3405611"/>
                </a:lnTo>
                <a:lnTo>
                  <a:pt x="1151910" y="3390614"/>
                </a:lnTo>
                <a:lnTo>
                  <a:pt x="1109288" y="3374530"/>
                </a:lnTo>
                <a:lnTo>
                  <a:pt x="1067204" y="3357376"/>
                </a:lnTo>
                <a:lnTo>
                  <a:pt x="1025674" y="3339167"/>
                </a:lnTo>
                <a:lnTo>
                  <a:pt x="984715" y="3319922"/>
                </a:lnTo>
                <a:lnTo>
                  <a:pt x="944344" y="3299655"/>
                </a:lnTo>
                <a:lnTo>
                  <a:pt x="904577" y="3278384"/>
                </a:lnTo>
                <a:lnTo>
                  <a:pt x="865431" y="3256126"/>
                </a:lnTo>
                <a:lnTo>
                  <a:pt x="826923" y="3232897"/>
                </a:lnTo>
                <a:lnTo>
                  <a:pt x="789069" y="3208715"/>
                </a:lnTo>
                <a:lnTo>
                  <a:pt x="751886" y="3183594"/>
                </a:lnTo>
                <a:lnTo>
                  <a:pt x="715390" y="3157553"/>
                </a:lnTo>
                <a:lnTo>
                  <a:pt x="679599" y="3130608"/>
                </a:lnTo>
                <a:lnTo>
                  <a:pt x="644528" y="3102775"/>
                </a:lnTo>
                <a:lnTo>
                  <a:pt x="610196" y="3074072"/>
                </a:lnTo>
                <a:lnTo>
                  <a:pt x="576617" y="3044514"/>
                </a:lnTo>
                <a:lnTo>
                  <a:pt x="543809" y="3014119"/>
                </a:lnTo>
                <a:lnTo>
                  <a:pt x="511789" y="2982903"/>
                </a:lnTo>
                <a:lnTo>
                  <a:pt x="480573" y="2950883"/>
                </a:lnTo>
                <a:lnTo>
                  <a:pt x="450178" y="2918075"/>
                </a:lnTo>
                <a:lnTo>
                  <a:pt x="420620" y="2884496"/>
                </a:lnTo>
                <a:lnTo>
                  <a:pt x="391917" y="2850164"/>
                </a:lnTo>
                <a:lnTo>
                  <a:pt x="364084" y="2815093"/>
                </a:lnTo>
                <a:lnTo>
                  <a:pt x="337139" y="2779302"/>
                </a:lnTo>
                <a:lnTo>
                  <a:pt x="311098" y="2742806"/>
                </a:lnTo>
                <a:lnTo>
                  <a:pt x="285977" y="2705623"/>
                </a:lnTo>
                <a:lnTo>
                  <a:pt x="261794" y="2667769"/>
                </a:lnTo>
                <a:lnTo>
                  <a:pt x="238566" y="2629261"/>
                </a:lnTo>
                <a:lnTo>
                  <a:pt x="216308" y="2590115"/>
                </a:lnTo>
                <a:lnTo>
                  <a:pt x="195037" y="2550348"/>
                </a:lnTo>
                <a:lnTo>
                  <a:pt x="174770" y="2509977"/>
                </a:lnTo>
                <a:lnTo>
                  <a:pt x="155525" y="2469018"/>
                </a:lnTo>
                <a:lnTo>
                  <a:pt x="137316" y="2427488"/>
                </a:lnTo>
                <a:lnTo>
                  <a:pt x="120162" y="2385404"/>
                </a:lnTo>
                <a:lnTo>
                  <a:pt x="104078" y="2342782"/>
                </a:lnTo>
                <a:lnTo>
                  <a:pt x="89081" y="2299639"/>
                </a:lnTo>
                <a:lnTo>
                  <a:pt x="75189" y="2255992"/>
                </a:lnTo>
                <a:lnTo>
                  <a:pt x="62417" y="2211857"/>
                </a:lnTo>
                <a:lnTo>
                  <a:pt x="50783" y="2167250"/>
                </a:lnTo>
                <a:lnTo>
                  <a:pt x="40302" y="2122190"/>
                </a:lnTo>
                <a:lnTo>
                  <a:pt x="30992" y="2076692"/>
                </a:lnTo>
                <a:lnTo>
                  <a:pt x="22870" y="2030772"/>
                </a:lnTo>
                <a:lnTo>
                  <a:pt x="15951" y="1984448"/>
                </a:lnTo>
                <a:lnTo>
                  <a:pt x="10253" y="1937737"/>
                </a:lnTo>
                <a:lnTo>
                  <a:pt x="5792" y="1890654"/>
                </a:lnTo>
                <a:lnTo>
                  <a:pt x="2585" y="1843217"/>
                </a:lnTo>
                <a:lnTo>
                  <a:pt x="649" y="1795442"/>
                </a:lnTo>
                <a:lnTo>
                  <a:pt x="0" y="1747346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02174" y="3869995"/>
            <a:ext cx="2301875" cy="777875"/>
          </a:xfrm>
          <a:custGeom>
            <a:avLst/>
            <a:gdLst/>
            <a:ahLst/>
            <a:cxnLst/>
            <a:rect l="l" t="t" r="r" b="b"/>
            <a:pathLst>
              <a:path w="2301875" h="777875">
                <a:moveTo>
                  <a:pt x="0" y="777323"/>
                </a:moveTo>
                <a:lnTo>
                  <a:pt x="2301595" y="0"/>
                </a:lnTo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993720" y="3840168"/>
            <a:ext cx="92075" cy="59690"/>
          </a:xfrm>
          <a:custGeom>
            <a:avLst/>
            <a:gdLst/>
            <a:ahLst/>
            <a:cxnLst/>
            <a:rect l="l" t="t" r="r" b="b"/>
            <a:pathLst>
              <a:path w="92075" h="59689">
                <a:moveTo>
                  <a:pt x="20124" y="59624"/>
                </a:moveTo>
                <a:lnTo>
                  <a:pt x="91974" y="2149"/>
                </a:lnTo>
                <a:lnTo>
                  <a:pt x="0" y="0"/>
                </a:lnTo>
                <a:lnTo>
                  <a:pt x="20124" y="59624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89423" y="1328024"/>
            <a:ext cx="2089150" cy="889000"/>
          </a:xfrm>
          <a:custGeom>
            <a:avLst/>
            <a:gdLst/>
            <a:ahLst/>
            <a:cxnLst/>
            <a:rect l="l" t="t" r="r" b="b"/>
            <a:pathLst>
              <a:path w="2089150" h="889000">
                <a:moveTo>
                  <a:pt x="0" y="0"/>
                </a:moveTo>
                <a:lnTo>
                  <a:pt x="2089020" y="888848"/>
                </a:lnTo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066119" y="2187918"/>
            <a:ext cx="92075" cy="62865"/>
          </a:xfrm>
          <a:custGeom>
            <a:avLst/>
            <a:gdLst/>
            <a:ahLst/>
            <a:cxnLst/>
            <a:rect l="l" t="t" r="r" b="b"/>
            <a:pathLst>
              <a:path w="92075" h="62865">
                <a:moveTo>
                  <a:pt x="0" y="57907"/>
                </a:moveTo>
                <a:lnTo>
                  <a:pt x="91874" y="62802"/>
                </a:lnTo>
                <a:lnTo>
                  <a:pt x="24649" y="0"/>
                </a:lnTo>
                <a:lnTo>
                  <a:pt x="0" y="57907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470886" y="3099345"/>
            <a:ext cx="2160270" cy="0"/>
          </a:xfrm>
          <a:custGeom>
            <a:avLst/>
            <a:gdLst/>
            <a:ahLst/>
            <a:cxnLst/>
            <a:rect l="l" t="t" r="r" b="b"/>
            <a:pathLst>
              <a:path w="2160270">
                <a:moveTo>
                  <a:pt x="0" y="0"/>
                </a:moveTo>
                <a:lnTo>
                  <a:pt x="2159995" y="0"/>
                </a:lnTo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630883" y="3067880"/>
            <a:ext cx="86995" cy="63500"/>
          </a:xfrm>
          <a:custGeom>
            <a:avLst/>
            <a:gdLst/>
            <a:ahLst/>
            <a:cxnLst/>
            <a:rect l="l" t="t" r="r" b="b"/>
            <a:pathLst>
              <a:path w="86995" h="63500">
                <a:moveTo>
                  <a:pt x="0" y="62929"/>
                </a:moveTo>
                <a:lnTo>
                  <a:pt x="86449" y="31464"/>
                </a:lnTo>
                <a:lnTo>
                  <a:pt x="0" y="0"/>
                </a:lnTo>
                <a:lnTo>
                  <a:pt x="0" y="62929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380509" y="1090350"/>
            <a:ext cx="352424" cy="304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70985" y="1080824"/>
            <a:ext cx="371475" cy="323850"/>
          </a:xfrm>
          <a:custGeom>
            <a:avLst/>
            <a:gdLst/>
            <a:ahLst/>
            <a:cxnLst/>
            <a:rect l="l" t="t" r="r" b="b"/>
            <a:pathLst>
              <a:path w="371475" h="323850">
                <a:moveTo>
                  <a:pt x="0" y="0"/>
                </a:moveTo>
                <a:lnTo>
                  <a:pt x="371474" y="0"/>
                </a:lnTo>
                <a:lnTo>
                  <a:pt x="371474" y="323849"/>
                </a:lnTo>
                <a:lnTo>
                  <a:pt x="0" y="32384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300359" y="3918269"/>
            <a:ext cx="295274" cy="3619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290835" y="3908743"/>
            <a:ext cx="314325" cy="381000"/>
          </a:xfrm>
          <a:custGeom>
            <a:avLst/>
            <a:gdLst/>
            <a:ahLst/>
            <a:cxnLst/>
            <a:rect l="l" t="t" r="r" b="b"/>
            <a:pathLst>
              <a:path w="314325" h="381000">
                <a:moveTo>
                  <a:pt x="0" y="0"/>
                </a:moveTo>
                <a:lnTo>
                  <a:pt x="314324" y="0"/>
                </a:lnTo>
                <a:lnTo>
                  <a:pt x="314324" y="380999"/>
                </a:lnTo>
                <a:lnTo>
                  <a:pt x="0" y="3809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245910" y="2615947"/>
            <a:ext cx="352424" cy="3047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236386" y="2606421"/>
            <a:ext cx="371475" cy="323850"/>
          </a:xfrm>
          <a:custGeom>
            <a:avLst/>
            <a:gdLst/>
            <a:ahLst/>
            <a:cxnLst/>
            <a:rect l="l" t="t" r="r" b="b"/>
            <a:pathLst>
              <a:path w="371475" h="323850">
                <a:moveTo>
                  <a:pt x="0" y="0"/>
                </a:moveTo>
                <a:lnTo>
                  <a:pt x="371474" y="0"/>
                </a:lnTo>
                <a:lnTo>
                  <a:pt x="371474" y="323849"/>
                </a:lnTo>
                <a:lnTo>
                  <a:pt x="0" y="32384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2195267" y="857250"/>
            <a:ext cx="1824989" cy="466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3000" spc="-5" dirty="0">
                <a:solidFill>
                  <a:srgbClr val="38751C"/>
                </a:solidFill>
              </a:rPr>
              <a:t>activations</a:t>
            </a:r>
            <a:endParaRPr sz="3000"/>
          </a:p>
        </p:txBody>
      </p:sp>
      <p:sp>
        <p:nvSpPr>
          <p:cNvPr id="18" name="object 18"/>
          <p:cNvSpPr/>
          <p:nvPr/>
        </p:nvSpPr>
        <p:spPr>
          <a:xfrm>
            <a:off x="3398744" y="2147685"/>
            <a:ext cx="485773" cy="63817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389244" y="2138160"/>
            <a:ext cx="504825" cy="657225"/>
          </a:xfrm>
          <a:custGeom>
            <a:avLst/>
            <a:gdLst/>
            <a:ahLst/>
            <a:cxnLst/>
            <a:rect l="l" t="t" r="r" b="b"/>
            <a:pathLst>
              <a:path w="504825" h="657225">
                <a:moveTo>
                  <a:pt x="0" y="0"/>
                </a:moveTo>
                <a:lnTo>
                  <a:pt x="504823" y="0"/>
                </a:lnTo>
                <a:lnTo>
                  <a:pt x="504823" y="657223"/>
                </a:lnTo>
                <a:lnTo>
                  <a:pt x="0" y="657223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398743" y="3350294"/>
            <a:ext cx="409574" cy="7048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389244" y="3340757"/>
            <a:ext cx="428625" cy="723900"/>
          </a:xfrm>
          <a:custGeom>
            <a:avLst/>
            <a:gdLst/>
            <a:ahLst/>
            <a:cxnLst/>
            <a:rect l="l" t="t" r="r" b="b"/>
            <a:pathLst>
              <a:path w="428625" h="723900">
                <a:moveTo>
                  <a:pt x="0" y="0"/>
                </a:moveTo>
                <a:lnTo>
                  <a:pt x="428599" y="0"/>
                </a:lnTo>
                <a:lnTo>
                  <a:pt x="428599" y="723886"/>
                </a:lnTo>
                <a:lnTo>
                  <a:pt x="0" y="723886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585386" y="3290870"/>
            <a:ext cx="2112010" cy="0"/>
          </a:xfrm>
          <a:custGeom>
            <a:avLst/>
            <a:gdLst/>
            <a:ahLst/>
            <a:cxnLst/>
            <a:rect l="l" t="t" r="r" b="b"/>
            <a:pathLst>
              <a:path w="2112009">
                <a:moveTo>
                  <a:pt x="2111695" y="0"/>
                </a:moveTo>
                <a:lnTo>
                  <a:pt x="0" y="0"/>
                </a:lnTo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498938" y="3259405"/>
            <a:ext cx="86995" cy="63500"/>
          </a:xfrm>
          <a:custGeom>
            <a:avLst/>
            <a:gdLst/>
            <a:ahLst/>
            <a:cxnLst/>
            <a:rect l="l" t="t" r="r" b="b"/>
            <a:pathLst>
              <a:path w="86995" h="63500">
                <a:moveTo>
                  <a:pt x="86449" y="0"/>
                </a:moveTo>
                <a:lnTo>
                  <a:pt x="0" y="31464"/>
                </a:lnTo>
                <a:lnTo>
                  <a:pt x="86449" y="62929"/>
                </a:lnTo>
                <a:lnTo>
                  <a:pt x="86449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164960" y="3412445"/>
            <a:ext cx="514348" cy="67627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155460" y="3402920"/>
            <a:ext cx="533400" cy="695325"/>
          </a:xfrm>
          <a:custGeom>
            <a:avLst/>
            <a:gdLst/>
            <a:ahLst/>
            <a:cxnLst/>
            <a:rect l="l" t="t" r="r" b="b"/>
            <a:pathLst>
              <a:path w="533400" h="695325">
                <a:moveTo>
                  <a:pt x="0" y="0"/>
                </a:moveTo>
                <a:lnTo>
                  <a:pt x="533373" y="0"/>
                </a:lnTo>
                <a:lnTo>
                  <a:pt x="533373" y="695323"/>
                </a:lnTo>
                <a:lnTo>
                  <a:pt x="0" y="695323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body" idx="1"/>
          </p:nvPr>
        </p:nvSpPr>
        <p:spPr>
          <a:xfrm>
            <a:off x="765798" y="2150921"/>
            <a:ext cx="7612402" cy="32008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52470" marR="2814955" algn="ctr"/>
            <a:r>
              <a:rPr spc="-5" dirty="0"/>
              <a:t>“local</a:t>
            </a:r>
            <a:r>
              <a:rPr spc="-35" dirty="0"/>
              <a:t> </a:t>
            </a:r>
            <a:r>
              <a:rPr spc="-5" dirty="0"/>
              <a:t>gradient”</a:t>
            </a:r>
          </a:p>
          <a:p>
            <a:pPr marL="3252470"/>
            <a:endParaRPr spc="-5" dirty="0"/>
          </a:p>
          <a:p>
            <a:pPr marL="3252470"/>
            <a:endParaRPr sz="2350" dirty="0">
              <a:latin typeface="Times New Roman"/>
              <a:cs typeface="Times New Roman"/>
            </a:endParaRPr>
          </a:p>
          <a:p>
            <a:pPr marL="3252470" marR="2941320" algn="ctr"/>
            <a:r>
              <a:rPr sz="4800" spc="-5" dirty="0">
                <a:solidFill>
                  <a:srgbClr val="000000"/>
                </a:solidFill>
              </a:rPr>
              <a:t>f</a:t>
            </a:r>
            <a:endParaRPr sz="4800" dirty="0"/>
          </a:p>
          <a:p>
            <a:pPr marL="3252470">
              <a:spcBef>
                <a:spcPts val="20"/>
              </a:spcBef>
            </a:pPr>
            <a:endParaRPr sz="7050" dirty="0">
              <a:latin typeface="Times New Roman"/>
              <a:cs typeface="Times New Roman"/>
            </a:endParaRPr>
          </a:p>
          <a:p>
            <a:pPr marL="6031865"/>
            <a:r>
              <a:rPr sz="3000" spc="-5" dirty="0"/>
              <a:t>gradients</a:t>
            </a:r>
            <a:endParaRPr sz="3000" dirty="0"/>
          </a:p>
        </p:txBody>
      </p:sp>
      <p:sp>
        <p:nvSpPr>
          <p:cNvPr id="27" name="object 27"/>
          <p:cNvSpPr txBox="1"/>
          <p:nvPr/>
        </p:nvSpPr>
        <p:spPr>
          <a:xfrm>
            <a:off x="5399118" y="5586262"/>
            <a:ext cx="1579880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90"/>
              </a:lnSpc>
            </a:pPr>
            <a:r>
              <a:rPr sz="3000" spc="-7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3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3000" spc="-225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24</a:t>
            </a:r>
            <a:endParaRPr sz="20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68DBF2-3884-44E0-9B89-8F53BDC33D99}"/>
              </a:ext>
            </a:extLst>
          </p:cNvPr>
          <p:cNvSpPr txBox="1"/>
          <p:nvPr/>
        </p:nvSpPr>
        <p:spPr>
          <a:xfrm>
            <a:off x="0" y="6604084"/>
            <a:ext cx="10727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Andrej </a:t>
            </a:r>
            <a:r>
              <a:rPr lang="en-US" sz="1050" dirty="0" err="1"/>
              <a:t>Karpathy</a:t>
            </a:r>
            <a:endParaRPr lang="en-US" sz="105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2F5F058-4D68-B44B-ACE2-8D8D0E4A443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554638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5481366"/>
            <a:ext cx="9144000" cy="359073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57480">
              <a:spcBef>
                <a:spcPts val="400"/>
              </a:spcBef>
              <a:tabLst>
                <a:tab pos="5411470" algn="l"/>
                <a:tab pos="7621270" algn="l"/>
              </a:tabLst>
            </a:pP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Fei-Fei Li &amp; Andrej Karpathy &amp;</a:t>
            </a:r>
            <a:r>
              <a:rPr spc="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Justin</a:t>
            </a:r>
            <a:r>
              <a:rPr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Johnson	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sz="3000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3000" baseline="-4166" dirty="0">
                <a:solidFill>
                  <a:srgbClr val="FFFFFF"/>
                </a:solidFill>
                <a:latin typeface="Arial"/>
                <a:cs typeface="Arial"/>
              </a:rPr>
              <a:t> -	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13 Jan</a:t>
            </a:r>
            <a:r>
              <a:rPr sz="3000" spc="-97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2016</a:t>
            </a:r>
            <a:endParaRPr sz="3000" baseline="-4166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76193" y="1351999"/>
            <a:ext cx="3495040" cy="3495040"/>
          </a:xfrm>
          <a:custGeom>
            <a:avLst/>
            <a:gdLst/>
            <a:ahLst/>
            <a:cxnLst/>
            <a:rect l="l" t="t" r="r" b="b"/>
            <a:pathLst>
              <a:path w="3495040" h="3495040">
                <a:moveTo>
                  <a:pt x="0" y="1747346"/>
                </a:moveTo>
                <a:lnTo>
                  <a:pt x="649" y="1699249"/>
                </a:lnTo>
                <a:lnTo>
                  <a:pt x="2585" y="1651474"/>
                </a:lnTo>
                <a:lnTo>
                  <a:pt x="5792" y="1604036"/>
                </a:lnTo>
                <a:lnTo>
                  <a:pt x="10253" y="1556953"/>
                </a:lnTo>
                <a:lnTo>
                  <a:pt x="15951" y="1510241"/>
                </a:lnTo>
                <a:lnTo>
                  <a:pt x="22870" y="1463917"/>
                </a:lnTo>
                <a:lnTo>
                  <a:pt x="30992" y="1417998"/>
                </a:lnTo>
                <a:lnTo>
                  <a:pt x="40302" y="1372499"/>
                </a:lnTo>
                <a:lnTo>
                  <a:pt x="50783" y="1327438"/>
                </a:lnTo>
                <a:lnTo>
                  <a:pt x="62417" y="1282832"/>
                </a:lnTo>
                <a:lnTo>
                  <a:pt x="75189" y="1238697"/>
                </a:lnTo>
                <a:lnTo>
                  <a:pt x="89081" y="1195049"/>
                </a:lnTo>
                <a:lnTo>
                  <a:pt x="104078" y="1151906"/>
                </a:lnTo>
                <a:lnTo>
                  <a:pt x="120162" y="1109284"/>
                </a:lnTo>
                <a:lnTo>
                  <a:pt x="137316" y="1067200"/>
                </a:lnTo>
                <a:lnTo>
                  <a:pt x="155525" y="1025670"/>
                </a:lnTo>
                <a:lnTo>
                  <a:pt x="174770" y="984711"/>
                </a:lnTo>
                <a:lnTo>
                  <a:pt x="195037" y="944340"/>
                </a:lnTo>
                <a:lnTo>
                  <a:pt x="216308" y="904573"/>
                </a:lnTo>
                <a:lnTo>
                  <a:pt x="238566" y="865427"/>
                </a:lnTo>
                <a:lnTo>
                  <a:pt x="261794" y="826918"/>
                </a:lnTo>
                <a:lnTo>
                  <a:pt x="285977" y="789064"/>
                </a:lnTo>
                <a:lnTo>
                  <a:pt x="311098" y="751881"/>
                </a:lnTo>
                <a:lnTo>
                  <a:pt x="337139" y="715386"/>
                </a:lnTo>
                <a:lnTo>
                  <a:pt x="364084" y="679595"/>
                </a:lnTo>
                <a:lnTo>
                  <a:pt x="391917" y="644524"/>
                </a:lnTo>
                <a:lnTo>
                  <a:pt x="420620" y="610192"/>
                </a:lnTo>
                <a:lnTo>
                  <a:pt x="450178" y="576613"/>
                </a:lnTo>
                <a:lnTo>
                  <a:pt x="480573" y="543805"/>
                </a:lnTo>
                <a:lnTo>
                  <a:pt x="511789" y="511785"/>
                </a:lnTo>
                <a:lnTo>
                  <a:pt x="543809" y="480569"/>
                </a:lnTo>
                <a:lnTo>
                  <a:pt x="576617" y="450174"/>
                </a:lnTo>
                <a:lnTo>
                  <a:pt x="610196" y="420617"/>
                </a:lnTo>
                <a:lnTo>
                  <a:pt x="644528" y="391914"/>
                </a:lnTo>
                <a:lnTo>
                  <a:pt x="679599" y="364081"/>
                </a:lnTo>
                <a:lnTo>
                  <a:pt x="715390" y="337136"/>
                </a:lnTo>
                <a:lnTo>
                  <a:pt x="751886" y="311095"/>
                </a:lnTo>
                <a:lnTo>
                  <a:pt x="789069" y="285975"/>
                </a:lnTo>
                <a:lnTo>
                  <a:pt x="826923" y="261792"/>
                </a:lnTo>
                <a:lnTo>
                  <a:pt x="865431" y="238563"/>
                </a:lnTo>
                <a:lnTo>
                  <a:pt x="904577" y="216306"/>
                </a:lnTo>
                <a:lnTo>
                  <a:pt x="944344" y="195035"/>
                </a:lnTo>
                <a:lnTo>
                  <a:pt x="984715" y="174769"/>
                </a:lnTo>
                <a:lnTo>
                  <a:pt x="1025674" y="155523"/>
                </a:lnTo>
                <a:lnTo>
                  <a:pt x="1067204" y="137315"/>
                </a:lnTo>
                <a:lnTo>
                  <a:pt x="1109288" y="120160"/>
                </a:lnTo>
                <a:lnTo>
                  <a:pt x="1151910" y="104077"/>
                </a:lnTo>
                <a:lnTo>
                  <a:pt x="1195053" y="89080"/>
                </a:lnTo>
                <a:lnTo>
                  <a:pt x="1238700" y="75188"/>
                </a:lnTo>
                <a:lnTo>
                  <a:pt x="1282835" y="62416"/>
                </a:lnTo>
                <a:lnTo>
                  <a:pt x="1327442" y="50782"/>
                </a:lnTo>
                <a:lnTo>
                  <a:pt x="1372502" y="40302"/>
                </a:lnTo>
                <a:lnTo>
                  <a:pt x="1418000" y="30992"/>
                </a:lnTo>
                <a:lnTo>
                  <a:pt x="1463920" y="22869"/>
                </a:lnTo>
                <a:lnTo>
                  <a:pt x="1510243" y="15951"/>
                </a:lnTo>
                <a:lnTo>
                  <a:pt x="1556955" y="10253"/>
                </a:lnTo>
                <a:lnTo>
                  <a:pt x="1604038" y="5792"/>
                </a:lnTo>
                <a:lnTo>
                  <a:pt x="1651475" y="2585"/>
                </a:lnTo>
                <a:lnTo>
                  <a:pt x="1699250" y="649"/>
                </a:lnTo>
                <a:lnTo>
                  <a:pt x="1747346" y="0"/>
                </a:lnTo>
                <a:lnTo>
                  <a:pt x="1796921" y="702"/>
                </a:lnTo>
                <a:lnTo>
                  <a:pt x="1846325" y="2803"/>
                </a:lnTo>
                <a:lnTo>
                  <a:pt x="1895530" y="6290"/>
                </a:lnTo>
                <a:lnTo>
                  <a:pt x="1944510" y="11153"/>
                </a:lnTo>
                <a:lnTo>
                  <a:pt x="1993237" y="17380"/>
                </a:lnTo>
                <a:lnTo>
                  <a:pt x="2041685" y="24961"/>
                </a:lnTo>
                <a:lnTo>
                  <a:pt x="2089828" y="33884"/>
                </a:lnTo>
                <a:lnTo>
                  <a:pt x="2137639" y="44139"/>
                </a:lnTo>
                <a:lnTo>
                  <a:pt x="2185091" y="55715"/>
                </a:lnTo>
                <a:lnTo>
                  <a:pt x="2232157" y="68599"/>
                </a:lnTo>
                <a:lnTo>
                  <a:pt x="2278810" y="82782"/>
                </a:lnTo>
                <a:lnTo>
                  <a:pt x="2325025" y="98252"/>
                </a:lnTo>
                <a:lnTo>
                  <a:pt x="2370773" y="114997"/>
                </a:lnTo>
                <a:lnTo>
                  <a:pt x="2416029" y="133008"/>
                </a:lnTo>
                <a:lnTo>
                  <a:pt x="2460765" y="152273"/>
                </a:lnTo>
                <a:lnTo>
                  <a:pt x="2504956" y="172781"/>
                </a:lnTo>
                <a:lnTo>
                  <a:pt x="2548573" y="194520"/>
                </a:lnTo>
                <a:lnTo>
                  <a:pt x="2591591" y="217480"/>
                </a:lnTo>
                <a:lnTo>
                  <a:pt x="2633983" y="241650"/>
                </a:lnTo>
                <a:lnTo>
                  <a:pt x="2675722" y="267018"/>
                </a:lnTo>
                <a:lnTo>
                  <a:pt x="2716781" y="293574"/>
                </a:lnTo>
                <a:lnTo>
                  <a:pt x="2757134" y="321307"/>
                </a:lnTo>
                <a:lnTo>
                  <a:pt x="2796753" y="350204"/>
                </a:lnTo>
                <a:lnTo>
                  <a:pt x="2835613" y="380256"/>
                </a:lnTo>
                <a:lnTo>
                  <a:pt x="2873686" y="411452"/>
                </a:lnTo>
                <a:lnTo>
                  <a:pt x="2910946" y="443779"/>
                </a:lnTo>
                <a:lnTo>
                  <a:pt x="2947366" y="477227"/>
                </a:lnTo>
                <a:lnTo>
                  <a:pt x="2982918" y="511786"/>
                </a:lnTo>
                <a:lnTo>
                  <a:pt x="3017475" y="547338"/>
                </a:lnTo>
                <a:lnTo>
                  <a:pt x="3050922" y="583757"/>
                </a:lnTo>
                <a:lnTo>
                  <a:pt x="3083248" y="621015"/>
                </a:lnTo>
                <a:lnTo>
                  <a:pt x="3114442" y="659087"/>
                </a:lnTo>
                <a:lnTo>
                  <a:pt x="3144493" y="697946"/>
                </a:lnTo>
                <a:lnTo>
                  <a:pt x="3173389" y="737565"/>
                </a:lnTo>
                <a:lnTo>
                  <a:pt x="3201121" y="777917"/>
                </a:lnTo>
                <a:lnTo>
                  <a:pt x="3227676" y="818975"/>
                </a:lnTo>
                <a:lnTo>
                  <a:pt x="3253044" y="860713"/>
                </a:lnTo>
                <a:lnTo>
                  <a:pt x="3277213" y="903104"/>
                </a:lnTo>
                <a:lnTo>
                  <a:pt x="3300172" y="946122"/>
                </a:lnTo>
                <a:lnTo>
                  <a:pt x="3321911" y="989739"/>
                </a:lnTo>
                <a:lnTo>
                  <a:pt x="3342419" y="1033929"/>
                </a:lnTo>
                <a:lnTo>
                  <a:pt x="3361683" y="1078665"/>
                </a:lnTo>
                <a:lnTo>
                  <a:pt x="3379694" y="1123920"/>
                </a:lnTo>
                <a:lnTo>
                  <a:pt x="3396440" y="1169668"/>
                </a:lnTo>
                <a:lnTo>
                  <a:pt x="3411910" y="1215882"/>
                </a:lnTo>
                <a:lnTo>
                  <a:pt x="3426092" y="1262535"/>
                </a:lnTo>
                <a:lnTo>
                  <a:pt x="3438977" y="1309601"/>
                </a:lnTo>
                <a:lnTo>
                  <a:pt x="3450552" y="1357052"/>
                </a:lnTo>
                <a:lnTo>
                  <a:pt x="3460807" y="1404863"/>
                </a:lnTo>
                <a:lnTo>
                  <a:pt x="3469731" y="1453006"/>
                </a:lnTo>
                <a:lnTo>
                  <a:pt x="3477312" y="1501454"/>
                </a:lnTo>
                <a:lnTo>
                  <a:pt x="3483539" y="1550182"/>
                </a:lnTo>
                <a:lnTo>
                  <a:pt x="3488402" y="1599161"/>
                </a:lnTo>
                <a:lnTo>
                  <a:pt x="3491889" y="1648366"/>
                </a:lnTo>
                <a:lnTo>
                  <a:pt x="3493990" y="1697770"/>
                </a:lnTo>
                <a:lnTo>
                  <a:pt x="3494692" y="1747346"/>
                </a:lnTo>
                <a:lnTo>
                  <a:pt x="3494043" y="1795442"/>
                </a:lnTo>
                <a:lnTo>
                  <a:pt x="3492107" y="1843217"/>
                </a:lnTo>
                <a:lnTo>
                  <a:pt x="3488900" y="1890654"/>
                </a:lnTo>
                <a:lnTo>
                  <a:pt x="3484439" y="1937737"/>
                </a:lnTo>
                <a:lnTo>
                  <a:pt x="3478741" y="1984448"/>
                </a:lnTo>
                <a:lnTo>
                  <a:pt x="3471822" y="2030772"/>
                </a:lnTo>
                <a:lnTo>
                  <a:pt x="3463700" y="2076692"/>
                </a:lnTo>
                <a:lnTo>
                  <a:pt x="3454390" y="2122190"/>
                </a:lnTo>
                <a:lnTo>
                  <a:pt x="3443909" y="2167250"/>
                </a:lnTo>
                <a:lnTo>
                  <a:pt x="3432275" y="2211857"/>
                </a:lnTo>
                <a:lnTo>
                  <a:pt x="3419503" y="2255992"/>
                </a:lnTo>
                <a:lnTo>
                  <a:pt x="3405611" y="2299639"/>
                </a:lnTo>
                <a:lnTo>
                  <a:pt x="3390614" y="2342782"/>
                </a:lnTo>
                <a:lnTo>
                  <a:pt x="3374530" y="2385404"/>
                </a:lnTo>
                <a:lnTo>
                  <a:pt x="3357376" y="2427488"/>
                </a:lnTo>
                <a:lnTo>
                  <a:pt x="3339167" y="2469018"/>
                </a:lnTo>
                <a:lnTo>
                  <a:pt x="3319922" y="2509977"/>
                </a:lnTo>
                <a:lnTo>
                  <a:pt x="3299655" y="2550348"/>
                </a:lnTo>
                <a:lnTo>
                  <a:pt x="3278384" y="2590115"/>
                </a:lnTo>
                <a:lnTo>
                  <a:pt x="3256126" y="2629261"/>
                </a:lnTo>
                <a:lnTo>
                  <a:pt x="3232897" y="2667769"/>
                </a:lnTo>
                <a:lnTo>
                  <a:pt x="3208715" y="2705623"/>
                </a:lnTo>
                <a:lnTo>
                  <a:pt x="3183594" y="2742806"/>
                </a:lnTo>
                <a:lnTo>
                  <a:pt x="3157553" y="2779302"/>
                </a:lnTo>
                <a:lnTo>
                  <a:pt x="3130608" y="2815093"/>
                </a:lnTo>
                <a:lnTo>
                  <a:pt x="3102775" y="2850164"/>
                </a:lnTo>
                <a:lnTo>
                  <a:pt x="3074072" y="2884496"/>
                </a:lnTo>
                <a:lnTo>
                  <a:pt x="3044514" y="2918075"/>
                </a:lnTo>
                <a:lnTo>
                  <a:pt x="3014119" y="2950883"/>
                </a:lnTo>
                <a:lnTo>
                  <a:pt x="2982903" y="2982903"/>
                </a:lnTo>
                <a:lnTo>
                  <a:pt x="2950883" y="3014119"/>
                </a:lnTo>
                <a:lnTo>
                  <a:pt x="2918075" y="3044514"/>
                </a:lnTo>
                <a:lnTo>
                  <a:pt x="2884496" y="3074072"/>
                </a:lnTo>
                <a:lnTo>
                  <a:pt x="2850164" y="3102775"/>
                </a:lnTo>
                <a:lnTo>
                  <a:pt x="2815093" y="3130608"/>
                </a:lnTo>
                <a:lnTo>
                  <a:pt x="2779302" y="3157553"/>
                </a:lnTo>
                <a:lnTo>
                  <a:pt x="2742806" y="3183594"/>
                </a:lnTo>
                <a:lnTo>
                  <a:pt x="2705623" y="3208715"/>
                </a:lnTo>
                <a:lnTo>
                  <a:pt x="2667769" y="3232897"/>
                </a:lnTo>
                <a:lnTo>
                  <a:pt x="2629261" y="3256126"/>
                </a:lnTo>
                <a:lnTo>
                  <a:pt x="2590115" y="3278384"/>
                </a:lnTo>
                <a:lnTo>
                  <a:pt x="2550348" y="3299655"/>
                </a:lnTo>
                <a:lnTo>
                  <a:pt x="2509977" y="3319922"/>
                </a:lnTo>
                <a:lnTo>
                  <a:pt x="2469018" y="3339167"/>
                </a:lnTo>
                <a:lnTo>
                  <a:pt x="2427488" y="3357376"/>
                </a:lnTo>
                <a:lnTo>
                  <a:pt x="2385404" y="3374530"/>
                </a:lnTo>
                <a:lnTo>
                  <a:pt x="2342782" y="3390614"/>
                </a:lnTo>
                <a:lnTo>
                  <a:pt x="2299639" y="3405611"/>
                </a:lnTo>
                <a:lnTo>
                  <a:pt x="2255992" y="3419503"/>
                </a:lnTo>
                <a:lnTo>
                  <a:pt x="2211857" y="3432275"/>
                </a:lnTo>
                <a:lnTo>
                  <a:pt x="2167250" y="3443909"/>
                </a:lnTo>
                <a:lnTo>
                  <a:pt x="2122190" y="3454390"/>
                </a:lnTo>
                <a:lnTo>
                  <a:pt x="2076692" y="3463700"/>
                </a:lnTo>
                <a:lnTo>
                  <a:pt x="2030772" y="3471822"/>
                </a:lnTo>
                <a:lnTo>
                  <a:pt x="1984448" y="3478741"/>
                </a:lnTo>
                <a:lnTo>
                  <a:pt x="1937737" y="3484439"/>
                </a:lnTo>
                <a:lnTo>
                  <a:pt x="1890654" y="3488900"/>
                </a:lnTo>
                <a:lnTo>
                  <a:pt x="1843217" y="3492107"/>
                </a:lnTo>
                <a:lnTo>
                  <a:pt x="1795442" y="3494043"/>
                </a:lnTo>
                <a:lnTo>
                  <a:pt x="1747346" y="3494692"/>
                </a:lnTo>
                <a:lnTo>
                  <a:pt x="1699250" y="3494043"/>
                </a:lnTo>
                <a:lnTo>
                  <a:pt x="1651475" y="3492107"/>
                </a:lnTo>
                <a:lnTo>
                  <a:pt x="1604038" y="3488900"/>
                </a:lnTo>
                <a:lnTo>
                  <a:pt x="1556955" y="3484439"/>
                </a:lnTo>
                <a:lnTo>
                  <a:pt x="1510243" y="3478741"/>
                </a:lnTo>
                <a:lnTo>
                  <a:pt x="1463920" y="3471822"/>
                </a:lnTo>
                <a:lnTo>
                  <a:pt x="1418000" y="3463700"/>
                </a:lnTo>
                <a:lnTo>
                  <a:pt x="1372502" y="3454390"/>
                </a:lnTo>
                <a:lnTo>
                  <a:pt x="1327442" y="3443909"/>
                </a:lnTo>
                <a:lnTo>
                  <a:pt x="1282835" y="3432275"/>
                </a:lnTo>
                <a:lnTo>
                  <a:pt x="1238700" y="3419503"/>
                </a:lnTo>
                <a:lnTo>
                  <a:pt x="1195053" y="3405611"/>
                </a:lnTo>
                <a:lnTo>
                  <a:pt x="1151910" y="3390614"/>
                </a:lnTo>
                <a:lnTo>
                  <a:pt x="1109288" y="3374530"/>
                </a:lnTo>
                <a:lnTo>
                  <a:pt x="1067204" y="3357376"/>
                </a:lnTo>
                <a:lnTo>
                  <a:pt x="1025674" y="3339167"/>
                </a:lnTo>
                <a:lnTo>
                  <a:pt x="984715" y="3319922"/>
                </a:lnTo>
                <a:lnTo>
                  <a:pt x="944344" y="3299655"/>
                </a:lnTo>
                <a:lnTo>
                  <a:pt x="904577" y="3278384"/>
                </a:lnTo>
                <a:lnTo>
                  <a:pt x="865431" y="3256126"/>
                </a:lnTo>
                <a:lnTo>
                  <a:pt x="826923" y="3232897"/>
                </a:lnTo>
                <a:lnTo>
                  <a:pt x="789069" y="3208715"/>
                </a:lnTo>
                <a:lnTo>
                  <a:pt x="751886" y="3183594"/>
                </a:lnTo>
                <a:lnTo>
                  <a:pt x="715390" y="3157553"/>
                </a:lnTo>
                <a:lnTo>
                  <a:pt x="679599" y="3130608"/>
                </a:lnTo>
                <a:lnTo>
                  <a:pt x="644528" y="3102775"/>
                </a:lnTo>
                <a:lnTo>
                  <a:pt x="610196" y="3074072"/>
                </a:lnTo>
                <a:lnTo>
                  <a:pt x="576617" y="3044514"/>
                </a:lnTo>
                <a:lnTo>
                  <a:pt x="543809" y="3014119"/>
                </a:lnTo>
                <a:lnTo>
                  <a:pt x="511789" y="2982903"/>
                </a:lnTo>
                <a:lnTo>
                  <a:pt x="480573" y="2950883"/>
                </a:lnTo>
                <a:lnTo>
                  <a:pt x="450178" y="2918075"/>
                </a:lnTo>
                <a:lnTo>
                  <a:pt x="420620" y="2884496"/>
                </a:lnTo>
                <a:lnTo>
                  <a:pt x="391917" y="2850164"/>
                </a:lnTo>
                <a:lnTo>
                  <a:pt x="364084" y="2815093"/>
                </a:lnTo>
                <a:lnTo>
                  <a:pt x="337139" y="2779302"/>
                </a:lnTo>
                <a:lnTo>
                  <a:pt x="311098" y="2742806"/>
                </a:lnTo>
                <a:lnTo>
                  <a:pt x="285977" y="2705623"/>
                </a:lnTo>
                <a:lnTo>
                  <a:pt x="261794" y="2667769"/>
                </a:lnTo>
                <a:lnTo>
                  <a:pt x="238566" y="2629261"/>
                </a:lnTo>
                <a:lnTo>
                  <a:pt x="216308" y="2590115"/>
                </a:lnTo>
                <a:lnTo>
                  <a:pt x="195037" y="2550348"/>
                </a:lnTo>
                <a:lnTo>
                  <a:pt x="174770" y="2509977"/>
                </a:lnTo>
                <a:lnTo>
                  <a:pt x="155525" y="2469018"/>
                </a:lnTo>
                <a:lnTo>
                  <a:pt x="137316" y="2427488"/>
                </a:lnTo>
                <a:lnTo>
                  <a:pt x="120162" y="2385404"/>
                </a:lnTo>
                <a:lnTo>
                  <a:pt x="104078" y="2342782"/>
                </a:lnTo>
                <a:lnTo>
                  <a:pt x="89081" y="2299639"/>
                </a:lnTo>
                <a:lnTo>
                  <a:pt x="75189" y="2255992"/>
                </a:lnTo>
                <a:lnTo>
                  <a:pt x="62417" y="2211857"/>
                </a:lnTo>
                <a:lnTo>
                  <a:pt x="50783" y="2167250"/>
                </a:lnTo>
                <a:lnTo>
                  <a:pt x="40302" y="2122190"/>
                </a:lnTo>
                <a:lnTo>
                  <a:pt x="30992" y="2076692"/>
                </a:lnTo>
                <a:lnTo>
                  <a:pt x="22870" y="2030772"/>
                </a:lnTo>
                <a:lnTo>
                  <a:pt x="15951" y="1984448"/>
                </a:lnTo>
                <a:lnTo>
                  <a:pt x="10253" y="1937737"/>
                </a:lnTo>
                <a:lnTo>
                  <a:pt x="5792" y="1890654"/>
                </a:lnTo>
                <a:lnTo>
                  <a:pt x="2585" y="1843217"/>
                </a:lnTo>
                <a:lnTo>
                  <a:pt x="649" y="1795442"/>
                </a:lnTo>
                <a:lnTo>
                  <a:pt x="0" y="1747346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02174" y="3869995"/>
            <a:ext cx="2301875" cy="777875"/>
          </a:xfrm>
          <a:custGeom>
            <a:avLst/>
            <a:gdLst/>
            <a:ahLst/>
            <a:cxnLst/>
            <a:rect l="l" t="t" r="r" b="b"/>
            <a:pathLst>
              <a:path w="2301875" h="777875">
                <a:moveTo>
                  <a:pt x="0" y="777323"/>
                </a:moveTo>
                <a:lnTo>
                  <a:pt x="2301595" y="0"/>
                </a:lnTo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993720" y="3840168"/>
            <a:ext cx="92075" cy="59690"/>
          </a:xfrm>
          <a:custGeom>
            <a:avLst/>
            <a:gdLst/>
            <a:ahLst/>
            <a:cxnLst/>
            <a:rect l="l" t="t" r="r" b="b"/>
            <a:pathLst>
              <a:path w="92075" h="59689">
                <a:moveTo>
                  <a:pt x="20124" y="59624"/>
                </a:moveTo>
                <a:lnTo>
                  <a:pt x="91974" y="2149"/>
                </a:lnTo>
                <a:lnTo>
                  <a:pt x="0" y="0"/>
                </a:lnTo>
                <a:lnTo>
                  <a:pt x="20124" y="59624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89423" y="1328024"/>
            <a:ext cx="2089150" cy="889000"/>
          </a:xfrm>
          <a:custGeom>
            <a:avLst/>
            <a:gdLst/>
            <a:ahLst/>
            <a:cxnLst/>
            <a:rect l="l" t="t" r="r" b="b"/>
            <a:pathLst>
              <a:path w="2089150" h="889000">
                <a:moveTo>
                  <a:pt x="0" y="0"/>
                </a:moveTo>
                <a:lnTo>
                  <a:pt x="2089020" y="888848"/>
                </a:lnTo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066119" y="2187918"/>
            <a:ext cx="92075" cy="62865"/>
          </a:xfrm>
          <a:custGeom>
            <a:avLst/>
            <a:gdLst/>
            <a:ahLst/>
            <a:cxnLst/>
            <a:rect l="l" t="t" r="r" b="b"/>
            <a:pathLst>
              <a:path w="92075" h="62865">
                <a:moveTo>
                  <a:pt x="0" y="57907"/>
                </a:moveTo>
                <a:lnTo>
                  <a:pt x="91874" y="62802"/>
                </a:lnTo>
                <a:lnTo>
                  <a:pt x="24649" y="0"/>
                </a:lnTo>
                <a:lnTo>
                  <a:pt x="0" y="57907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470886" y="3099345"/>
            <a:ext cx="2160270" cy="0"/>
          </a:xfrm>
          <a:custGeom>
            <a:avLst/>
            <a:gdLst/>
            <a:ahLst/>
            <a:cxnLst/>
            <a:rect l="l" t="t" r="r" b="b"/>
            <a:pathLst>
              <a:path w="2160270">
                <a:moveTo>
                  <a:pt x="0" y="0"/>
                </a:moveTo>
                <a:lnTo>
                  <a:pt x="2159995" y="0"/>
                </a:lnTo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630883" y="3067880"/>
            <a:ext cx="86995" cy="63500"/>
          </a:xfrm>
          <a:custGeom>
            <a:avLst/>
            <a:gdLst/>
            <a:ahLst/>
            <a:cxnLst/>
            <a:rect l="l" t="t" r="r" b="b"/>
            <a:pathLst>
              <a:path w="86995" h="63500">
                <a:moveTo>
                  <a:pt x="0" y="62929"/>
                </a:moveTo>
                <a:lnTo>
                  <a:pt x="86449" y="31464"/>
                </a:lnTo>
                <a:lnTo>
                  <a:pt x="0" y="0"/>
                </a:lnTo>
                <a:lnTo>
                  <a:pt x="0" y="62929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380509" y="1090350"/>
            <a:ext cx="352424" cy="304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70985" y="1080824"/>
            <a:ext cx="371475" cy="323850"/>
          </a:xfrm>
          <a:custGeom>
            <a:avLst/>
            <a:gdLst/>
            <a:ahLst/>
            <a:cxnLst/>
            <a:rect l="l" t="t" r="r" b="b"/>
            <a:pathLst>
              <a:path w="371475" h="323850">
                <a:moveTo>
                  <a:pt x="0" y="0"/>
                </a:moveTo>
                <a:lnTo>
                  <a:pt x="371474" y="0"/>
                </a:lnTo>
                <a:lnTo>
                  <a:pt x="371474" y="323849"/>
                </a:lnTo>
                <a:lnTo>
                  <a:pt x="0" y="32384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300359" y="3918269"/>
            <a:ext cx="295274" cy="3619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290835" y="3908743"/>
            <a:ext cx="314325" cy="381000"/>
          </a:xfrm>
          <a:custGeom>
            <a:avLst/>
            <a:gdLst/>
            <a:ahLst/>
            <a:cxnLst/>
            <a:rect l="l" t="t" r="r" b="b"/>
            <a:pathLst>
              <a:path w="314325" h="381000">
                <a:moveTo>
                  <a:pt x="0" y="0"/>
                </a:moveTo>
                <a:lnTo>
                  <a:pt x="314324" y="0"/>
                </a:lnTo>
                <a:lnTo>
                  <a:pt x="314324" y="380999"/>
                </a:lnTo>
                <a:lnTo>
                  <a:pt x="0" y="3809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245910" y="2615947"/>
            <a:ext cx="352424" cy="3047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236386" y="2606421"/>
            <a:ext cx="371475" cy="323850"/>
          </a:xfrm>
          <a:custGeom>
            <a:avLst/>
            <a:gdLst/>
            <a:ahLst/>
            <a:cxnLst/>
            <a:rect l="l" t="t" r="r" b="b"/>
            <a:pathLst>
              <a:path w="371475" h="323850">
                <a:moveTo>
                  <a:pt x="0" y="0"/>
                </a:moveTo>
                <a:lnTo>
                  <a:pt x="371474" y="0"/>
                </a:lnTo>
                <a:lnTo>
                  <a:pt x="371474" y="323849"/>
                </a:lnTo>
                <a:lnTo>
                  <a:pt x="0" y="32384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585386" y="3290870"/>
            <a:ext cx="2112010" cy="0"/>
          </a:xfrm>
          <a:custGeom>
            <a:avLst/>
            <a:gdLst/>
            <a:ahLst/>
            <a:cxnLst/>
            <a:rect l="l" t="t" r="r" b="b"/>
            <a:pathLst>
              <a:path w="2112009">
                <a:moveTo>
                  <a:pt x="2111695" y="0"/>
                </a:moveTo>
                <a:lnTo>
                  <a:pt x="0" y="0"/>
                </a:lnTo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498938" y="3259405"/>
            <a:ext cx="86995" cy="63500"/>
          </a:xfrm>
          <a:custGeom>
            <a:avLst/>
            <a:gdLst/>
            <a:ahLst/>
            <a:cxnLst/>
            <a:rect l="l" t="t" r="r" b="b"/>
            <a:pathLst>
              <a:path w="86995" h="63500">
                <a:moveTo>
                  <a:pt x="86449" y="0"/>
                </a:moveTo>
                <a:lnTo>
                  <a:pt x="0" y="31464"/>
                </a:lnTo>
                <a:lnTo>
                  <a:pt x="86449" y="62929"/>
                </a:lnTo>
                <a:lnTo>
                  <a:pt x="86449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2195267" y="857250"/>
            <a:ext cx="1824989" cy="466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3000" spc="-5" dirty="0">
                <a:solidFill>
                  <a:srgbClr val="38751C"/>
                </a:solidFill>
              </a:rPr>
              <a:t>activations</a:t>
            </a:r>
            <a:endParaRPr sz="3000"/>
          </a:p>
        </p:txBody>
      </p:sp>
      <p:sp>
        <p:nvSpPr>
          <p:cNvPr id="20" name="object 20"/>
          <p:cNvSpPr/>
          <p:nvPr/>
        </p:nvSpPr>
        <p:spPr>
          <a:xfrm>
            <a:off x="7164960" y="3412445"/>
            <a:ext cx="514348" cy="67627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155460" y="3402920"/>
            <a:ext cx="533400" cy="695325"/>
          </a:xfrm>
          <a:custGeom>
            <a:avLst/>
            <a:gdLst/>
            <a:ahLst/>
            <a:cxnLst/>
            <a:rect l="l" t="t" r="r" b="b"/>
            <a:pathLst>
              <a:path w="533400" h="695325">
                <a:moveTo>
                  <a:pt x="0" y="0"/>
                </a:moveTo>
                <a:lnTo>
                  <a:pt x="533373" y="0"/>
                </a:lnTo>
                <a:lnTo>
                  <a:pt x="533373" y="695323"/>
                </a:lnTo>
                <a:lnTo>
                  <a:pt x="0" y="695323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398744" y="2147685"/>
            <a:ext cx="485773" cy="63817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389244" y="2138160"/>
            <a:ext cx="504825" cy="657225"/>
          </a:xfrm>
          <a:custGeom>
            <a:avLst/>
            <a:gdLst/>
            <a:ahLst/>
            <a:cxnLst/>
            <a:rect l="l" t="t" r="r" b="b"/>
            <a:pathLst>
              <a:path w="504825" h="657225">
                <a:moveTo>
                  <a:pt x="0" y="0"/>
                </a:moveTo>
                <a:lnTo>
                  <a:pt x="504823" y="0"/>
                </a:lnTo>
                <a:lnTo>
                  <a:pt x="504823" y="657223"/>
                </a:lnTo>
                <a:lnTo>
                  <a:pt x="0" y="657223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398743" y="3350294"/>
            <a:ext cx="409574" cy="70484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389244" y="3340757"/>
            <a:ext cx="428625" cy="723900"/>
          </a:xfrm>
          <a:custGeom>
            <a:avLst/>
            <a:gdLst/>
            <a:ahLst/>
            <a:cxnLst/>
            <a:rect l="l" t="t" r="r" b="b"/>
            <a:pathLst>
              <a:path w="428625" h="723900">
                <a:moveTo>
                  <a:pt x="0" y="0"/>
                </a:moveTo>
                <a:lnTo>
                  <a:pt x="428599" y="0"/>
                </a:lnTo>
                <a:lnTo>
                  <a:pt x="428599" y="723886"/>
                </a:lnTo>
                <a:lnTo>
                  <a:pt x="0" y="723886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body" idx="1"/>
          </p:nvPr>
        </p:nvSpPr>
        <p:spPr>
          <a:xfrm>
            <a:off x="765798" y="2150921"/>
            <a:ext cx="7612402" cy="32008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52470" marR="2814955" algn="ctr"/>
            <a:r>
              <a:rPr spc="-5" dirty="0"/>
              <a:t>“local</a:t>
            </a:r>
            <a:r>
              <a:rPr spc="-35" dirty="0"/>
              <a:t> </a:t>
            </a:r>
            <a:r>
              <a:rPr spc="-5" dirty="0"/>
              <a:t>gradient”</a:t>
            </a:r>
          </a:p>
          <a:p>
            <a:pPr marL="3252470"/>
            <a:endParaRPr spc="-5" dirty="0"/>
          </a:p>
          <a:p>
            <a:pPr marL="3252470"/>
            <a:endParaRPr sz="2350">
              <a:latin typeface="Times New Roman"/>
              <a:cs typeface="Times New Roman"/>
            </a:endParaRPr>
          </a:p>
          <a:p>
            <a:pPr marL="3252470" marR="2941320" algn="ctr"/>
            <a:r>
              <a:rPr sz="4800" spc="-5" dirty="0">
                <a:solidFill>
                  <a:srgbClr val="000000"/>
                </a:solidFill>
              </a:rPr>
              <a:t>f</a:t>
            </a:r>
            <a:endParaRPr sz="4800"/>
          </a:p>
          <a:p>
            <a:pPr marL="3252470">
              <a:spcBef>
                <a:spcPts val="20"/>
              </a:spcBef>
            </a:pPr>
            <a:endParaRPr sz="7050">
              <a:latin typeface="Times New Roman"/>
              <a:cs typeface="Times New Roman"/>
            </a:endParaRPr>
          </a:p>
          <a:p>
            <a:pPr marL="6031865"/>
            <a:r>
              <a:rPr sz="3000" spc="-5" dirty="0"/>
              <a:t>gradients</a:t>
            </a:r>
            <a:endParaRPr sz="3000"/>
          </a:p>
        </p:txBody>
      </p:sp>
      <p:sp>
        <p:nvSpPr>
          <p:cNvPr id="27" name="object 27"/>
          <p:cNvSpPr/>
          <p:nvPr/>
        </p:nvSpPr>
        <p:spPr>
          <a:xfrm>
            <a:off x="799524" y="1569286"/>
            <a:ext cx="2129395" cy="155314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84738" y="1598789"/>
            <a:ext cx="811530" cy="833119"/>
          </a:xfrm>
          <a:custGeom>
            <a:avLst/>
            <a:gdLst/>
            <a:ahLst/>
            <a:cxnLst/>
            <a:rect l="l" t="t" r="r" b="b"/>
            <a:pathLst>
              <a:path w="811530" h="833119">
                <a:moveTo>
                  <a:pt x="281399" y="0"/>
                </a:moveTo>
                <a:lnTo>
                  <a:pt x="811198" y="260399"/>
                </a:lnTo>
                <a:lnTo>
                  <a:pt x="529798" y="833098"/>
                </a:lnTo>
                <a:lnTo>
                  <a:pt x="0" y="572698"/>
                </a:lnTo>
                <a:lnTo>
                  <a:pt x="281399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053371" y="1511916"/>
            <a:ext cx="2042795" cy="901700"/>
          </a:xfrm>
          <a:custGeom>
            <a:avLst/>
            <a:gdLst/>
            <a:ahLst/>
            <a:cxnLst/>
            <a:rect l="l" t="t" r="r" b="b"/>
            <a:pathLst>
              <a:path w="2042795" h="901700">
                <a:moveTo>
                  <a:pt x="2042523" y="901255"/>
                </a:moveTo>
                <a:lnTo>
                  <a:pt x="0" y="0"/>
                </a:lnTo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974279" y="1477017"/>
            <a:ext cx="92075" cy="64135"/>
          </a:xfrm>
          <a:custGeom>
            <a:avLst/>
            <a:gdLst/>
            <a:ahLst/>
            <a:cxnLst/>
            <a:rect l="l" t="t" r="r" b="b"/>
            <a:pathLst>
              <a:path w="92075" h="64134">
                <a:moveTo>
                  <a:pt x="91794" y="6112"/>
                </a:moveTo>
                <a:lnTo>
                  <a:pt x="0" y="0"/>
                </a:lnTo>
                <a:lnTo>
                  <a:pt x="66389" y="63687"/>
                </a:lnTo>
                <a:lnTo>
                  <a:pt x="91794" y="6112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399118" y="5586262"/>
            <a:ext cx="1579880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90"/>
              </a:lnSpc>
            </a:pPr>
            <a:r>
              <a:rPr sz="3000" spc="-7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3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3000" spc="-225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25</a:t>
            </a:r>
            <a:endParaRPr sz="20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AF5CDCB-86EF-4B46-B0BE-E379B8DEB3F4}"/>
              </a:ext>
            </a:extLst>
          </p:cNvPr>
          <p:cNvSpPr txBox="1"/>
          <p:nvPr/>
        </p:nvSpPr>
        <p:spPr>
          <a:xfrm>
            <a:off x="0" y="6604084"/>
            <a:ext cx="10727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Andrej </a:t>
            </a:r>
            <a:r>
              <a:rPr lang="en-US" sz="1050" dirty="0" err="1"/>
              <a:t>Karpathy</a:t>
            </a:r>
            <a:endParaRPr lang="en-US" sz="105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F890FD7-A4BE-9D45-AF4C-E9AAAE87A0D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731573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5481366"/>
            <a:ext cx="9144000" cy="359073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57480">
              <a:spcBef>
                <a:spcPts val="400"/>
              </a:spcBef>
              <a:tabLst>
                <a:tab pos="5411470" algn="l"/>
                <a:tab pos="7621270" algn="l"/>
              </a:tabLst>
            </a:pP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Fei-Fei Li &amp; Andrej Karpathy &amp;</a:t>
            </a:r>
            <a:r>
              <a:rPr spc="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Justin</a:t>
            </a:r>
            <a:r>
              <a:rPr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pc="-5" dirty="0">
                <a:solidFill>
                  <a:srgbClr val="FFFFFF"/>
                </a:solidFill>
                <a:latin typeface="Arial"/>
                <a:cs typeface="Arial"/>
              </a:rPr>
              <a:t>Johnson	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sz="3000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3000" baseline="-4166" dirty="0">
                <a:solidFill>
                  <a:srgbClr val="FFFFFF"/>
                </a:solidFill>
                <a:latin typeface="Arial"/>
                <a:cs typeface="Arial"/>
              </a:rPr>
              <a:t> -	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13 Jan</a:t>
            </a:r>
            <a:r>
              <a:rPr sz="3000" spc="-97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000" spc="-7" baseline="-4166" dirty="0">
                <a:solidFill>
                  <a:srgbClr val="FFFFFF"/>
                </a:solidFill>
                <a:latin typeface="Arial"/>
                <a:cs typeface="Arial"/>
              </a:rPr>
              <a:t>2016</a:t>
            </a:r>
            <a:endParaRPr sz="3000" baseline="-4166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76193" y="1351999"/>
            <a:ext cx="3495040" cy="3495040"/>
          </a:xfrm>
          <a:custGeom>
            <a:avLst/>
            <a:gdLst/>
            <a:ahLst/>
            <a:cxnLst/>
            <a:rect l="l" t="t" r="r" b="b"/>
            <a:pathLst>
              <a:path w="3495040" h="3495040">
                <a:moveTo>
                  <a:pt x="0" y="1747346"/>
                </a:moveTo>
                <a:lnTo>
                  <a:pt x="649" y="1699249"/>
                </a:lnTo>
                <a:lnTo>
                  <a:pt x="2585" y="1651474"/>
                </a:lnTo>
                <a:lnTo>
                  <a:pt x="5792" y="1604036"/>
                </a:lnTo>
                <a:lnTo>
                  <a:pt x="10253" y="1556953"/>
                </a:lnTo>
                <a:lnTo>
                  <a:pt x="15951" y="1510241"/>
                </a:lnTo>
                <a:lnTo>
                  <a:pt x="22870" y="1463917"/>
                </a:lnTo>
                <a:lnTo>
                  <a:pt x="30992" y="1417998"/>
                </a:lnTo>
                <a:lnTo>
                  <a:pt x="40302" y="1372499"/>
                </a:lnTo>
                <a:lnTo>
                  <a:pt x="50783" y="1327438"/>
                </a:lnTo>
                <a:lnTo>
                  <a:pt x="62417" y="1282832"/>
                </a:lnTo>
                <a:lnTo>
                  <a:pt x="75189" y="1238697"/>
                </a:lnTo>
                <a:lnTo>
                  <a:pt x="89081" y="1195049"/>
                </a:lnTo>
                <a:lnTo>
                  <a:pt x="104078" y="1151906"/>
                </a:lnTo>
                <a:lnTo>
                  <a:pt x="120162" y="1109284"/>
                </a:lnTo>
                <a:lnTo>
                  <a:pt x="137316" y="1067200"/>
                </a:lnTo>
                <a:lnTo>
                  <a:pt x="155525" y="1025670"/>
                </a:lnTo>
                <a:lnTo>
                  <a:pt x="174770" y="984711"/>
                </a:lnTo>
                <a:lnTo>
                  <a:pt x="195037" y="944340"/>
                </a:lnTo>
                <a:lnTo>
                  <a:pt x="216308" y="904573"/>
                </a:lnTo>
                <a:lnTo>
                  <a:pt x="238566" y="865427"/>
                </a:lnTo>
                <a:lnTo>
                  <a:pt x="261794" y="826918"/>
                </a:lnTo>
                <a:lnTo>
                  <a:pt x="285977" y="789064"/>
                </a:lnTo>
                <a:lnTo>
                  <a:pt x="311098" y="751881"/>
                </a:lnTo>
                <a:lnTo>
                  <a:pt x="337139" y="715386"/>
                </a:lnTo>
                <a:lnTo>
                  <a:pt x="364084" y="679595"/>
                </a:lnTo>
                <a:lnTo>
                  <a:pt x="391917" y="644524"/>
                </a:lnTo>
                <a:lnTo>
                  <a:pt x="420620" y="610192"/>
                </a:lnTo>
                <a:lnTo>
                  <a:pt x="450178" y="576613"/>
                </a:lnTo>
                <a:lnTo>
                  <a:pt x="480573" y="543805"/>
                </a:lnTo>
                <a:lnTo>
                  <a:pt x="511789" y="511785"/>
                </a:lnTo>
                <a:lnTo>
                  <a:pt x="543809" y="480569"/>
                </a:lnTo>
                <a:lnTo>
                  <a:pt x="576617" y="450174"/>
                </a:lnTo>
                <a:lnTo>
                  <a:pt x="610196" y="420617"/>
                </a:lnTo>
                <a:lnTo>
                  <a:pt x="644528" y="391914"/>
                </a:lnTo>
                <a:lnTo>
                  <a:pt x="679599" y="364081"/>
                </a:lnTo>
                <a:lnTo>
                  <a:pt x="715390" y="337136"/>
                </a:lnTo>
                <a:lnTo>
                  <a:pt x="751886" y="311095"/>
                </a:lnTo>
                <a:lnTo>
                  <a:pt x="789069" y="285975"/>
                </a:lnTo>
                <a:lnTo>
                  <a:pt x="826923" y="261792"/>
                </a:lnTo>
                <a:lnTo>
                  <a:pt x="865431" y="238563"/>
                </a:lnTo>
                <a:lnTo>
                  <a:pt x="904577" y="216306"/>
                </a:lnTo>
                <a:lnTo>
                  <a:pt x="944344" y="195035"/>
                </a:lnTo>
                <a:lnTo>
                  <a:pt x="984715" y="174769"/>
                </a:lnTo>
                <a:lnTo>
                  <a:pt x="1025674" y="155523"/>
                </a:lnTo>
                <a:lnTo>
                  <a:pt x="1067204" y="137315"/>
                </a:lnTo>
                <a:lnTo>
                  <a:pt x="1109288" y="120160"/>
                </a:lnTo>
                <a:lnTo>
                  <a:pt x="1151910" y="104077"/>
                </a:lnTo>
                <a:lnTo>
                  <a:pt x="1195053" y="89080"/>
                </a:lnTo>
                <a:lnTo>
                  <a:pt x="1238700" y="75188"/>
                </a:lnTo>
                <a:lnTo>
                  <a:pt x="1282835" y="62416"/>
                </a:lnTo>
                <a:lnTo>
                  <a:pt x="1327442" y="50782"/>
                </a:lnTo>
                <a:lnTo>
                  <a:pt x="1372502" y="40302"/>
                </a:lnTo>
                <a:lnTo>
                  <a:pt x="1418000" y="30992"/>
                </a:lnTo>
                <a:lnTo>
                  <a:pt x="1463920" y="22869"/>
                </a:lnTo>
                <a:lnTo>
                  <a:pt x="1510243" y="15951"/>
                </a:lnTo>
                <a:lnTo>
                  <a:pt x="1556955" y="10253"/>
                </a:lnTo>
                <a:lnTo>
                  <a:pt x="1604038" y="5792"/>
                </a:lnTo>
                <a:lnTo>
                  <a:pt x="1651475" y="2585"/>
                </a:lnTo>
                <a:lnTo>
                  <a:pt x="1699250" y="649"/>
                </a:lnTo>
                <a:lnTo>
                  <a:pt x="1747346" y="0"/>
                </a:lnTo>
                <a:lnTo>
                  <a:pt x="1796921" y="702"/>
                </a:lnTo>
                <a:lnTo>
                  <a:pt x="1846325" y="2803"/>
                </a:lnTo>
                <a:lnTo>
                  <a:pt x="1895530" y="6290"/>
                </a:lnTo>
                <a:lnTo>
                  <a:pt x="1944510" y="11153"/>
                </a:lnTo>
                <a:lnTo>
                  <a:pt x="1993237" y="17380"/>
                </a:lnTo>
                <a:lnTo>
                  <a:pt x="2041685" y="24961"/>
                </a:lnTo>
                <a:lnTo>
                  <a:pt x="2089828" y="33884"/>
                </a:lnTo>
                <a:lnTo>
                  <a:pt x="2137639" y="44139"/>
                </a:lnTo>
                <a:lnTo>
                  <a:pt x="2185091" y="55715"/>
                </a:lnTo>
                <a:lnTo>
                  <a:pt x="2232157" y="68599"/>
                </a:lnTo>
                <a:lnTo>
                  <a:pt x="2278810" y="82782"/>
                </a:lnTo>
                <a:lnTo>
                  <a:pt x="2325025" y="98252"/>
                </a:lnTo>
                <a:lnTo>
                  <a:pt x="2370773" y="114997"/>
                </a:lnTo>
                <a:lnTo>
                  <a:pt x="2416029" y="133008"/>
                </a:lnTo>
                <a:lnTo>
                  <a:pt x="2460765" y="152273"/>
                </a:lnTo>
                <a:lnTo>
                  <a:pt x="2504956" y="172781"/>
                </a:lnTo>
                <a:lnTo>
                  <a:pt x="2548573" y="194520"/>
                </a:lnTo>
                <a:lnTo>
                  <a:pt x="2591591" y="217480"/>
                </a:lnTo>
                <a:lnTo>
                  <a:pt x="2633983" y="241650"/>
                </a:lnTo>
                <a:lnTo>
                  <a:pt x="2675722" y="267018"/>
                </a:lnTo>
                <a:lnTo>
                  <a:pt x="2716781" y="293574"/>
                </a:lnTo>
                <a:lnTo>
                  <a:pt x="2757134" y="321307"/>
                </a:lnTo>
                <a:lnTo>
                  <a:pt x="2796753" y="350204"/>
                </a:lnTo>
                <a:lnTo>
                  <a:pt x="2835613" y="380256"/>
                </a:lnTo>
                <a:lnTo>
                  <a:pt x="2873686" y="411452"/>
                </a:lnTo>
                <a:lnTo>
                  <a:pt x="2910946" y="443779"/>
                </a:lnTo>
                <a:lnTo>
                  <a:pt x="2947366" y="477227"/>
                </a:lnTo>
                <a:lnTo>
                  <a:pt x="2982918" y="511786"/>
                </a:lnTo>
                <a:lnTo>
                  <a:pt x="3017475" y="547338"/>
                </a:lnTo>
                <a:lnTo>
                  <a:pt x="3050922" y="583757"/>
                </a:lnTo>
                <a:lnTo>
                  <a:pt x="3083248" y="621015"/>
                </a:lnTo>
                <a:lnTo>
                  <a:pt x="3114442" y="659087"/>
                </a:lnTo>
                <a:lnTo>
                  <a:pt x="3144493" y="697946"/>
                </a:lnTo>
                <a:lnTo>
                  <a:pt x="3173389" y="737565"/>
                </a:lnTo>
                <a:lnTo>
                  <a:pt x="3201121" y="777917"/>
                </a:lnTo>
                <a:lnTo>
                  <a:pt x="3227676" y="818975"/>
                </a:lnTo>
                <a:lnTo>
                  <a:pt x="3253044" y="860713"/>
                </a:lnTo>
                <a:lnTo>
                  <a:pt x="3277213" y="903104"/>
                </a:lnTo>
                <a:lnTo>
                  <a:pt x="3300172" y="946122"/>
                </a:lnTo>
                <a:lnTo>
                  <a:pt x="3321911" y="989739"/>
                </a:lnTo>
                <a:lnTo>
                  <a:pt x="3342419" y="1033929"/>
                </a:lnTo>
                <a:lnTo>
                  <a:pt x="3361683" y="1078665"/>
                </a:lnTo>
                <a:lnTo>
                  <a:pt x="3379694" y="1123920"/>
                </a:lnTo>
                <a:lnTo>
                  <a:pt x="3396440" y="1169668"/>
                </a:lnTo>
                <a:lnTo>
                  <a:pt x="3411910" y="1215882"/>
                </a:lnTo>
                <a:lnTo>
                  <a:pt x="3426092" y="1262535"/>
                </a:lnTo>
                <a:lnTo>
                  <a:pt x="3438977" y="1309601"/>
                </a:lnTo>
                <a:lnTo>
                  <a:pt x="3450552" y="1357052"/>
                </a:lnTo>
                <a:lnTo>
                  <a:pt x="3460807" y="1404863"/>
                </a:lnTo>
                <a:lnTo>
                  <a:pt x="3469731" y="1453006"/>
                </a:lnTo>
                <a:lnTo>
                  <a:pt x="3477312" y="1501454"/>
                </a:lnTo>
                <a:lnTo>
                  <a:pt x="3483539" y="1550182"/>
                </a:lnTo>
                <a:lnTo>
                  <a:pt x="3488402" y="1599161"/>
                </a:lnTo>
                <a:lnTo>
                  <a:pt x="3491889" y="1648366"/>
                </a:lnTo>
                <a:lnTo>
                  <a:pt x="3493990" y="1697770"/>
                </a:lnTo>
                <a:lnTo>
                  <a:pt x="3494692" y="1747346"/>
                </a:lnTo>
                <a:lnTo>
                  <a:pt x="3494043" y="1795442"/>
                </a:lnTo>
                <a:lnTo>
                  <a:pt x="3492107" y="1843217"/>
                </a:lnTo>
                <a:lnTo>
                  <a:pt x="3488900" y="1890654"/>
                </a:lnTo>
                <a:lnTo>
                  <a:pt x="3484439" y="1937737"/>
                </a:lnTo>
                <a:lnTo>
                  <a:pt x="3478741" y="1984448"/>
                </a:lnTo>
                <a:lnTo>
                  <a:pt x="3471822" y="2030772"/>
                </a:lnTo>
                <a:lnTo>
                  <a:pt x="3463700" y="2076692"/>
                </a:lnTo>
                <a:lnTo>
                  <a:pt x="3454390" y="2122190"/>
                </a:lnTo>
                <a:lnTo>
                  <a:pt x="3443909" y="2167250"/>
                </a:lnTo>
                <a:lnTo>
                  <a:pt x="3432275" y="2211857"/>
                </a:lnTo>
                <a:lnTo>
                  <a:pt x="3419503" y="2255992"/>
                </a:lnTo>
                <a:lnTo>
                  <a:pt x="3405611" y="2299639"/>
                </a:lnTo>
                <a:lnTo>
                  <a:pt x="3390614" y="2342782"/>
                </a:lnTo>
                <a:lnTo>
                  <a:pt x="3374530" y="2385404"/>
                </a:lnTo>
                <a:lnTo>
                  <a:pt x="3357376" y="2427488"/>
                </a:lnTo>
                <a:lnTo>
                  <a:pt x="3339167" y="2469018"/>
                </a:lnTo>
                <a:lnTo>
                  <a:pt x="3319922" y="2509977"/>
                </a:lnTo>
                <a:lnTo>
                  <a:pt x="3299655" y="2550348"/>
                </a:lnTo>
                <a:lnTo>
                  <a:pt x="3278384" y="2590115"/>
                </a:lnTo>
                <a:lnTo>
                  <a:pt x="3256126" y="2629261"/>
                </a:lnTo>
                <a:lnTo>
                  <a:pt x="3232897" y="2667769"/>
                </a:lnTo>
                <a:lnTo>
                  <a:pt x="3208715" y="2705623"/>
                </a:lnTo>
                <a:lnTo>
                  <a:pt x="3183594" y="2742806"/>
                </a:lnTo>
                <a:lnTo>
                  <a:pt x="3157553" y="2779302"/>
                </a:lnTo>
                <a:lnTo>
                  <a:pt x="3130608" y="2815093"/>
                </a:lnTo>
                <a:lnTo>
                  <a:pt x="3102775" y="2850164"/>
                </a:lnTo>
                <a:lnTo>
                  <a:pt x="3074072" y="2884496"/>
                </a:lnTo>
                <a:lnTo>
                  <a:pt x="3044514" y="2918075"/>
                </a:lnTo>
                <a:lnTo>
                  <a:pt x="3014119" y="2950883"/>
                </a:lnTo>
                <a:lnTo>
                  <a:pt x="2982903" y="2982903"/>
                </a:lnTo>
                <a:lnTo>
                  <a:pt x="2950883" y="3014119"/>
                </a:lnTo>
                <a:lnTo>
                  <a:pt x="2918075" y="3044514"/>
                </a:lnTo>
                <a:lnTo>
                  <a:pt x="2884496" y="3074072"/>
                </a:lnTo>
                <a:lnTo>
                  <a:pt x="2850164" y="3102775"/>
                </a:lnTo>
                <a:lnTo>
                  <a:pt x="2815093" y="3130608"/>
                </a:lnTo>
                <a:lnTo>
                  <a:pt x="2779302" y="3157553"/>
                </a:lnTo>
                <a:lnTo>
                  <a:pt x="2742806" y="3183594"/>
                </a:lnTo>
                <a:lnTo>
                  <a:pt x="2705623" y="3208715"/>
                </a:lnTo>
                <a:lnTo>
                  <a:pt x="2667769" y="3232897"/>
                </a:lnTo>
                <a:lnTo>
                  <a:pt x="2629261" y="3256126"/>
                </a:lnTo>
                <a:lnTo>
                  <a:pt x="2590115" y="3278384"/>
                </a:lnTo>
                <a:lnTo>
                  <a:pt x="2550348" y="3299655"/>
                </a:lnTo>
                <a:lnTo>
                  <a:pt x="2509977" y="3319922"/>
                </a:lnTo>
                <a:lnTo>
                  <a:pt x="2469018" y="3339167"/>
                </a:lnTo>
                <a:lnTo>
                  <a:pt x="2427488" y="3357376"/>
                </a:lnTo>
                <a:lnTo>
                  <a:pt x="2385404" y="3374530"/>
                </a:lnTo>
                <a:lnTo>
                  <a:pt x="2342782" y="3390614"/>
                </a:lnTo>
                <a:lnTo>
                  <a:pt x="2299639" y="3405611"/>
                </a:lnTo>
                <a:lnTo>
                  <a:pt x="2255992" y="3419503"/>
                </a:lnTo>
                <a:lnTo>
                  <a:pt x="2211857" y="3432275"/>
                </a:lnTo>
                <a:lnTo>
                  <a:pt x="2167250" y="3443909"/>
                </a:lnTo>
                <a:lnTo>
                  <a:pt x="2122190" y="3454390"/>
                </a:lnTo>
                <a:lnTo>
                  <a:pt x="2076692" y="3463700"/>
                </a:lnTo>
                <a:lnTo>
                  <a:pt x="2030772" y="3471822"/>
                </a:lnTo>
                <a:lnTo>
                  <a:pt x="1984448" y="3478741"/>
                </a:lnTo>
                <a:lnTo>
                  <a:pt x="1937737" y="3484439"/>
                </a:lnTo>
                <a:lnTo>
                  <a:pt x="1890654" y="3488900"/>
                </a:lnTo>
                <a:lnTo>
                  <a:pt x="1843217" y="3492107"/>
                </a:lnTo>
                <a:lnTo>
                  <a:pt x="1795442" y="3494043"/>
                </a:lnTo>
                <a:lnTo>
                  <a:pt x="1747346" y="3494692"/>
                </a:lnTo>
                <a:lnTo>
                  <a:pt x="1699250" y="3494043"/>
                </a:lnTo>
                <a:lnTo>
                  <a:pt x="1651475" y="3492107"/>
                </a:lnTo>
                <a:lnTo>
                  <a:pt x="1604038" y="3488900"/>
                </a:lnTo>
                <a:lnTo>
                  <a:pt x="1556955" y="3484439"/>
                </a:lnTo>
                <a:lnTo>
                  <a:pt x="1510243" y="3478741"/>
                </a:lnTo>
                <a:lnTo>
                  <a:pt x="1463920" y="3471822"/>
                </a:lnTo>
                <a:lnTo>
                  <a:pt x="1418000" y="3463700"/>
                </a:lnTo>
                <a:lnTo>
                  <a:pt x="1372502" y="3454390"/>
                </a:lnTo>
                <a:lnTo>
                  <a:pt x="1327442" y="3443909"/>
                </a:lnTo>
                <a:lnTo>
                  <a:pt x="1282835" y="3432275"/>
                </a:lnTo>
                <a:lnTo>
                  <a:pt x="1238700" y="3419503"/>
                </a:lnTo>
                <a:lnTo>
                  <a:pt x="1195053" y="3405611"/>
                </a:lnTo>
                <a:lnTo>
                  <a:pt x="1151910" y="3390614"/>
                </a:lnTo>
                <a:lnTo>
                  <a:pt x="1109288" y="3374530"/>
                </a:lnTo>
                <a:lnTo>
                  <a:pt x="1067204" y="3357376"/>
                </a:lnTo>
                <a:lnTo>
                  <a:pt x="1025674" y="3339167"/>
                </a:lnTo>
                <a:lnTo>
                  <a:pt x="984715" y="3319922"/>
                </a:lnTo>
                <a:lnTo>
                  <a:pt x="944344" y="3299655"/>
                </a:lnTo>
                <a:lnTo>
                  <a:pt x="904577" y="3278384"/>
                </a:lnTo>
                <a:lnTo>
                  <a:pt x="865431" y="3256126"/>
                </a:lnTo>
                <a:lnTo>
                  <a:pt x="826923" y="3232897"/>
                </a:lnTo>
                <a:lnTo>
                  <a:pt x="789069" y="3208715"/>
                </a:lnTo>
                <a:lnTo>
                  <a:pt x="751886" y="3183594"/>
                </a:lnTo>
                <a:lnTo>
                  <a:pt x="715390" y="3157553"/>
                </a:lnTo>
                <a:lnTo>
                  <a:pt x="679599" y="3130608"/>
                </a:lnTo>
                <a:lnTo>
                  <a:pt x="644528" y="3102775"/>
                </a:lnTo>
                <a:lnTo>
                  <a:pt x="610196" y="3074072"/>
                </a:lnTo>
                <a:lnTo>
                  <a:pt x="576617" y="3044514"/>
                </a:lnTo>
                <a:lnTo>
                  <a:pt x="543809" y="3014119"/>
                </a:lnTo>
                <a:lnTo>
                  <a:pt x="511789" y="2982903"/>
                </a:lnTo>
                <a:lnTo>
                  <a:pt x="480573" y="2950883"/>
                </a:lnTo>
                <a:lnTo>
                  <a:pt x="450178" y="2918075"/>
                </a:lnTo>
                <a:lnTo>
                  <a:pt x="420620" y="2884496"/>
                </a:lnTo>
                <a:lnTo>
                  <a:pt x="391917" y="2850164"/>
                </a:lnTo>
                <a:lnTo>
                  <a:pt x="364084" y="2815093"/>
                </a:lnTo>
                <a:lnTo>
                  <a:pt x="337139" y="2779302"/>
                </a:lnTo>
                <a:lnTo>
                  <a:pt x="311098" y="2742806"/>
                </a:lnTo>
                <a:lnTo>
                  <a:pt x="285977" y="2705623"/>
                </a:lnTo>
                <a:lnTo>
                  <a:pt x="261794" y="2667769"/>
                </a:lnTo>
                <a:lnTo>
                  <a:pt x="238566" y="2629261"/>
                </a:lnTo>
                <a:lnTo>
                  <a:pt x="216308" y="2590115"/>
                </a:lnTo>
                <a:lnTo>
                  <a:pt x="195037" y="2550348"/>
                </a:lnTo>
                <a:lnTo>
                  <a:pt x="174770" y="2509977"/>
                </a:lnTo>
                <a:lnTo>
                  <a:pt x="155525" y="2469018"/>
                </a:lnTo>
                <a:lnTo>
                  <a:pt x="137316" y="2427488"/>
                </a:lnTo>
                <a:lnTo>
                  <a:pt x="120162" y="2385404"/>
                </a:lnTo>
                <a:lnTo>
                  <a:pt x="104078" y="2342782"/>
                </a:lnTo>
                <a:lnTo>
                  <a:pt x="89081" y="2299639"/>
                </a:lnTo>
                <a:lnTo>
                  <a:pt x="75189" y="2255992"/>
                </a:lnTo>
                <a:lnTo>
                  <a:pt x="62417" y="2211857"/>
                </a:lnTo>
                <a:lnTo>
                  <a:pt x="50783" y="2167250"/>
                </a:lnTo>
                <a:lnTo>
                  <a:pt x="40302" y="2122190"/>
                </a:lnTo>
                <a:lnTo>
                  <a:pt x="30992" y="2076692"/>
                </a:lnTo>
                <a:lnTo>
                  <a:pt x="22870" y="2030772"/>
                </a:lnTo>
                <a:lnTo>
                  <a:pt x="15951" y="1984448"/>
                </a:lnTo>
                <a:lnTo>
                  <a:pt x="10253" y="1937737"/>
                </a:lnTo>
                <a:lnTo>
                  <a:pt x="5792" y="1890654"/>
                </a:lnTo>
                <a:lnTo>
                  <a:pt x="2585" y="1843217"/>
                </a:lnTo>
                <a:lnTo>
                  <a:pt x="649" y="1795442"/>
                </a:lnTo>
                <a:lnTo>
                  <a:pt x="0" y="1747346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02174" y="3869995"/>
            <a:ext cx="2301875" cy="777875"/>
          </a:xfrm>
          <a:custGeom>
            <a:avLst/>
            <a:gdLst/>
            <a:ahLst/>
            <a:cxnLst/>
            <a:rect l="l" t="t" r="r" b="b"/>
            <a:pathLst>
              <a:path w="2301875" h="777875">
                <a:moveTo>
                  <a:pt x="0" y="777323"/>
                </a:moveTo>
                <a:lnTo>
                  <a:pt x="2301595" y="0"/>
                </a:lnTo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993720" y="3840168"/>
            <a:ext cx="92075" cy="59690"/>
          </a:xfrm>
          <a:custGeom>
            <a:avLst/>
            <a:gdLst/>
            <a:ahLst/>
            <a:cxnLst/>
            <a:rect l="l" t="t" r="r" b="b"/>
            <a:pathLst>
              <a:path w="92075" h="59689">
                <a:moveTo>
                  <a:pt x="20124" y="59624"/>
                </a:moveTo>
                <a:lnTo>
                  <a:pt x="91974" y="2149"/>
                </a:lnTo>
                <a:lnTo>
                  <a:pt x="0" y="0"/>
                </a:lnTo>
                <a:lnTo>
                  <a:pt x="20124" y="59624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89423" y="1328024"/>
            <a:ext cx="2089150" cy="889000"/>
          </a:xfrm>
          <a:custGeom>
            <a:avLst/>
            <a:gdLst/>
            <a:ahLst/>
            <a:cxnLst/>
            <a:rect l="l" t="t" r="r" b="b"/>
            <a:pathLst>
              <a:path w="2089150" h="889000">
                <a:moveTo>
                  <a:pt x="0" y="0"/>
                </a:moveTo>
                <a:lnTo>
                  <a:pt x="2089020" y="888848"/>
                </a:lnTo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066119" y="2187918"/>
            <a:ext cx="92075" cy="62865"/>
          </a:xfrm>
          <a:custGeom>
            <a:avLst/>
            <a:gdLst/>
            <a:ahLst/>
            <a:cxnLst/>
            <a:rect l="l" t="t" r="r" b="b"/>
            <a:pathLst>
              <a:path w="92075" h="62865">
                <a:moveTo>
                  <a:pt x="0" y="57907"/>
                </a:moveTo>
                <a:lnTo>
                  <a:pt x="91874" y="62802"/>
                </a:lnTo>
                <a:lnTo>
                  <a:pt x="24649" y="0"/>
                </a:lnTo>
                <a:lnTo>
                  <a:pt x="0" y="57907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470886" y="3099345"/>
            <a:ext cx="2160270" cy="0"/>
          </a:xfrm>
          <a:custGeom>
            <a:avLst/>
            <a:gdLst/>
            <a:ahLst/>
            <a:cxnLst/>
            <a:rect l="l" t="t" r="r" b="b"/>
            <a:pathLst>
              <a:path w="2160270">
                <a:moveTo>
                  <a:pt x="0" y="0"/>
                </a:moveTo>
                <a:lnTo>
                  <a:pt x="2159995" y="0"/>
                </a:lnTo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630883" y="3067880"/>
            <a:ext cx="86995" cy="63500"/>
          </a:xfrm>
          <a:custGeom>
            <a:avLst/>
            <a:gdLst/>
            <a:ahLst/>
            <a:cxnLst/>
            <a:rect l="l" t="t" r="r" b="b"/>
            <a:pathLst>
              <a:path w="86995" h="63500">
                <a:moveTo>
                  <a:pt x="0" y="62929"/>
                </a:moveTo>
                <a:lnTo>
                  <a:pt x="86449" y="31464"/>
                </a:lnTo>
                <a:lnTo>
                  <a:pt x="0" y="0"/>
                </a:lnTo>
                <a:lnTo>
                  <a:pt x="0" y="62929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380509" y="1090350"/>
            <a:ext cx="352424" cy="304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70985" y="1080824"/>
            <a:ext cx="371475" cy="323850"/>
          </a:xfrm>
          <a:custGeom>
            <a:avLst/>
            <a:gdLst/>
            <a:ahLst/>
            <a:cxnLst/>
            <a:rect l="l" t="t" r="r" b="b"/>
            <a:pathLst>
              <a:path w="371475" h="323850">
                <a:moveTo>
                  <a:pt x="0" y="0"/>
                </a:moveTo>
                <a:lnTo>
                  <a:pt x="371474" y="0"/>
                </a:lnTo>
                <a:lnTo>
                  <a:pt x="371474" y="323849"/>
                </a:lnTo>
                <a:lnTo>
                  <a:pt x="0" y="32384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300359" y="3918269"/>
            <a:ext cx="295274" cy="3619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290835" y="3908743"/>
            <a:ext cx="314325" cy="381000"/>
          </a:xfrm>
          <a:custGeom>
            <a:avLst/>
            <a:gdLst/>
            <a:ahLst/>
            <a:cxnLst/>
            <a:rect l="l" t="t" r="r" b="b"/>
            <a:pathLst>
              <a:path w="314325" h="381000">
                <a:moveTo>
                  <a:pt x="0" y="0"/>
                </a:moveTo>
                <a:lnTo>
                  <a:pt x="314324" y="0"/>
                </a:lnTo>
                <a:lnTo>
                  <a:pt x="314324" y="380999"/>
                </a:lnTo>
                <a:lnTo>
                  <a:pt x="0" y="3809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245910" y="2615947"/>
            <a:ext cx="352424" cy="3047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236386" y="2606421"/>
            <a:ext cx="371475" cy="323850"/>
          </a:xfrm>
          <a:custGeom>
            <a:avLst/>
            <a:gdLst/>
            <a:ahLst/>
            <a:cxnLst/>
            <a:rect l="l" t="t" r="r" b="b"/>
            <a:pathLst>
              <a:path w="371475" h="323850">
                <a:moveTo>
                  <a:pt x="0" y="0"/>
                </a:moveTo>
                <a:lnTo>
                  <a:pt x="371474" y="0"/>
                </a:lnTo>
                <a:lnTo>
                  <a:pt x="371474" y="323849"/>
                </a:lnTo>
                <a:lnTo>
                  <a:pt x="0" y="32384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585386" y="3290870"/>
            <a:ext cx="2112010" cy="0"/>
          </a:xfrm>
          <a:custGeom>
            <a:avLst/>
            <a:gdLst/>
            <a:ahLst/>
            <a:cxnLst/>
            <a:rect l="l" t="t" r="r" b="b"/>
            <a:pathLst>
              <a:path w="2112009">
                <a:moveTo>
                  <a:pt x="2111695" y="0"/>
                </a:moveTo>
                <a:lnTo>
                  <a:pt x="0" y="0"/>
                </a:lnTo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498938" y="3259405"/>
            <a:ext cx="86995" cy="63500"/>
          </a:xfrm>
          <a:custGeom>
            <a:avLst/>
            <a:gdLst/>
            <a:ahLst/>
            <a:cxnLst/>
            <a:rect l="l" t="t" r="r" b="b"/>
            <a:pathLst>
              <a:path w="86995" h="63500">
                <a:moveTo>
                  <a:pt x="86449" y="0"/>
                </a:moveTo>
                <a:lnTo>
                  <a:pt x="0" y="31464"/>
                </a:lnTo>
                <a:lnTo>
                  <a:pt x="86449" y="62929"/>
                </a:lnTo>
                <a:lnTo>
                  <a:pt x="86449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2195267" y="857250"/>
            <a:ext cx="1824989" cy="466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3000" spc="-5" dirty="0">
                <a:solidFill>
                  <a:srgbClr val="38751C"/>
                </a:solidFill>
              </a:rPr>
              <a:t>activations</a:t>
            </a:r>
            <a:endParaRPr sz="3000"/>
          </a:p>
        </p:txBody>
      </p:sp>
      <p:sp>
        <p:nvSpPr>
          <p:cNvPr id="20" name="object 20"/>
          <p:cNvSpPr/>
          <p:nvPr/>
        </p:nvSpPr>
        <p:spPr>
          <a:xfrm>
            <a:off x="7164960" y="3412445"/>
            <a:ext cx="514348" cy="67627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155460" y="3402920"/>
            <a:ext cx="533400" cy="695325"/>
          </a:xfrm>
          <a:custGeom>
            <a:avLst/>
            <a:gdLst/>
            <a:ahLst/>
            <a:cxnLst/>
            <a:rect l="l" t="t" r="r" b="b"/>
            <a:pathLst>
              <a:path w="533400" h="695325">
                <a:moveTo>
                  <a:pt x="0" y="0"/>
                </a:moveTo>
                <a:lnTo>
                  <a:pt x="533373" y="0"/>
                </a:lnTo>
                <a:lnTo>
                  <a:pt x="533373" y="695323"/>
                </a:lnTo>
                <a:lnTo>
                  <a:pt x="0" y="695323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398744" y="2147685"/>
            <a:ext cx="485773" cy="63817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389244" y="2138160"/>
            <a:ext cx="504825" cy="657225"/>
          </a:xfrm>
          <a:custGeom>
            <a:avLst/>
            <a:gdLst/>
            <a:ahLst/>
            <a:cxnLst/>
            <a:rect l="l" t="t" r="r" b="b"/>
            <a:pathLst>
              <a:path w="504825" h="657225">
                <a:moveTo>
                  <a:pt x="0" y="0"/>
                </a:moveTo>
                <a:lnTo>
                  <a:pt x="504823" y="0"/>
                </a:lnTo>
                <a:lnTo>
                  <a:pt x="504823" y="657223"/>
                </a:lnTo>
                <a:lnTo>
                  <a:pt x="0" y="657223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398743" y="3350294"/>
            <a:ext cx="409574" cy="70484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389244" y="3340757"/>
            <a:ext cx="428625" cy="723900"/>
          </a:xfrm>
          <a:custGeom>
            <a:avLst/>
            <a:gdLst/>
            <a:ahLst/>
            <a:cxnLst/>
            <a:rect l="l" t="t" r="r" b="b"/>
            <a:pathLst>
              <a:path w="428625" h="723900">
                <a:moveTo>
                  <a:pt x="0" y="0"/>
                </a:moveTo>
                <a:lnTo>
                  <a:pt x="428599" y="0"/>
                </a:lnTo>
                <a:lnTo>
                  <a:pt x="428599" y="723886"/>
                </a:lnTo>
                <a:lnTo>
                  <a:pt x="0" y="723886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body" idx="1"/>
          </p:nvPr>
        </p:nvSpPr>
        <p:spPr>
          <a:xfrm>
            <a:off x="765798" y="2150921"/>
            <a:ext cx="7612402" cy="32008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52470" marR="2814955" algn="ctr"/>
            <a:r>
              <a:rPr spc="-5" dirty="0"/>
              <a:t>“local</a:t>
            </a:r>
            <a:r>
              <a:rPr spc="-35" dirty="0"/>
              <a:t> </a:t>
            </a:r>
            <a:r>
              <a:rPr spc="-5" dirty="0"/>
              <a:t>gradient”</a:t>
            </a:r>
          </a:p>
          <a:p>
            <a:pPr marL="3252470"/>
            <a:endParaRPr spc="-5" dirty="0"/>
          </a:p>
          <a:p>
            <a:pPr marL="3252470"/>
            <a:endParaRPr sz="2350">
              <a:latin typeface="Times New Roman"/>
              <a:cs typeface="Times New Roman"/>
            </a:endParaRPr>
          </a:p>
          <a:p>
            <a:pPr marL="3252470" marR="2941320" algn="ctr"/>
            <a:r>
              <a:rPr sz="4800" spc="-5" dirty="0">
                <a:solidFill>
                  <a:srgbClr val="000000"/>
                </a:solidFill>
              </a:rPr>
              <a:t>f</a:t>
            </a:r>
            <a:endParaRPr sz="4800"/>
          </a:p>
          <a:p>
            <a:pPr marL="3252470">
              <a:spcBef>
                <a:spcPts val="20"/>
              </a:spcBef>
            </a:pPr>
            <a:endParaRPr sz="7050">
              <a:latin typeface="Times New Roman"/>
              <a:cs typeface="Times New Roman"/>
            </a:endParaRPr>
          </a:p>
          <a:p>
            <a:pPr marL="6031865"/>
            <a:r>
              <a:rPr sz="3000" spc="-5" dirty="0"/>
              <a:t>gradients</a:t>
            </a:r>
            <a:endParaRPr sz="3000"/>
          </a:p>
        </p:txBody>
      </p:sp>
      <p:sp>
        <p:nvSpPr>
          <p:cNvPr id="27" name="object 27"/>
          <p:cNvSpPr/>
          <p:nvPr/>
        </p:nvSpPr>
        <p:spPr>
          <a:xfrm>
            <a:off x="799524" y="1569286"/>
            <a:ext cx="2129395" cy="155314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84738" y="1598789"/>
            <a:ext cx="811530" cy="833119"/>
          </a:xfrm>
          <a:custGeom>
            <a:avLst/>
            <a:gdLst/>
            <a:ahLst/>
            <a:cxnLst/>
            <a:rect l="l" t="t" r="r" b="b"/>
            <a:pathLst>
              <a:path w="811530" h="833119">
                <a:moveTo>
                  <a:pt x="281399" y="0"/>
                </a:moveTo>
                <a:lnTo>
                  <a:pt x="811198" y="260399"/>
                </a:lnTo>
                <a:lnTo>
                  <a:pt x="529798" y="833098"/>
                </a:lnTo>
                <a:lnTo>
                  <a:pt x="0" y="572698"/>
                </a:lnTo>
                <a:lnTo>
                  <a:pt x="281399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202508" y="4046528"/>
            <a:ext cx="2132702" cy="132041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195922" y="4528467"/>
            <a:ext cx="767080" cy="796290"/>
          </a:xfrm>
          <a:custGeom>
            <a:avLst/>
            <a:gdLst/>
            <a:ahLst/>
            <a:cxnLst/>
            <a:rect l="l" t="t" r="r" b="b"/>
            <a:pathLst>
              <a:path w="767080" h="796289">
                <a:moveTo>
                  <a:pt x="0" y="193199"/>
                </a:moveTo>
                <a:lnTo>
                  <a:pt x="557698" y="0"/>
                </a:lnTo>
                <a:lnTo>
                  <a:pt x="766798" y="602998"/>
                </a:lnTo>
                <a:lnTo>
                  <a:pt x="209099" y="796198"/>
                </a:lnTo>
                <a:lnTo>
                  <a:pt x="0" y="193199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053371" y="1511916"/>
            <a:ext cx="2042795" cy="901700"/>
          </a:xfrm>
          <a:custGeom>
            <a:avLst/>
            <a:gdLst/>
            <a:ahLst/>
            <a:cxnLst/>
            <a:rect l="l" t="t" r="r" b="b"/>
            <a:pathLst>
              <a:path w="2042795" h="901700">
                <a:moveTo>
                  <a:pt x="2042523" y="901255"/>
                </a:moveTo>
                <a:lnTo>
                  <a:pt x="0" y="0"/>
                </a:lnTo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974279" y="1477017"/>
            <a:ext cx="92075" cy="64135"/>
          </a:xfrm>
          <a:custGeom>
            <a:avLst/>
            <a:gdLst/>
            <a:ahLst/>
            <a:cxnLst/>
            <a:rect l="l" t="t" r="r" b="b"/>
            <a:pathLst>
              <a:path w="92075" h="64134">
                <a:moveTo>
                  <a:pt x="91794" y="6112"/>
                </a:moveTo>
                <a:lnTo>
                  <a:pt x="0" y="0"/>
                </a:lnTo>
                <a:lnTo>
                  <a:pt x="66389" y="63687"/>
                </a:lnTo>
                <a:lnTo>
                  <a:pt x="91794" y="6112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882509" y="3962343"/>
            <a:ext cx="2277745" cy="745490"/>
          </a:xfrm>
          <a:custGeom>
            <a:avLst/>
            <a:gdLst/>
            <a:ahLst/>
            <a:cxnLst/>
            <a:rect l="l" t="t" r="r" b="b"/>
            <a:pathLst>
              <a:path w="2277745" h="745489">
                <a:moveTo>
                  <a:pt x="2277560" y="0"/>
                </a:moveTo>
                <a:lnTo>
                  <a:pt x="0" y="745048"/>
                </a:lnTo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800344" y="4677493"/>
            <a:ext cx="92075" cy="60325"/>
          </a:xfrm>
          <a:custGeom>
            <a:avLst/>
            <a:gdLst/>
            <a:ahLst/>
            <a:cxnLst/>
            <a:rect l="l" t="t" r="r" b="b"/>
            <a:pathLst>
              <a:path w="92075" h="60325">
                <a:moveTo>
                  <a:pt x="72382" y="0"/>
                </a:moveTo>
                <a:lnTo>
                  <a:pt x="0" y="56799"/>
                </a:lnTo>
                <a:lnTo>
                  <a:pt x="91947" y="59824"/>
                </a:lnTo>
                <a:lnTo>
                  <a:pt x="72382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399118" y="5586262"/>
            <a:ext cx="1579880" cy="288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90"/>
              </a:lnSpc>
            </a:pPr>
            <a:r>
              <a:rPr sz="3000" spc="-7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3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3000" spc="-225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26</a:t>
            </a:r>
            <a:endParaRPr sz="20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7A665C6-FDCB-478E-8FB0-E5BCD88DEFA1}"/>
              </a:ext>
            </a:extLst>
          </p:cNvPr>
          <p:cNvSpPr txBox="1"/>
          <p:nvPr/>
        </p:nvSpPr>
        <p:spPr>
          <a:xfrm>
            <a:off x="0" y="6604084"/>
            <a:ext cx="10727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Andrej </a:t>
            </a:r>
            <a:r>
              <a:rPr lang="en-US" sz="1050" dirty="0" err="1"/>
              <a:t>Karpathy</a:t>
            </a:r>
            <a:endParaRPr lang="en-US" sz="105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1FA2552-0438-604D-A074-0BE5A331C72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73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237456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Blank Presentatio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0000FF"/>
      </a:folHlink>
    </a:clrScheme>
    <a:fontScheme name="Blank Presentati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Blank Presentatio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0000FF"/>
      </a:folHlink>
    </a:clrScheme>
    <a:fontScheme name="Blank Presentati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_Blank Presentatio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0000FF"/>
      </a:folHlink>
    </a:clrScheme>
    <a:fontScheme name="Blank Presentati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3_Blank Presentatio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0000FF"/>
      </a:folHlink>
    </a:clrScheme>
    <a:fontScheme name="Blank Presentati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1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154C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0000FF"/>
    </a:hlink>
    <a:folHlink>
      <a:srgbClr val="0000FF"/>
    </a:folHlink>
  </a:clrScheme>
</a:themeOverride>
</file>

<file path=ppt/theme/themeOverride2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0000FF"/>
    </a:hlink>
    <a:folHlink>
      <a:srgbClr val="0000FF"/>
    </a:folHlink>
  </a:clrScheme>
</a:themeOverride>
</file>

<file path=ppt/theme/themeOverride3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0000FF"/>
    </a:hlink>
    <a:folHlink>
      <a:srgbClr val="0000FF"/>
    </a:folHlink>
  </a:clrScheme>
</a:themeOverride>
</file>

<file path=ppt/theme/themeOverride4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0000FF"/>
    </a:hlink>
    <a:folHlink>
      <a:srgbClr val="0000FF"/>
    </a:folHlink>
  </a:clrScheme>
</a:themeOverride>
</file>

<file path=ppt/theme/themeOverride5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0000FF"/>
    </a:hlink>
    <a:folHlink>
      <a:srgbClr val="0000FF"/>
    </a:folHlink>
  </a:clrScheme>
</a:themeOverride>
</file>

<file path=ppt/theme/themeOverride6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0000FF"/>
    </a:hlink>
    <a:folHlink>
      <a:srgbClr val="0000FF"/>
    </a:folHlink>
  </a:clrScheme>
</a:themeOverride>
</file>

<file path=ppt/theme/themeOverride7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0000FF"/>
    </a:hlink>
    <a:folHlink>
      <a:srgbClr val="0000FF"/>
    </a:folHlink>
  </a:clrScheme>
</a:themeOverride>
</file>

<file path=ppt/theme/themeOverride8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0000FF"/>
    </a:hlink>
    <a:folHlink>
      <a:srgbClr val="0000FF"/>
    </a:folHlink>
  </a:clrScheme>
</a:themeOverride>
</file>

<file path=ppt/theme/themeOverride9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0000FF"/>
    </a:hlink>
    <a:folHlink>
      <a:srgbClr val="0000FF"/>
    </a:folHlink>
  </a:clrScheme>
</a:themeOverride>
</file>

<file path=ppt/theme/themeOverride10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0000FF"/>
    </a:hlink>
    <a:folHlink>
      <a:srgbClr val="0000FF"/>
    </a:folHlink>
  </a:clrScheme>
</a:themeOverride>
</file>

<file path=ppt/theme/themeOverride1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0000FF"/>
    </a:hlink>
    <a:folHlink>
      <a:srgbClr val="0000FF"/>
    </a:folHlink>
  </a:clrScheme>
</a:themeOverride>
</file>

<file path=ppt/theme/themeOverride12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0000FF"/>
    </a:hlink>
    <a:folHlink>
      <a:srgbClr val="0000FF"/>
    </a:folHlink>
  </a:clrScheme>
</a:themeOverride>
</file>

<file path=ppt/theme/themeOverride13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0000FF"/>
    </a:hlink>
    <a:folHlink>
      <a:srgbClr val="0000FF"/>
    </a:folHlink>
  </a:clrScheme>
</a:themeOverride>
</file>

<file path=ppt/theme/themeOverride14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0000FF"/>
    </a:hlink>
    <a:folHlink>
      <a:srgbClr val="0000F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2224</TotalTime>
  <Words>3313</Words>
  <Application>Microsoft Office PowerPoint</Application>
  <PresentationFormat>全屏显示(4:3)</PresentationFormat>
  <Paragraphs>902</Paragraphs>
  <Slides>74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74</vt:i4>
      </vt:variant>
    </vt:vector>
  </HeadingPairs>
  <TitlesOfParts>
    <vt:vector size="89" baseType="lpstr">
      <vt:lpstr>Adobe Caslon Pro</vt:lpstr>
      <vt:lpstr>MS PGothic</vt:lpstr>
      <vt:lpstr>MS PGothic</vt:lpstr>
      <vt:lpstr>宋体</vt:lpstr>
      <vt:lpstr>Arial</vt:lpstr>
      <vt:lpstr>Calibri</vt:lpstr>
      <vt:lpstr>Times New Roman</vt:lpstr>
      <vt:lpstr>Wingdings</vt:lpstr>
      <vt:lpstr>1_Office Theme</vt:lpstr>
      <vt:lpstr>Blank Presentation</vt:lpstr>
      <vt:lpstr>1_Blank Presentation</vt:lpstr>
      <vt:lpstr>2_Blank Presentation</vt:lpstr>
      <vt:lpstr>3_Blank Presentation</vt:lpstr>
      <vt:lpstr>11_Office Theme</vt:lpstr>
      <vt:lpstr>2_Office Theme</vt:lpstr>
      <vt:lpstr>Neural Network Basics</vt:lpstr>
      <vt:lpstr>Why (convolutional) neural networks? </vt:lpstr>
      <vt:lpstr>Traditional Recognition Approach</vt:lpstr>
      <vt:lpstr>What about learning the features?</vt:lpstr>
      <vt:lpstr>“Shallow” vs. “deep” architectures</vt:lpstr>
      <vt:lpstr>Neural network definition</vt:lpstr>
      <vt:lpstr>Neural network definition</vt:lpstr>
      <vt:lpstr>Leaky ReLU max(0.1x, x)</vt:lpstr>
      <vt:lpstr>A multi-layer neural network</vt:lpstr>
      <vt:lpstr>Inspiration: Neuron cells</vt:lpstr>
      <vt:lpstr>Biological analog</vt:lpstr>
      <vt:lpstr>Biological analog</vt:lpstr>
      <vt:lpstr>Multilayer networks</vt:lpstr>
      <vt:lpstr>Feed-forward networks</vt:lpstr>
      <vt:lpstr>Feed-forward networks</vt:lpstr>
      <vt:lpstr>Feed-forward networks</vt:lpstr>
      <vt:lpstr>Feed-forward networks</vt:lpstr>
      <vt:lpstr>Feed-forward networks</vt:lpstr>
      <vt:lpstr>Feed-forward networks</vt:lpstr>
      <vt:lpstr>Deep neural networks</vt:lpstr>
      <vt:lpstr>How do we train them? </vt:lpstr>
      <vt:lpstr>Classification goal</vt:lpstr>
      <vt:lpstr>Classification scores</vt:lpstr>
      <vt:lpstr>Linear classifier </vt:lpstr>
      <vt:lpstr>Linear classifier </vt:lpstr>
      <vt:lpstr>Linear classifier </vt:lpstr>
      <vt:lpstr>Linear classifier </vt:lpstr>
      <vt:lpstr>Linear classifier: Hinge loss </vt:lpstr>
      <vt:lpstr>Linear classifier: Hinge loss </vt:lpstr>
      <vt:lpstr>Linear classifier: Hinge loss </vt:lpstr>
      <vt:lpstr>Linear classifier: Hinge loss </vt:lpstr>
      <vt:lpstr>Linear classifier: Hinge loss </vt:lpstr>
      <vt:lpstr>Linear classifier: Hinge loss </vt:lpstr>
      <vt:lpstr>Linear classifier: Hinge loss </vt:lpstr>
      <vt:lpstr>Another loss: Softmax (cross-entropy)</vt:lpstr>
      <vt:lpstr>Another loss: Softmax (cross-entropy)</vt:lpstr>
      <vt:lpstr>Other losses</vt:lpstr>
      <vt:lpstr>How to minimize the loss function? </vt:lpstr>
      <vt:lpstr>How to minimize the loss function? </vt:lpstr>
      <vt:lpstr>PowerPoint 演示文稿</vt:lpstr>
      <vt:lpstr>PowerPoint 演示文稿</vt:lpstr>
      <vt:lpstr>current W:</vt:lpstr>
      <vt:lpstr>PowerPoint 演示文稿</vt:lpstr>
      <vt:lpstr>current W:</vt:lpstr>
      <vt:lpstr>PowerPoint 演示文稿</vt:lpstr>
      <vt:lpstr>This is silly. The loss is just a function of W:</vt:lpstr>
      <vt:lpstr>This is silly. The loss is just a function of W:</vt:lpstr>
      <vt:lpstr>PowerPoint 演示文稿</vt:lpstr>
      <vt:lpstr>Loss gradients</vt:lpstr>
      <vt:lpstr>Gradient descent</vt:lpstr>
      <vt:lpstr>Gradient descent</vt:lpstr>
      <vt:lpstr>Mini-batch gradient descent</vt:lpstr>
      <vt:lpstr>Learning rate selection</vt:lpstr>
      <vt:lpstr>Gradient descent in multi-layer nets</vt:lpstr>
      <vt:lpstr>Backpropagation: Graphic example</vt:lpstr>
      <vt:lpstr>Backpropagation: Graphic example</vt:lpstr>
      <vt:lpstr>Backpropagation: Graphic example</vt:lpstr>
      <vt:lpstr>e.g. x = -2, y = 5, z = -4</vt:lpstr>
      <vt:lpstr>e.g. x = -2, y = 5, z = -4</vt:lpstr>
      <vt:lpstr>e.g. x = -2, y = 5, z = -4</vt:lpstr>
      <vt:lpstr>e.g. x = -2, y = 5, z = -4</vt:lpstr>
      <vt:lpstr>e.g. x = -2, y = 5, z = -4</vt:lpstr>
      <vt:lpstr>e.g. x = -2, y = 5, z = -4</vt:lpstr>
      <vt:lpstr>e.g. x = -2, y = 5, z = -4</vt:lpstr>
      <vt:lpstr>e.g. x = -2, y = 5, z = -4</vt:lpstr>
      <vt:lpstr>e.g. x = -2, y = 5, z = -4</vt:lpstr>
      <vt:lpstr>e.g. x = -2, y = 5, z = -4</vt:lpstr>
      <vt:lpstr>e.g. x = -2, y = 5, z = -4</vt:lpstr>
      <vt:lpstr>e.g. x = -2, y = 5, z = -4</vt:lpstr>
      <vt:lpstr>activations</vt:lpstr>
      <vt:lpstr>activations</vt:lpstr>
      <vt:lpstr>activations</vt:lpstr>
      <vt:lpstr>activations</vt:lpstr>
      <vt:lpstr>activations</vt:lpstr>
    </vt:vector>
  </TitlesOfParts>
  <Company>University of Pittsburgh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2770: Computer Vision</dc:title>
  <dc:creator>Adriana I. Kovashka</dc:creator>
  <cp:lastModifiedBy>lx</cp:lastModifiedBy>
  <cp:revision>239</cp:revision>
  <dcterms:created xsi:type="dcterms:W3CDTF">2015-04-17T19:15:42Z</dcterms:created>
  <dcterms:modified xsi:type="dcterms:W3CDTF">2024-04-02T03:55:35Z</dcterms:modified>
</cp:coreProperties>
</file>